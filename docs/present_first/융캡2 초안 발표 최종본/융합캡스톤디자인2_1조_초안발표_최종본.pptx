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89" r:id="rId14"/>
    <p:sldId id="287" r:id="rId15"/>
    <p:sldId id="267" r:id="rId16"/>
    <p:sldId id="268" r:id="rId17"/>
    <p:sldId id="288" r:id="rId18"/>
    <p:sldId id="298" r:id="rId19"/>
    <p:sldId id="269" r:id="rId20"/>
    <p:sldId id="291" r:id="rId21"/>
    <p:sldId id="272" r:id="rId22"/>
    <p:sldId id="271" r:id="rId23"/>
    <p:sldId id="273" r:id="rId24"/>
    <p:sldId id="274" r:id="rId25"/>
    <p:sldId id="284" r:id="rId26"/>
    <p:sldId id="275" r:id="rId27"/>
    <p:sldId id="292" r:id="rId28"/>
    <p:sldId id="286" r:id="rId29"/>
    <p:sldId id="282" r:id="rId30"/>
    <p:sldId id="276" r:id="rId31"/>
    <p:sldId id="277" r:id="rId32"/>
    <p:sldId id="278" r:id="rId33"/>
    <p:sldId id="279" r:id="rId34"/>
    <p:sldId id="280" r:id="rId35"/>
    <p:sldId id="283" r:id="rId36"/>
    <p:sldId id="285" r:id="rId37"/>
    <p:sldId id="293" r:id="rId38"/>
    <p:sldId id="290" r:id="rId39"/>
    <p:sldId id="294" r:id="rId40"/>
    <p:sldId id="295" r:id="rId41"/>
    <p:sldId id="296" r:id="rId42"/>
    <p:sldId id="297" r:id="rId43"/>
    <p:sldId id="299" r:id="rId4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2593" autoAdjust="0"/>
  </p:normalViewPr>
  <p:slideViewPr>
    <p:cSldViewPr snapToGrid="0">
      <p:cViewPr varScale="1">
        <p:scale>
          <a:sx n="81" d="100"/>
          <a:sy n="81" d="100"/>
        </p:scale>
        <p:origin x="471"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v5 slide 1.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v5 slide 2.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v5 slide 3.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v5 slide 4.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5.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RMA 이전 Lee et al.(2020)의 privileged teacher와 proprioceptive student 학습 사례가 존재한다. 따라서 최초 도입이라는 주장은 하지 않는다. RMA → Saving은 적응 구조 계보이며 ADAPT → 현재 프로젝트는 고장 모델 차용 관계다.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계승은 논문의 아이디어·모델·구조를 사용한다는 뜻이며 전체 실험이나 코드를 그대로 재현했다는 뜻은 아니다. MDP 자체는 표준 정식화다. ADAPT의 오프라인 학습 전체를 이식한 것은 아니며 토크 감소 모델을 사용한다.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8.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페이지는 전체 문제의 지도다. 10쪽은 관측·행동의 구체값, 11쪽은 전이에서 바뀐 고장 모델, 12–13쪽은 보상이다. 같은 내용을 반복하는 것이 아니라 MDP 요소를 순서대로 구체화한다. 관측 235D는 환경 전체 상태 차원이 아니며, 고장 변수 미관측으로 Student에게는 부분 관측 문제다.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10.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ADAPT에서차용한출력저하모델이다. J_f는고장관절, T_f는발생시점, d는열화율이다. d=1은명령토크가사라지는것이며관절각이기계적으로고정되는잠금과다르다. 수식의토크단위는N m, 각도rad, 각속도rad/s이고d는무차원이다. 원본v9의기존수식영역과표가겹쳐있어배치를다시구성했다.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설정 파일 계수는 dt 곱셈 전 수치다. 실제 환경은 모든 nonzero scale에 policy dt=.02를 곱한 후 항을 합산한다. only_positive_rewards=True이므로 합을 0 이상으로 clip한다. termination reward는 현재 0이므로 별도 종료 보상은 없다. 생존율·1초 회복률은 평가 지표이며 직접 reward term이 아니다. 자세한 보상 함수는 Appendix A5와 추종 보상 해석 페이지를 참고한다.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tracking_sigma라는 코드 이름의 0.25는 exp(-error/0.25)의 분모 그 자체다. 여기에 다시 제곱하거나 2σ²를 쓰지 않는다. 선속도 제곱오차는 (m/s)^2, yaw 제곱오차는 (rad/s)^2이므로 각 식의 분모를 해당 오차 단위에 맞춘 민감도 척도로 해석한다. 선속도 보상은 xy 모두 사용하지만 본 평가의 전진 RMSE는 x 성분이다. 한 step의 양수 보상을 받는다고 정책이 목표를 달성했다는 뜻은 아니다.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프로젝트 목표는 latent를 물리계수 그대로 복원하는 것이 아니라, 명시적 고장 입력 없이도 행동과 회복 성능을 유지하는 것이다. Teacher/Student encoder는 각각 특징을 출력한다. Actor와 Critic은 공유 네트워크이며 두 독립 Actor의 행동을 섞는 구조가 아니다.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12.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Teacher/Student encoder는 각각 특징을 만들고, Actor가 실제 행동을 출력한다. 특징 혼합은 합산 가중치이므로 차원은 8D다. 현재 관측 235D와 특징 8D를 연결해 Actor 입력 243D를 만든다. Actor hidden은 512–256–128이며 최종 12D 행동을 출력한다. Student-only 평가에서는 Teacher encoder 없이 같은 Actor를 사용한다.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8차원 벡터를 각 원소마다 가중합하므로 혼합 후도 8D다. α=.5는 4차원씩 나누거나 행동을 반반 섞는 의미가 아니다. Actor를 고정하고 갑자기 Student 특징으로 바꾸면 추정오차 때문에 성능이 낮아질 수 있다. 점진 전환으로 Actor가 Student 입력을 사용한 rollout과 PPO 업데이트를 경험하게 한다. k는 학습 iteration이고 시뮬레이션 시간 t와 구별한다. 10,000회 선형 schedule은 프로젝트 구현 선택이다.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968E-6356-1220-0654-44B8D511C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59A34-06A4-E2BE-C0D9-C1B10AEBE6E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4352F00-3D34-4A26-EB4E-EE6E9037A3C3}"/>
              </a:ext>
            </a:extLst>
          </p:cNvPr>
          <p:cNvSpPr>
            <a:spLocks noGrp="1"/>
          </p:cNvSpPr>
          <p:nvPr>
            <p:ph type="body" sz="quarter" idx="3"/>
          </p:nvPr>
        </p:nvSpPr>
        <p:spPr/>
        <p:txBody>
          <a:bodyPr/>
          <a:lstStyle/>
          <a:p>
            <a:r>
              <a:t>0.25는도라디안변환이아니다. 각도변환은rad=degree*pi/180이다. a는무차원출력이고0.25rad/action단위가각도보정량으로변환한다. qdefault는관절별기준자세다. 예:frontthigh기준.8rad,action.4이면목표.9rad. 기본A1설정을계승한고정값이며최적화증거는없다.</a:t>
            </a:r>
          </a:p>
        </p:txBody>
      </p:sp>
      <p:sp>
        <p:nvSpPr>
          <p:cNvPr id="4" name="Slide Number Placeholder 3">
            <a:extLst>
              <a:ext uri="{FF2B5EF4-FFF2-40B4-BE49-F238E27FC236}">
                <a16:creationId xmlns:a16="http://schemas.microsoft.com/office/drawing/2014/main" id="{EED3D71B-65BB-0E0C-7CA5-A47E1FE35E76}"/>
              </a:ext>
            </a:extLst>
          </p:cNvPr>
          <p:cNvSpPr>
            <a:spLocks noGrp="1"/>
          </p:cNvSpPr>
          <p:nvPr>
            <p:ph type="sldNum" sz="quarter" idx="5"/>
          </p:nvPr>
        </p:nvSpPr>
        <p:spPr/>
      </p:sp>
    </p:spTree>
    <p:extLst>
      <p:ext uri="{BB962C8B-B14F-4D97-AF65-F5344CB8AC3E}">
        <p14:creationId xmlns:p14="http://schemas.microsoft.com/office/powerpoint/2010/main" val="1514054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모방 loss는 squared MSE가 아닌 평균 L2 norm이다. detach는 모방 loss 경로에서만 Teacher를 고정한다. 중간 α에서는 PPO actor/critic 경로가 Teacher encoder에도 gradient를 전달한다. α=0에서는 Student에 PPO latent gradient가 없지만 β=1의 모방 loss가 학습한다. α=1,β=0에서는 Teacher task gradient가 사라지고 Student가 PPO로 계속 학습한다. β 감소의 목적은 정확한 특징 복제보다 행동 보상 최적화에 집중하는 것이다. 현재 구현은 Teacher encoder, Student encoder, Actor, Critic, action std를 같은 optimizer에 등록한다.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iteration은 rollout 수집 → GAE/return 계산 → minibatch별 PPO+모방 손실 갱신 → 다음 rollout 순서다. 네트워크 구조와 최적화 수식이 실제 학습 실행으로 어떻게 이어지는지 정리하는 페이지다. 이 뒤에는 평가 지표와 조건을 고정하고, 실제 학습 그래프를 제시한다.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지표가 논문에 등장했다는 사실과 동일한 수치 기준을 사용했다는 사실을 구분한다. 현재 세 논문 중 본 프로젝트와 동일한 episode 평균 RMSE·1초 안정 회복 기준을 사용했다고 확인한 논문은 없다. RMSE는 속도 추종 평가의 변형이고 회복률은 연구 질문에 맞춘 자체 기준이다. 0.1m/s는 명령0.5의20%이고 yaw0.2rad/s는 약11.46deg/s이다. 향후 임계값 민감도 검증이 필요하다. RMA distance와 본 프로젝트 몸체 전진 속도 적분도 같은 세계좌표 궤적 오차가 아니다.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16.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18. </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19.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20. </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v5 slide 21. </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본 페이지는 cross-paper benchmark 우열 표가 아니다. Saving의 56.5%는 20초 완주율이 아니라 평균 생존 시간의 정규화다. 56.5%×20=11.3s는 파생 계산이다. 우리 평균생존19.43759s는 저장된8640개episode의 post_failure_survival_seconds 평균이며 onset 이전실패44개도0초로 포함한다. RMA Success의 세부 성공 기준과 시나리오가 다르다. ADAPT reward 원점수는 다른 환경의 RMSE나 reward에 직접 대입할 수 없다. 현재 Teacher 비교만으로 JT가 SS보다 우월하다는 알고리즘 인과 주장은 할 수 없다.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E61B-D547-145E-0D2B-E3C2DF36F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610C7-EF8A-52C5-F62C-5CAFEB545A9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C29D9F-D7FD-9B6C-E7D5-7EA39F03570F}"/>
              </a:ext>
            </a:extLst>
          </p:cNvPr>
          <p:cNvSpPr>
            <a:spLocks noGrp="1"/>
          </p:cNvSpPr>
          <p:nvPr>
            <p:ph type="body" sz="quarter" idx="3"/>
          </p:nvPr>
        </p:nvSpPr>
        <p:spPr/>
        <p:txBody>
          <a:bodyPr/>
          <a:lstStyle/>
          <a:p>
            <a:r>
              <a:t>v5 slide 21. </a:t>
            </a:r>
          </a:p>
        </p:txBody>
      </p:sp>
      <p:sp>
        <p:nvSpPr>
          <p:cNvPr id="4" name="Slide Number Placeholder 3">
            <a:extLst>
              <a:ext uri="{FF2B5EF4-FFF2-40B4-BE49-F238E27FC236}">
                <a16:creationId xmlns:a16="http://schemas.microsoft.com/office/drawing/2014/main" id="{6EC02D3F-E2FC-9E60-7C67-B957B2EBC089}"/>
              </a:ext>
            </a:extLst>
          </p:cNvPr>
          <p:cNvSpPr>
            <a:spLocks noGrp="1"/>
          </p:cNvSpPr>
          <p:nvPr>
            <p:ph type="sldNum" sz="quarter" idx="5"/>
          </p:nvPr>
        </p:nvSpPr>
        <p:spPr/>
      </p:sp>
    </p:spTree>
    <p:extLst>
      <p:ext uri="{BB962C8B-B14F-4D97-AF65-F5344CB8AC3E}">
        <p14:creationId xmlns:p14="http://schemas.microsoft.com/office/powerpoint/2010/main" val="22034123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22. </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Saving the Limping Fig5는 짧은 시간 안에 실패한 사례의 고장관절 분포, ADAPT Fig3는 관절×열화율 누적 reward, 본 그림은 onset 안정 회복률과 Teacher 대비 차이다. 집계 축이 달라 같은 패턴을 기대하면 안 된다. 파생 집계에서 완전출력상실의 Student 회복률은 4다리 평균 hip36.98%, thigh62.50%, calf38.19%이다. calf와hip이 모두 낮고 개별 다리 차이가 크므로 calf가 유일한 원인이라는 결론은 지지되지 않는다. d=.8의 RLthigh, RRcalf는 d=1보다 낮은 비단조 예외도 있다. 한 학습seed의 정책과3평가seeds만으로 구조적 인과를 입증할 수 없다. 후속 분석은 속도/yaw/행동/latent 시계열이다.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v5 slide 24. </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25. </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26.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27. </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 slide 28. 학습 단위: 1 iteration당 새 batch를 수집하고 같은 batch로 5 epochs 학습.</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142,505는 서로 다른 rollout batch에 대해 수행한 epoch 수를 더한 것이다. 고정된 데이터셋을 142,505번 학습했다는 뜻이 아니다. Updates는 로그 합계와 일치한다.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wall_time_unix 차이는49999.592448초, 약13.8888시간이다. 첫 iteration 수집 시작 이전 약2.22초는 이 차이에 포함하지 않는다. iteration_time합은49741.703934초=13.81714시간이다. Teacher43000을 얻기까지의 학습시간과 후속평가시간은 제외한다. 71500은누적번호일뿐 이JT구간에서71500회학습했다는뜻이아니다. PPO는 on-policy 방법으로 새rollout을 반복 수집하므로 supervised학습의고정dataset epoch와전체횟수를직접비교하지않는다.</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높은 reward가 곧 recovery 기준의 달성을 의미하지 않는다. 몸체 접촉은 episode를 종료해 미래 보상을 얻지 못하게 하는 방식으로 영향을 준다. only_positive_rewards clipping 아래서 개별 벌점이 실제 행동에 미치는 영향은 합산 보상과 함께 해석해야 한다.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Paper Explicit: Table I All terrain BaseEnv/FailureEnv 속도0.42/0.47m/s, normalized mean survival44.7/56.5%. Derived: 목표0.5대비84/94%, 평균생존8.94/11.30초, 차이2.36초. 평균속도0.47에서RMSE0.03을도출할수없다. 자세한표본/종료/히트맵설명은이결과페이지에서제외했다. 본프로젝트와고장모델이다르므로숫자순위는알고리즘우열이아니다.</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Paper Explicit: RMA TableII. Success73.5%, TTF.85, distance1.34m. Robust62.4/.80/1.13, Expert76.2/.86/1.35. TTF85%는과제성공률85%가아니다. 우리JT71500의완주율95.01%와RMA73.5%는과제정의/환경차이가있어동일벤치마크순위로해석할수없다.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원문수치에한정한결과위주설명이다. Fig3의LFC/RFC완전출력상실조건을예시로선택했다. 모든관절조건의총평균이라고해석하지않는다. 다른논문의reward구성이다르므로우리프로젝트의reward와직접비교하지않는다.</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전진진행량은body-frame vx적분이므로heading이변할때세계좌표x변위나기준경로RMSE와다르다. actionnearbound는각step에서12관절의abs(action)&gt;=.98지시함수평균을누적하고유효step으로나눈다. 접촉중foot slip은수직접촉력1N초과발의수평속도norm평균이며접촉발없음은분모clamp로0이다. 연속값들은robot-episode별지표를평균한다. onset이전실패로poststep이0인경우현재코드는denominator최소1로처리해연속지표가0이될수있으며생존/회복실패와함께해석해야한다.</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Paper Explicit: Saving the Limping the Limping은 Teacher 은닉층512/256/128, ELU, latent8, history50+1D CNN을 명시한다. Inherited: 시간 CNN은 RMA를 인용한다. Paper Explicit: RMA는 Conv 채널32→32, kernel8/stride4, kernel5/stride1 두 층을 명시한다. Implementation choice: privileged45, frame48, Linear48→32+ELU. RMA 원문은 프레임 임베딩을 2층 MLP로 설명하지만 현재 코드는 Linear 한 층이므로 완전 복제라고 표현하지 않는다. Teacher는 PPO로, Student는 특징 모방과 PPO로 학습한다. 구조는 구현자가 지정하며 latent 각 성분의 의미를 직접 지정하지 않는다.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3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over-kicker">
            <a:extLst>
              <a:ext uri="{FF2B5EF4-FFF2-40B4-BE49-F238E27FC236}">
                <a16:creationId xmlns:a16="http://schemas.microsoft.com/office/drawing/2014/main" id="{06A86C68-1986-4BC7-A071-1D976DEE2ED1}"/>
              </a:ext>
            </a:extLst>
          </p:cNvPr>
          <p:cNvSpPr>
            <a:spLocks noGrp="1"/>
          </p:cNvSpPr>
          <p:nvPr/>
        </p:nvSpPr>
        <p:spPr>
          <a:xfrm>
            <a:off x="590550" y="514350"/>
            <a:ext cx="3810000" cy="304800"/>
          </a:xfrm>
          <a:prstGeom prst="rect">
            <a:avLst/>
          </a:prstGeom>
          <a:noFill/>
          <a:ln w="0">
            <a:noFill/>
            <a:prstDash val="solid"/>
          </a:ln>
        </p:spPr>
        <p:txBody>
          <a:bodyPr wrap="square" lIns="0" tIns="0" rIns="0" bIns="0" anchor="ctr">
            <a:normAutofit/>
          </a:bodyPr>
          <a:lstStyle/>
          <a:p>
            <a:pPr algn="l">
              <a:lnSpc>
                <a:spcPct val="100000"/>
              </a:lnSpc>
              <a:buNone/>
              <a:defRPr sz="1575" b="1">
                <a:solidFill>
                  <a:srgbClr val="686868"/>
                </a:solidFill>
                <a:latin typeface="Noto Sans CJK KR"/>
                <a:ea typeface="Noto Sans CJK KR"/>
                <a:cs typeface="Noto Sans CJK KR"/>
              </a:defRPr>
            </a:pPr>
            <a:r>
              <a:rPr sz="1575" b="1">
                <a:solidFill>
                  <a:srgbClr val="686868"/>
                </a:solidFill>
                <a:latin typeface="맑은 고딕"/>
                <a:ea typeface="맑은 고딕"/>
                <a:cs typeface="맑은 고딕"/>
              </a:rPr>
              <a:t>01 | 초안 발표</a:t>
            </a:r>
          </a:p>
        </p:txBody>
      </p:sp>
      <p:sp>
        <p:nvSpPr>
          <p:cNvPr id="2" name="cover-title">
            <a:extLst>
              <a:ext uri="{FF2B5EF4-FFF2-40B4-BE49-F238E27FC236}">
                <a16:creationId xmlns:a16="http://schemas.microsoft.com/office/drawing/2014/main" id="{1C12470A-8864-4A97-BB99-030B646151EA}"/>
              </a:ext>
            </a:extLst>
          </p:cNvPr>
          <p:cNvSpPr>
            <a:spLocks noGrp="1"/>
          </p:cNvSpPr>
          <p:nvPr/>
        </p:nvSpPr>
        <p:spPr>
          <a:xfrm>
            <a:off x="571499" y="1234440"/>
            <a:ext cx="7040880" cy="2148840"/>
          </a:xfrm>
          <a:prstGeom prst="rect">
            <a:avLst/>
          </a:prstGeom>
          <a:noFill/>
          <a:ln w="0">
            <a:noFill/>
            <a:prstDash val="solid"/>
          </a:ln>
        </p:spPr>
        <p:txBody>
          <a:bodyPr wrap="square" lIns="0" tIns="0" rIns="0" bIns="0" anchor="t">
            <a:noAutofit/>
          </a:bodyPr>
          <a:lstStyle/>
          <a:p>
            <a:pPr algn="l">
              <a:lnSpc>
                <a:spcPct val="100000"/>
              </a:lnSpc>
              <a:buNone/>
              <a:defRPr sz="5100" b="1">
                <a:solidFill>
                  <a:srgbClr val="111111"/>
                </a:solidFill>
                <a:latin typeface="Noto Sans CJK KR"/>
                <a:ea typeface="Noto Sans CJK KR"/>
                <a:cs typeface="Noto Sans CJK KR"/>
              </a:defRPr>
            </a:pPr>
            <a:r>
              <a:rPr sz="2700" b="1" dirty="0" err="1">
                <a:solidFill>
                  <a:srgbClr val="111111"/>
                </a:solidFill>
                <a:latin typeface="맑은 고딕"/>
                <a:ea typeface="맑은 고딕"/>
                <a:cs typeface="맑은 고딕"/>
              </a:rPr>
              <a:t>단일</a:t>
            </a:r>
            <a:r>
              <a:rPr sz="2700" b="1" dirty="0">
                <a:solidFill>
                  <a:srgbClr val="111111"/>
                </a:solidFill>
                <a:latin typeface="맑은 고딕"/>
                <a:ea typeface="맑은 고딕"/>
                <a:cs typeface="맑은 고딕"/>
              </a:rPr>
              <a:t> </a:t>
            </a:r>
            <a:r>
              <a:rPr sz="2700" b="1" dirty="0" err="1">
                <a:solidFill>
                  <a:srgbClr val="111111"/>
                </a:solidFill>
                <a:latin typeface="맑은 고딕"/>
                <a:ea typeface="맑은 고딕"/>
                <a:cs typeface="맑은 고딕"/>
              </a:rPr>
              <a:t>관절</a:t>
            </a:r>
            <a:r>
              <a:rPr sz="2700" b="1" dirty="0">
                <a:solidFill>
                  <a:srgbClr val="111111"/>
                </a:solidFill>
                <a:latin typeface="맑은 고딕"/>
                <a:ea typeface="맑은 고딕"/>
                <a:cs typeface="맑은 고딕"/>
              </a:rPr>
              <a:t> </a:t>
            </a:r>
            <a:r>
              <a:rPr sz="2700" b="1" dirty="0" err="1">
                <a:solidFill>
                  <a:srgbClr val="111111"/>
                </a:solidFill>
                <a:latin typeface="맑은 고딕"/>
                <a:ea typeface="맑은 고딕"/>
                <a:cs typeface="맑은 고딕"/>
              </a:rPr>
              <a:t>모터</a:t>
            </a:r>
            <a:r>
              <a:rPr sz="2700" b="1" dirty="0">
                <a:solidFill>
                  <a:srgbClr val="111111"/>
                </a:solidFill>
                <a:latin typeface="맑은 고딕"/>
                <a:ea typeface="맑은 고딕"/>
                <a:cs typeface="맑은 고딕"/>
              </a:rPr>
              <a:t> </a:t>
            </a:r>
            <a:r>
              <a:rPr sz="2700" b="1" dirty="0" err="1">
                <a:solidFill>
                  <a:srgbClr val="111111"/>
                </a:solidFill>
                <a:latin typeface="맑은 고딕"/>
                <a:ea typeface="맑은 고딕"/>
                <a:cs typeface="맑은 고딕"/>
              </a:rPr>
              <a:t>출력</a:t>
            </a:r>
            <a:r>
              <a:rPr sz="2700" b="1" dirty="0">
                <a:solidFill>
                  <a:srgbClr val="111111"/>
                </a:solidFill>
                <a:latin typeface="맑은 고딕"/>
                <a:ea typeface="맑은 고딕"/>
                <a:cs typeface="맑은 고딕"/>
              </a:rPr>
              <a:t> </a:t>
            </a:r>
            <a:r>
              <a:rPr sz="2700" b="1" dirty="0" err="1">
                <a:solidFill>
                  <a:srgbClr val="111111"/>
                </a:solidFill>
                <a:latin typeface="맑은 고딕"/>
                <a:ea typeface="맑은 고딕"/>
                <a:cs typeface="맑은 고딕"/>
              </a:rPr>
              <a:t>저하에</a:t>
            </a:r>
            <a:r>
              <a:rPr sz="2700" b="1" dirty="0">
                <a:solidFill>
                  <a:srgbClr val="111111"/>
                </a:solidFill>
                <a:latin typeface="맑은 고딕"/>
                <a:ea typeface="맑은 고딕"/>
                <a:cs typeface="맑은 고딕"/>
              </a:rPr>
              <a:t> </a:t>
            </a:r>
            <a:r>
              <a:rPr sz="2700" b="1" dirty="0" err="1">
                <a:solidFill>
                  <a:srgbClr val="111111"/>
                </a:solidFill>
                <a:latin typeface="맑은 고딕"/>
                <a:ea typeface="맑은 고딕"/>
                <a:cs typeface="맑은 고딕"/>
              </a:rPr>
              <a:t>적응하는</a:t>
            </a:r>
            <a:r>
              <a:rPr sz="2700" b="1" dirty="0">
                <a:solidFill>
                  <a:srgbClr val="111111"/>
                </a:solidFill>
                <a:latin typeface="맑은 고딕"/>
                <a:ea typeface="맑은 고딕"/>
                <a:cs typeface="맑은 고딕"/>
              </a:rPr>
              <a:t>
Teacher–Student </a:t>
            </a:r>
            <a:r>
              <a:rPr sz="2700" b="1" dirty="0" err="1">
                <a:solidFill>
                  <a:srgbClr val="111111"/>
                </a:solidFill>
                <a:latin typeface="맑은 고딕"/>
                <a:ea typeface="맑은 고딕"/>
                <a:cs typeface="맑은 고딕"/>
              </a:rPr>
              <a:t>기반
4족보행 로봇</a:t>
            </a:r>
            <a:r>
              <a:rPr sz="2700" b="1" dirty="0">
                <a:solidFill>
                  <a:srgbClr val="111111"/>
                </a:solidFill>
                <a:latin typeface="맑은 고딕"/>
                <a:ea typeface="맑은 고딕"/>
                <a:cs typeface="맑은 고딕"/>
              </a:rPr>
              <a:t> </a:t>
            </a:r>
            <a:r>
              <a:rPr sz="2700" b="1" dirty="0" err="1">
                <a:solidFill>
                  <a:srgbClr val="111111"/>
                </a:solidFill>
                <a:latin typeface="맑은 고딕"/>
                <a:ea typeface="맑은 고딕"/>
                <a:cs typeface="맑은 고딕"/>
              </a:rPr>
              <a:t>제어</a:t>
            </a:r>
            <a:r>
              <a:rPr sz="800" b="0" baseline="30000" dirty="0">
                <a:solidFill>
                  <a:srgbClr val="686868"/>
                </a:solidFill>
                <a:latin typeface="맑은 고딕"/>
                <a:ea typeface="맑은 고딕"/>
                <a:cs typeface="맑은 고딕"/>
              </a:rPr>
              <a:t>  1) 2)</a:t>
            </a:r>
            <a:endParaRPr sz="3200" b="1" dirty="0">
              <a:solidFill>
                <a:srgbClr val="111111"/>
              </a:solidFill>
              <a:latin typeface="Noto Sans CJK KR"/>
              <a:ea typeface="Noto Sans CJK KR"/>
              <a:cs typeface="Noto Sans CJK KR"/>
            </a:endParaRPr>
          </a:p>
        </p:txBody>
      </p:sp>
      <p:pic>
        <p:nvPicPr>
          <p:cNvPr id="14" name="그림 13"/>
          <p:cNvPicPr>
            <a:picLocks noChangeAspect="1"/>
          </p:cNvPicPr>
          <p:nvPr/>
        </p:nvPicPr>
        <p:blipFill>
          <a:blip r:embed="rId3"/>
          <a:stretch/>
        </p:blipFill>
        <p:spPr>
          <a:xfrm>
            <a:off x="7696200" y="1807961"/>
            <a:ext cx="4000500" cy="2251478"/>
          </a:xfrm>
          <a:prstGeom prst="rect">
            <a:avLst/>
          </a:prstGeom>
        </p:spPr>
      </p:pic>
      <p:sp>
        <p:nvSpPr>
          <p:cNvPr id="6" name="cover-rule">
            <a:extLst>
              <a:ext uri="{FF2B5EF4-FFF2-40B4-BE49-F238E27FC236}">
                <a16:creationId xmlns:a16="http://schemas.microsoft.com/office/drawing/2014/main" id="{53BE5BF9-5A22-47D6-B902-C9B06DD56391}"/>
              </a:ext>
            </a:extLst>
          </p:cNvPr>
          <p:cNvSpPr>
            <a:spLocks noGrp="1"/>
          </p:cNvSpPr>
          <p:nvPr/>
        </p:nvSpPr>
        <p:spPr>
          <a:xfrm>
            <a:off x="590550" y="5191125"/>
            <a:ext cx="11049000" cy="0"/>
          </a:xfrm>
          <a:prstGeom prst="line">
            <a:avLst/>
          </a:prstGeom>
          <a:noFill/>
          <a:ln w="14288">
            <a:solidFill>
              <a:srgbClr val="111111"/>
            </a:solidFill>
            <a:prstDash val="solid"/>
          </a:ln>
        </p:spPr>
        <p:txBody>
          <a:bodyPr/>
          <a:lstStyle/>
          <a:p>
            <a:pPr>
              <a:lnSpc>
                <a:spcPct val="100000"/>
              </a:lnSpc>
            </a:pPr>
            <a:endParaRPr lang="ko-KR" altLang="en-US"/>
          </a:p>
        </p:txBody>
      </p:sp>
      <p:sp>
        <p:nvSpPr>
          <p:cNvPr id="7" name="cover-thesis">
            <a:extLst>
              <a:ext uri="{FF2B5EF4-FFF2-40B4-BE49-F238E27FC236}">
                <a16:creationId xmlns:a16="http://schemas.microsoft.com/office/drawing/2014/main" id="{3CF97BE6-8FB9-423E-BB6F-F80DA80CA04F}"/>
              </a:ext>
            </a:extLst>
          </p:cNvPr>
          <p:cNvSpPr>
            <a:spLocks noGrp="1"/>
          </p:cNvSpPr>
          <p:nvPr/>
        </p:nvSpPr>
        <p:spPr>
          <a:xfrm>
            <a:off x="609600" y="4526280"/>
            <a:ext cx="11352362" cy="566928"/>
          </a:xfrm>
          <a:prstGeom prst="rect">
            <a:avLst/>
          </a:prstGeom>
          <a:noFill/>
          <a:ln w="0">
            <a:noFill/>
            <a:prstDash val="solid"/>
          </a:ln>
        </p:spPr>
        <p:txBody>
          <a:bodyPr wrap="square" lIns="0" tIns="0" rIns="0" bIns="0" anchor="ctr">
            <a:normAutofit fontScale="96040"/>
          </a:bodyPr>
          <a:lstStyle/>
          <a:p>
            <a:pPr algn="l">
              <a:lnSpc>
                <a:spcPct val="100000"/>
              </a:lnSpc>
              <a:buNone/>
              <a:defRPr sz="1800" b="1">
                <a:solidFill>
                  <a:srgbClr val="111111"/>
                </a:solidFill>
                <a:latin typeface="Noto Sans CJK KR"/>
                <a:ea typeface="Noto Sans CJK KR"/>
                <a:cs typeface="Noto Sans CJK KR"/>
              </a:defRPr>
            </a:pPr>
            <a:r>
              <a:rPr sz="1700" b="1" dirty="0" err="1">
                <a:solidFill>
                  <a:srgbClr val="111111"/>
                </a:solidFill>
                <a:latin typeface="맑은 고딕"/>
                <a:ea typeface="맑은 고딕"/>
                <a:cs typeface="맑은 고딕"/>
              </a:rPr>
              <a:t>Isaac Gym에서 관측 이력 기반 고장 적응 정책의 생존·추종·회복 성능 평가</a:t>
            </a:r>
          </a:p>
        </p:txBody>
      </p:sp>
      <p:sp>
        <p:nvSpPr>
          <p:cNvPr id="8" name="cover-team">
            <a:extLst>
              <a:ext uri="{FF2B5EF4-FFF2-40B4-BE49-F238E27FC236}">
                <a16:creationId xmlns:a16="http://schemas.microsoft.com/office/drawing/2014/main" id="{5E83E509-ACA0-4D7A-B9C3-9AEDE64294C8}"/>
              </a:ext>
            </a:extLst>
          </p:cNvPr>
          <p:cNvSpPr>
            <a:spLocks noGrp="1"/>
          </p:cNvSpPr>
          <p:nvPr/>
        </p:nvSpPr>
        <p:spPr>
          <a:xfrm>
            <a:off x="609600" y="6115050"/>
            <a:ext cx="7239000" cy="30480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3A3A3A"/>
                </a:solidFill>
                <a:latin typeface="Noto Sans CJK KR"/>
                <a:ea typeface="Noto Sans CJK KR"/>
                <a:cs typeface="Noto Sans CJK KR"/>
              </a:defRPr>
            </a:pPr>
            <a:r>
              <a:rPr sz="1350" b="0">
                <a:solidFill>
                  <a:srgbClr val="3A3A3A"/>
                </a:solidFill>
                <a:latin typeface="맑은 고딕"/>
                <a:ea typeface="맑은 고딕"/>
                <a:cs typeface="맑은 고딕"/>
              </a:rPr>
              <a:t>1조  변지훈 · 유은빈 · 최서경 · 김준영</a:t>
            </a:r>
          </a:p>
        </p:txBody>
      </p:sp>
      <p:sp>
        <p:nvSpPr>
          <p:cNvPr id="9" name="cover-page">
            <a:extLst>
              <a:ext uri="{FF2B5EF4-FFF2-40B4-BE49-F238E27FC236}">
                <a16:creationId xmlns:a16="http://schemas.microsoft.com/office/drawing/2014/main" id="{5DFCA157-1227-4B32-AFB8-8A6E6E30CF12}"/>
              </a:ext>
            </a:extLst>
          </p:cNvPr>
          <p:cNvSpPr>
            <a:spLocks noGrp="1"/>
          </p:cNvSpPr>
          <p:nvPr/>
        </p:nvSpPr>
        <p:spPr>
          <a:xfrm>
            <a:off x="10477500" y="6115050"/>
            <a:ext cx="1143000" cy="304800"/>
          </a:xfrm>
          <a:prstGeom prst="rect">
            <a:avLst/>
          </a:prstGeom>
          <a:noFill/>
          <a:ln w="0">
            <a:noFill/>
            <a:prstDash val="solid"/>
          </a:ln>
        </p:spPr>
        <p:txBody>
          <a:bodyPr wrap="square" lIns="0" tIns="0" rIns="0" bIns="0" anchor="ctr">
            <a:normAutofit/>
          </a:bodyPr>
          <a:lstStyle/>
          <a:p>
            <a:pPr algn="r">
              <a:lnSpc>
                <a:spcPct val="100000"/>
              </a:lnSpc>
              <a:buNone/>
              <a:defRPr sz="900" b="0">
                <a:solidFill>
                  <a:srgbClr val="686868"/>
                </a:solidFill>
                <a:latin typeface="Noto Sans CJK KR"/>
                <a:ea typeface="Noto Sans CJK KR"/>
                <a:cs typeface="Noto Sans CJK KR"/>
              </a:defRPr>
            </a:pPr>
            <a:r>
              <a:rPr sz="900" b="0">
                <a:solidFill>
                  <a:srgbClr val="686868"/>
                </a:solidFill>
                <a:latin typeface="맑은 고딕"/>
                <a:ea typeface="맑은 고딕"/>
                <a:cs typeface="맑은 고딕"/>
              </a:rPr>
              <a:t>01 / 43</a:t>
            </a:r>
          </a:p>
        </p:txBody>
      </p:sp>
      <p:sp>
        <p:nvSpPr>
          <p:cNvPr id="15" name="TextBox 14"/>
          <p:cNvSpPr txBox="1"/>
          <p:nvPr/>
        </p:nvSpPr>
        <p:spPr>
          <a:xfrm>
            <a:off x="612648" y="5669280"/>
            <a:ext cx="9738360" cy="246888"/>
          </a:xfrm>
          <a:prstGeom prst="rect">
            <a:avLst/>
          </a:prstGeom>
          <a:noFill/>
        </p:spPr>
        <p:txBody>
          <a:bodyPr wrap="square" lIns="9144" tIns="9144" rIns="9144" bIns="9144" anchor="ctr">
            <a:spAutoFit/>
          </a:bodyPr>
          <a:lstStyle/>
          <a:p>
            <a:pPr algn="l">
              <a:lnSpc>
                <a:spcPct val="100000"/>
              </a:lnSpc>
              <a:spcAft>
                <a:spcPts val="0"/>
              </a:spcAft>
            </a:pPr>
            <a:r>
              <a:rPr sz="700" b="0">
                <a:solidFill>
                  <a:srgbClr val="686868"/>
                </a:solidFill>
                <a:latin typeface="맑은 고딕"/>
                <a:ea typeface="맑은 고딕"/>
                <a:cs typeface="맑은 고딕"/>
              </a:rPr>
              <a:t>1) Liu et al., Saving the Limping, arXiv:2210.00474v3, 2023.   2) Wu et al., ADAPT, DAI ’23, 2023.</a:t>
            </a:r>
          </a:p>
        </p:txBody>
      </p:sp>
    </p:spTree>
    <p:extLst>
      <p:ext uri="{BB962C8B-B14F-4D97-AF65-F5344CB8AC3E}">
        <p14:creationId xmlns:p14="http://schemas.microsoft.com/office/powerpoint/2010/main" val="362442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title-2">
            <a:extLst>
              <a:ext uri="{FF2B5EF4-FFF2-40B4-BE49-F238E27FC236}">
                <a16:creationId xmlns:a16="http://schemas.microsoft.com/office/drawing/2014/main" id="{EF6038CD-6EEE-4E65-ABE8-C57F4C0434E7}"/>
              </a:ext>
            </a:extLst>
          </p:cNvPr>
          <p:cNvSpPr>
            <a:spLocks noGrp="1"/>
          </p:cNvSpPr>
          <p:nvPr/>
        </p:nvSpPr>
        <p:spPr>
          <a:xfrm>
            <a:off x="552450" y="285750"/>
            <a:ext cx="11087100" cy="514350"/>
          </a:xfrm>
          <a:prstGeom prst="rect">
            <a:avLst/>
          </a:prstGeom>
          <a:noFill/>
          <a:ln w="0">
            <a:noFill/>
            <a:prstDash val="solid"/>
          </a:ln>
        </p:spPr>
        <p:txBody>
          <a:bodyPr wrap="square" lIns="0" tIns="0" rIns="0" bIns="0" anchor="ctr">
            <a:normAutofit fontScale="98080"/>
          </a:bodyPr>
          <a:lstStyle/>
          <a:p>
            <a:pPr algn="l">
              <a:lnSpc>
                <a:spcPct val="100000"/>
              </a:lnSpc>
              <a:buNone/>
              <a:defRPr sz="3450" b="1">
                <a:solidFill>
                  <a:srgbClr val="111111"/>
                </a:solidFill>
                <a:latin typeface="Noto Sans CJK KR"/>
                <a:ea typeface="Noto Sans CJK KR"/>
                <a:cs typeface="Noto Sans CJK KR"/>
              </a:defRPr>
            </a:pPr>
            <a:r>
              <a:rPr sz="2800" b="1">
                <a:solidFill>
                  <a:srgbClr val="111111"/>
                </a:solidFill>
                <a:latin typeface="맑은 고딕"/>
                <a:ea typeface="맑은 고딕"/>
                <a:cs typeface="맑은 고딕"/>
              </a:rPr>
              <a:t>02 | 연구 개요</a:t>
            </a:r>
            <a:r>
              <a:rPr sz="800" b="0" baseline="30000">
                <a:solidFill>
                  <a:srgbClr val="686868"/>
                </a:solidFill>
                <a:latin typeface="맑은 고딕"/>
                <a:ea typeface="맑은 고딕"/>
                <a:cs typeface="맑은 고딕"/>
              </a:rPr>
              <a:t>  1)</a:t>
            </a:r>
          </a:p>
        </p:txBody>
      </p:sp>
      <p:sp>
        <p:nvSpPr>
          <p:cNvPr id="2" name="header-rule-2">
            <a:extLst>
              <a:ext uri="{FF2B5EF4-FFF2-40B4-BE49-F238E27FC236}">
                <a16:creationId xmlns:a16="http://schemas.microsoft.com/office/drawing/2014/main" id="{E3CC039B-A98E-410C-AC94-791C6A95F68E}"/>
              </a:ext>
            </a:extLst>
          </p:cNvPr>
          <p:cNvSpPr>
            <a:spLocks noGrp="1"/>
          </p:cNvSpPr>
          <p:nvPr/>
        </p:nvSpPr>
        <p:spPr>
          <a:xfrm>
            <a:off x="552450" y="971550"/>
            <a:ext cx="11087100" cy="0"/>
          </a:xfrm>
          <a:prstGeom prst="line">
            <a:avLst/>
          </a:prstGeom>
          <a:noFill/>
          <a:ln w="14288">
            <a:solidFill>
              <a:srgbClr val="111111"/>
            </a:solidFill>
            <a:prstDash val="solid"/>
          </a:ln>
        </p:spPr>
        <p:txBody>
          <a:bodyPr/>
          <a:lstStyle/>
          <a:p>
            <a:pPr>
              <a:lnSpc>
                <a:spcPct val="100000"/>
              </a:lnSpc>
            </a:pPr>
            <a:endParaRPr lang="ko-KR" altLang="en-US"/>
          </a:p>
        </p:txBody>
      </p:sp>
      <p:sp>
        <p:nvSpPr>
          <p:cNvPr id="3" name="section-2">
            <a:extLst>
              <a:ext uri="{FF2B5EF4-FFF2-40B4-BE49-F238E27FC236}">
                <a16:creationId xmlns:a16="http://schemas.microsoft.com/office/drawing/2014/main" id="{EF742888-9861-4092-A5A3-1BFEC36BFE00}"/>
              </a:ext>
            </a:extLst>
          </p:cNvPr>
          <p:cNvSpPr>
            <a:spLocks noGrp="1"/>
          </p:cNvSpPr>
          <p:nvPr/>
        </p:nvSpPr>
        <p:spPr>
          <a:xfrm>
            <a:off x="571500" y="1009650"/>
            <a:ext cx="3429000" cy="209550"/>
          </a:xfrm>
          <a:prstGeom prst="rect">
            <a:avLst/>
          </a:prstGeom>
          <a:noFill/>
          <a:ln w="0">
            <a:noFill/>
            <a:prstDash val="solid"/>
          </a:ln>
        </p:spPr>
        <p:txBody>
          <a:bodyPr wrap="square" lIns="0" tIns="0" rIns="0" bIns="0" anchor="ctr">
            <a:normAutofit/>
          </a:bodyPr>
          <a:lstStyle/>
          <a:p>
            <a:pPr algn="l">
              <a:lnSpc>
                <a:spcPct val="100000"/>
              </a:lnSpc>
              <a:buNone/>
              <a:defRPr sz="900" b="1">
                <a:solidFill>
                  <a:srgbClr val="686868"/>
                </a:solidFill>
                <a:latin typeface="Noto Sans CJK KR"/>
                <a:ea typeface="Noto Sans CJK KR"/>
                <a:cs typeface="Noto Sans CJK KR"/>
              </a:defRPr>
            </a:pPr>
            <a:r>
              <a:rPr sz="900" b="1">
                <a:solidFill>
                  <a:srgbClr val="686868"/>
                </a:solidFill>
                <a:latin typeface="맑은 고딕"/>
                <a:ea typeface="맑은 고딕"/>
                <a:cs typeface="맑은 고딕"/>
              </a:rPr>
              <a:t>CONTENTS</a:t>
            </a:r>
          </a:p>
        </p:txBody>
      </p:sp>
      <p:sp>
        <p:nvSpPr>
          <p:cNvPr id="4" name="footer-rule-2">
            <a:extLst>
              <a:ext uri="{FF2B5EF4-FFF2-40B4-BE49-F238E27FC236}">
                <a16:creationId xmlns:a16="http://schemas.microsoft.com/office/drawing/2014/main" id="{6B1EDAF7-D625-44AD-A13E-7F107EF84D53}"/>
              </a:ext>
            </a:extLst>
          </p:cNvPr>
          <p:cNvSpPr>
            <a:spLocks noGrp="1"/>
          </p:cNvSpPr>
          <p:nvPr/>
        </p:nvSpPr>
        <p:spPr>
          <a:xfrm>
            <a:off x="552450" y="6210300"/>
            <a:ext cx="11087100" cy="0"/>
          </a:xfrm>
          <a:prstGeom prst="line">
            <a:avLst/>
          </a:prstGeom>
          <a:noFill/>
          <a:ln w="9525">
            <a:solidFill>
              <a:srgbClr val="CFCFCF"/>
            </a:solidFill>
            <a:prstDash val="solid"/>
          </a:ln>
        </p:spPr>
        <p:txBody>
          <a:bodyPr/>
          <a:lstStyle/>
          <a:p>
            <a:pPr>
              <a:lnSpc>
                <a:spcPct val="100000"/>
              </a:lnSpc>
            </a:pPr>
            <a:endParaRPr lang="ko-KR" altLang="en-US"/>
          </a:p>
        </p:txBody>
      </p:sp>
      <p:sp>
        <p:nvSpPr>
          <p:cNvPr id="5" name="source-2">
            <a:extLst>
              <a:ext uri="{FF2B5EF4-FFF2-40B4-BE49-F238E27FC236}">
                <a16:creationId xmlns:a16="http://schemas.microsoft.com/office/drawing/2014/main" id="{A65C4028-03BF-4F8D-9121-9AC6F846522C}"/>
              </a:ext>
            </a:extLst>
          </p:cNvPr>
          <p:cNvSpPr>
            <a:spLocks noGrp="1"/>
          </p:cNvSpPr>
          <p:nvPr/>
        </p:nvSpPr>
        <p:spPr>
          <a:xfrm>
            <a:off x="571500" y="6286500"/>
            <a:ext cx="9906000" cy="266700"/>
          </a:xfrm>
          <a:prstGeom prst="rect">
            <a:avLst/>
          </a:prstGeom>
          <a:noFill/>
          <a:ln w="0">
            <a:noFill/>
            <a:prstDash val="solid"/>
          </a:ln>
        </p:spPr>
        <p:txBody>
          <a:bodyPr wrap="square" lIns="0" tIns="0" rIns="0" bIns="0" anchor="ctr">
            <a:normAutofit/>
          </a:bodyPr>
          <a:lstStyle/>
          <a:p>
            <a:pPr algn="l">
              <a:lnSpc>
                <a:spcPct val="100000"/>
              </a:lnSpc>
              <a:buNone/>
              <a:defRPr sz="863" b="0">
                <a:solidFill>
                  <a:srgbClr val="686868"/>
                </a:solidFill>
                <a:latin typeface="Noto Sans CJK KR"/>
                <a:ea typeface="Noto Sans CJK KR"/>
                <a:cs typeface="Noto Sans CJK KR"/>
              </a:defRPr>
            </a:pPr>
            <a:r>
              <a:rPr sz="720" b="0">
                <a:solidFill>
                  <a:srgbClr val="686868"/>
                </a:solidFill>
                <a:latin typeface="맑은 고딕"/>
                <a:ea typeface="맑은 고딕"/>
                <a:cs typeface="맑은 고딕"/>
              </a:rPr>
              <a:t>1) 범위 및 현황: docs/results/p5-tf43000-vs-jt71500.md.</a:t>
            </a:r>
          </a:p>
        </p:txBody>
      </p:sp>
      <p:sp>
        <p:nvSpPr>
          <p:cNvPr id="6" name="page-2">
            <a:extLst>
              <a:ext uri="{FF2B5EF4-FFF2-40B4-BE49-F238E27FC236}">
                <a16:creationId xmlns:a16="http://schemas.microsoft.com/office/drawing/2014/main" id="{9ADFAAD7-E422-49CF-A40B-176B2421893F}"/>
              </a:ext>
            </a:extLst>
          </p:cNvPr>
          <p:cNvSpPr>
            <a:spLocks noGrp="1"/>
          </p:cNvSpPr>
          <p:nvPr/>
        </p:nvSpPr>
        <p:spPr>
          <a:xfrm>
            <a:off x="10572750" y="6286500"/>
            <a:ext cx="1047750" cy="266700"/>
          </a:xfrm>
          <a:prstGeom prst="rect">
            <a:avLst/>
          </a:prstGeom>
          <a:noFill/>
          <a:ln w="0">
            <a:noFill/>
            <a:prstDash val="solid"/>
          </a:ln>
        </p:spPr>
        <p:txBody>
          <a:bodyPr wrap="square" lIns="0" tIns="0" rIns="0" bIns="0" anchor="ctr">
            <a:normAutofit/>
          </a:bodyPr>
          <a:lstStyle/>
          <a:p>
            <a:pPr algn="r">
              <a:lnSpc>
                <a:spcPct val="100000"/>
              </a:lnSpc>
              <a:buNone/>
              <a:defRPr sz="900" b="0">
                <a:solidFill>
                  <a:srgbClr val="686868"/>
                </a:solidFill>
                <a:latin typeface="Noto Sans CJK KR"/>
                <a:ea typeface="Noto Sans CJK KR"/>
                <a:cs typeface="Noto Sans CJK KR"/>
              </a:defRPr>
            </a:pPr>
            <a:r>
              <a:rPr sz="900" b="0">
                <a:solidFill>
                  <a:srgbClr val="686868"/>
                </a:solidFill>
                <a:latin typeface="맑은 고딕"/>
                <a:ea typeface="맑은 고딕"/>
                <a:cs typeface="맑은 고딕"/>
              </a:rPr>
              <a:t>02 / 43</a:t>
            </a:r>
          </a:p>
        </p:txBody>
      </p:sp>
      <p:sp>
        <p:nvSpPr>
          <p:cNvPr id="33" name="v5-content-intro"/>
          <p:cNvSpPr txBox="1"/>
          <p:nvPr/>
        </p:nvSpPr>
        <p:spPr>
          <a:xfrm>
            <a:off x="658368" y="1280160"/>
            <a:ext cx="10881360" cy="289310"/>
          </a:xfrm>
          <a:prstGeom prst="rect">
            <a:avLst/>
          </a:prstGeom>
          <a:noFill/>
        </p:spPr>
        <p:txBody>
          <a:bodyPr wrap="square" lIns="36576" tIns="36576" rIns="36576" bIns="36576" anchor="t">
            <a:spAutoFit/>
          </a:bodyPr>
          <a:lstStyle/>
          <a:p>
            <a:pPr algn="l">
              <a:lnSpc>
                <a:spcPct val="100000"/>
              </a:lnSpc>
              <a:spcAft>
                <a:spcPts val="0"/>
              </a:spcAft>
            </a:pPr>
            <a:r>
              <a:rPr sz="1400" b="0" dirty="0" err="1">
                <a:solidFill>
                  <a:srgbClr val="3A3A3A"/>
                </a:solidFill>
                <a:latin typeface="맑은 고딕"/>
                <a:ea typeface="맑은 고딕"/>
                <a:cs typeface="맑은 고딕"/>
              </a:rPr>
              <a:t>주행</a:t>
            </a:r>
            <a:r>
              <a:rPr sz="1400" b="0" dirty="0">
                <a:solidFill>
                  <a:srgbClr val="3A3A3A"/>
                </a:solidFill>
                <a:latin typeface="맑은 고딕"/>
                <a:ea typeface="맑은 고딕"/>
                <a:cs typeface="맑은 고딕"/>
              </a:rPr>
              <a:t> 중 한 </a:t>
            </a:r>
            <a:r>
              <a:rPr sz="1400" b="0" dirty="0" err="1">
                <a:solidFill>
                  <a:srgbClr val="3A3A3A"/>
                </a:solidFill>
                <a:latin typeface="맑은 고딕"/>
                <a:ea typeface="맑은 고딕"/>
                <a:cs typeface="맑은 고딕"/>
              </a:rPr>
              <a:t>관절의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출력이</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줄어도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고장</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정보를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직접</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입력하지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않고</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보행을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유지하는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정책을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학습</a:t>
            </a:r>
            <a:endParaRPr sz="1400" b="0" dirty="0">
              <a:solidFill>
                <a:srgbClr val="3A3A3A"/>
              </a:solidFill>
              <a:latin typeface="맑은 고딕"/>
              <a:ea typeface="맑은 고딕"/>
              <a:cs typeface="맑은 고딕"/>
            </a:endParaRPr>
          </a:p>
        </p:txBody>
      </p:sp>
      <p:sp>
        <p:nvSpPr>
          <p:cNvPr id="34" name="Rectangle 33"/>
          <p:cNvSpPr/>
          <p:nvPr/>
        </p:nvSpPr>
        <p:spPr>
          <a:xfrm>
            <a:off x="694944" y="1865376"/>
            <a:ext cx="1847088" cy="59436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5" name="TextBox 34"/>
          <p:cNvSpPr txBox="1"/>
          <p:nvPr/>
        </p:nvSpPr>
        <p:spPr>
          <a:xfrm>
            <a:off x="768096" y="1901952"/>
            <a:ext cx="1700784" cy="521208"/>
          </a:xfrm>
          <a:prstGeom prst="rect">
            <a:avLst/>
          </a:prstGeom>
          <a:noFill/>
        </p:spPr>
        <p:txBody>
          <a:bodyPr wrap="square" lIns="9144" tIns="9144" rIns="9144" bIns="9144" anchor="ctr">
            <a:spAutoFit/>
          </a:bodyPr>
          <a:lstStyle/>
          <a:p>
            <a:pPr algn="ctr">
              <a:lnSpc>
                <a:spcPct val="100000"/>
              </a:lnSpc>
              <a:spcAft>
                <a:spcPts val="0"/>
              </a:spcAft>
            </a:pPr>
            <a:r>
              <a:rPr sz="1400" b="1">
                <a:solidFill>
                  <a:srgbClr val="FFFFFF"/>
                </a:solidFill>
                <a:latin typeface="맑은 고딕"/>
                <a:ea typeface="맑은 고딕"/>
                <a:cs typeface="맑은 고딕"/>
              </a:rPr>
              <a:t>구분</a:t>
            </a:r>
          </a:p>
        </p:txBody>
      </p:sp>
      <p:sp>
        <p:nvSpPr>
          <p:cNvPr id="36" name="Rectangle 35"/>
          <p:cNvSpPr/>
          <p:nvPr/>
        </p:nvSpPr>
        <p:spPr>
          <a:xfrm>
            <a:off x="2542032" y="1865376"/>
            <a:ext cx="8887968" cy="59436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7" name="TextBox 36"/>
          <p:cNvSpPr txBox="1"/>
          <p:nvPr/>
        </p:nvSpPr>
        <p:spPr>
          <a:xfrm>
            <a:off x="2615184" y="2045601"/>
            <a:ext cx="8741664" cy="233910"/>
          </a:xfrm>
          <a:prstGeom prst="rect">
            <a:avLst/>
          </a:prstGeom>
          <a:noFill/>
        </p:spPr>
        <p:txBody>
          <a:bodyPr wrap="square" lIns="9144" tIns="9144" rIns="9144" bIns="9144" anchor="ctr">
            <a:spAutoFit/>
          </a:bodyPr>
          <a:lstStyle/>
          <a:p>
            <a:pPr algn="ctr">
              <a:lnSpc>
                <a:spcPct val="100000"/>
              </a:lnSpc>
              <a:spcAft>
                <a:spcPts val="0"/>
              </a:spcAft>
            </a:pPr>
            <a:r>
              <a:rPr lang="ko-KR" altLang="en-US" sz="1400" b="1" dirty="0">
                <a:solidFill>
                  <a:srgbClr val="FFFFFF"/>
                </a:solidFill>
                <a:latin typeface="맑은 고딕"/>
                <a:ea typeface="맑은 고딕"/>
                <a:cs typeface="맑은 고딕"/>
              </a:rPr>
              <a:t>세부 사항</a:t>
            </a:r>
            <a:endParaRPr sz="1400" b="1" dirty="0">
              <a:solidFill>
                <a:srgbClr val="FFFFFF"/>
              </a:solidFill>
              <a:latin typeface="맑은 고딕"/>
              <a:ea typeface="맑은 고딕"/>
              <a:cs typeface="맑은 고딕"/>
            </a:endParaRPr>
          </a:p>
        </p:txBody>
      </p:sp>
      <p:sp>
        <p:nvSpPr>
          <p:cNvPr id="38" name="Rectangle 37"/>
          <p:cNvSpPr/>
          <p:nvPr/>
        </p:nvSpPr>
        <p:spPr>
          <a:xfrm>
            <a:off x="694944" y="2459736"/>
            <a:ext cx="1847088" cy="59436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9" name="TextBox 38"/>
          <p:cNvSpPr txBox="1"/>
          <p:nvPr/>
        </p:nvSpPr>
        <p:spPr>
          <a:xfrm>
            <a:off x="768096" y="2496312"/>
            <a:ext cx="1700784" cy="521208"/>
          </a:xfrm>
          <a:prstGeom prst="rect">
            <a:avLst/>
          </a:prstGeom>
          <a:noFill/>
        </p:spPr>
        <p:txBody>
          <a:bodyPr wrap="square" lIns="9144" tIns="9144" rIns="9144" bIns="9144" anchor="ctr">
            <a:spAutoFit/>
          </a:bodyPr>
          <a:lstStyle/>
          <a:p>
            <a:pPr algn="l">
              <a:lnSpc>
                <a:spcPct val="100000"/>
              </a:lnSpc>
              <a:spcAft>
                <a:spcPts val="0"/>
              </a:spcAft>
            </a:pPr>
            <a:r>
              <a:rPr sz="1400" b="1">
                <a:solidFill>
                  <a:srgbClr val="3A3A3A"/>
                </a:solidFill>
                <a:latin typeface="맑은 고딕"/>
                <a:ea typeface="맑은 고딕"/>
                <a:cs typeface="맑은 고딕"/>
              </a:rPr>
              <a:t>대상·환경</a:t>
            </a:r>
          </a:p>
        </p:txBody>
      </p:sp>
      <p:sp>
        <p:nvSpPr>
          <p:cNvPr id="40" name="Rectangle 39"/>
          <p:cNvSpPr/>
          <p:nvPr/>
        </p:nvSpPr>
        <p:spPr>
          <a:xfrm>
            <a:off x="2542032" y="2459736"/>
            <a:ext cx="8887968" cy="59436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1" name="TextBox 40"/>
          <p:cNvSpPr txBox="1"/>
          <p:nvPr/>
        </p:nvSpPr>
        <p:spPr>
          <a:xfrm>
            <a:off x="2615184" y="2496312"/>
            <a:ext cx="8741664" cy="521208"/>
          </a:xfrm>
          <a:prstGeom prst="rect">
            <a:avLst/>
          </a:prstGeom>
          <a:noFill/>
        </p:spPr>
        <p:txBody>
          <a:bodyPr wrap="square" lIns="9144" tIns="9144" rIns="9144" bIns="9144" anchor="ctr">
            <a:spAutoFit/>
          </a:bodyPr>
          <a:lstStyle/>
          <a:p>
            <a:pPr algn="ctr">
              <a:lnSpc>
                <a:spcPct val="100000"/>
              </a:lnSpc>
              <a:spcAft>
                <a:spcPts val="0"/>
              </a:spcAft>
            </a:pPr>
            <a:r>
              <a:rPr sz="1400" b="0" dirty="0">
                <a:solidFill>
                  <a:srgbClr val="3A3A3A"/>
                </a:solidFill>
                <a:latin typeface="맑은 고딕"/>
                <a:ea typeface="맑은 고딕"/>
                <a:cs typeface="맑은 고딕"/>
              </a:rPr>
              <a:t>Isaac Gym · Unitree A1 · 12개 </a:t>
            </a:r>
            <a:r>
              <a:rPr sz="1400" b="0" dirty="0" err="1">
                <a:solidFill>
                  <a:srgbClr val="3A3A3A"/>
                </a:solidFill>
                <a:latin typeface="맑은 고딕"/>
                <a:ea typeface="맑은 고딕"/>
                <a:cs typeface="맑은 고딕"/>
              </a:rPr>
              <a:t>관절</a:t>
            </a:r>
            <a:r>
              <a:rPr sz="1400" b="0" dirty="0">
                <a:solidFill>
                  <a:srgbClr val="3A3A3A"/>
                </a:solidFill>
                <a:latin typeface="맑은 고딕"/>
                <a:ea typeface="맑은 고딕"/>
                <a:cs typeface="맑은 고딕"/>
              </a:rPr>
              <a:t> 중 </a:t>
            </a:r>
            <a:r>
              <a:rPr sz="1400" b="0" dirty="0" err="1">
                <a:solidFill>
                  <a:srgbClr val="3A3A3A"/>
                </a:solidFill>
                <a:latin typeface="맑은 고딕"/>
                <a:ea typeface="맑은 고딕"/>
                <a:cs typeface="맑은 고딕"/>
              </a:rPr>
              <a:t>하나의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출력</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저하</a:t>
            </a:r>
            <a:endParaRPr sz="1400" b="0" dirty="0">
              <a:solidFill>
                <a:srgbClr val="3A3A3A"/>
              </a:solidFill>
              <a:latin typeface="맑은 고딕"/>
              <a:ea typeface="맑은 고딕"/>
              <a:cs typeface="맑은 고딕"/>
            </a:endParaRPr>
          </a:p>
        </p:txBody>
      </p:sp>
      <p:sp>
        <p:nvSpPr>
          <p:cNvPr id="42" name="Rectangle 41"/>
          <p:cNvSpPr/>
          <p:nvPr/>
        </p:nvSpPr>
        <p:spPr>
          <a:xfrm>
            <a:off x="694944" y="3054096"/>
            <a:ext cx="1847088" cy="59436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3" name="TextBox 42"/>
          <p:cNvSpPr txBox="1"/>
          <p:nvPr/>
        </p:nvSpPr>
        <p:spPr>
          <a:xfrm>
            <a:off x="768096" y="3090672"/>
            <a:ext cx="1700784" cy="521208"/>
          </a:xfrm>
          <a:prstGeom prst="rect">
            <a:avLst/>
          </a:prstGeom>
          <a:noFill/>
        </p:spPr>
        <p:txBody>
          <a:bodyPr wrap="square" lIns="9144" tIns="9144" rIns="9144" bIns="9144" anchor="ctr">
            <a:spAutoFit/>
          </a:bodyPr>
          <a:lstStyle/>
          <a:p>
            <a:pPr algn="l">
              <a:lnSpc>
                <a:spcPct val="100000"/>
              </a:lnSpc>
              <a:spcAft>
                <a:spcPts val="0"/>
              </a:spcAft>
            </a:pPr>
            <a:r>
              <a:rPr sz="1400" b="1">
                <a:solidFill>
                  <a:srgbClr val="3A3A3A"/>
                </a:solidFill>
                <a:latin typeface="맑은 고딕"/>
                <a:ea typeface="맑은 고딕"/>
                <a:cs typeface="맑은 고딕"/>
              </a:rPr>
              <a:t>방법</a:t>
            </a:r>
          </a:p>
        </p:txBody>
      </p:sp>
      <p:sp>
        <p:nvSpPr>
          <p:cNvPr id="44" name="Rectangle 43"/>
          <p:cNvSpPr/>
          <p:nvPr/>
        </p:nvSpPr>
        <p:spPr>
          <a:xfrm>
            <a:off x="2542032" y="3054096"/>
            <a:ext cx="8887968" cy="59436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5" name="TextBox 44"/>
          <p:cNvSpPr txBox="1"/>
          <p:nvPr/>
        </p:nvSpPr>
        <p:spPr>
          <a:xfrm>
            <a:off x="2615184" y="3090672"/>
            <a:ext cx="8741664" cy="521208"/>
          </a:xfrm>
          <a:prstGeom prst="rect">
            <a:avLst/>
          </a:prstGeom>
          <a:noFill/>
        </p:spPr>
        <p:txBody>
          <a:bodyPr wrap="square" lIns="9144" tIns="9144" rIns="9144" bIns="9144" anchor="ctr">
            <a:spAutoFit/>
          </a:bodyPr>
          <a:lstStyle/>
          <a:p>
            <a:pPr algn="ctr">
              <a:lnSpc>
                <a:spcPct val="100000"/>
              </a:lnSpc>
              <a:spcAft>
                <a:spcPts val="0"/>
              </a:spcAft>
            </a:pPr>
            <a:r>
              <a:rPr sz="1400" b="0" dirty="0" err="1">
                <a:solidFill>
                  <a:srgbClr val="3A3A3A"/>
                </a:solidFill>
                <a:latin typeface="맑은 고딕"/>
                <a:ea typeface="맑은 고딕"/>
                <a:cs typeface="맑은 고딕"/>
              </a:rPr>
              <a:t>물리정보를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받는</a:t>
            </a:r>
            <a:r>
              <a:rPr sz="1400" b="0" dirty="0">
                <a:solidFill>
                  <a:srgbClr val="3A3A3A"/>
                </a:solidFill>
                <a:latin typeface="맑은 고딕"/>
                <a:ea typeface="맑은 고딕"/>
                <a:cs typeface="맑은 고딕"/>
              </a:rPr>
              <a:t> Teacher → </a:t>
            </a:r>
            <a:r>
              <a:rPr sz="1400" b="0" dirty="0" err="1">
                <a:solidFill>
                  <a:srgbClr val="3A3A3A"/>
                </a:solidFill>
                <a:latin typeface="맑은 고딕"/>
                <a:ea typeface="맑은 고딕"/>
                <a:cs typeface="맑은 고딕"/>
              </a:rPr>
              <a:t>최근</a:t>
            </a:r>
            <a:r>
              <a:rPr sz="1400" b="0" dirty="0">
                <a:solidFill>
                  <a:srgbClr val="3A3A3A"/>
                </a:solidFill>
                <a:latin typeface="맑은 고딕"/>
                <a:ea typeface="맑은 고딕"/>
                <a:cs typeface="맑은 고딕"/>
              </a:rPr>
              <a:t> 1초 </a:t>
            </a:r>
            <a:r>
              <a:rPr sz="1400" b="0" dirty="0" err="1">
                <a:solidFill>
                  <a:srgbClr val="3A3A3A"/>
                </a:solidFill>
                <a:latin typeface="맑은 고딕"/>
                <a:ea typeface="맑은 고딕"/>
                <a:cs typeface="맑은 고딕"/>
              </a:rPr>
              <a:t>관측</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이력을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쓰는</a:t>
            </a:r>
            <a:r>
              <a:rPr sz="1400" b="0" dirty="0">
                <a:solidFill>
                  <a:srgbClr val="3A3A3A"/>
                </a:solidFill>
                <a:latin typeface="맑은 고딕"/>
                <a:ea typeface="맑은 고딕"/>
                <a:cs typeface="맑은 고딕"/>
              </a:rPr>
              <a:t> Student</a:t>
            </a:r>
          </a:p>
        </p:txBody>
      </p:sp>
      <p:sp>
        <p:nvSpPr>
          <p:cNvPr id="46" name="Rectangle 45"/>
          <p:cNvSpPr/>
          <p:nvPr/>
        </p:nvSpPr>
        <p:spPr>
          <a:xfrm>
            <a:off x="694944" y="3648456"/>
            <a:ext cx="1847088" cy="59436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7" name="TextBox 46"/>
          <p:cNvSpPr txBox="1"/>
          <p:nvPr/>
        </p:nvSpPr>
        <p:spPr>
          <a:xfrm>
            <a:off x="768096" y="3685032"/>
            <a:ext cx="1700784" cy="521208"/>
          </a:xfrm>
          <a:prstGeom prst="rect">
            <a:avLst/>
          </a:prstGeom>
          <a:noFill/>
        </p:spPr>
        <p:txBody>
          <a:bodyPr wrap="square" lIns="9144" tIns="9144" rIns="9144" bIns="9144" anchor="ctr">
            <a:spAutoFit/>
          </a:bodyPr>
          <a:lstStyle/>
          <a:p>
            <a:pPr algn="l">
              <a:lnSpc>
                <a:spcPct val="100000"/>
              </a:lnSpc>
              <a:spcAft>
                <a:spcPts val="0"/>
              </a:spcAft>
            </a:pPr>
            <a:r>
              <a:rPr sz="1400" b="1">
                <a:solidFill>
                  <a:srgbClr val="3A3A3A"/>
                </a:solidFill>
                <a:latin typeface="맑은 고딕"/>
                <a:ea typeface="맑은 고딕"/>
                <a:cs typeface="맑은 고딕"/>
              </a:rPr>
              <a:t>검증 목표</a:t>
            </a:r>
          </a:p>
        </p:txBody>
      </p:sp>
      <p:sp>
        <p:nvSpPr>
          <p:cNvPr id="48" name="Rectangle 47"/>
          <p:cNvSpPr/>
          <p:nvPr/>
        </p:nvSpPr>
        <p:spPr>
          <a:xfrm>
            <a:off x="2542032" y="3648456"/>
            <a:ext cx="8887968" cy="59436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9" name="TextBox 48"/>
          <p:cNvSpPr txBox="1"/>
          <p:nvPr/>
        </p:nvSpPr>
        <p:spPr>
          <a:xfrm>
            <a:off x="2615184" y="3685032"/>
            <a:ext cx="8741664" cy="521208"/>
          </a:xfrm>
          <a:prstGeom prst="rect">
            <a:avLst/>
          </a:prstGeom>
          <a:noFill/>
        </p:spPr>
        <p:txBody>
          <a:bodyPr wrap="square" lIns="9144" tIns="9144" rIns="9144" bIns="9144" anchor="ctr">
            <a:spAutoFit/>
          </a:bodyPr>
          <a:lstStyle/>
          <a:p>
            <a:pPr algn="ctr">
              <a:lnSpc>
                <a:spcPct val="100000"/>
              </a:lnSpc>
              <a:spcAft>
                <a:spcPts val="0"/>
              </a:spcAft>
            </a:pPr>
            <a:r>
              <a:rPr sz="1400" b="0">
                <a:solidFill>
                  <a:srgbClr val="3A3A3A"/>
                </a:solidFill>
                <a:latin typeface="맑은 고딕"/>
                <a:ea typeface="맑은 고딕"/>
                <a:cs typeface="맑은 고딕"/>
              </a:rPr>
              <a:t>고장 후 20초 생존 · 명령 속도 추종 · 1초 연속 안정 회복</a:t>
            </a:r>
          </a:p>
        </p:txBody>
      </p:sp>
      <p:sp>
        <p:nvSpPr>
          <p:cNvPr id="50" name="Rectangle 49"/>
          <p:cNvSpPr/>
          <p:nvPr/>
        </p:nvSpPr>
        <p:spPr>
          <a:xfrm>
            <a:off x="694944" y="4242816"/>
            <a:ext cx="1847088" cy="59436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1" name="TextBox 50"/>
          <p:cNvSpPr txBox="1"/>
          <p:nvPr/>
        </p:nvSpPr>
        <p:spPr>
          <a:xfrm>
            <a:off x="768096" y="4279392"/>
            <a:ext cx="1700784" cy="521208"/>
          </a:xfrm>
          <a:prstGeom prst="rect">
            <a:avLst/>
          </a:prstGeom>
          <a:noFill/>
        </p:spPr>
        <p:txBody>
          <a:bodyPr wrap="square" lIns="9144" tIns="9144" rIns="9144" bIns="9144" anchor="ctr">
            <a:spAutoFit/>
          </a:bodyPr>
          <a:lstStyle/>
          <a:p>
            <a:pPr algn="l">
              <a:lnSpc>
                <a:spcPct val="100000"/>
              </a:lnSpc>
              <a:spcAft>
                <a:spcPts val="0"/>
              </a:spcAft>
            </a:pPr>
            <a:r>
              <a:rPr sz="1400" b="1">
                <a:solidFill>
                  <a:srgbClr val="3A3A3A"/>
                </a:solidFill>
                <a:latin typeface="맑은 고딕"/>
                <a:ea typeface="맑은 고딕"/>
                <a:cs typeface="맑은 고딕"/>
              </a:rPr>
              <a:t>완료</a:t>
            </a:r>
          </a:p>
        </p:txBody>
      </p:sp>
      <p:sp>
        <p:nvSpPr>
          <p:cNvPr id="52" name="Rectangle 51"/>
          <p:cNvSpPr/>
          <p:nvPr/>
        </p:nvSpPr>
        <p:spPr>
          <a:xfrm>
            <a:off x="2542032" y="4242816"/>
            <a:ext cx="8887968" cy="59436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3" name="TextBox 52"/>
          <p:cNvSpPr txBox="1"/>
          <p:nvPr/>
        </p:nvSpPr>
        <p:spPr>
          <a:xfrm>
            <a:off x="2615184" y="4279392"/>
            <a:ext cx="8741664" cy="521208"/>
          </a:xfrm>
          <a:prstGeom prst="rect">
            <a:avLst/>
          </a:prstGeom>
          <a:noFill/>
        </p:spPr>
        <p:txBody>
          <a:bodyPr wrap="square" lIns="9144" tIns="9144" rIns="9144" bIns="9144" anchor="ctr">
            <a:spAutoFit/>
          </a:bodyPr>
          <a:lstStyle/>
          <a:p>
            <a:pPr algn="ctr">
              <a:lnSpc>
                <a:spcPct val="100000"/>
              </a:lnSpc>
              <a:spcAft>
                <a:spcPts val="0"/>
              </a:spcAft>
            </a:pPr>
            <a:r>
              <a:rPr sz="1400" b="0">
                <a:solidFill>
                  <a:srgbClr val="3A3A3A"/>
                </a:solidFill>
                <a:latin typeface="맑은 고딕"/>
                <a:ea typeface="맑은 고딕"/>
                <a:cs typeface="맑은 고딕"/>
              </a:rPr>
              <a:t>Teacher/Student 학습 · 동일 조건 비교 · 관절별 분석 · history 개입 실험</a:t>
            </a:r>
          </a:p>
        </p:txBody>
      </p:sp>
      <p:sp>
        <p:nvSpPr>
          <p:cNvPr id="54" name="Rectangle 53"/>
          <p:cNvSpPr/>
          <p:nvPr/>
        </p:nvSpPr>
        <p:spPr>
          <a:xfrm>
            <a:off x="694944" y="4837176"/>
            <a:ext cx="1847088" cy="59436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5" name="TextBox 54"/>
          <p:cNvSpPr txBox="1"/>
          <p:nvPr/>
        </p:nvSpPr>
        <p:spPr>
          <a:xfrm>
            <a:off x="768096" y="4873752"/>
            <a:ext cx="1700784" cy="521208"/>
          </a:xfrm>
          <a:prstGeom prst="rect">
            <a:avLst/>
          </a:prstGeom>
          <a:noFill/>
        </p:spPr>
        <p:txBody>
          <a:bodyPr wrap="square" lIns="9144" tIns="9144" rIns="9144" bIns="9144" anchor="ctr">
            <a:spAutoFit/>
          </a:bodyPr>
          <a:lstStyle/>
          <a:p>
            <a:pPr algn="l">
              <a:lnSpc>
                <a:spcPct val="100000"/>
              </a:lnSpc>
              <a:spcAft>
                <a:spcPts val="0"/>
              </a:spcAft>
            </a:pPr>
            <a:r>
              <a:rPr sz="1400" b="1">
                <a:solidFill>
                  <a:srgbClr val="3A3A3A"/>
                </a:solidFill>
                <a:latin typeface="맑은 고딕"/>
                <a:ea typeface="맑은 고딕"/>
                <a:cs typeface="맑은 고딕"/>
              </a:rPr>
              <a:t>남은 과제</a:t>
            </a:r>
          </a:p>
        </p:txBody>
      </p:sp>
      <p:sp>
        <p:nvSpPr>
          <p:cNvPr id="56" name="Rectangle 55"/>
          <p:cNvSpPr/>
          <p:nvPr/>
        </p:nvSpPr>
        <p:spPr>
          <a:xfrm>
            <a:off x="2542032" y="4837176"/>
            <a:ext cx="8887968" cy="59436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7" name="TextBox 56"/>
          <p:cNvSpPr txBox="1"/>
          <p:nvPr/>
        </p:nvSpPr>
        <p:spPr>
          <a:xfrm>
            <a:off x="2615184" y="4873752"/>
            <a:ext cx="8741664" cy="521208"/>
          </a:xfrm>
          <a:prstGeom prst="rect">
            <a:avLst/>
          </a:prstGeom>
          <a:noFill/>
        </p:spPr>
        <p:txBody>
          <a:bodyPr wrap="square" lIns="9144" tIns="9144" rIns="9144" bIns="9144" anchor="ctr">
            <a:spAutoFit/>
          </a:bodyPr>
          <a:lstStyle/>
          <a:p>
            <a:pPr algn="ctr">
              <a:lnSpc>
                <a:spcPct val="100000"/>
              </a:lnSpc>
              <a:spcAft>
                <a:spcPts val="0"/>
              </a:spcAft>
            </a:pPr>
            <a:r>
              <a:rPr sz="1400" b="0">
                <a:solidFill>
                  <a:srgbClr val="3A3A3A"/>
                </a:solidFill>
                <a:latin typeface="맑은 고딕"/>
                <a:ea typeface="맑은 고딕"/>
                <a:cs typeface="맑은 고딕"/>
              </a:rPr>
              <a:t>심한 고장의 회복 저하 원인 분석 · 미평가 속도/지형 검증 · 재학습 반복</a:t>
            </a:r>
          </a:p>
        </p:txBody>
      </p:sp>
    </p:spTree>
    <p:extLst>
      <p:ext uri="{BB962C8B-B14F-4D97-AF65-F5344CB8AC3E}">
        <p14:creationId xmlns:p14="http://schemas.microsoft.com/office/powerpoint/2010/main" val="148711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title-3">
            <a:extLst>
              <a:ext uri="{FF2B5EF4-FFF2-40B4-BE49-F238E27FC236}">
                <a16:creationId xmlns:a16="http://schemas.microsoft.com/office/drawing/2014/main" id="{ED60C92C-478E-4ACF-875B-58C9CC017EA9}"/>
              </a:ext>
            </a:extLst>
          </p:cNvPr>
          <p:cNvSpPr>
            <a:spLocks noGrp="1"/>
          </p:cNvSpPr>
          <p:nvPr/>
        </p:nvSpPr>
        <p:spPr>
          <a:xfrm>
            <a:off x="552450" y="285750"/>
            <a:ext cx="11087100" cy="514350"/>
          </a:xfrm>
          <a:prstGeom prst="rect">
            <a:avLst/>
          </a:prstGeom>
          <a:noFill/>
          <a:ln w="0">
            <a:noFill/>
            <a:prstDash val="solid"/>
          </a:ln>
        </p:spPr>
        <p:txBody>
          <a:bodyPr wrap="square" lIns="0" tIns="0" rIns="0" bIns="0" anchor="ctr">
            <a:normAutofit fontScale="98080"/>
          </a:bodyPr>
          <a:lstStyle/>
          <a:p>
            <a:pPr algn="l">
              <a:lnSpc>
                <a:spcPct val="100000"/>
              </a:lnSpc>
              <a:buNone/>
              <a:defRPr sz="3450" b="1">
                <a:solidFill>
                  <a:srgbClr val="111111"/>
                </a:solidFill>
                <a:latin typeface="Noto Sans CJK KR"/>
                <a:ea typeface="Noto Sans CJK KR"/>
                <a:cs typeface="Noto Sans CJK KR"/>
              </a:defRPr>
            </a:pPr>
            <a:r>
              <a:rPr sz="2800" b="1">
                <a:solidFill>
                  <a:srgbClr val="111111"/>
                </a:solidFill>
                <a:latin typeface="맑은 고딕"/>
                <a:ea typeface="맑은 고딕"/>
                <a:cs typeface="맑은 고딕"/>
              </a:rPr>
              <a:t>03 | 4족 보행 로봇의 구조</a:t>
            </a:r>
            <a:r>
              <a:rPr sz="800" b="0" baseline="30000">
                <a:solidFill>
                  <a:srgbClr val="686868"/>
                </a:solidFill>
                <a:latin typeface="맑은 고딕"/>
                <a:ea typeface="맑은 고딕"/>
                <a:cs typeface="맑은 고딕"/>
              </a:rPr>
              <a:t>  1) 2)</a:t>
            </a:r>
          </a:p>
        </p:txBody>
      </p:sp>
      <p:sp>
        <p:nvSpPr>
          <p:cNvPr id="2" name="header-rule-3">
            <a:extLst>
              <a:ext uri="{FF2B5EF4-FFF2-40B4-BE49-F238E27FC236}">
                <a16:creationId xmlns:a16="http://schemas.microsoft.com/office/drawing/2014/main" id="{3E41D70F-6CF2-4631-8EF3-CD7D6D47B51E}"/>
              </a:ext>
            </a:extLst>
          </p:cNvPr>
          <p:cNvSpPr>
            <a:spLocks noGrp="1"/>
          </p:cNvSpPr>
          <p:nvPr/>
        </p:nvSpPr>
        <p:spPr>
          <a:xfrm>
            <a:off x="552450" y="971550"/>
            <a:ext cx="11087100" cy="0"/>
          </a:xfrm>
          <a:prstGeom prst="line">
            <a:avLst/>
          </a:prstGeom>
          <a:noFill/>
          <a:ln w="14288">
            <a:solidFill>
              <a:srgbClr val="111111"/>
            </a:solidFill>
            <a:prstDash val="solid"/>
          </a:ln>
        </p:spPr>
        <p:txBody>
          <a:bodyPr/>
          <a:lstStyle/>
          <a:p>
            <a:pPr>
              <a:lnSpc>
                <a:spcPct val="100000"/>
              </a:lnSpc>
            </a:pPr>
            <a:endParaRPr lang="ko-KR" altLang="en-US"/>
          </a:p>
        </p:txBody>
      </p:sp>
      <p:sp>
        <p:nvSpPr>
          <p:cNvPr id="3" name="section-3">
            <a:extLst>
              <a:ext uri="{FF2B5EF4-FFF2-40B4-BE49-F238E27FC236}">
                <a16:creationId xmlns:a16="http://schemas.microsoft.com/office/drawing/2014/main" id="{2FB63FCF-B2A0-4917-B4F0-1D11E9DD807C}"/>
              </a:ext>
            </a:extLst>
          </p:cNvPr>
          <p:cNvSpPr>
            <a:spLocks noGrp="1"/>
          </p:cNvSpPr>
          <p:nvPr/>
        </p:nvSpPr>
        <p:spPr>
          <a:xfrm>
            <a:off x="571500" y="1009650"/>
            <a:ext cx="3429000" cy="209550"/>
          </a:xfrm>
          <a:prstGeom prst="rect">
            <a:avLst/>
          </a:prstGeom>
          <a:noFill/>
          <a:ln w="0">
            <a:noFill/>
            <a:prstDash val="solid"/>
          </a:ln>
        </p:spPr>
        <p:txBody>
          <a:bodyPr wrap="square" lIns="0" tIns="0" rIns="0" bIns="0" anchor="ctr">
            <a:normAutofit/>
          </a:bodyPr>
          <a:lstStyle/>
          <a:p>
            <a:pPr algn="l">
              <a:lnSpc>
                <a:spcPct val="100000"/>
              </a:lnSpc>
              <a:buNone/>
              <a:defRPr sz="900" b="1">
                <a:solidFill>
                  <a:srgbClr val="686868"/>
                </a:solidFill>
                <a:latin typeface="Noto Sans CJK KR"/>
                <a:ea typeface="Noto Sans CJK KR"/>
                <a:cs typeface="Noto Sans CJK KR"/>
              </a:defRPr>
            </a:pPr>
            <a:r>
              <a:rPr sz="900" b="1">
                <a:solidFill>
                  <a:srgbClr val="686868"/>
                </a:solidFill>
                <a:latin typeface="맑은 고딕"/>
                <a:ea typeface="맑은 고딕"/>
                <a:cs typeface="맑은 고딕"/>
              </a:rPr>
              <a:t>RESEARCH BACKGROUND</a:t>
            </a:r>
          </a:p>
        </p:txBody>
      </p:sp>
      <p:sp>
        <p:nvSpPr>
          <p:cNvPr id="4" name="footer-rule-3">
            <a:extLst>
              <a:ext uri="{FF2B5EF4-FFF2-40B4-BE49-F238E27FC236}">
                <a16:creationId xmlns:a16="http://schemas.microsoft.com/office/drawing/2014/main" id="{EC12C76F-EB4F-4FD7-ABE8-1F5484832801}"/>
              </a:ext>
            </a:extLst>
          </p:cNvPr>
          <p:cNvSpPr>
            <a:spLocks noGrp="1"/>
          </p:cNvSpPr>
          <p:nvPr/>
        </p:nvSpPr>
        <p:spPr>
          <a:xfrm>
            <a:off x="552450" y="6210300"/>
            <a:ext cx="11087100" cy="0"/>
          </a:xfrm>
          <a:prstGeom prst="line">
            <a:avLst/>
          </a:prstGeom>
          <a:noFill/>
          <a:ln w="9525">
            <a:solidFill>
              <a:srgbClr val="CFCFCF"/>
            </a:solidFill>
            <a:prstDash val="solid"/>
          </a:ln>
        </p:spPr>
        <p:txBody>
          <a:bodyPr/>
          <a:lstStyle/>
          <a:p>
            <a:pPr>
              <a:lnSpc>
                <a:spcPct val="100000"/>
              </a:lnSpc>
            </a:pPr>
            <a:endParaRPr lang="ko-KR" altLang="en-US"/>
          </a:p>
        </p:txBody>
      </p:sp>
      <p:sp>
        <p:nvSpPr>
          <p:cNvPr id="5" name="source-3">
            <a:extLst>
              <a:ext uri="{FF2B5EF4-FFF2-40B4-BE49-F238E27FC236}">
                <a16:creationId xmlns:a16="http://schemas.microsoft.com/office/drawing/2014/main" id="{5CACAC4E-BFAC-49DC-9B62-FC103C0BC1EB}"/>
              </a:ext>
            </a:extLst>
          </p:cNvPr>
          <p:cNvSpPr>
            <a:spLocks noGrp="1"/>
          </p:cNvSpPr>
          <p:nvPr/>
        </p:nvSpPr>
        <p:spPr>
          <a:xfrm>
            <a:off x="571500" y="6286500"/>
            <a:ext cx="9906000" cy="266700"/>
          </a:xfrm>
          <a:prstGeom prst="rect">
            <a:avLst/>
          </a:prstGeom>
          <a:noFill/>
          <a:ln w="0">
            <a:noFill/>
            <a:prstDash val="solid"/>
          </a:ln>
        </p:spPr>
        <p:txBody>
          <a:bodyPr wrap="square" lIns="0" tIns="0" rIns="0" bIns="0" anchor="ctr">
            <a:normAutofit/>
          </a:bodyPr>
          <a:lstStyle/>
          <a:p>
            <a:pPr algn="l">
              <a:lnSpc>
                <a:spcPct val="100000"/>
              </a:lnSpc>
              <a:buNone/>
              <a:defRPr sz="863" b="0">
                <a:solidFill>
                  <a:srgbClr val="686868"/>
                </a:solidFill>
                <a:latin typeface="Noto Sans CJK KR"/>
                <a:ea typeface="Noto Sans CJK KR"/>
                <a:cs typeface="Noto Sans CJK KR"/>
              </a:defRPr>
            </a:pPr>
            <a:r>
              <a:rPr sz="720" b="0">
                <a:solidFill>
                  <a:srgbClr val="686868"/>
                </a:solidFill>
                <a:latin typeface="맑은 고딕"/>
                <a:ea typeface="맑은 고딕"/>
                <a:cs typeface="맑은 고딕"/>
              </a:rPr>
              <a:t>1) Liu et al., Saving the Limping, arXiv:2210.00474v3, 2023.   2) Wu et al., ADAPT, DAI ’23, 2023.</a:t>
            </a:r>
          </a:p>
        </p:txBody>
      </p:sp>
      <p:sp>
        <p:nvSpPr>
          <p:cNvPr id="6" name="page-3">
            <a:extLst>
              <a:ext uri="{FF2B5EF4-FFF2-40B4-BE49-F238E27FC236}">
                <a16:creationId xmlns:a16="http://schemas.microsoft.com/office/drawing/2014/main" id="{FACB57E9-5163-4190-96E7-AC2C95B14DA4}"/>
              </a:ext>
            </a:extLst>
          </p:cNvPr>
          <p:cNvSpPr>
            <a:spLocks noGrp="1"/>
          </p:cNvSpPr>
          <p:nvPr/>
        </p:nvSpPr>
        <p:spPr>
          <a:xfrm>
            <a:off x="10572750" y="6286500"/>
            <a:ext cx="1047750" cy="266700"/>
          </a:xfrm>
          <a:prstGeom prst="rect">
            <a:avLst/>
          </a:prstGeom>
          <a:noFill/>
          <a:ln w="0">
            <a:noFill/>
            <a:prstDash val="solid"/>
          </a:ln>
        </p:spPr>
        <p:txBody>
          <a:bodyPr wrap="square" lIns="0" tIns="0" rIns="0" bIns="0" anchor="ctr">
            <a:normAutofit/>
          </a:bodyPr>
          <a:lstStyle/>
          <a:p>
            <a:pPr algn="r">
              <a:lnSpc>
                <a:spcPct val="100000"/>
              </a:lnSpc>
              <a:buNone/>
              <a:defRPr sz="900" b="0">
                <a:solidFill>
                  <a:srgbClr val="686868"/>
                </a:solidFill>
                <a:latin typeface="Noto Sans CJK KR"/>
                <a:ea typeface="Noto Sans CJK KR"/>
                <a:cs typeface="Noto Sans CJK KR"/>
              </a:defRPr>
            </a:pPr>
            <a:r>
              <a:rPr sz="900" b="0">
                <a:solidFill>
                  <a:srgbClr val="686868"/>
                </a:solidFill>
                <a:latin typeface="맑은 고딕"/>
                <a:ea typeface="맑은 고딕"/>
                <a:cs typeface="맑은 고딕"/>
              </a:rPr>
              <a:t>03 / 43</a:t>
            </a:r>
          </a:p>
        </p:txBody>
      </p:sp>
      <p:sp>
        <p:nvSpPr>
          <p:cNvPr id="7" name="robot-lead">
            <a:extLst>
              <a:ext uri="{FF2B5EF4-FFF2-40B4-BE49-F238E27FC236}">
                <a16:creationId xmlns:a16="http://schemas.microsoft.com/office/drawing/2014/main" id="{E3CC6D4F-ECDB-4493-8AEA-533E8E10E318}"/>
              </a:ext>
            </a:extLst>
          </p:cNvPr>
          <p:cNvSpPr>
            <a:spLocks noGrp="1"/>
          </p:cNvSpPr>
          <p:nvPr/>
        </p:nvSpPr>
        <p:spPr>
          <a:xfrm>
            <a:off x="590550" y="1801459"/>
            <a:ext cx="11049000" cy="278511"/>
          </a:xfrm>
          <a:prstGeom prst="rect">
            <a:avLst/>
          </a:prstGeom>
          <a:noFill/>
          <a:ln w="0">
            <a:noFill/>
            <a:prstDash val="solid"/>
          </a:ln>
        </p:spPr>
        <p:txBody>
          <a:bodyPr wrap="square" lIns="0" tIns="0" rIns="0" bIns="0" anchor="ctr">
            <a:normAutofit lnSpcReduction="10000"/>
          </a:bodyPr>
          <a:lstStyle/>
          <a:p>
            <a:pPr algn="l">
              <a:lnSpc>
                <a:spcPct val="100000"/>
              </a:lnSpc>
              <a:buNone/>
              <a:defRPr sz="1950" b="1">
                <a:solidFill>
                  <a:srgbClr val="111111"/>
                </a:solidFill>
                <a:latin typeface="Noto Sans CJK KR"/>
                <a:ea typeface="Noto Sans CJK KR"/>
                <a:cs typeface="Noto Sans CJK KR"/>
              </a:defRPr>
            </a:pPr>
            <a:r>
              <a:rPr sz="1950" b="1">
                <a:solidFill>
                  <a:srgbClr val="111111"/>
                </a:solidFill>
                <a:latin typeface="맑은 고딕"/>
                <a:ea typeface="맑은 고딕"/>
                <a:cs typeface="맑은 고딕"/>
              </a:rPr>
              <a:t>4개 다리 × 다리당 3개 관절 = 총 12개 구동 관절</a:t>
            </a:r>
          </a:p>
        </p:txBody>
      </p:sp>
      <p:pic>
        <p:nvPicPr>
          <p:cNvPr id="29" name="그림 28"/>
          <p:cNvPicPr>
            <a:picLocks noChangeAspect="1"/>
          </p:cNvPicPr>
          <p:nvPr/>
        </p:nvPicPr>
        <p:blipFill>
          <a:blip r:embed="rId3"/>
          <a:stretch/>
        </p:blipFill>
        <p:spPr>
          <a:xfrm>
            <a:off x="1241029" y="2341461"/>
            <a:ext cx="5216922" cy="2525027"/>
          </a:xfrm>
          <a:prstGeom prst="rect">
            <a:avLst/>
          </a:prstGeom>
        </p:spPr>
      </p:pic>
      <p:sp>
        <p:nvSpPr>
          <p:cNvPr id="10" name="vlabel-관절 역할">
            <a:extLst>
              <a:ext uri="{FF2B5EF4-FFF2-40B4-BE49-F238E27FC236}">
                <a16:creationId xmlns:a16="http://schemas.microsoft.com/office/drawing/2014/main" id="{F6194494-4FB9-4DD4-8FF6-D75ABF291E1C}"/>
              </a:ext>
            </a:extLst>
          </p:cNvPr>
          <p:cNvSpPr>
            <a:spLocks noGrp="1"/>
          </p:cNvSpPr>
          <p:nvPr/>
        </p:nvSpPr>
        <p:spPr>
          <a:xfrm>
            <a:off x="6419850" y="2227417"/>
            <a:ext cx="323850" cy="2572131"/>
          </a:xfrm>
          <a:prstGeom prst="rect">
            <a:avLst/>
          </a:prstGeom>
          <a:noFill/>
          <a:ln w="0">
            <a:noFill/>
            <a:prstDash val="solid"/>
          </a:ln>
        </p:spPr>
        <p:txBody>
          <a:bodyPr wrap="square" lIns="0" tIns="0" rIns="0" bIns="0" anchor="ctr">
            <a:normAutofit/>
          </a:bodyPr>
          <a:lstStyle/>
          <a:p>
            <a:pPr algn="ctr">
              <a:lnSpc>
                <a:spcPct val="100000"/>
              </a:lnSpc>
              <a:buNone/>
              <a:defRPr sz="1050" b="1">
                <a:solidFill>
                  <a:srgbClr val="FFFFFF"/>
                </a:solidFill>
                <a:latin typeface="Noto Sans CJK KR"/>
                <a:ea typeface="Noto Sans CJK KR"/>
                <a:cs typeface="Noto Sans CJK KR"/>
              </a:defRPr>
            </a:pPr>
            <a:r>
              <a:rPr sz="1050" b="1">
                <a:solidFill>
                  <a:srgbClr val="FFFFFF"/>
                </a:solidFill>
                <a:latin typeface="맑은 고딕"/>
                <a:ea typeface="맑은 고딕"/>
                <a:cs typeface="맑은 고딕"/>
              </a:rPr>
              <a:t>관</a:t>
            </a:r>
          </a:p>
          <a:p>
            <a:pPr algn="ctr">
              <a:lnSpc>
                <a:spcPct val="100000"/>
              </a:lnSpc>
              <a:buNone/>
              <a:defRPr sz="1050" b="1">
                <a:solidFill>
                  <a:srgbClr val="FFFFFF"/>
                </a:solidFill>
                <a:latin typeface="Noto Sans CJK KR"/>
                <a:ea typeface="Noto Sans CJK KR"/>
                <a:cs typeface="Noto Sans CJK KR"/>
              </a:defRPr>
            </a:pPr>
            <a:r>
              <a:rPr sz="1050" b="1">
                <a:solidFill>
                  <a:srgbClr val="FFFFFF"/>
                </a:solidFill>
                <a:latin typeface="맑은 고딕"/>
                <a:ea typeface="맑은 고딕"/>
                <a:cs typeface="맑은 고딕"/>
              </a:rPr>
              <a:t>절</a:t>
            </a:r>
          </a:p>
          <a:p>
            <a:pPr algn="ctr">
              <a:lnSpc>
                <a:spcPct val="100000"/>
              </a:lnSpc>
              <a:buNone/>
              <a:defRPr sz="1050" b="1">
                <a:solidFill>
                  <a:srgbClr val="FFFFFF"/>
                </a:solidFill>
                <a:latin typeface="Noto Sans CJK KR"/>
                <a:ea typeface="Noto Sans CJK KR"/>
                <a:cs typeface="Noto Sans CJK KR"/>
              </a:defRPr>
            </a:pPr>
            <a:r>
              <a:rPr sz="1050" b="1">
                <a:solidFill>
                  <a:srgbClr val="FFFFFF"/>
                </a:solidFill>
                <a:latin typeface="맑은 고딕"/>
                <a:ea typeface="맑은 고딕"/>
                <a:cs typeface="맑은 고딕"/>
              </a:rPr>
              <a:t> </a:t>
            </a:r>
          </a:p>
          <a:p>
            <a:pPr algn="ctr">
              <a:lnSpc>
                <a:spcPct val="100000"/>
              </a:lnSpc>
              <a:buNone/>
              <a:defRPr sz="1050" b="1">
                <a:solidFill>
                  <a:srgbClr val="FFFFFF"/>
                </a:solidFill>
                <a:latin typeface="Noto Sans CJK KR"/>
                <a:ea typeface="Noto Sans CJK KR"/>
                <a:cs typeface="Noto Sans CJK KR"/>
              </a:defRPr>
            </a:pPr>
            <a:r>
              <a:rPr sz="1050" b="1">
                <a:solidFill>
                  <a:srgbClr val="FFFFFF"/>
                </a:solidFill>
                <a:latin typeface="맑은 고딕"/>
                <a:ea typeface="맑은 고딕"/>
                <a:cs typeface="맑은 고딕"/>
              </a:rPr>
              <a:t>역</a:t>
            </a:r>
          </a:p>
          <a:p>
            <a:pPr algn="ctr">
              <a:lnSpc>
                <a:spcPct val="100000"/>
              </a:lnSpc>
              <a:buNone/>
              <a:defRPr sz="1050" b="1">
                <a:solidFill>
                  <a:srgbClr val="FFFFFF"/>
                </a:solidFill>
                <a:latin typeface="Noto Sans CJK KR"/>
                <a:ea typeface="Noto Sans CJK KR"/>
                <a:cs typeface="Noto Sans CJK KR"/>
              </a:defRPr>
            </a:pPr>
            <a:r>
              <a:rPr sz="1050" b="1">
                <a:solidFill>
                  <a:srgbClr val="FFFFFF"/>
                </a:solidFill>
                <a:latin typeface="맑은 고딕"/>
                <a:ea typeface="맑은 고딕"/>
                <a:cs typeface="맑은 고딕"/>
              </a:rPr>
              <a:t>할</a:t>
            </a:r>
          </a:p>
        </p:txBody>
      </p:sp>
      <p:sp>
        <p:nvSpPr>
          <p:cNvPr id="11" name="joint-row-0">
            <a:extLst>
              <a:ext uri="{FF2B5EF4-FFF2-40B4-BE49-F238E27FC236}">
                <a16:creationId xmlns:a16="http://schemas.microsoft.com/office/drawing/2014/main" id="{1747DBCC-362E-4C81-B326-3C3CA1047383}"/>
              </a:ext>
            </a:extLst>
          </p:cNvPr>
          <p:cNvSpPr>
            <a:spLocks noGrp="1"/>
          </p:cNvSpPr>
          <p:nvPr/>
        </p:nvSpPr>
        <p:spPr>
          <a:xfrm>
            <a:off x="362689" y="5290036"/>
            <a:ext cx="3824871" cy="786384"/>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12" name="joint-name-0">
            <a:extLst>
              <a:ext uri="{FF2B5EF4-FFF2-40B4-BE49-F238E27FC236}">
                <a16:creationId xmlns:a16="http://schemas.microsoft.com/office/drawing/2014/main" id="{C8BD64FF-AC99-474F-A875-4A0A15EC35DD}"/>
              </a:ext>
            </a:extLst>
          </p:cNvPr>
          <p:cNvSpPr>
            <a:spLocks noGrp="1"/>
          </p:cNvSpPr>
          <p:nvPr/>
        </p:nvSpPr>
        <p:spPr>
          <a:xfrm>
            <a:off x="585020" y="5421100"/>
            <a:ext cx="895350" cy="507873"/>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111111"/>
                </a:solidFill>
                <a:latin typeface="Noto Sans CJK KR"/>
                <a:ea typeface="Noto Sans CJK KR"/>
                <a:cs typeface="Noto Sans CJK KR"/>
              </a:defRPr>
            </a:pPr>
            <a:r>
              <a:rPr sz="1950" b="1" dirty="0">
                <a:solidFill>
                  <a:srgbClr val="111111"/>
                </a:solidFill>
                <a:latin typeface="맑은 고딕"/>
                <a:ea typeface="맑은 고딕"/>
                <a:cs typeface="맑은 고딕"/>
              </a:rPr>
              <a:t>Hip</a:t>
            </a:r>
          </a:p>
        </p:txBody>
      </p:sp>
      <p:sp>
        <p:nvSpPr>
          <p:cNvPr id="13" name="joint-role-0">
            <a:extLst>
              <a:ext uri="{FF2B5EF4-FFF2-40B4-BE49-F238E27FC236}">
                <a16:creationId xmlns:a16="http://schemas.microsoft.com/office/drawing/2014/main" id="{F6C3070E-E08D-42E8-A5E5-62B79EAADB84}"/>
              </a:ext>
            </a:extLst>
          </p:cNvPr>
          <p:cNvSpPr>
            <a:spLocks noGrp="1"/>
          </p:cNvSpPr>
          <p:nvPr/>
        </p:nvSpPr>
        <p:spPr>
          <a:xfrm>
            <a:off x="1061270" y="5421100"/>
            <a:ext cx="3086100" cy="557022"/>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dirty="0" err="1">
                <a:solidFill>
                  <a:srgbClr val="3A3A3A"/>
                </a:solidFill>
                <a:latin typeface="맑은 고딕"/>
                <a:ea typeface="맑은 고딕"/>
                <a:cs typeface="맑은 고딕"/>
              </a:rPr>
              <a:t>다리를</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몸체</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안쪽·바깥쪽으로</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이동</a:t>
            </a:r>
            <a:endParaRPr sz="1425" b="0" dirty="0">
              <a:solidFill>
                <a:srgbClr val="3A3A3A"/>
              </a:solidFill>
              <a:latin typeface="맑은 고딕"/>
              <a:ea typeface="맑은 고딕"/>
              <a:cs typeface="맑은 고딕"/>
            </a:endParaRPr>
          </a:p>
          <a:p>
            <a:pPr algn="l">
              <a:lnSpc>
                <a:spcPct val="100000"/>
              </a:lnSpc>
              <a:buNone/>
              <a:defRPr sz="1425" b="0">
                <a:solidFill>
                  <a:srgbClr val="3A3A3A"/>
                </a:solidFill>
                <a:latin typeface="Noto Sans CJK KR"/>
                <a:ea typeface="Noto Sans CJK KR"/>
                <a:cs typeface="Noto Sans CJK KR"/>
              </a:defRPr>
            </a:pPr>
            <a:r>
              <a:rPr sz="1425" b="0" dirty="0" err="1">
                <a:solidFill>
                  <a:srgbClr val="3A3A3A"/>
                </a:solidFill>
                <a:latin typeface="맑은 고딕"/>
                <a:ea typeface="맑은 고딕"/>
                <a:cs typeface="맑은 고딕"/>
              </a:rPr>
              <a:t>좌우</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균형</a:t>
            </a:r>
            <a:r>
              <a:rPr sz="1425" b="0" dirty="0">
                <a:solidFill>
                  <a:srgbClr val="3A3A3A"/>
                </a:solidFill>
                <a:latin typeface="맑은 고딕"/>
                <a:ea typeface="맑은 고딕"/>
                <a:cs typeface="맑은 고딕"/>
              </a:rPr>
              <a:t> · body roll · lateral motion</a:t>
            </a:r>
          </a:p>
        </p:txBody>
      </p:sp>
      <p:sp>
        <p:nvSpPr>
          <p:cNvPr id="14" name="joint-row-1">
            <a:extLst>
              <a:ext uri="{FF2B5EF4-FFF2-40B4-BE49-F238E27FC236}">
                <a16:creationId xmlns:a16="http://schemas.microsoft.com/office/drawing/2014/main" id="{49F680F6-9BE3-4BFA-A27C-75C436596BD0}"/>
              </a:ext>
            </a:extLst>
          </p:cNvPr>
          <p:cNvSpPr>
            <a:spLocks noGrp="1"/>
          </p:cNvSpPr>
          <p:nvPr/>
        </p:nvSpPr>
        <p:spPr>
          <a:xfrm>
            <a:off x="4251346" y="5301043"/>
            <a:ext cx="3534574" cy="786384"/>
          </a:xfrm>
          <a:prstGeom prst="rect">
            <a:avLst/>
          </a:prstGeom>
          <a:solidFill>
            <a:srgbClr val="F7F7F7"/>
          </a:solidFill>
          <a:ln w="9525">
            <a:solidFill>
              <a:srgbClr val="CFCFCF"/>
            </a:solidFill>
            <a:prstDash val="solid"/>
          </a:ln>
        </p:spPr>
        <p:txBody>
          <a:bodyPr/>
          <a:lstStyle/>
          <a:p>
            <a:pPr>
              <a:lnSpc>
                <a:spcPct val="100000"/>
              </a:lnSpc>
            </a:pPr>
            <a:endParaRPr lang="ko-KR" altLang="en-US"/>
          </a:p>
        </p:txBody>
      </p:sp>
      <p:sp>
        <p:nvSpPr>
          <p:cNvPr id="15" name="joint-name-1">
            <a:extLst>
              <a:ext uri="{FF2B5EF4-FFF2-40B4-BE49-F238E27FC236}">
                <a16:creationId xmlns:a16="http://schemas.microsoft.com/office/drawing/2014/main" id="{8A60DBDE-6973-4F0D-8F52-407C82E8108F}"/>
              </a:ext>
            </a:extLst>
          </p:cNvPr>
          <p:cNvSpPr>
            <a:spLocks noGrp="1"/>
          </p:cNvSpPr>
          <p:nvPr/>
        </p:nvSpPr>
        <p:spPr>
          <a:xfrm>
            <a:off x="4365646" y="5429291"/>
            <a:ext cx="895350" cy="507873"/>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111111"/>
                </a:solidFill>
                <a:latin typeface="Noto Sans CJK KR"/>
                <a:ea typeface="Noto Sans CJK KR"/>
                <a:cs typeface="Noto Sans CJK KR"/>
              </a:defRPr>
            </a:pPr>
            <a:r>
              <a:rPr sz="1950" b="1" dirty="0">
                <a:solidFill>
                  <a:srgbClr val="111111"/>
                </a:solidFill>
                <a:latin typeface="맑은 고딕"/>
                <a:ea typeface="맑은 고딕"/>
                <a:cs typeface="맑은 고딕"/>
              </a:rPr>
              <a:t>Thigh</a:t>
            </a:r>
          </a:p>
        </p:txBody>
      </p:sp>
      <p:sp>
        <p:nvSpPr>
          <p:cNvPr id="16" name="joint-role-1">
            <a:extLst>
              <a:ext uri="{FF2B5EF4-FFF2-40B4-BE49-F238E27FC236}">
                <a16:creationId xmlns:a16="http://schemas.microsoft.com/office/drawing/2014/main" id="{91E495E3-7AB7-430C-98E5-32FA3EE0B0E4}"/>
              </a:ext>
            </a:extLst>
          </p:cNvPr>
          <p:cNvSpPr>
            <a:spLocks noGrp="1"/>
          </p:cNvSpPr>
          <p:nvPr/>
        </p:nvSpPr>
        <p:spPr>
          <a:xfrm>
            <a:off x="5137970" y="5404716"/>
            <a:ext cx="3086100" cy="557022"/>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dirty="0" err="1">
                <a:solidFill>
                  <a:srgbClr val="3A3A3A"/>
                </a:solidFill>
                <a:latin typeface="맑은 고딕"/>
                <a:ea typeface="맑은 고딕"/>
                <a:cs typeface="맑은 고딕"/>
              </a:rPr>
              <a:t>다리를</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앞뒤로</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이동</a:t>
            </a:r>
            <a:endParaRPr sz="1425" b="0" dirty="0">
              <a:solidFill>
                <a:srgbClr val="3A3A3A"/>
              </a:solidFill>
              <a:latin typeface="맑은 고딕"/>
              <a:ea typeface="맑은 고딕"/>
              <a:cs typeface="맑은 고딕"/>
            </a:endParaRPr>
          </a:p>
          <a:p>
            <a:pPr algn="l">
              <a:lnSpc>
                <a:spcPct val="100000"/>
              </a:lnSpc>
              <a:buNone/>
              <a:defRPr sz="1425" b="0">
                <a:solidFill>
                  <a:srgbClr val="3A3A3A"/>
                </a:solidFill>
                <a:latin typeface="Noto Sans CJK KR"/>
                <a:ea typeface="Noto Sans CJK KR"/>
                <a:cs typeface="Noto Sans CJK KR"/>
              </a:defRPr>
            </a:pPr>
            <a:r>
              <a:rPr sz="1425" b="0" dirty="0" err="1">
                <a:solidFill>
                  <a:srgbClr val="3A3A3A"/>
                </a:solidFill>
                <a:latin typeface="맑은 고딕"/>
                <a:ea typeface="맑은 고딕"/>
                <a:cs typeface="맑은 고딕"/>
              </a:rPr>
              <a:t>보폭</a:t>
            </a:r>
            <a:r>
              <a:rPr sz="1425" b="0" dirty="0">
                <a:solidFill>
                  <a:srgbClr val="3A3A3A"/>
                </a:solidFill>
                <a:latin typeface="맑은 고딕"/>
                <a:ea typeface="맑은 고딕"/>
                <a:cs typeface="맑은 고딕"/>
              </a:rPr>
              <a:t> · </a:t>
            </a:r>
            <a:r>
              <a:rPr sz="1425" b="0" dirty="0" err="1">
                <a:solidFill>
                  <a:srgbClr val="3A3A3A"/>
                </a:solidFill>
                <a:latin typeface="맑은 고딕"/>
                <a:ea typeface="맑은 고딕"/>
                <a:cs typeface="맑은 고딕"/>
              </a:rPr>
              <a:t>추진</a:t>
            </a:r>
            <a:r>
              <a:rPr sz="1425" b="0" dirty="0">
                <a:solidFill>
                  <a:srgbClr val="3A3A3A"/>
                </a:solidFill>
                <a:latin typeface="맑은 고딕"/>
                <a:ea typeface="맑은 고딕"/>
                <a:cs typeface="맑은 고딕"/>
              </a:rPr>
              <a:t> · stance/swing </a:t>
            </a:r>
            <a:r>
              <a:rPr sz="1425" b="0" dirty="0" err="1">
                <a:solidFill>
                  <a:srgbClr val="3A3A3A"/>
                </a:solidFill>
                <a:latin typeface="맑은 고딕"/>
                <a:ea typeface="맑은 고딕"/>
                <a:cs typeface="맑은 고딕"/>
              </a:rPr>
              <a:t>궤적</a:t>
            </a:r>
            <a:endParaRPr sz="1425" b="0" dirty="0">
              <a:solidFill>
                <a:srgbClr val="3A3A3A"/>
              </a:solidFill>
              <a:latin typeface="맑은 고딕"/>
              <a:ea typeface="맑은 고딕"/>
              <a:cs typeface="맑은 고딕"/>
            </a:endParaRPr>
          </a:p>
        </p:txBody>
      </p:sp>
      <p:sp>
        <p:nvSpPr>
          <p:cNvPr id="17" name="joint-row-2">
            <a:extLst>
              <a:ext uri="{FF2B5EF4-FFF2-40B4-BE49-F238E27FC236}">
                <a16:creationId xmlns:a16="http://schemas.microsoft.com/office/drawing/2014/main" id="{5FFE3E2D-D11B-4202-BA1A-1395F02C3DAC}"/>
              </a:ext>
            </a:extLst>
          </p:cNvPr>
          <p:cNvSpPr>
            <a:spLocks noGrp="1"/>
          </p:cNvSpPr>
          <p:nvPr/>
        </p:nvSpPr>
        <p:spPr>
          <a:xfrm>
            <a:off x="7900220" y="5290036"/>
            <a:ext cx="4004679" cy="786384"/>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18" name="joint-name-2">
            <a:extLst>
              <a:ext uri="{FF2B5EF4-FFF2-40B4-BE49-F238E27FC236}">
                <a16:creationId xmlns:a16="http://schemas.microsoft.com/office/drawing/2014/main" id="{2CF1EE09-D2BC-45A1-B86A-132B8EFDB52E}"/>
              </a:ext>
            </a:extLst>
          </p:cNvPr>
          <p:cNvSpPr>
            <a:spLocks noGrp="1"/>
          </p:cNvSpPr>
          <p:nvPr/>
        </p:nvSpPr>
        <p:spPr>
          <a:xfrm>
            <a:off x="8109770" y="5421100"/>
            <a:ext cx="895350" cy="507873"/>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111111"/>
                </a:solidFill>
                <a:latin typeface="Noto Sans CJK KR"/>
                <a:ea typeface="Noto Sans CJK KR"/>
                <a:cs typeface="Noto Sans CJK KR"/>
              </a:defRPr>
            </a:pPr>
            <a:r>
              <a:rPr sz="1950" b="1">
                <a:solidFill>
                  <a:srgbClr val="111111"/>
                </a:solidFill>
                <a:latin typeface="맑은 고딕"/>
                <a:ea typeface="맑은 고딕"/>
                <a:cs typeface="맑은 고딕"/>
              </a:rPr>
              <a:t>Calf</a:t>
            </a:r>
          </a:p>
        </p:txBody>
      </p:sp>
      <p:sp>
        <p:nvSpPr>
          <p:cNvPr id="19" name="joint-role-2">
            <a:extLst>
              <a:ext uri="{FF2B5EF4-FFF2-40B4-BE49-F238E27FC236}">
                <a16:creationId xmlns:a16="http://schemas.microsoft.com/office/drawing/2014/main" id="{A08DD0E6-3F58-47A6-88F6-9580F044015F}"/>
              </a:ext>
            </a:extLst>
          </p:cNvPr>
          <p:cNvSpPr>
            <a:spLocks noGrp="1"/>
          </p:cNvSpPr>
          <p:nvPr/>
        </p:nvSpPr>
        <p:spPr>
          <a:xfrm>
            <a:off x="8757470" y="5396525"/>
            <a:ext cx="3086100" cy="557022"/>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dirty="0" err="1">
                <a:solidFill>
                  <a:srgbClr val="3A3A3A"/>
                </a:solidFill>
                <a:latin typeface="맑은 고딕"/>
                <a:ea typeface="맑은 고딕"/>
                <a:cs typeface="맑은 고딕"/>
              </a:rPr>
              <a:t>무릎을</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굽히고</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펴며</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다리</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길이를</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조절</a:t>
            </a:r>
            <a:endParaRPr sz="1425" b="0" dirty="0">
              <a:solidFill>
                <a:srgbClr val="3A3A3A"/>
              </a:solidFill>
              <a:latin typeface="맑은 고딕"/>
              <a:ea typeface="맑은 고딕"/>
              <a:cs typeface="맑은 고딕"/>
            </a:endParaRPr>
          </a:p>
          <a:p>
            <a:pPr algn="l">
              <a:lnSpc>
                <a:spcPct val="100000"/>
              </a:lnSpc>
              <a:buNone/>
              <a:defRPr sz="1425" b="0">
                <a:solidFill>
                  <a:srgbClr val="3A3A3A"/>
                </a:solidFill>
                <a:latin typeface="Noto Sans CJK KR"/>
                <a:ea typeface="Noto Sans CJK KR"/>
                <a:cs typeface="Noto Sans CJK KR"/>
              </a:defRPr>
            </a:pPr>
            <a:r>
              <a:rPr sz="1425" b="0" dirty="0" err="1">
                <a:solidFill>
                  <a:srgbClr val="3A3A3A"/>
                </a:solidFill>
                <a:latin typeface="맑은 고딕"/>
                <a:ea typeface="맑은 고딕"/>
                <a:cs typeface="맑은 고딕"/>
              </a:rPr>
              <a:t>몸체</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높이</a:t>
            </a:r>
            <a:r>
              <a:rPr sz="1425" b="0" dirty="0">
                <a:solidFill>
                  <a:srgbClr val="3A3A3A"/>
                </a:solidFill>
                <a:latin typeface="맑은 고딕"/>
                <a:ea typeface="맑은 고딕"/>
                <a:cs typeface="맑은 고딕"/>
              </a:rPr>
              <a:t> · </a:t>
            </a:r>
            <a:r>
              <a:rPr sz="1425" b="0" dirty="0" err="1">
                <a:solidFill>
                  <a:srgbClr val="3A3A3A"/>
                </a:solidFill>
                <a:latin typeface="맑은 고딕"/>
                <a:ea typeface="맑은 고딕"/>
                <a:cs typeface="맑은 고딕"/>
              </a:rPr>
              <a:t>수직</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지지</a:t>
            </a:r>
            <a:r>
              <a:rPr sz="1425" b="0" dirty="0">
                <a:solidFill>
                  <a:srgbClr val="3A3A3A"/>
                </a:solidFill>
                <a:latin typeface="맑은 고딕"/>
                <a:ea typeface="맑은 고딕"/>
                <a:cs typeface="맑은 고딕"/>
              </a:rPr>
              <a:t> · </a:t>
            </a:r>
            <a:r>
              <a:rPr sz="1425" b="0" dirty="0" err="1">
                <a:solidFill>
                  <a:srgbClr val="3A3A3A"/>
                </a:solidFill>
                <a:latin typeface="맑은 고딕"/>
                <a:ea typeface="맑은 고딕"/>
                <a:cs typeface="맑은 고딕"/>
              </a:rPr>
              <a:t>지면</a:t>
            </a:r>
            <a:r>
              <a:rPr sz="1425" b="0" dirty="0">
                <a:solidFill>
                  <a:srgbClr val="3A3A3A"/>
                </a:solidFill>
                <a:latin typeface="맑은 고딕"/>
                <a:ea typeface="맑은 고딕"/>
                <a:cs typeface="맑은 고딕"/>
              </a:rPr>
              <a:t> </a:t>
            </a:r>
            <a:r>
              <a:rPr sz="1425" b="0" dirty="0" err="1">
                <a:solidFill>
                  <a:srgbClr val="3A3A3A"/>
                </a:solidFill>
                <a:latin typeface="맑은 고딕"/>
                <a:ea typeface="맑은 고딕"/>
                <a:cs typeface="맑은 고딕"/>
              </a:rPr>
              <a:t>반력</a:t>
            </a:r>
            <a:endParaRPr sz="1425" b="0" dirty="0">
              <a:solidFill>
                <a:srgbClr val="3A3A3A"/>
              </a:solidFill>
              <a:latin typeface="맑은 고딕"/>
              <a:ea typeface="맑은 고딕"/>
              <a:cs typeface="맑은 고딕"/>
            </a:endParaRPr>
          </a:p>
        </p:txBody>
      </p:sp>
      <p:sp>
        <p:nvSpPr>
          <p:cNvPr id="30"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dirty="0">
                <a:solidFill>
                  <a:srgbClr val="3A3A3A"/>
                </a:solidFill>
                <a:latin typeface="맑은 고딕"/>
                <a:ea typeface="맑은 고딕"/>
                <a:cs typeface="맑은 고딕"/>
              </a:rPr>
              <a:t>각 </a:t>
            </a:r>
            <a:r>
              <a:rPr sz="1400" b="0" dirty="0" err="1">
                <a:solidFill>
                  <a:srgbClr val="3A3A3A"/>
                </a:solidFill>
                <a:latin typeface="맑은 고딕"/>
                <a:ea typeface="맑은 고딕"/>
                <a:cs typeface="맑은 고딕"/>
              </a:rPr>
              <a:t>다리의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hip·thigh·calf를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제어하며</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같은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출력</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저하라도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발생</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관절에</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따라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보행</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영향이</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달라진다</a:t>
            </a:r>
            <a:r>
              <a:rPr sz="1400" b="0" dirty="0">
                <a:solidFill>
                  <a:srgbClr val="3A3A3A"/>
                </a:solidFill>
                <a:latin typeface="맑은 고딕"/>
                <a:ea typeface="맑은 고딕"/>
                <a:cs typeface="맑은 고딕"/>
              </a:rPr>
              <a:t>.</a:t>
            </a:r>
          </a:p>
        </p:txBody>
      </p:sp>
      <p:pic>
        <p:nvPicPr>
          <p:cNvPr id="8" name="그림 7" descr="4족 보행 로봇 만들기! 경남대 학생들과 함께한 특별한 하루 - Bonsystems">
            <a:extLst>
              <a:ext uri="{FF2B5EF4-FFF2-40B4-BE49-F238E27FC236}">
                <a16:creationId xmlns:a16="http://schemas.microsoft.com/office/drawing/2014/main" id="{AFE1B522-2FC9-C30D-EFB4-6ADE9CF891FC}"/>
              </a:ext>
            </a:extLst>
          </p:cNvPr>
          <p:cNvPicPr>
            <a:picLocks noChangeAspect="1"/>
          </p:cNvPicPr>
          <p:nvPr/>
        </p:nvPicPr>
        <p:blipFill>
          <a:blip r:embed="rId4"/>
          <a:stretch>
            <a:fillRect/>
          </a:stretch>
        </p:blipFill>
        <p:spPr>
          <a:xfrm>
            <a:off x="6707089" y="2273167"/>
            <a:ext cx="3770411" cy="2529317"/>
          </a:xfrm>
          <a:prstGeom prst="rect">
            <a:avLst/>
          </a:prstGeom>
        </p:spPr>
      </p:pic>
    </p:spTree>
    <p:extLst>
      <p:ext uri="{BB962C8B-B14F-4D97-AF65-F5344CB8AC3E}">
        <p14:creationId xmlns:p14="http://schemas.microsoft.com/office/powerpoint/2010/main" val="125456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title-4">
            <a:extLst>
              <a:ext uri="{FF2B5EF4-FFF2-40B4-BE49-F238E27FC236}">
                <a16:creationId xmlns:a16="http://schemas.microsoft.com/office/drawing/2014/main" id="{CEFCDAC4-C890-4369-A1D2-43629591193B}"/>
              </a:ext>
            </a:extLst>
          </p:cNvPr>
          <p:cNvSpPr>
            <a:spLocks noGrp="1"/>
          </p:cNvSpPr>
          <p:nvPr/>
        </p:nvSpPr>
        <p:spPr>
          <a:xfrm>
            <a:off x="552450" y="285750"/>
            <a:ext cx="11087100" cy="514350"/>
          </a:xfrm>
          <a:prstGeom prst="rect">
            <a:avLst/>
          </a:prstGeom>
          <a:noFill/>
          <a:ln w="0">
            <a:noFill/>
            <a:prstDash val="solid"/>
          </a:ln>
        </p:spPr>
        <p:txBody>
          <a:bodyPr wrap="square" lIns="0" tIns="0" rIns="0" bIns="0" anchor="ctr">
            <a:normAutofit fontScale="98080"/>
          </a:bodyPr>
          <a:lstStyle/>
          <a:p>
            <a:pPr algn="l">
              <a:lnSpc>
                <a:spcPct val="100000"/>
              </a:lnSpc>
              <a:buNone/>
              <a:defRPr sz="3450" b="1">
                <a:solidFill>
                  <a:srgbClr val="111111"/>
                </a:solidFill>
                <a:latin typeface="Noto Sans CJK KR"/>
                <a:ea typeface="Noto Sans CJK KR"/>
                <a:cs typeface="Noto Sans CJK KR"/>
              </a:defRPr>
            </a:pPr>
            <a:r>
              <a:rPr sz="2800" b="1">
                <a:solidFill>
                  <a:srgbClr val="111111"/>
                </a:solidFill>
                <a:latin typeface="맑은 고딕"/>
                <a:ea typeface="맑은 고딕"/>
                <a:cs typeface="맑은 고딕"/>
              </a:rPr>
              <a:t>04 | 액추에이터 고장의 분류</a:t>
            </a:r>
            <a:r>
              <a:rPr sz="800" b="0" baseline="30000">
                <a:solidFill>
                  <a:srgbClr val="686868"/>
                </a:solidFill>
                <a:latin typeface="맑은 고딕"/>
                <a:ea typeface="맑은 고딕"/>
                <a:cs typeface="맑은 고딕"/>
              </a:rPr>
              <a:t>  1) 2)</a:t>
            </a:r>
          </a:p>
        </p:txBody>
      </p:sp>
      <p:sp>
        <p:nvSpPr>
          <p:cNvPr id="2" name="header-rule-4">
            <a:extLst>
              <a:ext uri="{FF2B5EF4-FFF2-40B4-BE49-F238E27FC236}">
                <a16:creationId xmlns:a16="http://schemas.microsoft.com/office/drawing/2014/main" id="{D5301FB5-9BD3-4AF5-B610-B3A9228A84D2}"/>
              </a:ext>
            </a:extLst>
          </p:cNvPr>
          <p:cNvSpPr>
            <a:spLocks noGrp="1"/>
          </p:cNvSpPr>
          <p:nvPr/>
        </p:nvSpPr>
        <p:spPr>
          <a:xfrm>
            <a:off x="552450" y="971550"/>
            <a:ext cx="11087100" cy="0"/>
          </a:xfrm>
          <a:prstGeom prst="line">
            <a:avLst/>
          </a:prstGeom>
          <a:noFill/>
          <a:ln w="14288">
            <a:solidFill>
              <a:srgbClr val="111111"/>
            </a:solidFill>
            <a:prstDash val="solid"/>
          </a:ln>
        </p:spPr>
        <p:txBody>
          <a:bodyPr/>
          <a:lstStyle/>
          <a:p>
            <a:pPr>
              <a:lnSpc>
                <a:spcPct val="100000"/>
              </a:lnSpc>
            </a:pPr>
            <a:endParaRPr lang="ko-KR" altLang="en-US"/>
          </a:p>
        </p:txBody>
      </p:sp>
      <p:sp>
        <p:nvSpPr>
          <p:cNvPr id="3" name="section-4">
            <a:extLst>
              <a:ext uri="{FF2B5EF4-FFF2-40B4-BE49-F238E27FC236}">
                <a16:creationId xmlns:a16="http://schemas.microsoft.com/office/drawing/2014/main" id="{3EFFA594-F63D-4976-8F7B-722EEC3A09D3}"/>
              </a:ext>
            </a:extLst>
          </p:cNvPr>
          <p:cNvSpPr>
            <a:spLocks noGrp="1"/>
          </p:cNvSpPr>
          <p:nvPr/>
        </p:nvSpPr>
        <p:spPr>
          <a:xfrm>
            <a:off x="571500" y="1009650"/>
            <a:ext cx="3429000" cy="209550"/>
          </a:xfrm>
          <a:prstGeom prst="rect">
            <a:avLst/>
          </a:prstGeom>
          <a:noFill/>
          <a:ln w="0">
            <a:noFill/>
            <a:prstDash val="solid"/>
          </a:ln>
        </p:spPr>
        <p:txBody>
          <a:bodyPr wrap="square" lIns="0" tIns="0" rIns="0" bIns="0" anchor="ctr">
            <a:normAutofit/>
          </a:bodyPr>
          <a:lstStyle/>
          <a:p>
            <a:pPr algn="l">
              <a:lnSpc>
                <a:spcPct val="100000"/>
              </a:lnSpc>
              <a:buNone/>
              <a:defRPr sz="900" b="1">
                <a:solidFill>
                  <a:srgbClr val="686868"/>
                </a:solidFill>
                <a:latin typeface="Noto Sans CJK KR"/>
                <a:ea typeface="Noto Sans CJK KR"/>
                <a:cs typeface="Noto Sans CJK KR"/>
              </a:defRPr>
            </a:pPr>
            <a:r>
              <a:rPr sz="900" b="1">
                <a:solidFill>
                  <a:srgbClr val="686868"/>
                </a:solidFill>
                <a:latin typeface="맑은 고딕"/>
                <a:ea typeface="맑은 고딕"/>
                <a:cs typeface="맑은 고딕"/>
              </a:rPr>
              <a:t>RESEARCH BACKGROUND</a:t>
            </a:r>
          </a:p>
        </p:txBody>
      </p:sp>
      <p:sp>
        <p:nvSpPr>
          <p:cNvPr id="4" name="footer-rule-4">
            <a:extLst>
              <a:ext uri="{FF2B5EF4-FFF2-40B4-BE49-F238E27FC236}">
                <a16:creationId xmlns:a16="http://schemas.microsoft.com/office/drawing/2014/main" id="{321E4C10-583D-4D61-9A45-D2CEEBE667BA}"/>
              </a:ext>
            </a:extLst>
          </p:cNvPr>
          <p:cNvSpPr>
            <a:spLocks noGrp="1"/>
          </p:cNvSpPr>
          <p:nvPr/>
        </p:nvSpPr>
        <p:spPr>
          <a:xfrm>
            <a:off x="552450" y="6210300"/>
            <a:ext cx="11087100" cy="0"/>
          </a:xfrm>
          <a:prstGeom prst="line">
            <a:avLst/>
          </a:prstGeom>
          <a:noFill/>
          <a:ln w="9525">
            <a:solidFill>
              <a:srgbClr val="CFCFCF"/>
            </a:solidFill>
            <a:prstDash val="solid"/>
          </a:ln>
        </p:spPr>
        <p:txBody>
          <a:bodyPr/>
          <a:lstStyle/>
          <a:p>
            <a:pPr>
              <a:lnSpc>
                <a:spcPct val="100000"/>
              </a:lnSpc>
            </a:pPr>
            <a:endParaRPr lang="ko-KR" altLang="en-US"/>
          </a:p>
        </p:txBody>
      </p:sp>
      <p:sp>
        <p:nvSpPr>
          <p:cNvPr id="5" name="source-4">
            <a:extLst>
              <a:ext uri="{FF2B5EF4-FFF2-40B4-BE49-F238E27FC236}">
                <a16:creationId xmlns:a16="http://schemas.microsoft.com/office/drawing/2014/main" id="{3BB3F415-B0BF-40EB-B8B4-B962D57CD4FE}"/>
              </a:ext>
            </a:extLst>
          </p:cNvPr>
          <p:cNvSpPr>
            <a:spLocks noGrp="1"/>
          </p:cNvSpPr>
          <p:nvPr/>
        </p:nvSpPr>
        <p:spPr>
          <a:xfrm>
            <a:off x="571500" y="6286500"/>
            <a:ext cx="9906000" cy="266700"/>
          </a:xfrm>
          <a:prstGeom prst="rect">
            <a:avLst/>
          </a:prstGeom>
          <a:noFill/>
          <a:ln w="0">
            <a:noFill/>
            <a:prstDash val="solid"/>
          </a:ln>
        </p:spPr>
        <p:txBody>
          <a:bodyPr wrap="square" lIns="0" tIns="0" rIns="0" bIns="0" anchor="ctr">
            <a:normAutofit/>
          </a:bodyPr>
          <a:lstStyle/>
          <a:p>
            <a:pPr algn="l">
              <a:lnSpc>
                <a:spcPct val="100000"/>
              </a:lnSpc>
              <a:buNone/>
              <a:defRPr sz="863" b="0">
                <a:solidFill>
                  <a:srgbClr val="686868"/>
                </a:solidFill>
                <a:latin typeface="Noto Sans CJK KR"/>
                <a:ea typeface="Noto Sans CJK KR"/>
                <a:cs typeface="Noto Sans CJK KR"/>
              </a:defRPr>
            </a:pPr>
            <a:r>
              <a:rPr sz="720" b="0">
                <a:solidFill>
                  <a:srgbClr val="686868"/>
                </a:solidFill>
                <a:latin typeface="맑은 고딕"/>
                <a:ea typeface="맑은 고딕"/>
                <a:cs typeface="맑은 고딕"/>
              </a:rPr>
              <a:t>1) Liu et al., Saving the Limping, arXiv:2210.00474v3, 2023.   2) Wu et al., ADAPT, DAI ’23, 2023.</a:t>
            </a:r>
          </a:p>
        </p:txBody>
      </p:sp>
      <p:sp>
        <p:nvSpPr>
          <p:cNvPr id="6" name="page-4">
            <a:extLst>
              <a:ext uri="{FF2B5EF4-FFF2-40B4-BE49-F238E27FC236}">
                <a16:creationId xmlns:a16="http://schemas.microsoft.com/office/drawing/2014/main" id="{BFC54CB5-F210-43C1-8EB5-E311ED9EF058}"/>
              </a:ext>
            </a:extLst>
          </p:cNvPr>
          <p:cNvSpPr>
            <a:spLocks noGrp="1"/>
          </p:cNvSpPr>
          <p:nvPr/>
        </p:nvSpPr>
        <p:spPr>
          <a:xfrm>
            <a:off x="10572750" y="6286500"/>
            <a:ext cx="1047750" cy="266700"/>
          </a:xfrm>
          <a:prstGeom prst="rect">
            <a:avLst/>
          </a:prstGeom>
          <a:noFill/>
          <a:ln w="0">
            <a:noFill/>
            <a:prstDash val="solid"/>
          </a:ln>
        </p:spPr>
        <p:txBody>
          <a:bodyPr wrap="square" lIns="0" tIns="0" rIns="0" bIns="0" anchor="ctr">
            <a:normAutofit/>
          </a:bodyPr>
          <a:lstStyle/>
          <a:p>
            <a:pPr algn="r">
              <a:lnSpc>
                <a:spcPct val="100000"/>
              </a:lnSpc>
              <a:buNone/>
              <a:defRPr sz="900" b="0">
                <a:solidFill>
                  <a:srgbClr val="686868"/>
                </a:solidFill>
                <a:latin typeface="Noto Sans CJK KR"/>
                <a:ea typeface="Noto Sans CJK KR"/>
                <a:cs typeface="Noto Sans CJK KR"/>
              </a:defRPr>
            </a:pPr>
            <a:r>
              <a:rPr sz="900" b="0">
                <a:solidFill>
                  <a:srgbClr val="686868"/>
                </a:solidFill>
                <a:latin typeface="맑은 고딕"/>
                <a:ea typeface="맑은 고딕"/>
                <a:cs typeface="맑은 고딕"/>
              </a:rPr>
              <a:t>04 / 43</a:t>
            </a:r>
          </a:p>
        </p:txBody>
      </p:sp>
      <p:sp>
        <p:nvSpPr>
          <p:cNvPr id="7" name="fault-table-hcell-0">
            <a:extLst>
              <a:ext uri="{FF2B5EF4-FFF2-40B4-BE49-F238E27FC236}">
                <a16:creationId xmlns:a16="http://schemas.microsoft.com/office/drawing/2014/main" id="{65FDF8E6-745A-4EC0-A4FA-1188A20F9562}"/>
              </a:ext>
            </a:extLst>
          </p:cNvPr>
          <p:cNvSpPr>
            <a:spLocks noGrp="1"/>
          </p:cNvSpPr>
          <p:nvPr/>
        </p:nvSpPr>
        <p:spPr>
          <a:xfrm>
            <a:off x="609600" y="1899757"/>
            <a:ext cx="2266950" cy="688086"/>
          </a:xfrm>
          <a:prstGeom prst="rect">
            <a:avLst/>
          </a:prstGeom>
          <a:solidFill>
            <a:srgbClr val="111111"/>
          </a:solidFill>
          <a:ln w="9525">
            <a:solidFill>
              <a:srgbClr val="111111"/>
            </a:solidFill>
            <a:prstDash val="solid"/>
          </a:ln>
        </p:spPr>
        <p:txBody>
          <a:bodyPr/>
          <a:lstStyle/>
          <a:p>
            <a:pPr>
              <a:lnSpc>
                <a:spcPct val="100000"/>
              </a:lnSpc>
            </a:pPr>
            <a:endParaRPr lang="ko-KR" altLang="en-US"/>
          </a:p>
        </p:txBody>
      </p:sp>
      <p:sp>
        <p:nvSpPr>
          <p:cNvPr id="8" name="fault-table-htext-0">
            <a:extLst>
              <a:ext uri="{FF2B5EF4-FFF2-40B4-BE49-F238E27FC236}">
                <a16:creationId xmlns:a16="http://schemas.microsoft.com/office/drawing/2014/main" id="{AB403D4F-20E2-4296-B0DB-29F310D4D070}"/>
              </a:ext>
            </a:extLst>
          </p:cNvPr>
          <p:cNvSpPr>
            <a:spLocks noGrp="1"/>
          </p:cNvSpPr>
          <p:nvPr/>
        </p:nvSpPr>
        <p:spPr>
          <a:xfrm>
            <a:off x="704850" y="1924331"/>
            <a:ext cx="2076450" cy="638937"/>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FFFFFF"/>
                </a:solidFill>
                <a:latin typeface="Noto Sans CJK KR"/>
                <a:ea typeface="Noto Sans CJK KR"/>
                <a:cs typeface="Noto Sans CJK KR"/>
              </a:defRPr>
            </a:pPr>
            <a:r>
              <a:rPr sz="1425" b="1">
                <a:solidFill>
                  <a:srgbClr val="FFFFFF"/>
                </a:solidFill>
                <a:latin typeface="맑은 고딕"/>
                <a:ea typeface="맑은 고딕"/>
                <a:cs typeface="맑은 고딕"/>
              </a:rPr>
              <a:t>고장 유형</a:t>
            </a:r>
          </a:p>
        </p:txBody>
      </p:sp>
      <p:sp>
        <p:nvSpPr>
          <p:cNvPr id="9" name="fault-table-hcell-1">
            <a:extLst>
              <a:ext uri="{FF2B5EF4-FFF2-40B4-BE49-F238E27FC236}">
                <a16:creationId xmlns:a16="http://schemas.microsoft.com/office/drawing/2014/main" id="{E1CF66D6-A52F-450F-ABEF-0DB0E093279B}"/>
              </a:ext>
            </a:extLst>
          </p:cNvPr>
          <p:cNvSpPr>
            <a:spLocks noGrp="1"/>
          </p:cNvSpPr>
          <p:nvPr/>
        </p:nvSpPr>
        <p:spPr>
          <a:xfrm>
            <a:off x="2876550" y="1899757"/>
            <a:ext cx="2571750" cy="688086"/>
          </a:xfrm>
          <a:prstGeom prst="rect">
            <a:avLst/>
          </a:prstGeom>
          <a:solidFill>
            <a:srgbClr val="111111"/>
          </a:solidFill>
          <a:ln w="9525">
            <a:solidFill>
              <a:srgbClr val="111111"/>
            </a:solidFill>
            <a:prstDash val="solid"/>
          </a:ln>
        </p:spPr>
        <p:txBody>
          <a:bodyPr/>
          <a:lstStyle/>
          <a:p>
            <a:pPr>
              <a:lnSpc>
                <a:spcPct val="100000"/>
              </a:lnSpc>
            </a:pPr>
            <a:endParaRPr lang="ko-KR" altLang="en-US"/>
          </a:p>
        </p:txBody>
      </p:sp>
      <p:sp>
        <p:nvSpPr>
          <p:cNvPr id="10" name="fault-table-htext-1">
            <a:extLst>
              <a:ext uri="{FF2B5EF4-FFF2-40B4-BE49-F238E27FC236}">
                <a16:creationId xmlns:a16="http://schemas.microsoft.com/office/drawing/2014/main" id="{86CFE6AB-B413-41F3-8485-68D3ED31983D}"/>
              </a:ext>
            </a:extLst>
          </p:cNvPr>
          <p:cNvSpPr>
            <a:spLocks noGrp="1"/>
          </p:cNvSpPr>
          <p:nvPr/>
        </p:nvSpPr>
        <p:spPr>
          <a:xfrm>
            <a:off x="2971800" y="1924331"/>
            <a:ext cx="2381250" cy="638937"/>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FFFFFF"/>
                </a:solidFill>
                <a:latin typeface="Noto Sans CJK KR"/>
                <a:ea typeface="Noto Sans CJK KR"/>
                <a:cs typeface="Noto Sans CJK KR"/>
              </a:defRPr>
            </a:pPr>
            <a:r>
              <a:rPr sz="1425" b="1">
                <a:solidFill>
                  <a:srgbClr val="FFFFFF"/>
                </a:solidFill>
                <a:latin typeface="맑은 고딕"/>
                <a:ea typeface="맑은 고딕"/>
                <a:cs typeface="맑은 고딕"/>
              </a:rPr>
              <a:t>관절 움직임</a:t>
            </a:r>
          </a:p>
        </p:txBody>
      </p:sp>
      <p:sp>
        <p:nvSpPr>
          <p:cNvPr id="11" name="fault-table-hcell-2">
            <a:extLst>
              <a:ext uri="{FF2B5EF4-FFF2-40B4-BE49-F238E27FC236}">
                <a16:creationId xmlns:a16="http://schemas.microsoft.com/office/drawing/2014/main" id="{37CF1BD6-30B6-4EA0-874E-7842C0327B80}"/>
              </a:ext>
            </a:extLst>
          </p:cNvPr>
          <p:cNvSpPr>
            <a:spLocks noGrp="1"/>
          </p:cNvSpPr>
          <p:nvPr/>
        </p:nvSpPr>
        <p:spPr>
          <a:xfrm>
            <a:off x="5448300" y="1899757"/>
            <a:ext cx="2476500" cy="688086"/>
          </a:xfrm>
          <a:prstGeom prst="rect">
            <a:avLst/>
          </a:prstGeom>
          <a:solidFill>
            <a:srgbClr val="111111"/>
          </a:solidFill>
          <a:ln w="9525">
            <a:solidFill>
              <a:srgbClr val="111111"/>
            </a:solidFill>
            <a:prstDash val="solid"/>
          </a:ln>
        </p:spPr>
        <p:txBody>
          <a:bodyPr/>
          <a:lstStyle/>
          <a:p>
            <a:pPr>
              <a:lnSpc>
                <a:spcPct val="100000"/>
              </a:lnSpc>
            </a:pPr>
            <a:endParaRPr lang="ko-KR" altLang="en-US"/>
          </a:p>
        </p:txBody>
      </p:sp>
      <p:sp>
        <p:nvSpPr>
          <p:cNvPr id="12" name="fault-table-htext-2">
            <a:extLst>
              <a:ext uri="{FF2B5EF4-FFF2-40B4-BE49-F238E27FC236}">
                <a16:creationId xmlns:a16="http://schemas.microsoft.com/office/drawing/2014/main" id="{7F1A90C2-2819-4ACF-ADEC-6FA527F89AD6}"/>
              </a:ext>
            </a:extLst>
          </p:cNvPr>
          <p:cNvSpPr>
            <a:spLocks noGrp="1"/>
          </p:cNvSpPr>
          <p:nvPr/>
        </p:nvSpPr>
        <p:spPr>
          <a:xfrm>
            <a:off x="5543550" y="1924331"/>
            <a:ext cx="2286000" cy="638937"/>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FFFFFF"/>
                </a:solidFill>
                <a:latin typeface="Noto Sans CJK KR"/>
                <a:ea typeface="Noto Sans CJK KR"/>
                <a:cs typeface="Noto Sans CJK KR"/>
              </a:defRPr>
            </a:pPr>
            <a:r>
              <a:rPr sz="1425" b="1">
                <a:solidFill>
                  <a:srgbClr val="FFFFFF"/>
                </a:solidFill>
                <a:latin typeface="맑은 고딕"/>
                <a:ea typeface="맑은 고딕"/>
                <a:cs typeface="맑은 고딕"/>
              </a:rPr>
              <a:t>능동 torque</a:t>
            </a:r>
          </a:p>
        </p:txBody>
      </p:sp>
      <p:sp>
        <p:nvSpPr>
          <p:cNvPr id="13" name="fault-table-hcell-3">
            <a:extLst>
              <a:ext uri="{FF2B5EF4-FFF2-40B4-BE49-F238E27FC236}">
                <a16:creationId xmlns:a16="http://schemas.microsoft.com/office/drawing/2014/main" id="{94FED6C4-998D-4D34-B4E2-483B87436E95}"/>
              </a:ext>
            </a:extLst>
          </p:cNvPr>
          <p:cNvSpPr>
            <a:spLocks noGrp="1"/>
          </p:cNvSpPr>
          <p:nvPr/>
        </p:nvSpPr>
        <p:spPr>
          <a:xfrm>
            <a:off x="7924800" y="1899757"/>
            <a:ext cx="3638550" cy="688086"/>
          </a:xfrm>
          <a:prstGeom prst="rect">
            <a:avLst/>
          </a:prstGeom>
          <a:solidFill>
            <a:srgbClr val="111111"/>
          </a:solidFill>
          <a:ln w="9525">
            <a:solidFill>
              <a:srgbClr val="111111"/>
            </a:solidFill>
            <a:prstDash val="solid"/>
          </a:ln>
        </p:spPr>
        <p:txBody>
          <a:bodyPr/>
          <a:lstStyle/>
          <a:p>
            <a:pPr>
              <a:lnSpc>
                <a:spcPct val="100000"/>
              </a:lnSpc>
            </a:pPr>
            <a:endParaRPr lang="ko-KR" altLang="en-US"/>
          </a:p>
        </p:txBody>
      </p:sp>
      <p:sp>
        <p:nvSpPr>
          <p:cNvPr id="14" name="fault-table-htext-3">
            <a:extLst>
              <a:ext uri="{FF2B5EF4-FFF2-40B4-BE49-F238E27FC236}">
                <a16:creationId xmlns:a16="http://schemas.microsoft.com/office/drawing/2014/main" id="{F90E97D8-701B-42B3-8E53-47253A323D9C}"/>
              </a:ext>
            </a:extLst>
          </p:cNvPr>
          <p:cNvSpPr>
            <a:spLocks noGrp="1"/>
          </p:cNvSpPr>
          <p:nvPr/>
        </p:nvSpPr>
        <p:spPr>
          <a:xfrm>
            <a:off x="8020050" y="1924331"/>
            <a:ext cx="3448050" cy="638937"/>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FFFFFF"/>
                </a:solidFill>
                <a:latin typeface="Noto Sans CJK KR"/>
                <a:ea typeface="Noto Sans CJK KR"/>
                <a:cs typeface="Noto Sans CJK KR"/>
              </a:defRPr>
            </a:pPr>
            <a:r>
              <a:rPr sz="1425" b="1">
                <a:solidFill>
                  <a:srgbClr val="FFFFFF"/>
                </a:solidFill>
                <a:latin typeface="맑은 고딕"/>
                <a:ea typeface="맑은 고딕"/>
                <a:cs typeface="맑은 고딕"/>
              </a:rPr>
              <a:t>본 연구와의 관계</a:t>
            </a:r>
          </a:p>
        </p:txBody>
      </p:sp>
      <p:sp>
        <p:nvSpPr>
          <p:cNvPr id="15" name="fault-table-cell-0-0">
            <a:extLst>
              <a:ext uri="{FF2B5EF4-FFF2-40B4-BE49-F238E27FC236}">
                <a16:creationId xmlns:a16="http://schemas.microsoft.com/office/drawing/2014/main" id="{1F12A598-A62E-4C3B-8D9A-191A93467F9C}"/>
              </a:ext>
            </a:extLst>
          </p:cNvPr>
          <p:cNvSpPr>
            <a:spLocks noGrp="1"/>
          </p:cNvSpPr>
          <p:nvPr/>
        </p:nvSpPr>
        <p:spPr>
          <a:xfrm>
            <a:off x="609600" y="2587843"/>
            <a:ext cx="226695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16" name="fault-table-text-0-0">
            <a:extLst>
              <a:ext uri="{FF2B5EF4-FFF2-40B4-BE49-F238E27FC236}">
                <a16:creationId xmlns:a16="http://schemas.microsoft.com/office/drawing/2014/main" id="{73CEDF00-2EFC-4D8B-BAF8-EDDD0B385583}"/>
              </a:ext>
            </a:extLst>
          </p:cNvPr>
          <p:cNvSpPr>
            <a:spLocks noGrp="1"/>
          </p:cNvSpPr>
          <p:nvPr/>
        </p:nvSpPr>
        <p:spPr>
          <a:xfrm>
            <a:off x="704850" y="2620609"/>
            <a:ext cx="2076450" cy="622554"/>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111111"/>
                </a:solidFill>
                <a:latin typeface="Noto Sans CJK KR"/>
                <a:ea typeface="Noto Sans CJK KR"/>
                <a:cs typeface="Noto Sans CJK KR"/>
              </a:defRPr>
            </a:pPr>
            <a:r>
              <a:rPr sz="1425" b="1">
                <a:solidFill>
                  <a:srgbClr val="111111"/>
                </a:solidFill>
                <a:latin typeface="맑은 고딕"/>
                <a:ea typeface="맑은 고딕"/>
                <a:cs typeface="맑은 고딕"/>
              </a:rPr>
              <a:t>Joint Locking</a:t>
            </a:r>
          </a:p>
        </p:txBody>
      </p:sp>
      <p:sp>
        <p:nvSpPr>
          <p:cNvPr id="17" name="fault-table-cell-0-1">
            <a:extLst>
              <a:ext uri="{FF2B5EF4-FFF2-40B4-BE49-F238E27FC236}">
                <a16:creationId xmlns:a16="http://schemas.microsoft.com/office/drawing/2014/main" id="{F6C46EC8-E93D-4ED4-9E0A-0992B4865D74}"/>
              </a:ext>
            </a:extLst>
          </p:cNvPr>
          <p:cNvSpPr>
            <a:spLocks noGrp="1"/>
          </p:cNvSpPr>
          <p:nvPr/>
        </p:nvSpPr>
        <p:spPr>
          <a:xfrm>
            <a:off x="2876550" y="2587843"/>
            <a:ext cx="257175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18" name="fault-table-text-0-1">
            <a:extLst>
              <a:ext uri="{FF2B5EF4-FFF2-40B4-BE49-F238E27FC236}">
                <a16:creationId xmlns:a16="http://schemas.microsoft.com/office/drawing/2014/main" id="{A233963F-C429-4E10-9BC9-6476E4650060}"/>
              </a:ext>
            </a:extLst>
          </p:cNvPr>
          <p:cNvSpPr>
            <a:spLocks noGrp="1"/>
          </p:cNvSpPr>
          <p:nvPr/>
        </p:nvSpPr>
        <p:spPr>
          <a:xfrm>
            <a:off x="2971800" y="2620609"/>
            <a:ext cx="238125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특정 각도·좁은 범위로 제한</a:t>
            </a:r>
          </a:p>
        </p:txBody>
      </p:sp>
      <p:sp>
        <p:nvSpPr>
          <p:cNvPr id="19" name="fault-table-cell-0-2">
            <a:extLst>
              <a:ext uri="{FF2B5EF4-FFF2-40B4-BE49-F238E27FC236}">
                <a16:creationId xmlns:a16="http://schemas.microsoft.com/office/drawing/2014/main" id="{6152D2BB-2820-475F-A970-004BB6479F50}"/>
              </a:ext>
            </a:extLst>
          </p:cNvPr>
          <p:cNvSpPr>
            <a:spLocks noGrp="1"/>
          </p:cNvSpPr>
          <p:nvPr/>
        </p:nvSpPr>
        <p:spPr>
          <a:xfrm>
            <a:off x="5448300" y="2587843"/>
            <a:ext cx="247650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20" name="fault-table-text-0-2">
            <a:extLst>
              <a:ext uri="{FF2B5EF4-FFF2-40B4-BE49-F238E27FC236}">
                <a16:creationId xmlns:a16="http://schemas.microsoft.com/office/drawing/2014/main" id="{279B9BA5-1350-4D5B-AA3C-FEA3966E802C}"/>
              </a:ext>
            </a:extLst>
          </p:cNvPr>
          <p:cNvSpPr>
            <a:spLocks noGrp="1"/>
          </p:cNvSpPr>
          <p:nvPr/>
        </p:nvSpPr>
        <p:spPr>
          <a:xfrm>
            <a:off x="5543550" y="2620609"/>
            <a:ext cx="228600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계속 발생 가능</a:t>
            </a:r>
          </a:p>
        </p:txBody>
      </p:sp>
      <p:sp>
        <p:nvSpPr>
          <p:cNvPr id="21" name="fault-table-cell-0-3">
            <a:extLst>
              <a:ext uri="{FF2B5EF4-FFF2-40B4-BE49-F238E27FC236}">
                <a16:creationId xmlns:a16="http://schemas.microsoft.com/office/drawing/2014/main" id="{0B163801-82A6-4012-A09F-C9E2C62236EC}"/>
              </a:ext>
            </a:extLst>
          </p:cNvPr>
          <p:cNvSpPr>
            <a:spLocks noGrp="1"/>
          </p:cNvSpPr>
          <p:nvPr/>
        </p:nvSpPr>
        <p:spPr>
          <a:xfrm>
            <a:off x="7924800" y="2587843"/>
            <a:ext cx="363855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22" name="fault-table-text-0-3">
            <a:extLst>
              <a:ext uri="{FF2B5EF4-FFF2-40B4-BE49-F238E27FC236}">
                <a16:creationId xmlns:a16="http://schemas.microsoft.com/office/drawing/2014/main" id="{3D71631D-23D0-4E1D-A2CE-3F98943F2ED5}"/>
              </a:ext>
            </a:extLst>
          </p:cNvPr>
          <p:cNvSpPr>
            <a:spLocks noGrp="1"/>
          </p:cNvSpPr>
          <p:nvPr/>
        </p:nvSpPr>
        <p:spPr>
          <a:xfrm>
            <a:off x="8020050" y="2620609"/>
            <a:ext cx="344805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Saving the Limping the Limping의 대상 [1]</a:t>
            </a:r>
          </a:p>
        </p:txBody>
      </p:sp>
      <p:sp>
        <p:nvSpPr>
          <p:cNvPr id="23" name="fault-table-cell-1-0">
            <a:extLst>
              <a:ext uri="{FF2B5EF4-FFF2-40B4-BE49-F238E27FC236}">
                <a16:creationId xmlns:a16="http://schemas.microsoft.com/office/drawing/2014/main" id="{E315AC01-6E31-4D03-A436-0D505629D9D7}"/>
              </a:ext>
            </a:extLst>
          </p:cNvPr>
          <p:cNvSpPr>
            <a:spLocks noGrp="1"/>
          </p:cNvSpPr>
          <p:nvPr/>
        </p:nvSpPr>
        <p:spPr>
          <a:xfrm>
            <a:off x="609600" y="3275929"/>
            <a:ext cx="2266950" cy="688086"/>
          </a:xfrm>
          <a:prstGeom prst="rect">
            <a:avLst/>
          </a:prstGeom>
          <a:solidFill>
            <a:srgbClr val="F7F7F7"/>
          </a:solidFill>
          <a:ln w="9525">
            <a:solidFill>
              <a:srgbClr val="CFCFCF"/>
            </a:solidFill>
            <a:prstDash val="solid"/>
          </a:ln>
        </p:spPr>
        <p:txBody>
          <a:bodyPr/>
          <a:lstStyle/>
          <a:p>
            <a:pPr>
              <a:lnSpc>
                <a:spcPct val="100000"/>
              </a:lnSpc>
            </a:pPr>
            <a:endParaRPr lang="ko-KR" altLang="en-US"/>
          </a:p>
        </p:txBody>
      </p:sp>
      <p:sp>
        <p:nvSpPr>
          <p:cNvPr id="24" name="fault-table-text-1-0">
            <a:extLst>
              <a:ext uri="{FF2B5EF4-FFF2-40B4-BE49-F238E27FC236}">
                <a16:creationId xmlns:a16="http://schemas.microsoft.com/office/drawing/2014/main" id="{96972053-E222-4A62-8AF5-7ADA7915AA51}"/>
              </a:ext>
            </a:extLst>
          </p:cNvPr>
          <p:cNvSpPr>
            <a:spLocks noGrp="1"/>
          </p:cNvSpPr>
          <p:nvPr/>
        </p:nvSpPr>
        <p:spPr>
          <a:xfrm>
            <a:off x="704850" y="3308695"/>
            <a:ext cx="2076450" cy="622554"/>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111111"/>
                </a:solidFill>
                <a:latin typeface="Noto Sans CJK KR"/>
                <a:ea typeface="Noto Sans CJK KR"/>
                <a:cs typeface="Noto Sans CJK KR"/>
              </a:defRPr>
            </a:pPr>
            <a:r>
              <a:rPr sz="1425" b="1">
                <a:solidFill>
                  <a:srgbClr val="111111"/>
                </a:solidFill>
                <a:latin typeface="맑은 고딕"/>
                <a:ea typeface="맑은 고딕"/>
                <a:cs typeface="맑은 고딕"/>
              </a:rPr>
              <a:t>Actuator Degradation</a:t>
            </a:r>
          </a:p>
        </p:txBody>
      </p:sp>
      <p:sp>
        <p:nvSpPr>
          <p:cNvPr id="25" name="fault-table-cell-1-1">
            <a:extLst>
              <a:ext uri="{FF2B5EF4-FFF2-40B4-BE49-F238E27FC236}">
                <a16:creationId xmlns:a16="http://schemas.microsoft.com/office/drawing/2014/main" id="{D58A9888-5205-46A6-B793-9F04DC1E98F2}"/>
              </a:ext>
            </a:extLst>
          </p:cNvPr>
          <p:cNvSpPr>
            <a:spLocks noGrp="1"/>
          </p:cNvSpPr>
          <p:nvPr/>
        </p:nvSpPr>
        <p:spPr>
          <a:xfrm>
            <a:off x="2876550" y="3275929"/>
            <a:ext cx="2571750" cy="688086"/>
          </a:xfrm>
          <a:prstGeom prst="rect">
            <a:avLst/>
          </a:prstGeom>
          <a:solidFill>
            <a:srgbClr val="F7F7F7"/>
          </a:solidFill>
          <a:ln w="9525">
            <a:solidFill>
              <a:srgbClr val="CFCFCF"/>
            </a:solidFill>
            <a:prstDash val="solid"/>
          </a:ln>
        </p:spPr>
        <p:txBody>
          <a:bodyPr/>
          <a:lstStyle/>
          <a:p>
            <a:pPr>
              <a:lnSpc>
                <a:spcPct val="100000"/>
              </a:lnSpc>
            </a:pPr>
            <a:endParaRPr lang="ko-KR" altLang="en-US"/>
          </a:p>
        </p:txBody>
      </p:sp>
      <p:sp>
        <p:nvSpPr>
          <p:cNvPr id="26" name="fault-table-text-1-1">
            <a:extLst>
              <a:ext uri="{FF2B5EF4-FFF2-40B4-BE49-F238E27FC236}">
                <a16:creationId xmlns:a16="http://schemas.microsoft.com/office/drawing/2014/main" id="{A43D67EA-392D-4752-8967-9B1637EBB2C4}"/>
              </a:ext>
            </a:extLst>
          </p:cNvPr>
          <p:cNvSpPr>
            <a:spLocks noGrp="1"/>
          </p:cNvSpPr>
          <p:nvPr/>
        </p:nvSpPr>
        <p:spPr>
          <a:xfrm>
            <a:off x="2971800" y="3308695"/>
            <a:ext cx="238125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가동 범위는 유지</a:t>
            </a:r>
          </a:p>
        </p:txBody>
      </p:sp>
      <p:sp>
        <p:nvSpPr>
          <p:cNvPr id="27" name="fault-table-cell-1-2">
            <a:extLst>
              <a:ext uri="{FF2B5EF4-FFF2-40B4-BE49-F238E27FC236}">
                <a16:creationId xmlns:a16="http://schemas.microsoft.com/office/drawing/2014/main" id="{A4D2307D-3F0E-42DA-845A-B52781DE300F}"/>
              </a:ext>
            </a:extLst>
          </p:cNvPr>
          <p:cNvSpPr>
            <a:spLocks noGrp="1"/>
          </p:cNvSpPr>
          <p:nvPr/>
        </p:nvSpPr>
        <p:spPr>
          <a:xfrm>
            <a:off x="5448300" y="3275929"/>
            <a:ext cx="2476500" cy="688086"/>
          </a:xfrm>
          <a:prstGeom prst="rect">
            <a:avLst/>
          </a:prstGeom>
          <a:solidFill>
            <a:srgbClr val="F7F7F7"/>
          </a:solidFill>
          <a:ln w="9525">
            <a:solidFill>
              <a:srgbClr val="CFCFCF"/>
            </a:solidFill>
            <a:prstDash val="solid"/>
          </a:ln>
        </p:spPr>
        <p:txBody>
          <a:bodyPr/>
          <a:lstStyle/>
          <a:p>
            <a:pPr>
              <a:lnSpc>
                <a:spcPct val="100000"/>
              </a:lnSpc>
            </a:pPr>
            <a:endParaRPr lang="ko-KR" altLang="en-US"/>
          </a:p>
        </p:txBody>
      </p:sp>
      <p:sp>
        <p:nvSpPr>
          <p:cNvPr id="28" name="fault-table-text-1-2">
            <a:extLst>
              <a:ext uri="{FF2B5EF4-FFF2-40B4-BE49-F238E27FC236}">
                <a16:creationId xmlns:a16="http://schemas.microsoft.com/office/drawing/2014/main" id="{6F4C7DD9-A6EE-43F7-BF10-E9C2AB6D8412}"/>
              </a:ext>
            </a:extLst>
          </p:cNvPr>
          <p:cNvSpPr>
            <a:spLocks noGrp="1"/>
          </p:cNvSpPr>
          <p:nvPr/>
        </p:nvSpPr>
        <p:spPr>
          <a:xfrm>
            <a:off x="5543550" y="3308695"/>
            <a:ext cx="228600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명령보다 작은 torque 출력</a:t>
            </a:r>
          </a:p>
        </p:txBody>
      </p:sp>
      <p:sp>
        <p:nvSpPr>
          <p:cNvPr id="29" name="fault-table-cell-1-3">
            <a:extLst>
              <a:ext uri="{FF2B5EF4-FFF2-40B4-BE49-F238E27FC236}">
                <a16:creationId xmlns:a16="http://schemas.microsoft.com/office/drawing/2014/main" id="{CE4A5F32-F958-4708-8651-592616D65ACE}"/>
              </a:ext>
            </a:extLst>
          </p:cNvPr>
          <p:cNvSpPr>
            <a:spLocks noGrp="1"/>
          </p:cNvSpPr>
          <p:nvPr/>
        </p:nvSpPr>
        <p:spPr>
          <a:xfrm>
            <a:off x="7924800" y="3275929"/>
            <a:ext cx="3638550" cy="688086"/>
          </a:xfrm>
          <a:prstGeom prst="rect">
            <a:avLst/>
          </a:prstGeom>
          <a:solidFill>
            <a:srgbClr val="F7F7F7"/>
          </a:solidFill>
          <a:ln w="9525">
            <a:solidFill>
              <a:srgbClr val="CFCFCF"/>
            </a:solidFill>
            <a:prstDash val="solid"/>
          </a:ln>
        </p:spPr>
        <p:txBody>
          <a:bodyPr/>
          <a:lstStyle/>
          <a:p>
            <a:pPr>
              <a:lnSpc>
                <a:spcPct val="100000"/>
              </a:lnSpc>
            </a:pPr>
            <a:endParaRPr lang="ko-KR" altLang="en-US"/>
          </a:p>
        </p:txBody>
      </p:sp>
      <p:sp>
        <p:nvSpPr>
          <p:cNvPr id="30" name="fault-table-text-1-3">
            <a:extLst>
              <a:ext uri="{FF2B5EF4-FFF2-40B4-BE49-F238E27FC236}">
                <a16:creationId xmlns:a16="http://schemas.microsoft.com/office/drawing/2014/main" id="{17888893-B13E-47D6-9ED0-536EAFC972F5}"/>
              </a:ext>
            </a:extLst>
          </p:cNvPr>
          <p:cNvSpPr>
            <a:spLocks noGrp="1"/>
          </p:cNvSpPr>
          <p:nvPr/>
        </p:nvSpPr>
        <p:spPr>
          <a:xfrm>
            <a:off x="8020050" y="3308695"/>
            <a:ext cx="344805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본 연구의 직접 대상 · ADAPT 모델 [2]</a:t>
            </a:r>
          </a:p>
        </p:txBody>
      </p:sp>
      <p:sp>
        <p:nvSpPr>
          <p:cNvPr id="31" name="fault-table-cell-2-0">
            <a:extLst>
              <a:ext uri="{FF2B5EF4-FFF2-40B4-BE49-F238E27FC236}">
                <a16:creationId xmlns:a16="http://schemas.microsoft.com/office/drawing/2014/main" id="{45461706-7C55-4E4F-A8CE-F741625CAA93}"/>
              </a:ext>
            </a:extLst>
          </p:cNvPr>
          <p:cNvSpPr>
            <a:spLocks noGrp="1"/>
          </p:cNvSpPr>
          <p:nvPr/>
        </p:nvSpPr>
        <p:spPr>
          <a:xfrm>
            <a:off x="609600" y="3964015"/>
            <a:ext cx="226695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32" name="fault-table-text-2-0">
            <a:extLst>
              <a:ext uri="{FF2B5EF4-FFF2-40B4-BE49-F238E27FC236}">
                <a16:creationId xmlns:a16="http://schemas.microsoft.com/office/drawing/2014/main" id="{F980E01C-80B9-407A-89F6-CCB8E002D5F1}"/>
              </a:ext>
            </a:extLst>
          </p:cNvPr>
          <p:cNvSpPr>
            <a:spLocks noGrp="1"/>
          </p:cNvSpPr>
          <p:nvPr/>
        </p:nvSpPr>
        <p:spPr>
          <a:xfrm>
            <a:off x="704850" y="3996781"/>
            <a:ext cx="2076450" cy="622554"/>
          </a:xfrm>
          <a:prstGeom prst="rect">
            <a:avLst/>
          </a:prstGeom>
          <a:noFill/>
          <a:ln w="0">
            <a:noFill/>
            <a:prstDash val="solid"/>
          </a:ln>
        </p:spPr>
        <p:txBody>
          <a:bodyPr wrap="square" lIns="0" tIns="0" rIns="0" bIns="0" anchor="ctr">
            <a:normAutofit/>
          </a:bodyPr>
          <a:lstStyle/>
          <a:p>
            <a:pPr algn="l">
              <a:lnSpc>
                <a:spcPct val="100000"/>
              </a:lnSpc>
              <a:buNone/>
              <a:defRPr sz="1425" b="1">
                <a:solidFill>
                  <a:srgbClr val="111111"/>
                </a:solidFill>
                <a:latin typeface="Noto Sans CJK KR"/>
                <a:ea typeface="Noto Sans CJK KR"/>
                <a:cs typeface="Noto Sans CJK KR"/>
              </a:defRPr>
            </a:pPr>
            <a:r>
              <a:rPr sz="1425" b="1">
                <a:solidFill>
                  <a:srgbClr val="111111"/>
                </a:solidFill>
                <a:latin typeface="맑은 고딕"/>
                <a:ea typeface="맑은 고딕"/>
                <a:cs typeface="맑은 고딕"/>
              </a:rPr>
              <a:t>Torque Loss</a:t>
            </a:r>
          </a:p>
        </p:txBody>
      </p:sp>
      <p:sp>
        <p:nvSpPr>
          <p:cNvPr id="33" name="fault-table-cell-2-1">
            <a:extLst>
              <a:ext uri="{FF2B5EF4-FFF2-40B4-BE49-F238E27FC236}">
                <a16:creationId xmlns:a16="http://schemas.microsoft.com/office/drawing/2014/main" id="{B7D3DB38-8353-41F9-9686-B1F7B53E9BA6}"/>
              </a:ext>
            </a:extLst>
          </p:cNvPr>
          <p:cNvSpPr>
            <a:spLocks noGrp="1"/>
          </p:cNvSpPr>
          <p:nvPr/>
        </p:nvSpPr>
        <p:spPr>
          <a:xfrm>
            <a:off x="2876550" y="3964015"/>
            <a:ext cx="257175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34" name="fault-table-text-2-1">
            <a:extLst>
              <a:ext uri="{FF2B5EF4-FFF2-40B4-BE49-F238E27FC236}">
                <a16:creationId xmlns:a16="http://schemas.microsoft.com/office/drawing/2014/main" id="{A2435927-0AA1-4451-9ED2-AAC6C5018EAC}"/>
              </a:ext>
            </a:extLst>
          </p:cNvPr>
          <p:cNvSpPr>
            <a:spLocks noGrp="1"/>
          </p:cNvSpPr>
          <p:nvPr/>
        </p:nvSpPr>
        <p:spPr>
          <a:xfrm>
            <a:off x="2971800" y="3996781"/>
            <a:ext cx="238125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외력에 의해 수동 이동</a:t>
            </a:r>
          </a:p>
        </p:txBody>
      </p:sp>
      <p:sp>
        <p:nvSpPr>
          <p:cNvPr id="35" name="fault-table-cell-2-2">
            <a:extLst>
              <a:ext uri="{FF2B5EF4-FFF2-40B4-BE49-F238E27FC236}">
                <a16:creationId xmlns:a16="http://schemas.microsoft.com/office/drawing/2014/main" id="{F377EC29-D189-409B-BB9E-69E951F2AD44}"/>
              </a:ext>
            </a:extLst>
          </p:cNvPr>
          <p:cNvSpPr>
            <a:spLocks noGrp="1"/>
          </p:cNvSpPr>
          <p:nvPr/>
        </p:nvSpPr>
        <p:spPr>
          <a:xfrm>
            <a:off x="5448300" y="3964015"/>
            <a:ext cx="247650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36" name="fault-table-text-2-2">
            <a:extLst>
              <a:ext uri="{FF2B5EF4-FFF2-40B4-BE49-F238E27FC236}">
                <a16:creationId xmlns:a16="http://schemas.microsoft.com/office/drawing/2014/main" id="{6DB1A7ED-CECE-45AE-820D-4BC48C4876C0}"/>
              </a:ext>
            </a:extLst>
          </p:cNvPr>
          <p:cNvSpPr>
            <a:spLocks noGrp="1"/>
          </p:cNvSpPr>
          <p:nvPr/>
        </p:nvSpPr>
        <p:spPr>
          <a:xfrm>
            <a:off x="5543550" y="3996781"/>
            <a:ext cx="228600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425" b="0">
                <a:solidFill>
                  <a:srgbClr val="3A3A3A"/>
                </a:solidFill>
                <a:latin typeface="맑은 고딕"/>
                <a:ea typeface="맑은 고딕"/>
                <a:cs typeface="맑은 고딕"/>
              </a:rPr>
              <a:t>거의 또는 전혀 없음</a:t>
            </a:r>
          </a:p>
        </p:txBody>
      </p:sp>
      <p:sp>
        <p:nvSpPr>
          <p:cNvPr id="37" name="fault-table-cell-2-3">
            <a:extLst>
              <a:ext uri="{FF2B5EF4-FFF2-40B4-BE49-F238E27FC236}">
                <a16:creationId xmlns:a16="http://schemas.microsoft.com/office/drawing/2014/main" id="{92FFA6DB-D2DA-4460-A834-7FB3269AB8D4}"/>
              </a:ext>
            </a:extLst>
          </p:cNvPr>
          <p:cNvSpPr>
            <a:spLocks noGrp="1"/>
          </p:cNvSpPr>
          <p:nvPr/>
        </p:nvSpPr>
        <p:spPr>
          <a:xfrm>
            <a:off x="7924800" y="3964015"/>
            <a:ext cx="3638550" cy="688086"/>
          </a:xfrm>
          <a:prstGeom prst="rect">
            <a:avLst/>
          </a:prstGeom>
          <a:solidFill>
            <a:srgbClr val="FFFFFF"/>
          </a:solidFill>
          <a:ln w="9525">
            <a:solidFill>
              <a:srgbClr val="CFCFCF"/>
            </a:solidFill>
            <a:prstDash val="solid"/>
          </a:ln>
        </p:spPr>
        <p:txBody>
          <a:bodyPr/>
          <a:lstStyle/>
          <a:p>
            <a:pPr>
              <a:lnSpc>
                <a:spcPct val="100000"/>
              </a:lnSpc>
            </a:pPr>
            <a:endParaRPr lang="ko-KR" altLang="en-US"/>
          </a:p>
        </p:txBody>
      </p:sp>
      <p:sp>
        <p:nvSpPr>
          <p:cNvPr id="38" name="fault-table-text-2-3">
            <a:extLst>
              <a:ext uri="{FF2B5EF4-FFF2-40B4-BE49-F238E27FC236}">
                <a16:creationId xmlns:a16="http://schemas.microsoft.com/office/drawing/2014/main" id="{F5224E29-AAD4-4287-857B-104D1A14D107}"/>
              </a:ext>
            </a:extLst>
          </p:cNvPr>
          <p:cNvSpPr>
            <a:spLocks noGrp="1"/>
          </p:cNvSpPr>
          <p:nvPr/>
        </p:nvSpPr>
        <p:spPr>
          <a:xfrm>
            <a:off x="8020050" y="3996781"/>
            <a:ext cx="3448050" cy="622554"/>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3A3A3A"/>
                </a:solidFill>
                <a:latin typeface="Noto Sans CJK KR"/>
                <a:ea typeface="Noto Sans CJK KR"/>
                <a:cs typeface="Noto Sans CJK KR"/>
              </a:defRPr>
            </a:pPr>
            <a:r>
              <a:rPr sz="1240" b="0">
                <a:solidFill>
                  <a:srgbClr val="3A3A3A"/>
                </a:solidFill>
                <a:latin typeface="맑은 고딕"/>
                <a:ea typeface="맑은 고딕"/>
                <a:cs typeface="맑은 고딕"/>
              </a:rPr>
              <a:t>완전 출력 상실에 포함 · 실제 motor damping은 미모델링</a:t>
            </a:r>
          </a:p>
        </p:txBody>
      </p:sp>
      <p:sp>
        <p:nvSpPr>
          <p:cNvPr id="50"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dirty="0" err="1">
                <a:solidFill>
                  <a:srgbClr val="3A3A3A"/>
                </a:solidFill>
                <a:latin typeface="맑은 고딕"/>
                <a:ea typeface="맑은 고딕"/>
                <a:cs typeface="맑은 고딕"/>
              </a:rPr>
              <a:t>연구</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대상은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관절</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각도를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고정하는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고장이</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아니라</a:t>
            </a:r>
            <a:r>
              <a:rPr sz="1400" b="0" dirty="0">
                <a:solidFill>
                  <a:srgbClr val="3A3A3A"/>
                </a:solidFill>
                <a:latin typeface="맑은 고딕"/>
                <a:ea typeface="맑은 고딕"/>
                <a:cs typeface="맑은 고딕"/>
              </a:rPr>
              <a:t>, 한 </a:t>
            </a:r>
            <a:r>
              <a:rPr sz="1400" b="0" dirty="0" err="1">
                <a:solidFill>
                  <a:srgbClr val="3A3A3A"/>
                </a:solidFill>
                <a:latin typeface="맑은 고딕"/>
                <a:ea typeface="맑은 고딕"/>
                <a:cs typeface="맑은 고딕"/>
              </a:rPr>
              <a:t>관절의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명령</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토크를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일정</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비율</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줄이는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고장이다</a:t>
            </a:r>
            <a:r>
              <a:rPr sz="1400" b="0" dirty="0">
                <a:solidFill>
                  <a:srgbClr val="3A3A3A"/>
                </a:solidFill>
                <a:latin typeface="맑은 고딕"/>
                <a:ea typeface="맑은 고딕"/>
                <a:cs typeface="맑은 고딕"/>
              </a:rPr>
              <a:t>.</a:t>
            </a:r>
          </a:p>
        </p:txBody>
      </p:sp>
    </p:spTree>
    <p:extLst>
      <p:ext uri="{BB962C8B-B14F-4D97-AF65-F5344CB8AC3E}">
        <p14:creationId xmlns:p14="http://schemas.microsoft.com/office/powerpoint/2010/main" val="209292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05 | 연구 문제와 목표</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RESEARCH BACKGROUND</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Liu et al., Saving the Limping, arXiv:2210.00474v3, 2023.   2) Wu et al., ADAPT, DAI ’23, 2023.</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05 / 43</a:t>
            </a:r>
          </a:p>
        </p:txBody>
      </p:sp>
      <p:sp>
        <p:nvSpPr>
          <p:cNvPr id="9" name="Rectangle 8"/>
          <p:cNvSpPr/>
          <p:nvPr/>
        </p:nvSpPr>
        <p:spPr>
          <a:xfrm>
            <a:off x="685800" y="2387315"/>
            <a:ext cx="3063240" cy="1714317"/>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850392" y="2513136"/>
            <a:ext cx="273405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정상 상태</a:t>
            </a:r>
          </a:p>
        </p:txBody>
      </p:sp>
      <p:sp>
        <p:nvSpPr>
          <p:cNvPr id="11" name="TextBox 10"/>
          <p:cNvSpPr txBox="1"/>
          <p:nvPr/>
        </p:nvSpPr>
        <p:spPr>
          <a:xfrm>
            <a:off x="850392" y="2906328"/>
            <a:ext cx="2734056" cy="1085209"/>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12개 관절이 명령 토크를 출력
명령 속도에 맞춰 보행</a:t>
            </a:r>
          </a:p>
        </p:txBody>
      </p:sp>
      <p:sp>
        <p:nvSpPr>
          <p:cNvPr id="12" name="Rectangle 11"/>
          <p:cNvSpPr/>
          <p:nvPr/>
        </p:nvSpPr>
        <p:spPr>
          <a:xfrm>
            <a:off x="4553712" y="2387315"/>
            <a:ext cx="3063240" cy="1714317"/>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TextBox 12"/>
          <p:cNvSpPr txBox="1"/>
          <p:nvPr/>
        </p:nvSpPr>
        <p:spPr>
          <a:xfrm>
            <a:off x="4718304" y="2513136"/>
            <a:ext cx="273405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출력 저하</a:t>
            </a:r>
          </a:p>
        </p:txBody>
      </p:sp>
      <p:sp>
        <p:nvSpPr>
          <p:cNvPr id="14" name="TextBox 13"/>
          <p:cNvSpPr txBox="1"/>
          <p:nvPr/>
        </p:nvSpPr>
        <p:spPr>
          <a:xfrm>
            <a:off x="4718304" y="2906328"/>
            <a:ext cx="2734056" cy="1085209"/>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한 관절의 출력 토크 감소
속도 저하·회전 오차 발생 가능</a:t>
            </a:r>
          </a:p>
        </p:txBody>
      </p:sp>
      <p:sp>
        <p:nvSpPr>
          <p:cNvPr id="15" name="Rectangle 14"/>
          <p:cNvSpPr/>
          <p:nvPr/>
        </p:nvSpPr>
        <p:spPr>
          <a:xfrm>
            <a:off x="8412480" y="2387315"/>
            <a:ext cx="3063240" cy="1714317"/>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6" name="TextBox 15"/>
          <p:cNvSpPr txBox="1"/>
          <p:nvPr/>
        </p:nvSpPr>
        <p:spPr>
          <a:xfrm>
            <a:off x="8577072" y="2513136"/>
            <a:ext cx="273405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적응 목표</a:t>
            </a:r>
          </a:p>
        </p:txBody>
      </p:sp>
      <p:sp>
        <p:nvSpPr>
          <p:cNvPr id="17" name="TextBox 16"/>
          <p:cNvSpPr txBox="1"/>
          <p:nvPr/>
        </p:nvSpPr>
        <p:spPr>
          <a:xfrm>
            <a:off x="8577072" y="2906328"/>
            <a:ext cx="2734056" cy="1085209"/>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최근 1초의 움직임을 입력해
12개 관절 명령을 조정</a:t>
            </a:r>
          </a:p>
        </p:txBody>
      </p:sp>
      <p:cxnSp>
        <p:nvCxnSpPr>
          <p:cNvPr id="18" name="Connector 17"/>
          <p:cNvCxnSpPr/>
          <p:nvPr/>
        </p:nvCxnSpPr>
        <p:spPr>
          <a:xfrm>
            <a:off x="3794760" y="3236610"/>
            <a:ext cx="667512"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662672" y="3236610"/>
            <a:ext cx="658368"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sp>
        <p:nvSpPr>
          <p:cNvPr id="20"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dirty="0" err="1">
                <a:solidFill>
                  <a:srgbClr val="3A3A3A"/>
                </a:solidFill>
                <a:latin typeface="맑은 고딕"/>
                <a:ea typeface="맑은 고딕"/>
                <a:cs typeface="맑은 고딕"/>
              </a:rPr>
              <a:t>목표는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고장</a:t>
            </a:r>
            <a:r>
              <a:rPr sz="1400" b="0" dirty="0">
                <a:solidFill>
                  <a:srgbClr val="3A3A3A"/>
                </a:solidFill>
                <a:latin typeface="맑은 고딕"/>
                <a:ea typeface="맑은 고딕"/>
                <a:cs typeface="맑은 고딕"/>
              </a:rPr>
              <a:t> 후 </a:t>
            </a:r>
            <a:r>
              <a:rPr sz="1400" b="0" dirty="0" err="1">
                <a:solidFill>
                  <a:srgbClr val="3A3A3A"/>
                </a:solidFill>
                <a:latin typeface="맑은 고딕"/>
                <a:ea typeface="맑은 고딕"/>
                <a:cs typeface="맑은 고딕"/>
              </a:rPr>
              <a:t>넘어지지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않는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것과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명령</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속도로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다시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안정적으로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걷는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것을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함께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달성하는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것이다</a:t>
            </a:r>
            <a:r>
              <a:rPr sz="1400" b="0" dirty="0">
                <a:solidFill>
                  <a:srgbClr val="3A3A3A"/>
                </a:solidFill>
                <a:latin typeface="맑은 고딕"/>
                <a:ea typeface="맑은 고딕"/>
                <a:cs typeface="맑은 고딕"/>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06 | 선행연구와 공동학습의 근거</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RELATED WORK</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00" b="0">
                <a:solidFill>
                  <a:srgbClr val="686868"/>
                </a:solidFill>
                <a:latin typeface="맑은 고딕"/>
                <a:ea typeface="맑은 고딕"/>
                <a:cs typeface="맑은 고딕"/>
              </a:rPr>
              <a:t>1) Kumar et al., RMA, RSS 2021; Liu et al., Saving the Limping, 2023.   2) Wu et al., ADAPT, 2023; Lee et al., Science Robotics 2020 (arXiv:2010.11251).</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06 / 43</a:t>
            </a:r>
          </a:p>
        </p:txBody>
      </p:sp>
      <p:sp>
        <p:nvSpPr>
          <p:cNvPr id="8" name="v5-content-intro"/>
          <p:cNvSpPr txBox="1"/>
          <p:nvPr/>
        </p:nvSpPr>
        <p:spPr>
          <a:xfrm>
            <a:off x="658368" y="1280160"/>
            <a:ext cx="10881360" cy="289310"/>
          </a:xfrm>
          <a:prstGeom prst="rect">
            <a:avLst/>
          </a:prstGeom>
          <a:noFill/>
        </p:spPr>
        <p:txBody>
          <a:bodyPr wrap="square" lIns="36576" tIns="36576" rIns="36576" bIns="36576" anchor="t">
            <a:spAutoFit/>
          </a:bodyPr>
          <a:lstStyle/>
          <a:p>
            <a:pPr marL="285750" indent="-285750" algn="l">
              <a:spcAft>
                <a:spcPts val="0"/>
              </a:spcAft>
              <a:buFont typeface="Arial" panose="020B0604020202020204" pitchFamily="34" charset="0"/>
              <a:buChar char="•"/>
            </a:pPr>
            <a:r>
              <a:rPr sz="1400" b="0" dirty="0" err="1">
                <a:solidFill>
                  <a:srgbClr val="3A3A3A"/>
                </a:solidFill>
                <a:latin typeface="맑은 고딕"/>
                <a:ea typeface="맑은 고딕"/>
                <a:cs typeface="맑은 고딕"/>
              </a:rPr>
              <a:t>RMA는</a:t>
            </a:r>
            <a:r>
              <a:rPr sz="1400" b="0" dirty="0">
                <a:solidFill>
                  <a:srgbClr val="3A3A3A"/>
                </a:solidFill>
                <a:latin typeface="맑은 고딕"/>
                <a:ea typeface="맑은 고딕"/>
                <a:cs typeface="맑은 고딕"/>
              </a:rPr>
              <a:t> </a:t>
            </a:r>
            <a:r>
              <a:rPr lang="en-US" sz="1400" b="0" dirty="0">
                <a:solidFill>
                  <a:srgbClr val="3A3A3A"/>
                </a:solidFill>
                <a:latin typeface="맑은 고딕"/>
                <a:ea typeface="맑은 고딕"/>
                <a:cs typeface="맑은 고딕"/>
              </a:rPr>
              <a:t>history</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기반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적응</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구조</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Saving은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공동학습</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방식</a:t>
            </a:r>
            <a:r>
              <a:rPr lang="en-US" sz="1400" b="0" dirty="0">
                <a:solidFill>
                  <a:srgbClr val="3A3A3A"/>
                </a:solidFill>
                <a:latin typeface="맑은 고딕"/>
                <a:ea typeface="맑은 고딕"/>
                <a:cs typeface="맑은 고딕"/>
              </a:rPr>
              <a:t>(Joint Training) </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ADAPT는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출력</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저하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모델</a:t>
            </a:r>
            <a:r>
              <a:rPr lang="en-US" sz="1400" b="0" dirty="0">
                <a:solidFill>
                  <a:srgbClr val="3A3A3A"/>
                </a:solidFill>
                <a:latin typeface="맑은 고딕"/>
                <a:ea typeface="맑은 고딕"/>
                <a:cs typeface="맑은 고딕"/>
              </a:rPr>
              <a:t> </a:t>
            </a:r>
            <a:r>
              <a:rPr lang="ko-KR" altLang="en-US" sz="1400" b="0" dirty="0">
                <a:solidFill>
                  <a:srgbClr val="3A3A3A"/>
                </a:solidFill>
                <a:latin typeface="맑은 고딕"/>
                <a:ea typeface="맑은 고딕"/>
                <a:cs typeface="맑은 고딕"/>
              </a:rPr>
              <a:t>차용</a:t>
            </a:r>
            <a:r>
              <a:rPr sz="1400" b="0" dirty="0">
                <a:solidFill>
                  <a:srgbClr val="3A3A3A"/>
                </a:solidFill>
                <a:latin typeface="맑은 고딕"/>
                <a:ea typeface="맑은 고딕"/>
                <a:cs typeface="맑은 고딕"/>
              </a:rPr>
              <a:t>.</a:t>
            </a:r>
          </a:p>
        </p:txBody>
      </p:sp>
      <p:sp>
        <p:nvSpPr>
          <p:cNvPr id="9" name="Rectangle 8"/>
          <p:cNvSpPr/>
          <p:nvPr/>
        </p:nvSpPr>
        <p:spPr>
          <a:xfrm>
            <a:off x="640080" y="1883664"/>
            <a:ext cx="1828800" cy="95097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1920240"/>
            <a:ext cx="1682496" cy="877824"/>
          </a:xfrm>
          <a:prstGeom prst="rect">
            <a:avLst/>
          </a:prstGeom>
          <a:noFill/>
        </p:spPr>
        <p:txBody>
          <a:bodyPr wrap="square" lIns="9144" tIns="9144" rIns="9144" bIns="9144" anchor="ctr">
            <a:spAutoFit/>
          </a:bodyPr>
          <a:lstStyle/>
          <a:p>
            <a:pPr algn="ctr">
              <a:spcAft>
                <a:spcPts val="0"/>
              </a:spcAft>
            </a:pPr>
            <a:r>
              <a:rPr sz="1240" b="1">
                <a:solidFill>
                  <a:srgbClr val="FFFFFF"/>
                </a:solidFill>
                <a:latin typeface="맑은 고딕"/>
                <a:ea typeface="맑은 고딕"/>
                <a:cs typeface="맑은 고딕"/>
              </a:rPr>
              <a:t>연구</a:t>
            </a:r>
          </a:p>
        </p:txBody>
      </p:sp>
      <p:sp>
        <p:nvSpPr>
          <p:cNvPr id="11" name="Rectangle 10"/>
          <p:cNvSpPr/>
          <p:nvPr/>
        </p:nvSpPr>
        <p:spPr>
          <a:xfrm>
            <a:off x="2468880" y="1883664"/>
            <a:ext cx="4572000" cy="95097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42032" y="1920240"/>
            <a:ext cx="4425696" cy="877824"/>
          </a:xfrm>
          <a:prstGeom prst="rect">
            <a:avLst/>
          </a:prstGeom>
          <a:noFill/>
        </p:spPr>
        <p:txBody>
          <a:bodyPr wrap="square" lIns="9144" tIns="9144" rIns="9144" bIns="9144" anchor="ctr">
            <a:spAutoFit/>
          </a:bodyPr>
          <a:lstStyle/>
          <a:p>
            <a:pPr algn="ctr">
              <a:spcAft>
                <a:spcPts val="0"/>
              </a:spcAft>
            </a:pPr>
            <a:r>
              <a:rPr sz="1240" b="1">
                <a:solidFill>
                  <a:srgbClr val="FFFFFF"/>
                </a:solidFill>
                <a:latin typeface="맑은 고딕"/>
                <a:ea typeface="맑은 고딕"/>
                <a:cs typeface="맑은 고딕"/>
              </a:rPr>
              <a:t>원 논문의 목적·방법</a:t>
            </a:r>
          </a:p>
        </p:txBody>
      </p:sp>
      <p:sp>
        <p:nvSpPr>
          <p:cNvPr id="13" name="Rectangle 12"/>
          <p:cNvSpPr/>
          <p:nvPr/>
        </p:nvSpPr>
        <p:spPr>
          <a:xfrm>
            <a:off x="7040880" y="1883664"/>
            <a:ext cx="4572000" cy="95097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14032" y="1920240"/>
            <a:ext cx="4425696" cy="877824"/>
          </a:xfrm>
          <a:prstGeom prst="rect">
            <a:avLst/>
          </a:prstGeom>
          <a:noFill/>
        </p:spPr>
        <p:txBody>
          <a:bodyPr wrap="square" lIns="9144" tIns="9144" rIns="9144" bIns="9144" anchor="ctr">
            <a:spAutoFit/>
          </a:bodyPr>
          <a:lstStyle/>
          <a:p>
            <a:pPr algn="ctr">
              <a:spcAft>
                <a:spcPts val="0"/>
              </a:spcAft>
            </a:pPr>
            <a:r>
              <a:rPr sz="1240" b="1">
                <a:solidFill>
                  <a:srgbClr val="FFFFFF"/>
                </a:solidFill>
                <a:latin typeface="맑은 고딕"/>
                <a:ea typeface="맑은 고딕"/>
                <a:cs typeface="맑은 고딕"/>
              </a:rPr>
              <a:t>현재 프로젝트와의 연결</a:t>
            </a:r>
          </a:p>
        </p:txBody>
      </p:sp>
      <p:sp>
        <p:nvSpPr>
          <p:cNvPr id="15" name="Rectangle 14"/>
          <p:cNvSpPr/>
          <p:nvPr/>
        </p:nvSpPr>
        <p:spPr>
          <a:xfrm>
            <a:off x="640080" y="2834640"/>
            <a:ext cx="18288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1" y="3110073"/>
            <a:ext cx="1682496" cy="400110"/>
          </a:xfrm>
          <a:prstGeom prst="rect">
            <a:avLst/>
          </a:prstGeom>
          <a:noFill/>
        </p:spPr>
        <p:txBody>
          <a:bodyPr wrap="square" lIns="9144" tIns="9144" rIns="9144" bIns="9144" anchor="ctr">
            <a:spAutoFit/>
          </a:bodyPr>
          <a:lstStyle/>
          <a:p>
            <a:pPr algn="l">
              <a:spcAft>
                <a:spcPts val="0"/>
              </a:spcAft>
            </a:pPr>
            <a:r>
              <a:rPr sz="1240" b="1" dirty="0">
                <a:solidFill>
                  <a:srgbClr val="3A3A3A"/>
                </a:solidFill>
                <a:latin typeface="맑은 고딕"/>
                <a:ea typeface="맑은 고딕"/>
                <a:cs typeface="맑은 고딕"/>
              </a:rPr>
              <a:t>R</a:t>
            </a:r>
            <a:r>
              <a:rPr lang="en-US" sz="1240" b="1" dirty="0">
                <a:solidFill>
                  <a:srgbClr val="3A3A3A"/>
                </a:solidFill>
                <a:latin typeface="맑은 고딕"/>
                <a:ea typeface="맑은 고딕"/>
                <a:cs typeface="맑은 고딕"/>
              </a:rPr>
              <a:t>apid </a:t>
            </a:r>
            <a:r>
              <a:rPr sz="1240" b="1" dirty="0">
                <a:solidFill>
                  <a:srgbClr val="3A3A3A"/>
                </a:solidFill>
                <a:latin typeface="맑은 고딕"/>
                <a:ea typeface="맑은 고딕"/>
                <a:cs typeface="맑은 고딕"/>
              </a:rPr>
              <a:t>M</a:t>
            </a:r>
            <a:r>
              <a:rPr lang="en-US" sz="1240" b="1" dirty="0">
                <a:solidFill>
                  <a:srgbClr val="3A3A3A"/>
                </a:solidFill>
                <a:latin typeface="맑은 고딕"/>
                <a:ea typeface="맑은 고딕"/>
                <a:cs typeface="맑은 고딕"/>
              </a:rPr>
              <a:t>otor </a:t>
            </a:r>
            <a:br>
              <a:rPr lang="en-US" sz="1240" b="1" dirty="0">
                <a:solidFill>
                  <a:srgbClr val="3A3A3A"/>
                </a:solidFill>
                <a:latin typeface="맑은 고딕"/>
                <a:ea typeface="맑은 고딕"/>
                <a:cs typeface="맑은 고딕"/>
              </a:rPr>
            </a:br>
            <a:r>
              <a:rPr sz="1240" b="1" dirty="0">
                <a:solidFill>
                  <a:srgbClr val="3A3A3A"/>
                </a:solidFill>
                <a:latin typeface="맑은 고딕"/>
                <a:ea typeface="맑은 고딕"/>
                <a:cs typeface="맑은 고딕"/>
              </a:rPr>
              <a:t>A</a:t>
            </a:r>
            <a:r>
              <a:rPr lang="en-US" sz="1240" b="1" dirty="0">
                <a:solidFill>
                  <a:srgbClr val="3A3A3A"/>
                </a:solidFill>
                <a:latin typeface="맑은 고딕"/>
                <a:ea typeface="맑은 고딕"/>
                <a:cs typeface="맑은 고딕"/>
              </a:rPr>
              <a:t>daptation</a:t>
            </a:r>
            <a:r>
              <a:rPr sz="1240" b="1" dirty="0">
                <a:solidFill>
                  <a:srgbClr val="3A3A3A"/>
                </a:solidFill>
                <a:latin typeface="맑은 고딕"/>
                <a:ea typeface="맑은 고딕"/>
                <a:cs typeface="맑은 고딕"/>
              </a:rPr>
              <a:t> · 2021</a:t>
            </a:r>
          </a:p>
        </p:txBody>
      </p:sp>
      <p:sp>
        <p:nvSpPr>
          <p:cNvPr id="17" name="Rectangle 16"/>
          <p:cNvSpPr/>
          <p:nvPr/>
        </p:nvSpPr>
        <p:spPr>
          <a:xfrm>
            <a:off x="2468880" y="2834640"/>
            <a:ext cx="45720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3014662"/>
            <a:ext cx="4425696" cy="590931"/>
          </a:xfrm>
          <a:prstGeom prst="rect">
            <a:avLst/>
          </a:prstGeom>
          <a:noFill/>
        </p:spPr>
        <p:txBody>
          <a:bodyPr wrap="square" lIns="9144" tIns="9144" rIns="9144" bIns="9144" anchor="ctr">
            <a:spAutoFit/>
          </a:bodyPr>
          <a:lstStyle/>
          <a:p>
            <a:pPr algn="ctr">
              <a:spcAft>
                <a:spcPts val="0"/>
              </a:spcAft>
            </a:pPr>
            <a:r>
              <a:rPr sz="1240" b="0" dirty="0" err="1">
                <a:solidFill>
                  <a:srgbClr val="3A3A3A"/>
                </a:solidFill>
                <a:latin typeface="맑은 고딕"/>
                <a:ea typeface="맑은 고딕"/>
                <a:cs typeface="맑은 고딕"/>
              </a:rPr>
              <a:t>변하는</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물리조건에</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빠르게</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적응</a:t>
            </a:r>
            <a:r>
              <a:rPr sz="1240" b="0" dirty="0">
                <a:solidFill>
                  <a:srgbClr val="3A3A3A"/>
                </a:solidFill>
                <a:latin typeface="맑은 고딕"/>
                <a:ea typeface="맑은 고딕"/>
                <a:cs typeface="맑은 고딕"/>
              </a:rPr>
              <a:t>
① </a:t>
            </a:r>
            <a:r>
              <a:rPr sz="1240" b="0" dirty="0" err="1">
                <a:solidFill>
                  <a:srgbClr val="3A3A3A"/>
                </a:solidFill>
                <a:latin typeface="맑은 고딕"/>
                <a:ea typeface="맑은 고딕"/>
                <a:cs typeface="맑은 고딕"/>
              </a:rPr>
              <a:t>물리정보로</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보행</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정책</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학습</a:t>
            </a:r>
            <a:r>
              <a:rPr sz="1240" b="0" dirty="0">
                <a:solidFill>
                  <a:srgbClr val="3A3A3A"/>
                </a:solidFill>
                <a:latin typeface="맑은 고딕"/>
                <a:ea typeface="맑은 고딕"/>
                <a:cs typeface="맑은 고딕"/>
              </a:rPr>
              <a:t>
② </a:t>
            </a:r>
            <a:r>
              <a:rPr lang="en-US" sz="1240" b="0" dirty="0" err="1">
                <a:solidFill>
                  <a:srgbClr val="3A3A3A"/>
                </a:solidFill>
                <a:latin typeface="맑은 고딕"/>
                <a:ea typeface="맑은 고딕"/>
                <a:cs typeface="맑은 고딕"/>
              </a:rPr>
              <a:t>history</a:t>
            </a:r>
            <a:r>
              <a:rPr sz="1240" b="0" dirty="0" err="1">
                <a:solidFill>
                  <a:srgbClr val="3A3A3A"/>
                </a:solidFill>
                <a:latin typeface="맑은 고딕"/>
                <a:ea typeface="맑은 고딕"/>
                <a:cs typeface="맑은 고딕"/>
              </a:rPr>
              <a:t>로</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특징을</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추정하는</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모듈</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학습</a:t>
            </a:r>
            <a:endParaRPr sz="1240" b="0" dirty="0">
              <a:solidFill>
                <a:srgbClr val="3A3A3A"/>
              </a:solidFill>
              <a:latin typeface="맑은 고딕"/>
              <a:ea typeface="맑은 고딕"/>
              <a:cs typeface="맑은 고딕"/>
            </a:endParaRPr>
          </a:p>
        </p:txBody>
      </p:sp>
      <p:sp>
        <p:nvSpPr>
          <p:cNvPr id="19" name="Rectangle 18"/>
          <p:cNvSpPr/>
          <p:nvPr/>
        </p:nvSpPr>
        <p:spPr>
          <a:xfrm>
            <a:off x="7040880" y="2834640"/>
            <a:ext cx="45720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14032" y="3014662"/>
            <a:ext cx="4425696" cy="590931"/>
          </a:xfrm>
          <a:prstGeom prst="rect">
            <a:avLst/>
          </a:prstGeom>
          <a:noFill/>
        </p:spPr>
        <p:txBody>
          <a:bodyPr wrap="square" lIns="9144" tIns="9144" rIns="9144" bIns="9144" anchor="ctr">
            <a:spAutoFit/>
          </a:bodyPr>
          <a:lstStyle/>
          <a:p>
            <a:pPr algn="ctr">
              <a:spcAft>
                <a:spcPts val="0"/>
              </a:spcAft>
            </a:pPr>
            <a:r>
              <a:rPr sz="1240" b="0" dirty="0" err="1">
                <a:solidFill>
                  <a:srgbClr val="3A3A3A"/>
                </a:solidFill>
                <a:latin typeface="맑은 고딕"/>
                <a:ea typeface="맑은 고딕"/>
                <a:cs typeface="맑은 고딕"/>
              </a:rPr>
              <a:t>관측</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이력</a:t>
            </a:r>
            <a:r>
              <a:rPr sz="1240" b="0" dirty="0">
                <a:solidFill>
                  <a:srgbClr val="3A3A3A"/>
                </a:solidFill>
                <a:latin typeface="맑은 고딕"/>
                <a:ea typeface="맑은 고딕"/>
                <a:cs typeface="맑은 고딕"/>
              </a:rPr>
              <a:t> → </a:t>
            </a:r>
            <a:r>
              <a:rPr sz="1240" b="0" dirty="0" err="1">
                <a:solidFill>
                  <a:srgbClr val="3A3A3A"/>
                </a:solidFill>
                <a:latin typeface="맑은 고딕"/>
                <a:ea typeface="맑은 고딕"/>
                <a:cs typeface="맑은 고딕"/>
              </a:rPr>
              <a:t>숨은</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조건의</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특징</a:t>
            </a:r>
            <a:r>
              <a:rPr sz="1240" b="0" dirty="0">
                <a:solidFill>
                  <a:srgbClr val="3A3A3A"/>
                </a:solidFill>
                <a:latin typeface="맑은 고딕"/>
                <a:ea typeface="맑은 고딕"/>
                <a:cs typeface="맑은 고딕"/>
              </a:rPr>
              <a:t> → </a:t>
            </a:r>
            <a:r>
              <a:rPr sz="1240" b="0" dirty="0" err="1">
                <a:solidFill>
                  <a:srgbClr val="3A3A3A"/>
                </a:solidFill>
                <a:latin typeface="맑은 고딕"/>
                <a:ea typeface="맑은 고딕"/>
                <a:cs typeface="맑은 고딕"/>
              </a:rPr>
              <a:t>행동</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이라는</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적응</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구조의</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선행연구</a:t>
            </a:r>
            <a:r>
              <a:rPr sz="1240" b="0" dirty="0">
                <a:solidFill>
                  <a:srgbClr val="3A3A3A"/>
                </a:solidFill>
                <a:latin typeface="맑은 고딕"/>
                <a:ea typeface="맑은 고딕"/>
                <a:cs typeface="맑은 고딕"/>
              </a:rPr>
              <a:t>
Teacher–Student</a:t>
            </a:r>
            <a:r>
              <a:rPr lang="en-US" sz="1240" dirty="0">
                <a:solidFill>
                  <a:srgbClr val="3A3A3A"/>
                </a:solidFill>
                <a:latin typeface="맑은 고딕"/>
                <a:ea typeface="맑은 고딕"/>
                <a:cs typeface="맑은 고딕"/>
              </a:rPr>
              <a:t> </a:t>
            </a:r>
            <a:r>
              <a:rPr lang="ko-KR" altLang="en-US" sz="1240" dirty="0">
                <a:solidFill>
                  <a:srgbClr val="3A3A3A"/>
                </a:solidFill>
                <a:latin typeface="맑은 고딕"/>
                <a:ea typeface="맑은 고딕"/>
                <a:cs typeface="맑은 고딕"/>
              </a:rPr>
              <a:t>구조</a:t>
            </a:r>
            <a:endParaRPr sz="1240" b="0" dirty="0">
              <a:solidFill>
                <a:srgbClr val="3A3A3A"/>
              </a:solidFill>
              <a:latin typeface="맑은 고딕"/>
              <a:ea typeface="맑은 고딕"/>
              <a:cs typeface="맑은 고딕"/>
            </a:endParaRPr>
          </a:p>
        </p:txBody>
      </p:sp>
      <p:sp>
        <p:nvSpPr>
          <p:cNvPr id="21" name="Rectangle 20"/>
          <p:cNvSpPr/>
          <p:nvPr/>
        </p:nvSpPr>
        <p:spPr>
          <a:xfrm>
            <a:off x="640080" y="3785616"/>
            <a:ext cx="1828800" cy="95097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1" y="3822192"/>
            <a:ext cx="1682496" cy="877824"/>
          </a:xfrm>
          <a:prstGeom prst="rect">
            <a:avLst/>
          </a:prstGeom>
          <a:noFill/>
        </p:spPr>
        <p:txBody>
          <a:bodyPr wrap="square" lIns="9144" tIns="9144" rIns="9144" bIns="9144" anchor="ctr">
            <a:spAutoFit/>
          </a:bodyPr>
          <a:lstStyle/>
          <a:p>
            <a:pPr algn="l">
              <a:spcAft>
                <a:spcPts val="0"/>
              </a:spcAft>
            </a:pPr>
            <a:r>
              <a:rPr sz="1240" b="1" dirty="0">
                <a:solidFill>
                  <a:srgbClr val="3A3A3A"/>
                </a:solidFill>
                <a:latin typeface="맑은 고딕"/>
                <a:ea typeface="맑은 고딕"/>
                <a:cs typeface="맑은 고딕"/>
              </a:rPr>
              <a:t>Saving the Limping</a:t>
            </a:r>
          </a:p>
        </p:txBody>
      </p:sp>
      <p:sp>
        <p:nvSpPr>
          <p:cNvPr id="23" name="Rectangle 22"/>
          <p:cNvSpPr/>
          <p:nvPr/>
        </p:nvSpPr>
        <p:spPr>
          <a:xfrm>
            <a:off x="2468880" y="3785616"/>
            <a:ext cx="4572000" cy="95097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42032" y="3822192"/>
            <a:ext cx="4425696" cy="877824"/>
          </a:xfrm>
          <a:prstGeom prst="rect">
            <a:avLst/>
          </a:prstGeom>
          <a:noFill/>
        </p:spPr>
        <p:txBody>
          <a:bodyPr wrap="square" lIns="9144" tIns="9144" rIns="9144" bIns="9144" anchor="ctr">
            <a:spAutoFit/>
          </a:bodyPr>
          <a:lstStyle/>
          <a:p>
            <a:pPr algn="ctr">
              <a:spcAft>
                <a:spcPts val="0"/>
              </a:spcAft>
            </a:pPr>
            <a:r>
              <a:rPr sz="1240" b="0" dirty="0" err="1">
                <a:solidFill>
                  <a:srgbClr val="3A3A3A"/>
                </a:solidFill>
                <a:latin typeface="맑은 고딕"/>
                <a:ea typeface="맑은 고딕"/>
                <a:cs typeface="맑은 고딕"/>
              </a:rPr>
              <a:t>주행</a:t>
            </a:r>
            <a:r>
              <a:rPr sz="1240" b="0" dirty="0">
                <a:solidFill>
                  <a:srgbClr val="3A3A3A"/>
                </a:solidFill>
                <a:latin typeface="맑은 고딕"/>
                <a:ea typeface="맑은 고딕"/>
                <a:cs typeface="맑은 고딕"/>
              </a:rPr>
              <a:t> 중 </a:t>
            </a:r>
            <a:r>
              <a:rPr sz="1240" b="0" dirty="0" err="1">
                <a:solidFill>
                  <a:srgbClr val="3A3A3A"/>
                </a:solidFill>
                <a:latin typeface="맑은 고딕"/>
                <a:ea typeface="맑은 고딕"/>
                <a:cs typeface="맑은 고딕"/>
              </a:rPr>
              <a:t>단일</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관절</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잠금에</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대응</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Teacher·Student</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특징을</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점진적으로</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혼합</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Student와</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정책을</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공동</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최적화</a:t>
            </a:r>
            <a:endParaRPr sz="1240" b="0" dirty="0">
              <a:solidFill>
                <a:srgbClr val="3A3A3A"/>
              </a:solidFill>
              <a:latin typeface="맑은 고딕"/>
              <a:ea typeface="맑은 고딕"/>
              <a:cs typeface="맑은 고딕"/>
            </a:endParaRPr>
          </a:p>
        </p:txBody>
      </p:sp>
      <p:sp>
        <p:nvSpPr>
          <p:cNvPr id="25" name="Rectangle 24"/>
          <p:cNvSpPr/>
          <p:nvPr/>
        </p:nvSpPr>
        <p:spPr>
          <a:xfrm>
            <a:off x="7040880" y="3785616"/>
            <a:ext cx="4572000" cy="95097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14032" y="3822192"/>
            <a:ext cx="4425696" cy="877824"/>
          </a:xfrm>
          <a:prstGeom prst="rect">
            <a:avLst/>
          </a:prstGeom>
          <a:noFill/>
        </p:spPr>
        <p:txBody>
          <a:bodyPr wrap="square" lIns="9144" tIns="9144" rIns="9144" bIns="9144" anchor="ctr">
            <a:spAutoFit/>
          </a:bodyPr>
          <a:lstStyle/>
          <a:p>
            <a:pPr algn="ctr">
              <a:spcAft>
                <a:spcPts val="0"/>
              </a:spcAft>
            </a:pPr>
            <a:r>
              <a:rPr sz="1240" b="0">
                <a:solidFill>
                  <a:srgbClr val="3A3A3A"/>
                </a:solidFill>
                <a:latin typeface="맑은 고딕"/>
                <a:ea typeface="맑은 고딕"/>
                <a:cs typeface="맑은 고딕"/>
              </a:rPr>
              <a:t>프로젝트의 핵심 학습 아이디어
Student 추정 오차에 Actor도 적응
관절 잠금을 출력 토크 저하로 변경</a:t>
            </a:r>
          </a:p>
        </p:txBody>
      </p:sp>
      <p:sp>
        <p:nvSpPr>
          <p:cNvPr id="27" name="Rectangle 26"/>
          <p:cNvSpPr/>
          <p:nvPr/>
        </p:nvSpPr>
        <p:spPr>
          <a:xfrm>
            <a:off x="640080" y="4736592"/>
            <a:ext cx="18288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1" y="4773168"/>
            <a:ext cx="1682496" cy="877824"/>
          </a:xfrm>
          <a:prstGeom prst="rect">
            <a:avLst/>
          </a:prstGeom>
          <a:noFill/>
        </p:spPr>
        <p:txBody>
          <a:bodyPr wrap="square" lIns="9144" tIns="9144" rIns="9144" bIns="9144" anchor="ctr">
            <a:spAutoFit/>
          </a:bodyPr>
          <a:lstStyle/>
          <a:p>
            <a:pPr algn="l">
              <a:spcAft>
                <a:spcPts val="0"/>
              </a:spcAft>
            </a:pPr>
            <a:r>
              <a:rPr sz="1240" b="1">
                <a:solidFill>
                  <a:srgbClr val="3A3A3A"/>
                </a:solidFill>
                <a:latin typeface="맑은 고딕"/>
                <a:ea typeface="맑은 고딕"/>
                <a:cs typeface="맑은 고딕"/>
              </a:rPr>
              <a:t>ADAPT · 2023</a:t>
            </a:r>
          </a:p>
        </p:txBody>
      </p:sp>
      <p:sp>
        <p:nvSpPr>
          <p:cNvPr id="29" name="Rectangle 28"/>
          <p:cNvSpPr/>
          <p:nvPr/>
        </p:nvSpPr>
        <p:spPr>
          <a:xfrm>
            <a:off x="2468880" y="4736592"/>
            <a:ext cx="45720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42032" y="4773168"/>
            <a:ext cx="4425696" cy="877824"/>
          </a:xfrm>
          <a:prstGeom prst="rect">
            <a:avLst/>
          </a:prstGeom>
          <a:noFill/>
        </p:spPr>
        <p:txBody>
          <a:bodyPr wrap="square" lIns="9144" tIns="9144" rIns="9144" bIns="9144" anchor="ctr">
            <a:spAutoFit/>
          </a:bodyPr>
          <a:lstStyle/>
          <a:p>
            <a:pPr algn="ctr">
              <a:spcAft>
                <a:spcPts val="0"/>
              </a:spcAft>
            </a:pPr>
            <a:r>
              <a:rPr sz="1240" b="0" dirty="0" err="1">
                <a:solidFill>
                  <a:srgbClr val="3A3A3A"/>
                </a:solidFill>
                <a:latin typeface="맑은 고딕"/>
                <a:ea typeface="맑은 고딕"/>
                <a:cs typeface="맑은 고딕"/>
              </a:rPr>
              <a:t>관절</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출력</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저하</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조건에서</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보행</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제어</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명령</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토크</a:t>
            </a:r>
            <a:r>
              <a:rPr sz="1240" b="0" dirty="0">
                <a:solidFill>
                  <a:srgbClr val="3A3A3A"/>
                </a:solidFill>
                <a:latin typeface="맑은 고딕"/>
                <a:ea typeface="맑은 고딕"/>
                <a:cs typeface="맑은 고딕"/>
              </a:rPr>
              <a:t> × </a:t>
            </a:r>
            <a:r>
              <a:rPr sz="1240" b="0" dirty="0" err="1">
                <a:solidFill>
                  <a:srgbClr val="3A3A3A"/>
                </a:solidFill>
                <a:latin typeface="맑은 고딕"/>
                <a:ea typeface="맑은 고딕"/>
                <a:cs typeface="맑은 고딕"/>
              </a:rPr>
              <a:t>남은</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출력</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비율</a:t>
            </a:r>
            <a:r>
              <a:rPr sz="1240" b="0" dirty="0">
                <a:solidFill>
                  <a:srgbClr val="3A3A3A"/>
                </a:solidFill>
                <a:latin typeface="맑은 고딕"/>
                <a:ea typeface="맑은 고딕"/>
                <a:cs typeface="맑은 고딕"/>
              </a:rPr>
              <a:t>
원 </a:t>
            </a:r>
            <a:r>
              <a:rPr sz="1240" b="0" dirty="0" err="1">
                <a:solidFill>
                  <a:srgbClr val="3A3A3A"/>
                </a:solidFill>
                <a:latin typeface="맑은 고딕"/>
                <a:ea typeface="맑은 고딕"/>
                <a:cs typeface="맑은 고딕"/>
              </a:rPr>
              <a:t>논문은</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별도의</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모방학습</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구조</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사용</a:t>
            </a:r>
            <a:endParaRPr sz="1240" b="0" dirty="0">
              <a:solidFill>
                <a:srgbClr val="3A3A3A"/>
              </a:solidFill>
              <a:latin typeface="맑은 고딕"/>
              <a:ea typeface="맑은 고딕"/>
              <a:cs typeface="맑은 고딕"/>
            </a:endParaRPr>
          </a:p>
        </p:txBody>
      </p:sp>
      <p:sp>
        <p:nvSpPr>
          <p:cNvPr id="31" name="Rectangle 30"/>
          <p:cNvSpPr/>
          <p:nvPr/>
        </p:nvSpPr>
        <p:spPr>
          <a:xfrm>
            <a:off x="7040880" y="4736592"/>
            <a:ext cx="45720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14032" y="4773168"/>
            <a:ext cx="4425696" cy="877824"/>
          </a:xfrm>
          <a:prstGeom prst="rect">
            <a:avLst/>
          </a:prstGeom>
          <a:noFill/>
        </p:spPr>
        <p:txBody>
          <a:bodyPr wrap="square" lIns="9144" tIns="9144" rIns="9144" bIns="9144" anchor="ctr">
            <a:spAutoFit/>
          </a:bodyPr>
          <a:lstStyle/>
          <a:p>
            <a:pPr algn="ctr">
              <a:spcAft>
                <a:spcPts val="0"/>
              </a:spcAft>
            </a:pPr>
            <a:r>
              <a:rPr sz="1240" b="0" dirty="0" err="1">
                <a:solidFill>
                  <a:srgbClr val="3A3A3A"/>
                </a:solidFill>
                <a:latin typeface="맑은 고딕"/>
                <a:ea typeface="맑은 고딕"/>
                <a:cs typeface="맑은 고딕"/>
              </a:rPr>
              <a:t>출력</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저하</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수학</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모델을</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사용</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ADAPT의</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학습</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파이프라인</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전체를</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현재</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공동학습에</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적용한</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것은</a:t>
            </a:r>
            <a:r>
              <a:rPr sz="1240" b="0" dirty="0">
                <a:solidFill>
                  <a:srgbClr val="3A3A3A"/>
                </a:solidFill>
                <a:latin typeface="맑은 고딕"/>
                <a:ea typeface="맑은 고딕"/>
                <a:cs typeface="맑은 고딕"/>
              </a:rPr>
              <a:t> </a:t>
            </a:r>
            <a:r>
              <a:rPr sz="1240" b="0" dirty="0" err="1">
                <a:solidFill>
                  <a:srgbClr val="3A3A3A"/>
                </a:solidFill>
                <a:latin typeface="맑은 고딕"/>
                <a:ea typeface="맑은 고딕"/>
                <a:cs typeface="맑은 고딕"/>
              </a:rPr>
              <a:t>아님</a:t>
            </a:r>
            <a:endParaRPr sz="1240" b="0" dirty="0">
              <a:solidFill>
                <a:srgbClr val="3A3A3A"/>
              </a:solidFill>
              <a:latin typeface="맑은 고딕"/>
              <a:ea typeface="맑은 고딕"/>
              <a:cs typeface="맑은 고딕"/>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07 | 프로젝트 변형과 연구 기여</a:t>
            </a:r>
            <a:r>
              <a:rPr sz="800" b="0" baseline="30000">
                <a:solidFill>
                  <a:srgbClr val="686868"/>
                </a:solidFill>
                <a:latin typeface="맑은 고딕"/>
                <a:ea typeface="맑은 고딕"/>
                <a:cs typeface="맑은 고딕"/>
              </a:rPr>
              <a:t>  1) 2) 3)</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RESEARCH POSITIONING</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Liu et al., Saving the Limping, arXiv:2210.00474v3, 2023.   2) Wu et al., ADAPT, DAI ’23, 2023.   3) Local result: docs/results/p5-tf43000-vs-jt71500.md.</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07 / 43</a:t>
            </a:r>
          </a:p>
        </p:txBody>
      </p:sp>
      <p:sp>
        <p:nvSpPr>
          <p:cNvPr id="8"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a:solidFill>
                  <a:srgbClr val="3A3A3A"/>
                </a:solidFill>
                <a:latin typeface="맑은 고딕"/>
                <a:ea typeface="맑은 고딕"/>
                <a:cs typeface="맑은 고딕"/>
              </a:rPr>
              <a:t>논문에서 계승한 모델·학습 구조와 프로젝트에서 정한 수치·평가 조건을 구분한다.</a:t>
            </a:r>
          </a:p>
        </p:txBody>
      </p:sp>
      <p:sp>
        <p:nvSpPr>
          <p:cNvPr id="9" name="Rectangle 8"/>
          <p:cNvSpPr/>
          <p:nvPr/>
        </p:nvSpPr>
        <p:spPr>
          <a:xfrm>
            <a:off x="640080" y="1865376"/>
            <a:ext cx="1508760"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713231" y="1901952"/>
            <a:ext cx="1362456" cy="466344"/>
          </a:xfrm>
          <a:prstGeom prst="rect">
            <a:avLst/>
          </a:prstGeom>
          <a:noFill/>
        </p:spPr>
        <p:txBody>
          <a:bodyPr wrap="square" lIns="9144" tIns="9144" rIns="9144" bIns="9144" anchor="ctr">
            <a:spAutoFit/>
          </a:bodyPr>
          <a:lstStyle/>
          <a:p>
            <a:pPr algn="ctr">
              <a:lnSpc>
                <a:spcPct val="100000"/>
              </a:lnSpc>
              <a:spcAft>
                <a:spcPts val="0"/>
              </a:spcAft>
            </a:pPr>
            <a:r>
              <a:rPr sz="1160" b="1">
                <a:solidFill>
                  <a:srgbClr val="FFFFFF"/>
                </a:solidFill>
                <a:latin typeface="맑은 고딕"/>
                <a:ea typeface="맑은 고딕"/>
                <a:cs typeface="맑은 고딕"/>
              </a:rPr>
              <a:t>요소</a:t>
            </a:r>
          </a:p>
        </p:txBody>
      </p:sp>
      <p:sp>
        <p:nvSpPr>
          <p:cNvPr id="11" name="Rectangle 10"/>
          <p:cNvSpPr/>
          <p:nvPr/>
        </p:nvSpPr>
        <p:spPr>
          <a:xfrm>
            <a:off x="2148839" y="1865376"/>
            <a:ext cx="3364992"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2" name="TextBox 11"/>
          <p:cNvSpPr txBox="1"/>
          <p:nvPr/>
        </p:nvSpPr>
        <p:spPr>
          <a:xfrm>
            <a:off x="2221991" y="1901952"/>
            <a:ext cx="3218688" cy="466344"/>
          </a:xfrm>
          <a:prstGeom prst="rect">
            <a:avLst/>
          </a:prstGeom>
          <a:noFill/>
        </p:spPr>
        <p:txBody>
          <a:bodyPr wrap="square" lIns="9144" tIns="9144" rIns="9144" bIns="9144" anchor="ctr">
            <a:spAutoFit/>
          </a:bodyPr>
          <a:lstStyle/>
          <a:p>
            <a:pPr algn="ctr">
              <a:lnSpc>
                <a:spcPct val="100000"/>
              </a:lnSpc>
              <a:spcAft>
                <a:spcPts val="0"/>
              </a:spcAft>
            </a:pPr>
            <a:r>
              <a:rPr sz="1160" b="1">
                <a:solidFill>
                  <a:srgbClr val="FFFFFF"/>
                </a:solidFill>
                <a:latin typeface="맑은 고딕"/>
                <a:ea typeface="맑은 고딕"/>
                <a:cs typeface="맑은 고딕"/>
              </a:rPr>
              <a:t>논문·기존 방식</a:t>
            </a:r>
          </a:p>
        </p:txBody>
      </p:sp>
      <p:sp>
        <p:nvSpPr>
          <p:cNvPr id="13" name="Rectangle 12"/>
          <p:cNvSpPr/>
          <p:nvPr/>
        </p:nvSpPr>
        <p:spPr>
          <a:xfrm>
            <a:off x="5513831" y="1865376"/>
            <a:ext cx="4480560"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5586983" y="1901952"/>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1">
                <a:solidFill>
                  <a:srgbClr val="FFFFFF"/>
                </a:solidFill>
                <a:latin typeface="맑은 고딕"/>
                <a:ea typeface="맑은 고딕"/>
                <a:cs typeface="맑은 고딕"/>
              </a:rPr>
              <a:t>본 프로젝트 반영</a:t>
            </a:r>
          </a:p>
        </p:txBody>
      </p:sp>
      <p:sp>
        <p:nvSpPr>
          <p:cNvPr id="15" name="Rectangle 14"/>
          <p:cNvSpPr/>
          <p:nvPr/>
        </p:nvSpPr>
        <p:spPr>
          <a:xfrm>
            <a:off x="9994392" y="1865376"/>
            <a:ext cx="1517904"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6" name="TextBox 15"/>
          <p:cNvSpPr txBox="1"/>
          <p:nvPr/>
        </p:nvSpPr>
        <p:spPr>
          <a:xfrm>
            <a:off x="10067544" y="1901952"/>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1">
                <a:solidFill>
                  <a:srgbClr val="FFFFFF"/>
                </a:solidFill>
                <a:latin typeface="맑은 고딕"/>
                <a:ea typeface="맑은 고딕"/>
                <a:cs typeface="맑은 고딕"/>
              </a:rPr>
              <a:t>구분</a:t>
            </a:r>
          </a:p>
        </p:txBody>
      </p:sp>
      <p:sp>
        <p:nvSpPr>
          <p:cNvPr id="17" name="Rectangle 16"/>
          <p:cNvSpPr/>
          <p:nvPr/>
        </p:nvSpPr>
        <p:spPr>
          <a:xfrm>
            <a:off x="640080" y="2404872"/>
            <a:ext cx="15087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713231" y="2441448"/>
            <a:ext cx="1362456" cy="466344"/>
          </a:xfrm>
          <a:prstGeom prst="rect">
            <a:avLst/>
          </a:prstGeom>
          <a:noFill/>
        </p:spPr>
        <p:txBody>
          <a:bodyPr wrap="square" lIns="9144" tIns="9144" rIns="9144" bIns="9144" anchor="ctr">
            <a:spAutoFit/>
          </a:bodyPr>
          <a:lstStyle/>
          <a:p>
            <a:pPr algn="l">
              <a:lnSpc>
                <a:spcPct val="100000"/>
              </a:lnSpc>
              <a:spcAft>
                <a:spcPts val="0"/>
              </a:spcAft>
            </a:pPr>
            <a:r>
              <a:rPr sz="1160" b="1">
                <a:solidFill>
                  <a:srgbClr val="3A3A3A"/>
                </a:solidFill>
                <a:latin typeface="맑은 고딕"/>
                <a:ea typeface="맑은 고딕"/>
                <a:cs typeface="맑은 고딕"/>
              </a:rPr>
              <a:t>문제 정식화</a:t>
            </a:r>
          </a:p>
        </p:txBody>
      </p:sp>
      <p:sp>
        <p:nvSpPr>
          <p:cNvPr id="19" name="Rectangle 18"/>
          <p:cNvSpPr/>
          <p:nvPr/>
        </p:nvSpPr>
        <p:spPr>
          <a:xfrm>
            <a:off x="2148839" y="2404872"/>
            <a:ext cx="3364992"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0" name="TextBox 19"/>
          <p:cNvSpPr txBox="1"/>
          <p:nvPr/>
        </p:nvSpPr>
        <p:spPr>
          <a:xfrm>
            <a:off x="2221991" y="2441448"/>
            <a:ext cx="3218688"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표준 MDP · ADAPT §3.1</a:t>
            </a:r>
          </a:p>
        </p:txBody>
      </p:sp>
      <p:sp>
        <p:nvSpPr>
          <p:cNvPr id="21" name="Rectangle 20"/>
          <p:cNvSpPr/>
          <p:nvPr/>
        </p:nvSpPr>
        <p:spPr>
          <a:xfrm>
            <a:off x="5513831" y="2404872"/>
            <a:ext cx="44805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p:cNvSpPr txBox="1"/>
          <p:nvPr/>
        </p:nvSpPr>
        <p:spPr>
          <a:xfrm>
            <a:off x="5586983" y="2441448"/>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고장 상태·관측 이력을 현재 환경에 구체화</a:t>
            </a:r>
          </a:p>
        </p:txBody>
      </p:sp>
      <p:sp>
        <p:nvSpPr>
          <p:cNvPr id="23" name="Rectangle 22"/>
          <p:cNvSpPr/>
          <p:nvPr/>
        </p:nvSpPr>
        <p:spPr>
          <a:xfrm>
            <a:off x="9994392" y="2404872"/>
            <a:ext cx="1517904"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4" name="TextBox 23"/>
          <p:cNvSpPr txBox="1"/>
          <p:nvPr/>
        </p:nvSpPr>
        <p:spPr>
          <a:xfrm>
            <a:off x="10067544" y="2441448"/>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정식화 적용</a:t>
            </a:r>
          </a:p>
        </p:txBody>
      </p:sp>
      <p:sp>
        <p:nvSpPr>
          <p:cNvPr id="25" name="Rectangle 24"/>
          <p:cNvSpPr/>
          <p:nvPr/>
        </p:nvSpPr>
        <p:spPr>
          <a:xfrm>
            <a:off x="640080" y="2944368"/>
            <a:ext cx="15087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6" name="TextBox 25"/>
          <p:cNvSpPr txBox="1"/>
          <p:nvPr/>
        </p:nvSpPr>
        <p:spPr>
          <a:xfrm>
            <a:off x="713231" y="2980944"/>
            <a:ext cx="1362456" cy="466344"/>
          </a:xfrm>
          <a:prstGeom prst="rect">
            <a:avLst/>
          </a:prstGeom>
          <a:noFill/>
        </p:spPr>
        <p:txBody>
          <a:bodyPr wrap="square" lIns="9144" tIns="9144" rIns="9144" bIns="9144" anchor="ctr">
            <a:spAutoFit/>
          </a:bodyPr>
          <a:lstStyle/>
          <a:p>
            <a:pPr algn="l">
              <a:lnSpc>
                <a:spcPct val="100000"/>
              </a:lnSpc>
              <a:spcAft>
                <a:spcPts val="0"/>
              </a:spcAft>
            </a:pPr>
            <a:r>
              <a:rPr sz="1160" b="1">
                <a:solidFill>
                  <a:srgbClr val="3A3A3A"/>
                </a:solidFill>
                <a:latin typeface="맑은 고딕"/>
                <a:ea typeface="맑은 고딕"/>
                <a:cs typeface="맑은 고딕"/>
              </a:rPr>
              <a:t>고장 모델</a:t>
            </a:r>
          </a:p>
        </p:txBody>
      </p:sp>
      <p:sp>
        <p:nvSpPr>
          <p:cNvPr id="27" name="Rectangle 26"/>
          <p:cNvSpPr/>
          <p:nvPr/>
        </p:nvSpPr>
        <p:spPr>
          <a:xfrm>
            <a:off x="2148839" y="2944368"/>
            <a:ext cx="3364992"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8" name="TextBox 27"/>
          <p:cNvSpPr txBox="1"/>
          <p:nvPr/>
        </p:nvSpPr>
        <p:spPr>
          <a:xfrm>
            <a:off x="2221991" y="2980944"/>
            <a:ext cx="3218688" cy="466344"/>
          </a:xfrm>
          <a:prstGeom prst="rect">
            <a:avLst/>
          </a:prstGeom>
          <a:noFill/>
        </p:spPr>
        <p:txBody>
          <a:bodyPr wrap="square" lIns="9144" tIns="9144" rIns="9144" bIns="9144" anchor="ctr">
            <a:spAutoFit/>
          </a:bodyPr>
          <a:lstStyle/>
          <a:p>
            <a:pPr algn="ctr">
              <a:lnSpc>
                <a:spcPct val="100000"/>
              </a:lnSpc>
              <a:spcAft>
                <a:spcPts val="0"/>
              </a:spcAft>
            </a:pPr>
            <a:r>
              <a:rPr sz="1160" b="0" dirty="0">
                <a:solidFill>
                  <a:srgbClr val="3A3A3A"/>
                </a:solidFill>
                <a:latin typeface="맑은 고딕"/>
                <a:ea typeface="맑은 고딕"/>
                <a:cs typeface="맑은 고딕"/>
              </a:rPr>
              <a:t>ADAPT: </a:t>
            </a:r>
            <a:r>
              <a:rPr sz="1160" b="0" dirty="0" err="1">
                <a:solidFill>
                  <a:srgbClr val="3A3A3A"/>
                </a:solidFill>
                <a:latin typeface="맑은 고딕"/>
                <a:ea typeface="맑은 고딕"/>
                <a:cs typeface="맑은 고딕"/>
              </a:rPr>
              <a:t>남은</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출력</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비율로</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토크</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축소</a:t>
            </a:r>
            <a:endParaRPr sz="1160" b="0" dirty="0">
              <a:solidFill>
                <a:srgbClr val="3A3A3A"/>
              </a:solidFill>
              <a:latin typeface="맑은 고딕"/>
              <a:ea typeface="맑은 고딕"/>
              <a:cs typeface="맑은 고딕"/>
            </a:endParaRPr>
          </a:p>
        </p:txBody>
      </p:sp>
      <p:sp>
        <p:nvSpPr>
          <p:cNvPr id="29" name="Rectangle 28"/>
          <p:cNvSpPr/>
          <p:nvPr/>
        </p:nvSpPr>
        <p:spPr>
          <a:xfrm>
            <a:off x="5513831" y="2944368"/>
            <a:ext cx="44805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0" name="TextBox 29"/>
          <p:cNvSpPr txBox="1"/>
          <p:nvPr/>
        </p:nvSpPr>
        <p:spPr>
          <a:xfrm>
            <a:off x="5586983" y="2980944"/>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동일 토크 감소식 · 단일 관절 · 6단계 열화율</a:t>
            </a:r>
          </a:p>
        </p:txBody>
      </p:sp>
      <p:sp>
        <p:nvSpPr>
          <p:cNvPr id="31" name="Rectangle 30"/>
          <p:cNvSpPr/>
          <p:nvPr/>
        </p:nvSpPr>
        <p:spPr>
          <a:xfrm>
            <a:off x="9994392" y="2944368"/>
            <a:ext cx="1517904"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2" name="TextBox 31"/>
          <p:cNvSpPr txBox="1"/>
          <p:nvPr/>
        </p:nvSpPr>
        <p:spPr>
          <a:xfrm>
            <a:off x="10067544" y="2980944"/>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모델 계승</a:t>
            </a:r>
          </a:p>
        </p:txBody>
      </p:sp>
      <p:sp>
        <p:nvSpPr>
          <p:cNvPr id="33" name="Rectangle 32"/>
          <p:cNvSpPr/>
          <p:nvPr/>
        </p:nvSpPr>
        <p:spPr>
          <a:xfrm>
            <a:off x="640080" y="3483864"/>
            <a:ext cx="15087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4" name="TextBox 33"/>
          <p:cNvSpPr txBox="1"/>
          <p:nvPr/>
        </p:nvSpPr>
        <p:spPr>
          <a:xfrm>
            <a:off x="713231" y="3520440"/>
            <a:ext cx="1362456" cy="466344"/>
          </a:xfrm>
          <a:prstGeom prst="rect">
            <a:avLst/>
          </a:prstGeom>
          <a:noFill/>
        </p:spPr>
        <p:txBody>
          <a:bodyPr wrap="square" lIns="9144" tIns="9144" rIns="9144" bIns="9144" anchor="ctr">
            <a:spAutoFit/>
          </a:bodyPr>
          <a:lstStyle/>
          <a:p>
            <a:pPr algn="l">
              <a:lnSpc>
                <a:spcPct val="100000"/>
              </a:lnSpc>
              <a:spcAft>
                <a:spcPts val="0"/>
              </a:spcAft>
            </a:pPr>
            <a:r>
              <a:rPr sz="1160" b="1">
                <a:solidFill>
                  <a:srgbClr val="3A3A3A"/>
                </a:solidFill>
                <a:latin typeface="맑은 고딕"/>
                <a:ea typeface="맑은 고딕"/>
                <a:cs typeface="맑은 고딕"/>
              </a:rPr>
              <a:t>고장 발생</a:t>
            </a:r>
          </a:p>
        </p:txBody>
      </p:sp>
      <p:sp>
        <p:nvSpPr>
          <p:cNvPr id="35" name="Rectangle 34"/>
          <p:cNvSpPr/>
          <p:nvPr/>
        </p:nvSpPr>
        <p:spPr>
          <a:xfrm>
            <a:off x="2148839" y="3483864"/>
            <a:ext cx="3364992"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6" name="TextBox 35"/>
          <p:cNvSpPr txBox="1"/>
          <p:nvPr/>
        </p:nvSpPr>
        <p:spPr>
          <a:xfrm>
            <a:off x="2221991" y="3520440"/>
            <a:ext cx="3218688" cy="466344"/>
          </a:xfrm>
          <a:prstGeom prst="rect">
            <a:avLst/>
          </a:prstGeom>
          <a:noFill/>
        </p:spPr>
        <p:txBody>
          <a:bodyPr wrap="square" lIns="9144" tIns="9144" rIns="9144" bIns="9144" anchor="ctr">
            <a:spAutoFit/>
          </a:bodyPr>
          <a:lstStyle/>
          <a:p>
            <a:pPr algn="ctr">
              <a:lnSpc>
                <a:spcPct val="100000"/>
              </a:lnSpc>
              <a:spcAft>
                <a:spcPts val="0"/>
              </a:spcAft>
            </a:pPr>
            <a:r>
              <a:rPr sz="1160" b="0" dirty="0">
                <a:solidFill>
                  <a:srgbClr val="3A3A3A"/>
                </a:solidFill>
                <a:latin typeface="맑은 고딕"/>
                <a:ea typeface="맑은 고딕"/>
                <a:cs typeface="맑은 고딕"/>
              </a:rPr>
              <a:t>Saving the Limping: </a:t>
            </a:r>
            <a:r>
              <a:rPr sz="1160" b="0" dirty="0" err="1">
                <a:solidFill>
                  <a:srgbClr val="3A3A3A"/>
                </a:solidFill>
                <a:latin typeface="맑은 고딕"/>
                <a:ea typeface="맑은 고딕"/>
                <a:cs typeface="맑은 고딕"/>
              </a:rPr>
              <a:t>주행</a:t>
            </a:r>
            <a:r>
              <a:rPr sz="1160" b="0" dirty="0">
                <a:solidFill>
                  <a:srgbClr val="3A3A3A"/>
                </a:solidFill>
                <a:latin typeface="맑은 고딕"/>
                <a:ea typeface="맑은 고딕"/>
                <a:cs typeface="맑은 고딕"/>
              </a:rPr>
              <a:t> 중 </a:t>
            </a:r>
            <a:r>
              <a:rPr sz="1160" b="0" dirty="0" err="1">
                <a:solidFill>
                  <a:srgbClr val="3A3A3A"/>
                </a:solidFill>
                <a:latin typeface="맑은 고딕"/>
                <a:ea typeface="맑은 고딕"/>
                <a:cs typeface="맑은 고딕"/>
              </a:rPr>
              <a:t>단일</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관절</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잠금</a:t>
            </a:r>
            <a:endParaRPr sz="1160" b="0" dirty="0">
              <a:solidFill>
                <a:srgbClr val="3A3A3A"/>
              </a:solidFill>
              <a:latin typeface="맑은 고딕"/>
              <a:ea typeface="맑은 고딕"/>
              <a:cs typeface="맑은 고딕"/>
            </a:endParaRPr>
          </a:p>
        </p:txBody>
      </p:sp>
      <p:sp>
        <p:nvSpPr>
          <p:cNvPr id="37" name="Rectangle 36"/>
          <p:cNvSpPr/>
          <p:nvPr/>
        </p:nvSpPr>
        <p:spPr>
          <a:xfrm>
            <a:off x="5513831" y="3483864"/>
            <a:ext cx="44805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8" name="TextBox 37"/>
          <p:cNvSpPr txBox="1"/>
          <p:nvPr/>
        </p:nvSpPr>
        <p:spPr>
          <a:xfrm>
            <a:off x="5586983" y="3520440"/>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0" dirty="0" err="1">
                <a:solidFill>
                  <a:srgbClr val="3A3A3A"/>
                </a:solidFill>
                <a:latin typeface="맑은 고딕"/>
                <a:ea typeface="맑은 고딕"/>
                <a:cs typeface="맑은 고딕"/>
              </a:rPr>
              <a:t>잠금</a:t>
            </a:r>
            <a:r>
              <a:rPr sz="1160" b="0" dirty="0">
                <a:solidFill>
                  <a:srgbClr val="3A3A3A"/>
                </a:solidFill>
                <a:latin typeface="맑은 고딕"/>
                <a:ea typeface="맑은 고딕"/>
                <a:cs typeface="맑은 고딕"/>
              </a:rPr>
              <a:t> → </a:t>
            </a:r>
            <a:r>
              <a:rPr sz="1160" b="0" dirty="0" err="1">
                <a:solidFill>
                  <a:srgbClr val="3A3A3A"/>
                </a:solidFill>
                <a:latin typeface="맑은 고딕"/>
                <a:ea typeface="맑은 고딕"/>
                <a:cs typeface="맑은 고딕"/>
              </a:rPr>
              <a:t>토크</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저하</a:t>
            </a:r>
            <a:r>
              <a:rPr sz="1160" b="0" dirty="0">
                <a:solidFill>
                  <a:srgbClr val="3A3A3A"/>
                </a:solidFill>
                <a:latin typeface="맑은 고딕"/>
                <a:ea typeface="맑은 고딕"/>
                <a:cs typeface="맑은 고딕"/>
              </a:rPr>
              <a:t> · </a:t>
            </a:r>
            <a:r>
              <a:rPr sz="1160" b="0" dirty="0" err="1">
                <a:solidFill>
                  <a:srgbClr val="3A3A3A"/>
                </a:solidFill>
                <a:latin typeface="맑은 고딕"/>
                <a:ea typeface="맑은 고딕"/>
                <a:cs typeface="맑은 고딕"/>
              </a:rPr>
              <a:t>발생</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시점</a:t>
            </a:r>
            <a:r>
              <a:rPr sz="1160" b="0" dirty="0">
                <a:solidFill>
                  <a:srgbClr val="3A3A3A"/>
                </a:solidFill>
                <a:latin typeface="맑은 고딕"/>
                <a:ea typeface="맑은 고딕"/>
                <a:cs typeface="맑은 고딕"/>
              </a:rPr>
              <a:t> 2–10초</a:t>
            </a:r>
          </a:p>
        </p:txBody>
      </p:sp>
      <p:sp>
        <p:nvSpPr>
          <p:cNvPr id="39" name="Rectangle 38"/>
          <p:cNvSpPr/>
          <p:nvPr/>
        </p:nvSpPr>
        <p:spPr>
          <a:xfrm>
            <a:off x="9994392" y="3483864"/>
            <a:ext cx="1517904"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0" name="TextBox 39"/>
          <p:cNvSpPr txBox="1"/>
          <p:nvPr/>
        </p:nvSpPr>
        <p:spPr>
          <a:xfrm>
            <a:off x="10067544" y="3520440"/>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변형·설정</a:t>
            </a:r>
          </a:p>
        </p:txBody>
      </p:sp>
      <p:sp>
        <p:nvSpPr>
          <p:cNvPr id="41" name="Rectangle 40"/>
          <p:cNvSpPr/>
          <p:nvPr/>
        </p:nvSpPr>
        <p:spPr>
          <a:xfrm>
            <a:off x="640080" y="4023360"/>
            <a:ext cx="15087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2" name="TextBox 41"/>
          <p:cNvSpPr txBox="1"/>
          <p:nvPr/>
        </p:nvSpPr>
        <p:spPr>
          <a:xfrm>
            <a:off x="713231" y="4059936"/>
            <a:ext cx="1362456" cy="466344"/>
          </a:xfrm>
          <a:prstGeom prst="rect">
            <a:avLst/>
          </a:prstGeom>
          <a:noFill/>
        </p:spPr>
        <p:txBody>
          <a:bodyPr wrap="square" lIns="9144" tIns="9144" rIns="9144" bIns="9144" anchor="ctr">
            <a:spAutoFit/>
          </a:bodyPr>
          <a:lstStyle/>
          <a:p>
            <a:pPr algn="l">
              <a:lnSpc>
                <a:spcPct val="100000"/>
              </a:lnSpc>
              <a:spcAft>
                <a:spcPts val="0"/>
              </a:spcAft>
            </a:pPr>
            <a:r>
              <a:rPr sz="1160" b="1">
                <a:solidFill>
                  <a:srgbClr val="3A3A3A"/>
                </a:solidFill>
                <a:latin typeface="맑은 고딕"/>
                <a:ea typeface="맑은 고딕"/>
                <a:cs typeface="맑은 고딕"/>
              </a:rPr>
              <a:t>적응·학습</a:t>
            </a:r>
          </a:p>
        </p:txBody>
      </p:sp>
      <p:sp>
        <p:nvSpPr>
          <p:cNvPr id="43" name="Rectangle 42"/>
          <p:cNvSpPr/>
          <p:nvPr/>
        </p:nvSpPr>
        <p:spPr>
          <a:xfrm>
            <a:off x="2148839" y="4023360"/>
            <a:ext cx="3364992"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4" name="TextBox 43"/>
          <p:cNvSpPr txBox="1"/>
          <p:nvPr/>
        </p:nvSpPr>
        <p:spPr>
          <a:xfrm>
            <a:off x="2221991" y="4105364"/>
            <a:ext cx="3218688" cy="375487"/>
          </a:xfrm>
          <a:prstGeom prst="rect">
            <a:avLst/>
          </a:prstGeom>
          <a:noFill/>
        </p:spPr>
        <p:txBody>
          <a:bodyPr wrap="square" lIns="9144" tIns="9144" rIns="9144" bIns="9144" anchor="ctr">
            <a:spAutoFit/>
          </a:bodyPr>
          <a:lstStyle/>
          <a:p>
            <a:pPr algn="ctr">
              <a:lnSpc>
                <a:spcPct val="100000"/>
              </a:lnSpc>
              <a:spcAft>
                <a:spcPts val="0"/>
              </a:spcAft>
            </a:pPr>
            <a:r>
              <a:rPr sz="1160" b="0" dirty="0">
                <a:solidFill>
                  <a:srgbClr val="3A3A3A"/>
                </a:solidFill>
                <a:latin typeface="맑은 고딕"/>
                <a:ea typeface="맑은 고딕"/>
                <a:cs typeface="맑은 고딕"/>
              </a:rPr>
              <a:t>Saving the Limping: </a:t>
            </a:r>
            <a:endParaRPr lang="en-US" sz="1160" b="0" dirty="0">
              <a:solidFill>
                <a:srgbClr val="3A3A3A"/>
              </a:solidFill>
              <a:latin typeface="맑은 고딕"/>
              <a:ea typeface="맑은 고딕"/>
              <a:cs typeface="맑은 고딕"/>
            </a:endParaRPr>
          </a:p>
          <a:p>
            <a:pPr algn="ctr">
              <a:lnSpc>
                <a:spcPct val="100000"/>
              </a:lnSpc>
              <a:spcAft>
                <a:spcPts val="0"/>
              </a:spcAft>
            </a:pPr>
            <a:r>
              <a:rPr sz="1160" b="0" dirty="0" err="1">
                <a:solidFill>
                  <a:srgbClr val="3A3A3A"/>
                </a:solidFill>
                <a:latin typeface="맑은 고딕"/>
                <a:ea typeface="맑은 고딕"/>
                <a:cs typeface="맑은 고딕"/>
              </a:rPr>
              <a:t>특징</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혼합</a:t>
            </a:r>
            <a:r>
              <a:rPr sz="1160" b="0" dirty="0">
                <a:solidFill>
                  <a:srgbClr val="3A3A3A"/>
                </a:solidFill>
                <a:latin typeface="맑은 고딕"/>
                <a:ea typeface="맑은 고딕"/>
                <a:cs typeface="맑은 고딕"/>
              </a:rPr>
              <a:t> + Teacher–Student </a:t>
            </a:r>
            <a:r>
              <a:rPr sz="1160" b="0" dirty="0" err="1">
                <a:solidFill>
                  <a:srgbClr val="3A3A3A"/>
                </a:solidFill>
                <a:latin typeface="맑은 고딕"/>
                <a:ea typeface="맑은 고딕"/>
                <a:cs typeface="맑은 고딕"/>
              </a:rPr>
              <a:t>공동학습</a:t>
            </a:r>
            <a:endParaRPr sz="1160" b="0" dirty="0">
              <a:solidFill>
                <a:srgbClr val="3A3A3A"/>
              </a:solidFill>
              <a:latin typeface="맑은 고딕"/>
              <a:ea typeface="맑은 고딕"/>
              <a:cs typeface="맑은 고딕"/>
            </a:endParaRPr>
          </a:p>
        </p:txBody>
      </p:sp>
      <p:sp>
        <p:nvSpPr>
          <p:cNvPr id="45" name="Rectangle 44"/>
          <p:cNvSpPr/>
          <p:nvPr/>
        </p:nvSpPr>
        <p:spPr>
          <a:xfrm>
            <a:off x="5513831" y="4023360"/>
            <a:ext cx="44805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6" name="TextBox 45"/>
          <p:cNvSpPr txBox="1"/>
          <p:nvPr/>
        </p:nvSpPr>
        <p:spPr>
          <a:xfrm>
            <a:off x="5586983" y="4059936"/>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관측 235D · 이력 50×48 · 특징 8D로 구현</a:t>
            </a:r>
          </a:p>
        </p:txBody>
      </p:sp>
      <p:sp>
        <p:nvSpPr>
          <p:cNvPr id="47" name="Rectangle 46"/>
          <p:cNvSpPr/>
          <p:nvPr/>
        </p:nvSpPr>
        <p:spPr>
          <a:xfrm>
            <a:off x="9994392" y="4023360"/>
            <a:ext cx="1517904"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8" name="TextBox 47"/>
          <p:cNvSpPr txBox="1"/>
          <p:nvPr/>
        </p:nvSpPr>
        <p:spPr>
          <a:xfrm>
            <a:off x="10067544" y="4059936"/>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0" dirty="0" err="1">
                <a:solidFill>
                  <a:srgbClr val="3A3A3A"/>
                </a:solidFill>
                <a:latin typeface="맑은 고딕"/>
                <a:ea typeface="맑은 고딕"/>
                <a:cs typeface="맑은 고딕"/>
              </a:rPr>
              <a:t>구조</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계승</a:t>
            </a:r>
            <a:endParaRPr sz="1160" b="0" dirty="0">
              <a:solidFill>
                <a:srgbClr val="3A3A3A"/>
              </a:solidFill>
              <a:latin typeface="맑은 고딕"/>
              <a:ea typeface="맑은 고딕"/>
              <a:cs typeface="맑은 고딕"/>
            </a:endParaRPr>
          </a:p>
        </p:txBody>
      </p:sp>
      <p:sp>
        <p:nvSpPr>
          <p:cNvPr id="49" name="Rectangle 48"/>
          <p:cNvSpPr/>
          <p:nvPr/>
        </p:nvSpPr>
        <p:spPr>
          <a:xfrm>
            <a:off x="640080" y="4562856"/>
            <a:ext cx="15087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0" name="TextBox 49"/>
          <p:cNvSpPr txBox="1"/>
          <p:nvPr/>
        </p:nvSpPr>
        <p:spPr>
          <a:xfrm>
            <a:off x="713231" y="4599432"/>
            <a:ext cx="1362456" cy="466344"/>
          </a:xfrm>
          <a:prstGeom prst="rect">
            <a:avLst/>
          </a:prstGeom>
          <a:noFill/>
        </p:spPr>
        <p:txBody>
          <a:bodyPr wrap="square" lIns="9144" tIns="9144" rIns="9144" bIns="9144" anchor="ctr">
            <a:spAutoFit/>
          </a:bodyPr>
          <a:lstStyle/>
          <a:p>
            <a:pPr algn="l">
              <a:lnSpc>
                <a:spcPct val="100000"/>
              </a:lnSpc>
              <a:spcAft>
                <a:spcPts val="0"/>
              </a:spcAft>
            </a:pPr>
            <a:r>
              <a:rPr sz="1160" b="1">
                <a:solidFill>
                  <a:srgbClr val="3A3A3A"/>
                </a:solidFill>
                <a:latin typeface="맑은 고딕"/>
                <a:ea typeface="맑은 고딕"/>
                <a:cs typeface="맑은 고딕"/>
              </a:rPr>
              <a:t>전환 schedule</a:t>
            </a:r>
          </a:p>
        </p:txBody>
      </p:sp>
      <p:sp>
        <p:nvSpPr>
          <p:cNvPr id="51" name="Rectangle 50"/>
          <p:cNvSpPr/>
          <p:nvPr/>
        </p:nvSpPr>
        <p:spPr>
          <a:xfrm>
            <a:off x="2148839" y="4562856"/>
            <a:ext cx="3364992"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2" name="TextBox 51"/>
          <p:cNvSpPr txBox="1"/>
          <p:nvPr/>
        </p:nvSpPr>
        <p:spPr>
          <a:xfrm>
            <a:off x="2221991" y="4644860"/>
            <a:ext cx="3218688" cy="375487"/>
          </a:xfrm>
          <a:prstGeom prst="rect">
            <a:avLst/>
          </a:prstGeom>
          <a:noFill/>
        </p:spPr>
        <p:txBody>
          <a:bodyPr wrap="square" lIns="9144" tIns="9144" rIns="9144" bIns="9144" anchor="ctr">
            <a:spAutoFit/>
          </a:bodyPr>
          <a:lstStyle/>
          <a:p>
            <a:pPr algn="ctr">
              <a:lnSpc>
                <a:spcPct val="100000"/>
              </a:lnSpc>
              <a:spcAft>
                <a:spcPts val="0"/>
              </a:spcAft>
            </a:pPr>
            <a:r>
              <a:rPr sz="1160" b="0" dirty="0">
                <a:solidFill>
                  <a:srgbClr val="3A3A3A"/>
                </a:solidFill>
                <a:latin typeface="맑은 고딕"/>
                <a:ea typeface="맑은 고딕"/>
                <a:cs typeface="맑은 고딕"/>
              </a:rPr>
              <a:t>Saving the Limping: </a:t>
            </a:r>
            <a:endParaRPr lang="en-US" sz="1160" b="0" dirty="0">
              <a:solidFill>
                <a:srgbClr val="3A3A3A"/>
              </a:solidFill>
              <a:latin typeface="맑은 고딕"/>
              <a:ea typeface="맑은 고딕"/>
              <a:cs typeface="맑은 고딕"/>
            </a:endParaRPr>
          </a:p>
          <a:p>
            <a:pPr algn="ctr">
              <a:lnSpc>
                <a:spcPct val="100000"/>
              </a:lnSpc>
              <a:spcAft>
                <a:spcPts val="0"/>
              </a:spcAft>
            </a:pPr>
            <a:r>
              <a:rPr sz="1160" b="0" dirty="0">
                <a:solidFill>
                  <a:srgbClr val="3A3A3A"/>
                </a:solidFill>
                <a:latin typeface="맑은 고딕"/>
                <a:ea typeface="맑은 고딕"/>
                <a:cs typeface="맑은 고딕"/>
              </a:rPr>
              <a:t>Student </a:t>
            </a:r>
            <a:r>
              <a:rPr sz="1160" b="0" dirty="0" err="1">
                <a:solidFill>
                  <a:srgbClr val="3A3A3A"/>
                </a:solidFill>
                <a:latin typeface="맑은 고딕"/>
                <a:ea typeface="맑은 고딕"/>
                <a:cs typeface="맑은 고딕"/>
              </a:rPr>
              <a:t>비중</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증가</a:t>
            </a:r>
            <a:r>
              <a:rPr sz="1160" b="0" dirty="0">
                <a:solidFill>
                  <a:srgbClr val="3A3A3A"/>
                </a:solidFill>
                <a:latin typeface="맑은 고딕"/>
                <a:ea typeface="맑은 고딕"/>
                <a:cs typeface="맑은 고딕"/>
              </a:rPr>
              <a:t> · </a:t>
            </a:r>
            <a:r>
              <a:rPr sz="1160" b="0" dirty="0" err="1">
                <a:solidFill>
                  <a:srgbClr val="3A3A3A"/>
                </a:solidFill>
                <a:latin typeface="맑은 고딕"/>
                <a:ea typeface="맑은 고딕"/>
                <a:cs typeface="맑은 고딕"/>
              </a:rPr>
              <a:t>모방</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가중치</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감소</a:t>
            </a:r>
            <a:endParaRPr sz="1160" b="0" dirty="0">
              <a:solidFill>
                <a:srgbClr val="3A3A3A"/>
              </a:solidFill>
              <a:latin typeface="맑은 고딕"/>
              <a:ea typeface="맑은 고딕"/>
              <a:cs typeface="맑은 고딕"/>
            </a:endParaRPr>
          </a:p>
        </p:txBody>
      </p:sp>
      <p:sp>
        <p:nvSpPr>
          <p:cNvPr id="53" name="Rectangle 52"/>
          <p:cNvSpPr/>
          <p:nvPr/>
        </p:nvSpPr>
        <p:spPr>
          <a:xfrm>
            <a:off x="5513831" y="4562856"/>
            <a:ext cx="44805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4" name="TextBox 53"/>
          <p:cNvSpPr txBox="1"/>
          <p:nvPr/>
        </p:nvSpPr>
        <p:spPr>
          <a:xfrm>
            <a:off x="5586983" y="4599432"/>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0" dirty="0">
                <a:solidFill>
                  <a:srgbClr val="3A3A3A"/>
                </a:solidFill>
                <a:latin typeface="맑은 고딕"/>
                <a:ea typeface="맑은 고딕"/>
                <a:cs typeface="맑은 고딕"/>
              </a:rPr>
              <a:t>10,000 </a:t>
            </a:r>
            <a:r>
              <a:rPr sz="1160" b="0" dirty="0" err="1">
                <a:solidFill>
                  <a:srgbClr val="3A3A3A"/>
                </a:solidFill>
                <a:latin typeface="맑은 고딕"/>
                <a:ea typeface="맑은 고딕"/>
                <a:cs typeface="맑은 고딕"/>
              </a:rPr>
              <a:t>iteration의</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선형</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전환</a:t>
            </a:r>
            <a:endParaRPr sz="1160" b="0" dirty="0">
              <a:solidFill>
                <a:srgbClr val="3A3A3A"/>
              </a:solidFill>
              <a:latin typeface="맑은 고딕"/>
              <a:ea typeface="맑은 고딕"/>
              <a:cs typeface="맑은 고딕"/>
            </a:endParaRPr>
          </a:p>
        </p:txBody>
      </p:sp>
      <p:sp>
        <p:nvSpPr>
          <p:cNvPr id="55" name="Rectangle 54"/>
          <p:cNvSpPr/>
          <p:nvPr/>
        </p:nvSpPr>
        <p:spPr>
          <a:xfrm>
            <a:off x="9994392" y="4562856"/>
            <a:ext cx="1517904"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6" name="TextBox 55"/>
          <p:cNvSpPr txBox="1"/>
          <p:nvPr/>
        </p:nvSpPr>
        <p:spPr>
          <a:xfrm>
            <a:off x="10067544" y="4599432"/>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프로젝트 설정</a:t>
            </a:r>
          </a:p>
        </p:txBody>
      </p:sp>
      <p:sp>
        <p:nvSpPr>
          <p:cNvPr id="57" name="Rectangle 56"/>
          <p:cNvSpPr/>
          <p:nvPr/>
        </p:nvSpPr>
        <p:spPr>
          <a:xfrm>
            <a:off x="640080" y="5102352"/>
            <a:ext cx="15087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8" name="TextBox 57"/>
          <p:cNvSpPr txBox="1"/>
          <p:nvPr/>
        </p:nvSpPr>
        <p:spPr>
          <a:xfrm>
            <a:off x="713231" y="5138928"/>
            <a:ext cx="1362456" cy="466344"/>
          </a:xfrm>
          <a:prstGeom prst="rect">
            <a:avLst/>
          </a:prstGeom>
          <a:noFill/>
        </p:spPr>
        <p:txBody>
          <a:bodyPr wrap="square" lIns="9144" tIns="9144" rIns="9144" bIns="9144" anchor="ctr">
            <a:spAutoFit/>
          </a:bodyPr>
          <a:lstStyle/>
          <a:p>
            <a:pPr algn="l">
              <a:lnSpc>
                <a:spcPct val="100000"/>
              </a:lnSpc>
              <a:spcAft>
                <a:spcPts val="0"/>
              </a:spcAft>
            </a:pPr>
            <a:r>
              <a:rPr sz="1160" b="1">
                <a:solidFill>
                  <a:srgbClr val="3A3A3A"/>
                </a:solidFill>
                <a:latin typeface="맑은 고딕"/>
                <a:ea typeface="맑은 고딕"/>
                <a:cs typeface="맑은 고딕"/>
              </a:rPr>
              <a:t>평가 설계</a:t>
            </a:r>
          </a:p>
        </p:txBody>
      </p:sp>
      <p:sp>
        <p:nvSpPr>
          <p:cNvPr id="59" name="Rectangle 58"/>
          <p:cNvSpPr/>
          <p:nvPr/>
        </p:nvSpPr>
        <p:spPr>
          <a:xfrm>
            <a:off x="2148839" y="5102352"/>
            <a:ext cx="3364992"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0" name="TextBox 59"/>
          <p:cNvSpPr txBox="1"/>
          <p:nvPr/>
        </p:nvSpPr>
        <p:spPr>
          <a:xfrm>
            <a:off x="2221991" y="5138928"/>
            <a:ext cx="3218688" cy="466344"/>
          </a:xfrm>
          <a:prstGeom prst="rect">
            <a:avLst/>
          </a:prstGeom>
          <a:noFill/>
        </p:spPr>
        <p:txBody>
          <a:bodyPr wrap="square" lIns="9144" tIns="9144" rIns="9144" bIns="9144" anchor="ctr">
            <a:spAutoFit/>
          </a:bodyPr>
          <a:lstStyle/>
          <a:p>
            <a:pPr algn="ctr">
              <a:lnSpc>
                <a:spcPct val="100000"/>
              </a:lnSpc>
              <a:spcAft>
                <a:spcPts val="0"/>
              </a:spcAft>
            </a:pPr>
            <a:r>
              <a:rPr sz="1160" b="0" dirty="0" err="1">
                <a:solidFill>
                  <a:srgbClr val="3A3A3A"/>
                </a:solidFill>
                <a:latin typeface="맑은 고딕"/>
                <a:ea typeface="맑은 고딕"/>
                <a:cs typeface="맑은 고딕"/>
              </a:rPr>
              <a:t>표준</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추종</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오차</a:t>
            </a:r>
            <a:r>
              <a:rPr sz="1160" b="0" dirty="0">
                <a:solidFill>
                  <a:srgbClr val="3A3A3A"/>
                </a:solidFill>
                <a:latin typeface="맑은 고딕"/>
                <a:ea typeface="맑은 고딕"/>
                <a:cs typeface="맑은 고딕"/>
              </a:rPr>
              <a:t> </a:t>
            </a:r>
            <a:r>
              <a:rPr sz="1160" b="0" dirty="0" err="1">
                <a:solidFill>
                  <a:srgbClr val="3A3A3A"/>
                </a:solidFill>
                <a:latin typeface="맑은 고딕"/>
                <a:ea typeface="맑은 고딕"/>
                <a:cs typeface="맑은 고딕"/>
              </a:rPr>
              <a:t>지표</a:t>
            </a:r>
            <a:r>
              <a:rPr sz="1160" b="0" dirty="0">
                <a:solidFill>
                  <a:srgbClr val="3A3A3A"/>
                </a:solidFill>
                <a:latin typeface="맑은 고딕"/>
                <a:ea typeface="맑은 고딕"/>
                <a:cs typeface="맑은 고딕"/>
              </a:rPr>
              <a:t> 등 </a:t>
            </a:r>
            <a:r>
              <a:rPr sz="1160" b="0" dirty="0" err="1">
                <a:solidFill>
                  <a:srgbClr val="3A3A3A"/>
                </a:solidFill>
                <a:latin typeface="맑은 고딕"/>
                <a:ea typeface="맑은 고딕"/>
                <a:cs typeface="맑은 고딕"/>
              </a:rPr>
              <a:t>활용</a:t>
            </a:r>
            <a:endParaRPr sz="1160" b="0" dirty="0">
              <a:solidFill>
                <a:srgbClr val="3A3A3A"/>
              </a:solidFill>
              <a:latin typeface="맑은 고딕"/>
              <a:ea typeface="맑은 고딕"/>
              <a:cs typeface="맑은 고딕"/>
            </a:endParaRPr>
          </a:p>
        </p:txBody>
      </p:sp>
      <p:sp>
        <p:nvSpPr>
          <p:cNvPr id="61" name="Rectangle 60"/>
          <p:cNvSpPr/>
          <p:nvPr/>
        </p:nvSpPr>
        <p:spPr>
          <a:xfrm>
            <a:off x="5513831" y="5102352"/>
            <a:ext cx="44805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2" name="TextBox 61"/>
          <p:cNvSpPr txBox="1"/>
          <p:nvPr/>
        </p:nvSpPr>
        <p:spPr>
          <a:xfrm>
            <a:off x="5586983" y="5138928"/>
            <a:ext cx="4334256"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0.5 m/s · 고장 후 20초 · 1초 안정 회복</a:t>
            </a:r>
          </a:p>
        </p:txBody>
      </p:sp>
      <p:sp>
        <p:nvSpPr>
          <p:cNvPr id="63" name="Rectangle 62"/>
          <p:cNvSpPr/>
          <p:nvPr/>
        </p:nvSpPr>
        <p:spPr>
          <a:xfrm>
            <a:off x="9994392" y="5102352"/>
            <a:ext cx="1517904"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4" name="TextBox 63"/>
          <p:cNvSpPr txBox="1"/>
          <p:nvPr/>
        </p:nvSpPr>
        <p:spPr>
          <a:xfrm>
            <a:off x="10067544" y="5138928"/>
            <a:ext cx="1371600" cy="466344"/>
          </a:xfrm>
          <a:prstGeom prst="rect">
            <a:avLst/>
          </a:prstGeom>
          <a:noFill/>
        </p:spPr>
        <p:txBody>
          <a:bodyPr wrap="square" lIns="9144" tIns="9144" rIns="9144" bIns="9144" anchor="ctr">
            <a:spAutoFit/>
          </a:bodyPr>
          <a:lstStyle/>
          <a:p>
            <a:pPr algn="ctr">
              <a:lnSpc>
                <a:spcPct val="100000"/>
              </a:lnSpc>
              <a:spcAft>
                <a:spcPts val="0"/>
              </a:spcAft>
            </a:pPr>
            <a:r>
              <a:rPr sz="1160" b="0">
                <a:solidFill>
                  <a:srgbClr val="3A3A3A"/>
                </a:solidFill>
                <a:latin typeface="맑은 고딕"/>
                <a:ea typeface="맑은 고딕"/>
                <a:cs typeface="맑은 고딕"/>
              </a:rPr>
              <a:t>프로젝트 설정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08 | Isaac Gym 환경</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EXPERIMENT ENVIRONMENT</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Makoviychuk et al., Isaac Gym, arXiv:2108.10470, 2021.   2) Rudin et al., Learning to Walk in Minutes, CoRL 2021.</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08 / 43</a:t>
            </a:r>
          </a:p>
        </p:txBody>
      </p:sp>
      <p:pic>
        <p:nvPicPr>
          <p:cNvPr id="37" name="Picture 36" descr="000032.png"/>
          <p:cNvPicPr>
            <a:picLocks noChangeAspect="1"/>
          </p:cNvPicPr>
          <p:nvPr/>
        </p:nvPicPr>
        <p:blipFill>
          <a:blip r:embed="rId3"/>
          <a:stretch>
            <a:fillRect/>
          </a:stretch>
        </p:blipFill>
        <p:spPr>
          <a:xfrm>
            <a:off x="530352" y="2432777"/>
            <a:ext cx="5257800" cy="2543460"/>
          </a:xfrm>
          <a:prstGeom prst="rect">
            <a:avLst/>
          </a:prstGeom>
        </p:spPr>
      </p:pic>
      <p:sp>
        <p:nvSpPr>
          <p:cNvPr id="9" name="Rectangle 8"/>
          <p:cNvSpPr/>
          <p:nvPr/>
        </p:nvSpPr>
        <p:spPr>
          <a:xfrm>
            <a:off x="6144768" y="1884029"/>
            <a:ext cx="2029968" cy="526877"/>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6217920" y="1915485"/>
            <a:ext cx="1883664" cy="463966"/>
          </a:xfrm>
          <a:prstGeom prst="rect">
            <a:avLst/>
          </a:prstGeom>
          <a:noFill/>
        </p:spPr>
        <p:txBody>
          <a:bodyPr wrap="square" lIns="9144" tIns="9144" rIns="9144" bIns="9144" anchor="ctr">
            <a:spAutoFit/>
          </a:bodyPr>
          <a:lstStyle/>
          <a:p>
            <a:pPr algn="ctr">
              <a:lnSpc>
                <a:spcPct val="100000"/>
              </a:lnSpc>
              <a:spcAft>
                <a:spcPts val="0"/>
              </a:spcAft>
            </a:pPr>
            <a:r>
              <a:rPr sz="1340" b="1">
                <a:solidFill>
                  <a:srgbClr val="FFFFFF"/>
                </a:solidFill>
                <a:latin typeface="맑은 고딕"/>
                <a:ea typeface="맑은 고딕"/>
                <a:cs typeface="맑은 고딕"/>
              </a:rPr>
              <a:t>항목</a:t>
            </a:r>
          </a:p>
        </p:txBody>
      </p:sp>
      <p:sp>
        <p:nvSpPr>
          <p:cNvPr id="11" name="Rectangle 10"/>
          <p:cNvSpPr/>
          <p:nvPr/>
        </p:nvSpPr>
        <p:spPr>
          <a:xfrm>
            <a:off x="8174736" y="1884029"/>
            <a:ext cx="3364992" cy="526877"/>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2" name="TextBox 11"/>
          <p:cNvSpPr txBox="1"/>
          <p:nvPr/>
        </p:nvSpPr>
        <p:spPr>
          <a:xfrm>
            <a:off x="8247888" y="1915485"/>
            <a:ext cx="3218688" cy="463966"/>
          </a:xfrm>
          <a:prstGeom prst="rect">
            <a:avLst/>
          </a:prstGeom>
          <a:noFill/>
        </p:spPr>
        <p:txBody>
          <a:bodyPr wrap="square" lIns="9144" tIns="9144" rIns="9144" bIns="9144" anchor="ctr">
            <a:spAutoFit/>
          </a:bodyPr>
          <a:lstStyle/>
          <a:p>
            <a:pPr algn="ctr">
              <a:lnSpc>
                <a:spcPct val="100000"/>
              </a:lnSpc>
              <a:spcAft>
                <a:spcPts val="0"/>
              </a:spcAft>
            </a:pPr>
            <a:r>
              <a:rPr sz="1340" b="1">
                <a:solidFill>
                  <a:srgbClr val="FFFFFF"/>
                </a:solidFill>
                <a:latin typeface="맑은 고딕"/>
                <a:ea typeface="맑은 고딕"/>
                <a:cs typeface="맑은 고딕"/>
              </a:rPr>
              <a:t>설정</a:t>
            </a:r>
          </a:p>
        </p:txBody>
      </p:sp>
      <p:sp>
        <p:nvSpPr>
          <p:cNvPr id="13" name="Rectangle 12"/>
          <p:cNvSpPr/>
          <p:nvPr/>
        </p:nvSpPr>
        <p:spPr>
          <a:xfrm>
            <a:off x="6144768" y="2410907"/>
            <a:ext cx="2029968" cy="52687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6217920" y="2442362"/>
            <a:ext cx="1883664" cy="463966"/>
          </a:xfrm>
          <a:prstGeom prst="rect">
            <a:avLst/>
          </a:prstGeom>
          <a:noFill/>
        </p:spPr>
        <p:txBody>
          <a:bodyPr wrap="square" lIns="9144" tIns="9144" rIns="9144" bIns="9144" anchor="ctr">
            <a:spAutoFit/>
          </a:bodyPr>
          <a:lstStyle/>
          <a:p>
            <a:pPr algn="l">
              <a:lnSpc>
                <a:spcPct val="100000"/>
              </a:lnSpc>
              <a:spcAft>
                <a:spcPts val="0"/>
              </a:spcAft>
            </a:pPr>
            <a:r>
              <a:rPr sz="1340" b="1">
                <a:solidFill>
                  <a:srgbClr val="3A3A3A"/>
                </a:solidFill>
                <a:latin typeface="맑은 고딕"/>
                <a:ea typeface="맑은 고딕"/>
                <a:cs typeface="맑은 고딕"/>
              </a:rPr>
              <a:t>Robot</a:t>
            </a:r>
          </a:p>
        </p:txBody>
      </p:sp>
      <p:sp>
        <p:nvSpPr>
          <p:cNvPr id="15" name="Rectangle 14"/>
          <p:cNvSpPr/>
          <p:nvPr/>
        </p:nvSpPr>
        <p:spPr>
          <a:xfrm>
            <a:off x="8174736" y="2410907"/>
            <a:ext cx="3364992" cy="52687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6" name="TextBox 15"/>
          <p:cNvSpPr txBox="1"/>
          <p:nvPr/>
        </p:nvSpPr>
        <p:spPr>
          <a:xfrm>
            <a:off x="8247888" y="2442362"/>
            <a:ext cx="3218688" cy="463966"/>
          </a:xfrm>
          <a:prstGeom prst="rect">
            <a:avLst/>
          </a:prstGeom>
          <a:noFill/>
        </p:spPr>
        <p:txBody>
          <a:bodyPr wrap="square" lIns="9144" tIns="9144" rIns="9144" bIns="9144" anchor="ctr">
            <a:spAutoFit/>
          </a:bodyPr>
          <a:lstStyle/>
          <a:p>
            <a:pPr algn="ctr">
              <a:lnSpc>
                <a:spcPct val="100000"/>
              </a:lnSpc>
              <a:spcAft>
                <a:spcPts val="0"/>
              </a:spcAft>
            </a:pPr>
            <a:r>
              <a:rPr sz="1340" b="0">
                <a:solidFill>
                  <a:srgbClr val="3A3A3A"/>
                </a:solidFill>
                <a:latin typeface="맑은 고딕"/>
                <a:ea typeface="맑은 고딕"/>
                <a:cs typeface="맑은 고딕"/>
              </a:rPr>
              <a:t>Unitree A1 · 12 DOF</a:t>
            </a:r>
          </a:p>
        </p:txBody>
      </p:sp>
      <p:sp>
        <p:nvSpPr>
          <p:cNvPr id="17" name="Rectangle 16"/>
          <p:cNvSpPr/>
          <p:nvPr/>
        </p:nvSpPr>
        <p:spPr>
          <a:xfrm>
            <a:off x="6144768" y="2937784"/>
            <a:ext cx="2029968" cy="52687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6217920" y="2969239"/>
            <a:ext cx="1883664" cy="463966"/>
          </a:xfrm>
          <a:prstGeom prst="rect">
            <a:avLst/>
          </a:prstGeom>
          <a:noFill/>
        </p:spPr>
        <p:txBody>
          <a:bodyPr wrap="square" lIns="9144" tIns="9144" rIns="9144" bIns="9144" anchor="ctr">
            <a:spAutoFit/>
          </a:bodyPr>
          <a:lstStyle/>
          <a:p>
            <a:pPr algn="l">
              <a:lnSpc>
                <a:spcPct val="100000"/>
              </a:lnSpc>
              <a:spcAft>
                <a:spcPts val="0"/>
              </a:spcAft>
            </a:pPr>
            <a:r>
              <a:rPr sz="1340" b="1">
                <a:solidFill>
                  <a:srgbClr val="3A3A3A"/>
                </a:solidFill>
                <a:latin typeface="맑은 고딕"/>
                <a:ea typeface="맑은 고딕"/>
                <a:cs typeface="맑은 고딕"/>
              </a:rPr>
              <a:t>Simulator</a:t>
            </a:r>
          </a:p>
        </p:txBody>
      </p:sp>
      <p:sp>
        <p:nvSpPr>
          <p:cNvPr id="19" name="Rectangle 18"/>
          <p:cNvSpPr/>
          <p:nvPr/>
        </p:nvSpPr>
        <p:spPr>
          <a:xfrm>
            <a:off x="8174736" y="2937784"/>
            <a:ext cx="3364992" cy="52687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0" name="TextBox 19"/>
          <p:cNvSpPr txBox="1"/>
          <p:nvPr/>
        </p:nvSpPr>
        <p:spPr>
          <a:xfrm>
            <a:off x="8247888" y="2969239"/>
            <a:ext cx="3218688" cy="463966"/>
          </a:xfrm>
          <a:prstGeom prst="rect">
            <a:avLst/>
          </a:prstGeom>
          <a:noFill/>
        </p:spPr>
        <p:txBody>
          <a:bodyPr wrap="square" lIns="9144" tIns="9144" rIns="9144" bIns="9144" anchor="ctr">
            <a:spAutoFit/>
          </a:bodyPr>
          <a:lstStyle/>
          <a:p>
            <a:pPr algn="ctr">
              <a:lnSpc>
                <a:spcPct val="100000"/>
              </a:lnSpc>
              <a:spcAft>
                <a:spcPts val="0"/>
              </a:spcAft>
            </a:pPr>
            <a:r>
              <a:rPr sz="1340" b="0">
                <a:solidFill>
                  <a:srgbClr val="3A3A3A"/>
                </a:solidFill>
                <a:latin typeface="맑은 고딕"/>
                <a:ea typeface="맑은 고딕"/>
                <a:cs typeface="맑은 고딕"/>
              </a:rPr>
              <a:t>Isaac Gym · GPU PhysX</a:t>
            </a:r>
          </a:p>
        </p:txBody>
      </p:sp>
      <p:sp>
        <p:nvSpPr>
          <p:cNvPr id="21" name="Rectangle 20"/>
          <p:cNvSpPr/>
          <p:nvPr/>
        </p:nvSpPr>
        <p:spPr>
          <a:xfrm>
            <a:off x="6144768" y="3464661"/>
            <a:ext cx="2029968" cy="52687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p:cNvSpPr txBox="1"/>
          <p:nvPr/>
        </p:nvSpPr>
        <p:spPr>
          <a:xfrm>
            <a:off x="6217920" y="3496116"/>
            <a:ext cx="1883664" cy="463966"/>
          </a:xfrm>
          <a:prstGeom prst="rect">
            <a:avLst/>
          </a:prstGeom>
          <a:noFill/>
        </p:spPr>
        <p:txBody>
          <a:bodyPr wrap="square" lIns="9144" tIns="9144" rIns="9144" bIns="9144" anchor="ctr">
            <a:spAutoFit/>
          </a:bodyPr>
          <a:lstStyle/>
          <a:p>
            <a:pPr algn="l">
              <a:lnSpc>
                <a:spcPct val="100000"/>
              </a:lnSpc>
              <a:spcAft>
                <a:spcPts val="0"/>
              </a:spcAft>
            </a:pPr>
            <a:r>
              <a:rPr sz="1340" b="1">
                <a:solidFill>
                  <a:srgbClr val="3A3A3A"/>
                </a:solidFill>
                <a:latin typeface="맑은 고딕"/>
                <a:ea typeface="맑은 고딕"/>
                <a:cs typeface="맑은 고딕"/>
              </a:rPr>
              <a:t>Parallel envs</a:t>
            </a:r>
          </a:p>
        </p:txBody>
      </p:sp>
      <p:sp>
        <p:nvSpPr>
          <p:cNvPr id="23" name="Rectangle 22"/>
          <p:cNvSpPr/>
          <p:nvPr/>
        </p:nvSpPr>
        <p:spPr>
          <a:xfrm>
            <a:off x="8174736" y="3464661"/>
            <a:ext cx="3364992" cy="52687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4" name="TextBox 23"/>
          <p:cNvSpPr txBox="1"/>
          <p:nvPr/>
        </p:nvSpPr>
        <p:spPr>
          <a:xfrm>
            <a:off x="8247888" y="3496116"/>
            <a:ext cx="3218688" cy="463966"/>
          </a:xfrm>
          <a:prstGeom prst="rect">
            <a:avLst/>
          </a:prstGeom>
          <a:noFill/>
        </p:spPr>
        <p:txBody>
          <a:bodyPr wrap="square" lIns="9144" tIns="9144" rIns="9144" bIns="9144" anchor="ctr">
            <a:spAutoFit/>
          </a:bodyPr>
          <a:lstStyle/>
          <a:p>
            <a:pPr algn="ctr">
              <a:lnSpc>
                <a:spcPct val="100000"/>
              </a:lnSpc>
              <a:spcAft>
                <a:spcPts val="0"/>
              </a:spcAft>
            </a:pPr>
            <a:r>
              <a:rPr sz="1340" b="0">
                <a:solidFill>
                  <a:srgbClr val="3A3A3A"/>
                </a:solidFill>
                <a:latin typeface="맑은 고딕"/>
                <a:ea typeface="맑은 고딕"/>
                <a:cs typeface="맑은 고딕"/>
              </a:rPr>
              <a:t>4,096</a:t>
            </a:r>
          </a:p>
        </p:txBody>
      </p:sp>
      <p:sp>
        <p:nvSpPr>
          <p:cNvPr id="25" name="Rectangle 24"/>
          <p:cNvSpPr/>
          <p:nvPr/>
        </p:nvSpPr>
        <p:spPr>
          <a:xfrm>
            <a:off x="6144768" y="3991538"/>
            <a:ext cx="2029968" cy="52687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6" name="TextBox 25"/>
          <p:cNvSpPr txBox="1"/>
          <p:nvPr/>
        </p:nvSpPr>
        <p:spPr>
          <a:xfrm>
            <a:off x="6217920" y="4022994"/>
            <a:ext cx="1883664" cy="463966"/>
          </a:xfrm>
          <a:prstGeom prst="rect">
            <a:avLst/>
          </a:prstGeom>
          <a:noFill/>
        </p:spPr>
        <p:txBody>
          <a:bodyPr wrap="square" lIns="9144" tIns="9144" rIns="9144" bIns="9144" anchor="ctr">
            <a:spAutoFit/>
          </a:bodyPr>
          <a:lstStyle/>
          <a:p>
            <a:pPr algn="l">
              <a:lnSpc>
                <a:spcPct val="100000"/>
              </a:lnSpc>
              <a:spcAft>
                <a:spcPts val="0"/>
              </a:spcAft>
            </a:pPr>
            <a:r>
              <a:rPr sz="1340" b="1">
                <a:solidFill>
                  <a:srgbClr val="3A3A3A"/>
                </a:solidFill>
                <a:latin typeface="맑은 고딕"/>
                <a:ea typeface="맑은 고딕"/>
                <a:cs typeface="맑은 고딕"/>
              </a:rPr>
              <a:t>Physics / policy</a:t>
            </a:r>
          </a:p>
        </p:txBody>
      </p:sp>
      <p:sp>
        <p:nvSpPr>
          <p:cNvPr id="27" name="Rectangle 26"/>
          <p:cNvSpPr/>
          <p:nvPr/>
        </p:nvSpPr>
        <p:spPr>
          <a:xfrm>
            <a:off x="8174736" y="3991538"/>
            <a:ext cx="3364992" cy="52687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8" name="TextBox 27"/>
          <p:cNvSpPr txBox="1"/>
          <p:nvPr/>
        </p:nvSpPr>
        <p:spPr>
          <a:xfrm>
            <a:off x="8247888" y="4022994"/>
            <a:ext cx="3218688" cy="463966"/>
          </a:xfrm>
          <a:prstGeom prst="rect">
            <a:avLst/>
          </a:prstGeom>
          <a:noFill/>
        </p:spPr>
        <p:txBody>
          <a:bodyPr wrap="square" lIns="9144" tIns="9144" rIns="9144" bIns="9144" anchor="ctr">
            <a:spAutoFit/>
          </a:bodyPr>
          <a:lstStyle/>
          <a:p>
            <a:pPr algn="ctr">
              <a:lnSpc>
                <a:spcPct val="100000"/>
              </a:lnSpc>
              <a:spcAft>
                <a:spcPts val="0"/>
              </a:spcAft>
            </a:pPr>
            <a:r>
              <a:rPr sz="1340" b="0">
                <a:solidFill>
                  <a:srgbClr val="3A3A3A"/>
                </a:solidFill>
                <a:latin typeface="맑은 고딕"/>
                <a:ea typeface="맑은 고딕"/>
                <a:cs typeface="맑은 고딕"/>
              </a:rPr>
              <a:t>200 Hz / 50 Hz</a:t>
            </a:r>
          </a:p>
        </p:txBody>
      </p:sp>
      <p:sp>
        <p:nvSpPr>
          <p:cNvPr id="29" name="Rectangle 28"/>
          <p:cNvSpPr/>
          <p:nvPr/>
        </p:nvSpPr>
        <p:spPr>
          <a:xfrm>
            <a:off x="6144768" y="4518416"/>
            <a:ext cx="2029968" cy="52687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0" name="TextBox 29"/>
          <p:cNvSpPr txBox="1"/>
          <p:nvPr/>
        </p:nvSpPr>
        <p:spPr>
          <a:xfrm>
            <a:off x="6217920" y="4549871"/>
            <a:ext cx="1883664" cy="463966"/>
          </a:xfrm>
          <a:prstGeom prst="rect">
            <a:avLst/>
          </a:prstGeom>
          <a:noFill/>
        </p:spPr>
        <p:txBody>
          <a:bodyPr wrap="square" lIns="9144" tIns="9144" rIns="9144" bIns="9144" anchor="ctr">
            <a:spAutoFit/>
          </a:bodyPr>
          <a:lstStyle/>
          <a:p>
            <a:pPr algn="l">
              <a:lnSpc>
                <a:spcPct val="100000"/>
              </a:lnSpc>
              <a:spcAft>
                <a:spcPts val="0"/>
              </a:spcAft>
            </a:pPr>
            <a:r>
              <a:rPr sz="1340" b="1">
                <a:solidFill>
                  <a:srgbClr val="3A3A3A"/>
                </a:solidFill>
                <a:latin typeface="맑은 고딕"/>
                <a:ea typeface="맑은 고딕"/>
                <a:cs typeface="맑은 고딕"/>
              </a:rPr>
              <a:t>Episode</a:t>
            </a:r>
          </a:p>
        </p:txBody>
      </p:sp>
      <p:sp>
        <p:nvSpPr>
          <p:cNvPr id="31" name="Rectangle 30"/>
          <p:cNvSpPr/>
          <p:nvPr/>
        </p:nvSpPr>
        <p:spPr>
          <a:xfrm>
            <a:off x="8174736" y="4518416"/>
            <a:ext cx="3364992" cy="52687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2" name="TextBox 31"/>
          <p:cNvSpPr txBox="1"/>
          <p:nvPr/>
        </p:nvSpPr>
        <p:spPr>
          <a:xfrm>
            <a:off x="8247888" y="4549871"/>
            <a:ext cx="3218688" cy="463966"/>
          </a:xfrm>
          <a:prstGeom prst="rect">
            <a:avLst/>
          </a:prstGeom>
          <a:noFill/>
        </p:spPr>
        <p:txBody>
          <a:bodyPr wrap="square" lIns="9144" tIns="9144" rIns="9144" bIns="9144" anchor="ctr">
            <a:spAutoFit/>
          </a:bodyPr>
          <a:lstStyle/>
          <a:p>
            <a:pPr algn="ctr">
              <a:lnSpc>
                <a:spcPct val="100000"/>
              </a:lnSpc>
              <a:spcAft>
                <a:spcPts val="0"/>
              </a:spcAft>
            </a:pPr>
            <a:r>
              <a:rPr sz="1340" b="0">
                <a:solidFill>
                  <a:srgbClr val="3A3A3A"/>
                </a:solidFill>
                <a:latin typeface="맑은 고딕"/>
                <a:ea typeface="맑은 고딕"/>
                <a:cs typeface="맑은 고딕"/>
              </a:rPr>
              <a:t>20 s · 1,000 policy steps</a:t>
            </a:r>
          </a:p>
        </p:txBody>
      </p:sp>
      <p:sp>
        <p:nvSpPr>
          <p:cNvPr id="33" name="Rectangle 32"/>
          <p:cNvSpPr/>
          <p:nvPr/>
        </p:nvSpPr>
        <p:spPr>
          <a:xfrm>
            <a:off x="6144768" y="5045293"/>
            <a:ext cx="2029968" cy="52687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4" name="TextBox 33"/>
          <p:cNvSpPr txBox="1"/>
          <p:nvPr/>
        </p:nvSpPr>
        <p:spPr>
          <a:xfrm>
            <a:off x="6217920" y="5076748"/>
            <a:ext cx="1883664" cy="463966"/>
          </a:xfrm>
          <a:prstGeom prst="rect">
            <a:avLst/>
          </a:prstGeom>
          <a:noFill/>
        </p:spPr>
        <p:txBody>
          <a:bodyPr wrap="square" lIns="9144" tIns="9144" rIns="9144" bIns="9144" anchor="ctr">
            <a:spAutoFit/>
          </a:bodyPr>
          <a:lstStyle/>
          <a:p>
            <a:pPr algn="l">
              <a:lnSpc>
                <a:spcPct val="100000"/>
              </a:lnSpc>
              <a:spcAft>
                <a:spcPts val="0"/>
              </a:spcAft>
            </a:pPr>
            <a:r>
              <a:rPr sz="1340" b="1">
                <a:solidFill>
                  <a:srgbClr val="3A3A3A"/>
                </a:solidFill>
                <a:latin typeface="맑은 고딕"/>
                <a:ea typeface="맑은 고딕"/>
                <a:cs typeface="맑은 고딕"/>
              </a:rPr>
              <a:t>PPO rollout</a:t>
            </a:r>
          </a:p>
        </p:txBody>
      </p:sp>
      <p:sp>
        <p:nvSpPr>
          <p:cNvPr id="35" name="Rectangle 34"/>
          <p:cNvSpPr/>
          <p:nvPr/>
        </p:nvSpPr>
        <p:spPr>
          <a:xfrm>
            <a:off x="8174736" y="5045293"/>
            <a:ext cx="3364992" cy="52687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36" name="TextBox 35"/>
              <p:cNvSpPr txBox="1"/>
              <p:nvPr/>
            </p:nvSpPr>
            <p:spPr>
              <a:xfrm>
                <a:off x="8247888" y="5076748"/>
                <a:ext cx="3218688" cy="4639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m:rPr>
                          <m:nor/>
                        </m:rPr>
                        <a:rPr lang="ko-KR" sz="1300" b="0" i="0">
                          <a:solidFill>
                            <a:srgbClr val="3A3A3A"/>
                          </a:solidFill>
                          <a:latin typeface="맑은 고딕"/>
                          <a:ea typeface="맑은 고딕"/>
                          <a:cs typeface="맑은 고딕"/>
                        </a:rPr>
                        <m:t>24 steps/env = 98,304 transitions/iteration</m:t>
                      </m:r>
                    </m:oMath>
                  </m:oMathPara>
                </a14:m>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8247888" y="5076748"/>
                <a:ext cx="3218688" cy="463966"/>
              </a:xfrm>
              <a:prstGeom prst="rect">
                <a:avLst/>
              </a:prstGeom>
              <a:blipFill>
                <a:blip r:embed="rId4"/>
                <a:stretch>
                  <a:fillRect l="-2273" r="-1326"/>
                </a:stretch>
              </a:blipFill>
            </p:spPr>
            <p:txBody>
              <a:bodyPr/>
              <a:lstStyle/>
              <a:p>
                <a:r>
                  <a:rPr lang="ko-KR" altLang="en-US">
                    <a:noFill/>
                  </a:rPr>
                  <a:t> </a:t>
                </a:r>
              </a:p>
            </p:txBody>
          </p:sp>
        </mc:Fallback>
      </mc:AlternateContent>
      <p:sp>
        <p:nvSpPr>
          <p:cNvPr id="38"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a:solidFill>
                  <a:srgbClr val="3A3A3A"/>
                </a:solidFill>
                <a:latin typeface="맑은 고딕"/>
                <a:ea typeface="맑은 고딕"/>
                <a:cs typeface="맑은 고딕"/>
              </a:rPr>
              <a:t>Isaac Gym에서 4,096개 A1 환경을 병렬 실행하고, 정책은 0.02초마다 목표 관절각을 출력한다.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dirty="0">
                <a:solidFill>
                  <a:srgbClr val="111111"/>
                </a:solidFill>
                <a:latin typeface="맑은 고딕"/>
                <a:ea typeface="맑은 고딕"/>
                <a:cs typeface="맑은 고딕"/>
              </a:rPr>
              <a:t>09 | </a:t>
            </a:r>
            <a:r>
              <a:rPr sz="2800" b="1" dirty="0" err="1">
                <a:solidFill>
                  <a:srgbClr val="111111"/>
                </a:solidFill>
                <a:latin typeface="맑은 고딕"/>
                <a:ea typeface="맑은 고딕"/>
                <a:cs typeface="맑은 고딕"/>
              </a:rPr>
              <a:t>제어</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문제의</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정식화</a:t>
            </a:r>
            <a:r>
              <a:rPr sz="800" b="0" baseline="30000" dirty="0">
                <a:solidFill>
                  <a:srgbClr val="686868"/>
                </a:solidFill>
                <a:latin typeface="맑은 고딕"/>
                <a:ea typeface="맑은 고딕"/>
                <a:cs typeface="맑은 고딕"/>
              </a:rPr>
              <a:t>  1) </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01 제어 문제 · MDP / 관측·행동 / 고장 전이 / 보상</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360566"/>
            <a:ext cx="9902952" cy="126188"/>
          </a:xfrm>
          <a:prstGeom prst="rect">
            <a:avLst/>
          </a:prstGeom>
          <a:noFill/>
        </p:spPr>
        <p:txBody>
          <a:bodyPr wrap="square" lIns="9144" tIns="9144" rIns="9144" bIns="9144" anchor="ctr">
            <a:spAutoFit/>
          </a:bodyPr>
          <a:lstStyle/>
          <a:p>
            <a:pPr algn="l">
              <a:spcAft>
                <a:spcPts val="0"/>
              </a:spcAft>
            </a:pPr>
            <a:r>
              <a:rPr sz="700" b="0" dirty="0">
                <a:solidFill>
                  <a:srgbClr val="686868"/>
                </a:solidFill>
                <a:latin typeface="맑은 고딕"/>
                <a:ea typeface="맑은 고딕"/>
                <a:cs typeface="맑은 고딕"/>
              </a:rPr>
              <a:t>1) ADAPT §3.1: MDP definition; project environment/schema</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09 / 43</a:t>
            </a:r>
          </a:p>
        </p:txBody>
      </p:sp>
      <p:sp>
        <p:nvSpPr>
          <p:cNvPr id="8"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spcAft>
                <a:spcPts val="0"/>
              </a:spcAft>
            </a:pPr>
            <a:r>
              <a:rPr sz="1300" b="0" dirty="0" err="1">
                <a:solidFill>
                  <a:srgbClr val="3A3A3A"/>
                </a:solidFill>
                <a:latin typeface="맑은 고딕"/>
                <a:ea typeface="맑은 고딕"/>
                <a:cs typeface="맑은 고딕"/>
              </a:rPr>
              <a:t>출력</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저하가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발생해도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명령</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속도를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추종하도록</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누적</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보상을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최대화한다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고장</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변수를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직접</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모르는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정책의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제어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문제다</a:t>
            </a:r>
            <a:r>
              <a:rPr sz="1300" b="0" dirty="0">
                <a:solidFill>
                  <a:srgbClr val="3A3A3A"/>
                </a:solidFill>
                <a:latin typeface="맑은 고딕"/>
                <a:ea typeface="맑은 고딕"/>
                <a:cs typeface="맑은 고딕"/>
              </a:rPr>
              <a:t>.</a:t>
            </a:r>
          </a:p>
        </p:txBody>
      </p:sp>
      <mc:AlternateContent xmlns:mc="http://schemas.openxmlformats.org/markup-compatibility/2006" xmlns:a14="http://schemas.microsoft.com/office/drawing/2010/main">
        <mc:Choice Requires="a14">
          <p:sp>
            <p:nvSpPr>
              <p:cNvPr id="9" name="v10-math-0"/>
              <p:cNvSpPr txBox="1"/>
              <p:nvPr/>
            </p:nvSpPr>
            <p:spPr>
              <a:xfrm>
                <a:off x="731520" y="1819656"/>
                <a:ext cx="5166360" cy="530352"/>
              </a:xfrm>
              <a:prstGeom prst="rect">
                <a:avLst/>
              </a:prstGeom>
              <a:noFill/>
            </p:spPr>
            <p:txBody>
              <a:bodyPr wrap="none" lIns="27432" tIns="27432" rIns="27432" bIns="27432" anchor="ctr">
                <a:spAutoFit/>
              </a:bodyPr>
              <a:lstStyle/>
              <a:p>
                <a:pPr algn="ctr"/>
                <a14:m>
                  <m:oMathPara xmlns:m="http://schemas.openxmlformats.org/officeDocument/2006/math">
                    <m:oMath>
                      <m:r>
                        <a:rPr lang="ko-KR" sz="1700" b="0">
                          <a:solidFill>
                            <a:srgbClr val="222222"/>
                          </a:solidFill>
                          <a:latin typeface="Cambria Math" panose="02040503050406030204" pitchFamily="18" charset="0"/>
                          <a:ea typeface="맑은 고딕"/>
                          <a:cs typeface="맑은 고딕"/>
                        </a:rPr>
                        <m:t>𝑀</m:t>
                      </m:r>
                      <m:r>
                        <a:rPr lang="ko-KR" sz="1700" b="0">
                          <a:solidFill>
                            <a:srgbClr val="222222"/>
                          </a:solidFill>
                          <a:latin typeface="Cambria Math" panose="02040503050406030204" pitchFamily="18" charset="0"/>
                          <a:ea typeface="맑은 고딕"/>
                          <a:cs typeface="맑은 고딕"/>
                        </a:rPr>
                        <m:t> = (</m:t>
                      </m:r>
                      <m:r>
                        <a:rPr lang="ko-KR" sz="1700" b="0">
                          <a:solidFill>
                            <a:srgbClr val="222222"/>
                          </a:solidFill>
                          <a:latin typeface="Cambria Math" panose="02040503050406030204" pitchFamily="18" charset="0"/>
                          <a:ea typeface="맑은 고딕"/>
                          <a:cs typeface="맑은 고딕"/>
                        </a:rPr>
                        <m:t>𝑆</m:t>
                      </m:r>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𝐴</m:t>
                      </m:r>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𝑃</m:t>
                      </m:r>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𝑅</m:t>
                      </m:r>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𝛾</m:t>
                      </m:r>
                      <m:r>
                        <a:rPr lang="ko-KR" sz="1700" b="0">
                          <a:solidFill>
                            <a:srgbClr val="222222"/>
                          </a:solidFill>
                          <a:latin typeface="Cambria Math" panose="02040503050406030204" pitchFamily="18" charset="0"/>
                          <a:ea typeface="맑은 고딕"/>
                          <a:cs typeface="맑은 고딕"/>
                        </a:rPr>
                        <m:t>,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𝜌</m:t>
                          </m:r>
                        </m:e>
                        <m:sub>
                          <m:r>
                            <a:rPr lang="ko-KR" sz="1700" b="0">
                              <a:solidFill>
                                <a:srgbClr val="222222"/>
                              </a:solidFill>
                              <a:latin typeface="Cambria Math" panose="02040503050406030204" pitchFamily="18" charset="0"/>
                              <a:ea typeface="맑은 고딕"/>
                              <a:cs typeface="맑은 고딕"/>
                            </a:rPr>
                            <m:t>0</m:t>
                          </m:r>
                        </m:sub>
                      </m:sSub>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𝛾</m:t>
                      </m:r>
                      <m:r>
                        <a:rPr lang="ko-KR" sz="1700" b="0">
                          <a:solidFill>
                            <a:srgbClr val="222222"/>
                          </a:solidFill>
                          <a:latin typeface="Cambria Math" panose="02040503050406030204" pitchFamily="18" charset="0"/>
                          <a:ea typeface="맑은 고딕"/>
                          <a:cs typeface="맑은 고딕"/>
                        </a:rPr>
                        <m:t> = 0.99</m:t>
                      </m:r>
                    </m:oMath>
                  </m:oMathPara>
                </a14:m>
                <a:endParaRPr/>
              </a:p>
            </p:txBody>
          </p:sp>
        </mc:Choice>
        <mc:Fallback xmlns="">
          <p:sp>
            <p:nvSpPr>
              <p:cNvPr id="9" name="v10-math-0"/>
              <p:cNvSpPr txBox="1">
                <a:spLocks noRot="1" noChangeAspect="1" noMove="1" noResize="1" noEditPoints="1" noAdjustHandles="1" noChangeArrowheads="1" noChangeShapeType="1" noTextEdit="1"/>
              </p:cNvSpPr>
              <p:nvPr/>
            </p:nvSpPr>
            <p:spPr>
              <a:xfrm>
                <a:off x="731520" y="1819656"/>
                <a:ext cx="5166360" cy="530352"/>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v10-math-1"/>
              <p:cNvSpPr txBox="1"/>
              <p:nvPr/>
            </p:nvSpPr>
            <p:spPr>
              <a:xfrm>
                <a:off x="6172200" y="1810512"/>
                <a:ext cx="5120640" cy="594360"/>
              </a:xfrm>
              <a:prstGeom prst="rect">
                <a:avLst/>
              </a:prstGeom>
              <a:noFill/>
            </p:spPr>
            <p:txBody>
              <a:bodyPr wrap="none" lIns="27432" tIns="27432" rIns="27432" bIns="27432" anchor="ctr">
                <a:spAutoFit/>
              </a:bodyPr>
              <a:lstStyle/>
              <a:p>
                <a:pPr algn="ctr"/>
                <a14:m>
                  <m:oMathPara xmlns:m="http://schemas.openxmlformats.org/officeDocument/2006/math">
                    <m:oMath>
                      <m:sSup>
                        <m:sSupPr>
                          <m:ctrlPr>
                            <a:rPr lang="ko-KR" sz="1700" b="0">
                              <a:solidFill>
                                <a:srgbClr val="222222"/>
                              </a:solidFill>
                              <a:latin typeface="Cambria Math" panose="02040503050406030204" pitchFamily="18" charset="0"/>
                              <a:ea typeface="맑은 고딕"/>
                              <a:cs typeface="맑은 고딕"/>
                            </a:rPr>
                          </m:ctrlPr>
                        </m:sSupPr>
                        <m:e>
                          <m:r>
                            <a:rPr lang="ko-KR" sz="1700" b="0">
                              <a:solidFill>
                                <a:srgbClr val="222222"/>
                              </a:solidFill>
                              <a:latin typeface="Cambria Math" panose="02040503050406030204" pitchFamily="18" charset="0"/>
                              <a:ea typeface="맑은 고딕"/>
                              <a:cs typeface="맑은 고딕"/>
                            </a:rPr>
                            <m:t>𝜋</m:t>
                          </m:r>
                        </m:e>
                        <m:sup>
                          <m:r>
                            <a:rPr lang="ko-KR" sz="1700" b="0">
                              <a:solidFill>
                                <a:srgbClr val="222222"/>
                              </a:solidFill>
                              <a:latin typeface="Cambria Math" panose="02040503050406030204" pitchFamily="18" charset="0"/>
                              <a:ea typeface="맑은 고딕"/>
                              <a:cs typeface="맑은 고딕"/>
                            </a:rPr>
                            <m:t>∗</m:t>
                          </m:r>
                        </m:sup>
                      </m:sSup>
                      <m:r>
                        <a:rPr lang="ko-KR" sz="1700" b="0">
                          <a:solidFill>
                            <a:srgbClr val="222222"/>
                          </a:solidFill>
                          <a:latin typeface="Cambria Math" panose="02040503050406030204" pitchFamily="18" charset="0"/>
                          <a:ea typeface="맑은 고딕"/>
                          <a:cs typeface="맑은 고딕"/>
                        </a:rPr>
                        <m:t> = </m:t>
                      </m:r>
                      <m:r>
                        <a:rPr lang="ko-KR" sz="1700" b="0">
                          <a:solidFill>
                            <a:srgbClr val="222222"/>
                          </a:solidFill>
                          <a:latin typeface="Cambria Math" panose="02040503050406030204" pitchFamily="18" charset="0"/>
                          <a:ea typeface="맑은 고딕"/>
                          <a:cs typeface="맑은 고딕"/>
                        </a:rPr>
                        <m:t>𝑎𝑟𝑔</m:t>
                      </m:r>
                      <m:r>
                        <a:rPr lang="ko-KR" sz="1700" b="0">
                          <a:solidFill>
                            <a:srgbClr val="222222"/>
                          </a:solidFill>
                          <a:latin typeface="Cambria Math" panose="02040503050406030204" pitchFamily="18" charset="0"/>
                          <a:ea typeface="맑은 고딕"/>
                          <a:cs typeface="맑은 고딕"/>
                        </a:rPr>
                        <m:t>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𝑚𝑎𝑥</m:t>
                          </m:r>
                        </m:e>
                        <m:sub>
                          <m:r>
                            <a:rPr lang="ko-KR" sz="1700" b="0">
                              <a:solidFill>
                                <a:srgbClr val="222222"/>
                              </a:solidFill>
                              <a:latin typeface="Cambria Math" panose="02040503050406030204" pitchFamily="18" charset="0"/>
                              <a:ea typeface="맑은 고딕"/>
                              <a:cs typeface="맑은 고딕"/>
                            </a:rPr>
                            <m:t>𝜋</m:t>
                          </m:r>
                        </m:sub>
                      </m:sSub>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𝐸</m:t>
                      </m:r>
                      <m:r>
                        <a:rPr lang="ko-KR" sz="1700" b="0">
                          <a:solidFill>
                            <a:srgbClr val="222222"/>
                          </a:solidFill>
                          <a:latin typeface="Cambria Math" panose="02040503050406030204" pitchFamily="18" charset="0"/>
                          <a:ea typeface="맑은 고딕"/>
                          <a:cs typeface="맑은 고딕"/>
                        </a:rPr>
                        <m:t>[</m:t>
                      </m:r>
                      <m:nary>
                        <m:naryPr>
                          <m:chr m:val="∑"/>
                          <m:limLoc m:val="undOvr"/>
                          <m:ctrlPr>
                            <a:rPr lang="ko-KR" sz="1700" b="0">
                              <a:solidFill>
                                <a:srgbClr val="222222"/>
                              </a:solidFill>
                              <a:latin typeface="Cambria Math" panose="02040503050406030204" pitchFamily="18" charset="0"/>
                              <a:ea typeface="맑은 고딕"/>
                              <a:cs typeface="맑은 고딕"/>
                            </a:rPr>
                          </m:ctrlPr>
                        </m:naryPr>
                        <m:sub>
                          <m:r>
                            <a:rPr lang="ko-KR" sz="1700" b="0">
                              <a:solidFill>
                                <a:srgbClr val="222222"/>
                              </a:solidFill>
                              <a:latin typeface="Cambria Math" panose="02040503050406030204" pitchFamily="18" charset="0"/>
                              <a:ea typeface="맑은 고딕"/>
                              <a:cs typeface="맑은 고딕"/>
                            </a:rPr>
                            <m:t>𝑡</m:t>
                          </m:r>
                          <m:r>
                            <a:rPr lang="ko-KR" sz="1700" b="0">
                              <a:solidFill>
                                <a:srgbClr val="222222"/>
                              </a:solidFill>
                              <a:latin typeface="Cambria Math" panose="02040503050406030204" pitchFamily="18" charset="0"/>
                              <a:ea typeface="맑은 고딕"/>
                              <a:cs typeface="맑은 고딕"/>
                            </a:rPr>
                            <m:t>=0</m:t>
                          </m:r>
                        </m:sub>
                        <m:sup>
                          <m:r>
                            <a:rPr lang="ko-KR" sz="1700" b="0">
                              <a:solidFill>
                                <a:srgbClr val="222222"/>
                              </a:solidFill>
                              <a:latin typeface="Cambria Math" panose="02040503050406030204" pitchFamily="18" charset="0"/>
                              <a:ea typeface="맑은 고딕"/>
                              <a:cs typeface="맑은 고딕"/>
                            </a:rPr>
                            <m:t>𝑇</m:t>
                          </m:r>
                          <m:r>
                            <a:rPr lang="ko-KR" sz="1700" b="0">
                              <a:solidFill>
                                <a:srgbClr val="222222"/>
                              </a:solidFill>
                              <a:latin typeface="Cambria Math" panose="02040503050406030204" pitchFamily="18" charset="0"/>
                              <a:ea typeface="맑은 고딕"/>
                              <a:cs typeface="맑은 고딕"/>
                            </a:rPr>
                            <m:t>−1</m:t>
                          </m:r>
                        </m:sup>
                        <m:e>
                          <m:sSup>
                            <m:sSupPr>
                              <m:ctrlPr>
                                <a:rPr lang="ko-KR" sz="1700" b="0">
                                  <a:solidFill>
                                    <a:srgbClr val="222222"/>
                                  </a:solidFill>
                                  <a:latin typeface="Cambria Math" panose="02040503050406030204" pitchFamily="18" charset="0"/>
                                  <a:ea typeface="맑은 고딕"/>
                                  <a:cs typeface="맑은 고딕"/>
                                </a:rPr>
                              </m:ctrlPr>
                            </m:sSupPr>
                            <m:e>
                              <m:r>
                                <a:rPr lang="ko-KR" sz="1700" b="0">
                                  <a:solidFill>
                                    <a:srgbClr val="222222"/>
                                  </a:solidFill>
                                  <a:latin typeface="Cambria Math" panose="02040503050406030204" pitchFamily="18" charset="0"/>
                                  <a:ea typeface="맑은 고딕"/>
                                  <a:cs typeface="맑은 고딕"/>
                                </a:rPr>
                                <m:t>𝛾</m:t>
                              </m:r>
                            </m:e>
                            <m:sup>
                              <m:r>
                                <a:rPr lang="ko-KR" sz="1700" b="0">
                                  <a:solidFill>
                                    <a:srgbClr val="222222"/>
                                  </a:solidFill>
                                  <a:latin typeface="Cambria Math" panose="02040503050406030204" pitchFamily="18" charset="0"/>
                                  <a:ea typeface="맑은 고딕"/>
                                  <a:cs typeface="맑은 고딕"/>
                                </a:rPr>
                                <m:t>𝑡</m:t>
                              </m:r>
                            </m:sup>
                          </m:sSup>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𝑟</m:t>
                              </m:r>
                            </m:e>
                            <m:sub>
                              <m:r>
                                <a:rPr lang="ko-KR" sz="1700" b="0">
                                  <a:solidFill>
                                    <a:srgbClr val="222222"/>
                                  </a:solidFill>
                                  <a:latin typeface="Cambria Math" panose="02040503050406030204" pitchFamily="18" charset="0"/>
                                  <a:ea typeface="맑은 고딕"/>
                                  <a:cs typeface="맑은 고딕"/>
                                </a:rPr>
                                <m:t>𝑡</m:t>
                              </m:r>
                            </m:sub>
                          </m:sSub>
                        </m:e>
                      </m:nary>
                      <m:r>
                        <a:rPr lang="ko-KR" sz="1700" b="0">
                          <a:solidFill>
                            <a:srgbClr val="222222"/>
                          </a:solidFill>
                          <a:latin typeface="Cambria Math" panose="02040503050406030204" pitchFamily="18" charset="0"/>
                          <a:ea typeface="맑은 고딕"/>
                          <a:cs typeface="맑은 고딕"/>
                        </a:rPr>
                        <m:t>]</m:t>
                      </m:r>
                    </m:oMath>
                  </m:oMathPara>
                </a14:m>
                <a:endParaRPr/>
              </a:p>
            </p:txBody>
          </p:sp>
        </mc:Choice>
        <mc:Fallback xmlns="">
          <p:sp>
            <p:nvSpPr>
              <p:cNvPr id="10" name="v10-math-1"/>
              <p:cNvSpPr txBox="1">
                <a:spLocks noRot="1" noChangeAspect="1" noMove="1" noResize="1" noEditPoints="1" noAdjustHandles="1" noChangeArrowheads="1" noChangeShapeType="1" noTextEdit="1"/>
              </p:cNvSpPr>
              <p:nvPr/>
            </p:nvSpPr>
            <p:spPr>
              <a:xfrm>
                <a:off x="6172200" y="1810512"/>
                <a:ext cx="5120640" cy="594360"/>
              </a:xfrm>
              <a:prstGeom prst="rect">
                <a:avLst/>
              </a:prstGeom>
              <a:blipFill>
                <a:blip r:embed="rId4"/>
                <a:stretch>
                  <a:fillRect t="-7143" b="-10204"/>
                </a:stretch>
              </a:blipFill>
            </p:spPr>
            <p:txBody>
              <a:bodyPr/>
              <a:lstStyle/>
              <a:p>
                <a:r>
                  <a:rPr lang="ko-KR" altLang="en-US">
                    <a:noFill/>
                  </a:rPr>
                  <a:t> </a:t>
                </a:r>
              </a:p>
            </p:txBody>
          </p:sp>
        </mc:Fallback>
      </mc:AlternateContent>
      <p:sp>
        <p:nvSpPr>
          <p:cNvPr id="11" name="Rectangle 10"/>
          <p:cNvSpPr/>
          <p:nvPr/>
        </p:nvSpPr>
        <p:spPr>
          <a:xfrm>
            <a:off x="640080" y="2606040"/>
            <a:ext cx="1828800" cy="44805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1" y="2642616"/>
            <a:ext cx="1682496" cy="374904"/>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요소</a:t>
            </a:r>
          </a:p>
        </p:txBody>
      </p:sp>
      <p:sp>
        <p:nvSpPr>
          <p:cNvPr id="13" name="Rectangle 12"/>
          <p:cNvSpPr/>
          <p:nvPr/>
        </p:nvSpPr>
        <p:spPr>
          <a:xfrm>
            <a:off x="2468880" y="2606040"/>
            <a:ext cx="3749039" cy="44805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42032" y="2642616"/>
            <a:ext cx="3602735" cy="374904"/>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역할</a:t>
            </a:r>
          </a:p>
        </p:txBody>
      </p:sp>
      <p:sp>
        <p:nvSpPr>
          <p:cNvPr id="15" name="Rectangle 14"/>
          <p:cNvSpPr/>
          <p:nvPr/>
        </p:nvSpPr>
        <p:spPr>
          <a:xfrm>
            <a:off x="6217920" y="2606040"/>
            <a:ext cx="5394960" cy="44805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2" y="2642616"/>
            <a:ext cx="5248656" cy="374904"/>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구체화</a:t>
            </a:r>
          </a:p>
        </p:txBody>
      </p:sp>
      <p:sp>
        <p:nvSpPr>
          <p:cNvPr id="17" name="Rectangle 16"/>
          <p:cNvSpPr/>
          <p:nvPr/>
        </p:nvSpPr>
        <p:spPr>
          <a:xfrm>
            <a:off x="640080" y="3054096"/>
            <a:ext cx="1828800"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1" y="3090672"/>
            <a:ext cx="1682496" cy="37490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상태 / 관측</a:t>
            </a:r>
          </a:p>
        </p:txBody>
      </p:sp>
      <p:sp>
        <p:nvSpPr>
          <p:cNvPr id="19" name="Rectangle 18"/>
          <p:cNvSpPr/>
          <p:nvPr/>
        </p:nvSpPr>
        <p:spPr>
          <a:xfrm>
            <a:off x="2468880" y="3054096"/>
            <a:ext cx="3749039"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42032" y="3090672"/>
            <a:ext cx="3602735"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환경의 전체 상태와 정책이 받는 정보를 구분</a:t>
            </a:r>
          </a:p>
        </p:txBody>
      </p:sp>
      <p:sp>
        <p:nvSpPr>
          <p:cNvPr id="21" name="Rectangle 20"/>
          <p:cNvSpPr/>
          <p:nvPr/>
        </p:nvSpPr>
        <p:spPr>
          <a:xfrm>
            <a:off x="6217920" y="3054096"/>
            <a:ext cx="5394960"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1072" y="3090672"/>
            <a:ext cx="5248656"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로봇·접촉·지형·물리계수·명령·고장 및 이력 / 부분 관측</a:t>
            </a:r>
          </a:p>
        </p:txBody>
      </p:sp>
      <p:sp>
        <p:nvSpPr>
          <p:cNvPr id="23" name="Rectangle 22"/>
          <p:cNvSpPr/>
          <p:nvPr/>
        </p:nvSpPr>
        <p:spPr>
          <a:xfrm>
            <a:off x="640080" y="3502152"/>
            <a:ext cx="1828800" cy="44805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1" y="3538728"/>
            <a:ext cx="1682496" cy="37490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행동</a:t>
            </a:r>
          </a:p>
        </p:txBody>
      </p:sp>
      <p:sp>
        <p:nvSpPr>
          <p:cNvPr id="25" name="Rectangle 24"/>
          <p:cNvSpPr/>
          <p:nvPr/>
        </p:nvSpPr>
        <p:spPr>
          <a:xfrm>
            <a:off x="2468880" y="3502152"/>
            <a:ext cx="3749039" cy="44805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42032" y="3538728"/>
            <a:ext cx="3602735"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현재 관측과 이력에 따라 제어 입력 결정</a:t>
            </a:r>
          </a:p>
        </p:txBody>
      </p:sp>
      <p:sp>
        <p:nvSpPr>
          <p:cNvPr id="27" name="Rectangle 26"/>
          <p:cNvSpPr/>
          <p:nvPr/>
        </p:nvSpPr>
        <p:spPr>
          <a:xfrm>
            <a:off x="6217920" y="3502152"/>
            <a:ext cx="5394960" cy="44805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91072" y="3626152"/>
            <a:ext cx="5248656" cy="200055"/>
          </a:xfrm>
          <a:prstGeom prst="rect">
            <a:avLst/>
          </a:prstGeom>
          <a:noFill/>
        </p:spPr>
        <p:txBody>
          <a:bodyPr wrap="square" lIns="9144" tIns="9144" rIns="9144" bIns="9144" anchor="ctr">
            <a:spAutoFit/>
          </a:bodyPr>
          <a:lstStyle/>
          <a:p>
            <a:pPr algn="ctr">
              <a:spcAft>
                <a:spcPts val="0"/>
              </a:spcAft>
            </a:pPr>
            <a:r>
              <a:rPr sz="1180" b="0" dirty="0" err="1">
                <a:solidFill>
                  <a:srgbClr val="3A3A3A"/>
                </a:solidFill>
                <a:latin typeface="맑은 고딕"/>
                <a:ea typeface="맑은 고딕"/>
                <a:cs typeface="맑은 고딕"/>
              </a:rPr>
              <a:t>관측</a:t>
            </a:r>
            <a:r>
              <a:rPr sz="1180" b="0" dirty="0">
                <a:solidFill>
                  <a:srgbClr val="3A3A3A"/>
                </a:solidFill>
                <a:latin typeface="맑은 고딕"/>
                <a:ea typeface="맑은 고딕"/>
                <a:cs typeface="맑은 고딕"/>
              </a:rPr>
              <a:t> </a:t>
            </a:r>
            <a:r>
              <a:rPr sz="1180" b="0" dirty="0" err="1">
                <a:solidFill>
                  <a:srgbClr val="3A3A3A"/>
                </a:solidFill>
                <a:latin typeface="맑은 고딕"/>
                <a:ea typeface="맑은 고딕"/>
                <a:cs typeface="맑은 고딕"/>
              </a:rPr>
              <a:t>차원·단위·관절각</a:t>
            </a:r>
            <a:r>
              <a:rPr sz="1180" b="0" dirty="0">
                <a:solidFill>
                  <a:srgbClr val="3A3A3A"/>
                </a:solidFill>
                <a:latin typeface="맑은 고딕"/>
                <a:ea typeface="맑은 고딕"/>
                <a:cs typeface="맑은 고딕"/>
              </a:rPr>
              <a:t> </a:t>
            </a:r>
            <a:r>
              <a:rPr sz="1180" b="0" dirty="0" err="1">
                <a:solidFill>
                  <a:srgbClr val="3A3A3A"/>
                </a:solidFill>
                <a:latin typeface="맑은 고딕"/>
                <a:ea typeface="맑은 고딕"/>
                <a:cs typeface="맑은 고딕"/>
              </a:rPr>
              <a:t>보정량</a:t>
            </a:r>
            <a:endParaRPr sz="1180" b="0" dirty="0">
              <a:solidFill>
                <a:srgbClr val="3A3A3A"/>
              </a:solidFill>
              <a:latin typeface="맑은 고딕"/>
              <a:ea typeface="맑은 고딕"/>
              <a:cs typeface="맑은 고딕"/>
            </a:endParaRPr>
          </a:p>
        </p:txBody>
      </p:sp>
      <p:sp>
        <p:nvSpPr>
          <p:cNvPr id="29" name="Rectangle 28"/>
          <p:cNvSpPr/>
          <p:nvPr/>
        </p:nvSpPr>
        <p:spPr>
          <a:xfrm>
            <a:off x="640080" y="3950208"/>
            <a:ext cx="1828800"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3986784"/>
            <a:ext cx="1682496" cy="37490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전이</a:t>
            </a:r>
          </a:p>
        </p:txBody>
      </p:sp>
      <p:sp>
        <p:nvSpPr>
          <p:cNvPr id="31" name="Rectangle 30"/>
          <p:cNvSpPr/>
          <p:nvPr/>
        </p:nvSpPr>
        <p:spPr>
          <a:xfrm>
            <a:off x="2468880" y="3950208"/>
            <a:ext cx="3749039"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42032" y="3986784"/>
            <a:ext cx="3602735"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행동 이후 로봇과 접촉 상태가 변화</a:t>
            </a:r>
          </a:p>
        </p:txBody>
      </p:sp>
      <p:sp>
        <p:nvSpPr>
          <p:cNvPr id="33" name="Rectangle 32"/>
          <p:cNvSpPr/>
          <p:nvPr/>
        </p:nvSpPr>
        <p:spPr>
          <a:xfrm>
            <a:off x="6217920" y="3950208"/>
            <a:ext cx="5394960"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91072" y="4074208"/>
            <a:ext cx="5248656" cy="200055"/>
          </a:xfrm>
          <a:prstGeom prst="rect">
            <a:avLst/>
          </a:prstGeom>
          <a:noFill/>
        </p:spPr>
        <p:txBody>
          <a:bodyPr wrap="square" lIns="9144" tIns="9144" rIns="9144" bIns="9144" anchor="ctr">
            <a:spAutoFit/>
          </a:bodyPr>
          <a:lstStyle/>
          <a:p>
            <a:pPr algn="ctr">
              <a:spcAft>
                <a:spcPts val="0"/>
              </a:spcAft>
            </a:pPr>
            <a:r>
              <a:rPr sz="1180" b="0" dirty="0">
                <a:solidFill>
                  <a:srgbClr val="3A3A3A"/>
                </a:solidFill>
                <a:latin typeface="맑은 고딕"/>
                <a:ea typeface="맑은 고딕"/>
                <a:cs typeface="맑은 고딕"/>
              </a:rPr>
              <a:t>PD </a:t>
            </a:r>
            <a:r>
              <a:rPr sz="1180" b="0" dirty="0" err="1">
                <a:solidFill>
                  <a:srgbClr val="3A3A3A"/>
                </a:solidFill>
                <a:latin typeface="맑은 고딕"/>
                <a:ea typeface="맑은 고딕"/>
                <a:cs typeface="맑은 고딕"/>
              </a:rPr>
              <a:t>제어</a:t>
            </a:r>
            <a:r>
              <a:rPr sz="1180" b="0" dirty="0">
                <a:solidFill>
                  <a:srgbClr val="3A3A3A"/>
                </a:solidFill>
                <a:latin typeface="맑은 고딕"/>
                <a:ea typeface="맑은 고딕"/>
                <a:cs typeface="맑은 고딕"/>
              </a:rPr>
              <a:t> + </a:t>
            </a:r>
            <a:r>
              <a:rPr sz="1180" b="0" dirty="0" err="1">
                <a:solidFill>
                  <a:srgbClr val="3A3A3A"/>
                </a:solidFill>
                <a:latin typeface="맑은 고딕"/>
                <a:ea typeface="맑은 고딕"/>
                <a:cs typeface="맑은 고딕"/>
              </a:rPr>
              <a:t>출력</a:t>
            </a:r>
            <a:r>
              <a:rPr sz="1180" b="0" dirty="0">
                <a:solidFill>
                  <a:srgbClr val="3A3A3A"/>
                </a:solidFill>
                <a:latin typeface="맑은 고딕"/>
                <a:ea typeface="맑은 고딕"/>
                <a:cs typeface="맑은 고딕"/>
              </a:rPr>
              <a:t> </a:t>
            </a:r>
            <a:r>
              <a:rPr sz="1180" b="0" dirty="0" err="1">
                <a:solidFill>
                  <a:srgbClr val="3A3A3A"/>
                </a:solidFill>
                <a:latin typeface="맑은 고딕"/>
                <a:ea typeface="맑은 고딕"/>
                <a:cs typeface="맑은 고딕"/>
              </a:rPr>
              <a:t>저하</a:t>
            </a:r>
            <a:r>
              <a:rPr sz="1180" b="0" dirty="0">
                <a:solidFill>
                  <a:srgbClr val="3A3A3A"/>
                </a:solidFill>
                <a:latin typeface="맑은 고딕"/>
                <a:ea typeface="맑은 고딕"/>
                <a:cs typeface="맑은 고딕"/>
              </a:rPr>
              <a:t> + Isaac Gym </a:t>
            </a:r>
            <a:r>
              <a:rPr sz="1180" b="0" dirty="0" err="1">
                <a:solidFill>
                  <a:srgbClr val="3A3A3A"/>
                </a:solidFill>
                <a:latin typeface="맑은 고딕"/>
                <a:ea typeface="맑은 고딕"/>
                <a:cs typeface="맑은 고딕"/>
              </a:rPr>
              <a:t>물리</a:t>
            </a:r>
            <a:endParaRPr sz="1180" b="0" dirty="0">
              <a:solidFill>
                <a:srgbClr val="3A3A3A"/>
              </a:solidFill>
              <a:latin typeface="맑은 고딕"/>
              <a:ea typeface="맑은 고딕"/>
              <a:cs typeface="맑은 고딕"/>
            </a:endParaRPr>
          </a:p>
        </p:txBody>
      </p:sp>
      <p:sp>
        <p:nvSpPr>
          <p:cNvPr id="35" name="Rectangle 34"/>
          <p:cNvSpPr/>
          <p:nvPr/>
        </p:nvSpPr>
        <p:spPr>
          <a:xfrm>
            <a:off x="640080" y="4398264"/>
            <a:ext cx="1828800" cy="44805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1" y="4434840"/>
            <a:ext cx="1682496" cy="37490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보상</a:t>
            </a:r>
          </a:p>
        </p:txBody>
      </p:sp>
      <p:sp>
        <p:nvSpPr>
          <p:cNvPr id="37" name="Rectangle 36"/>
          <p:cNvSpPr/>
          <p:nvPr/>
        </p:nvSpPr>
        <p:spPr>
          <a:xfrm>
            <a:off x="2468880" y="4398264"/>
            <a:ext cx="3749039" cy="44805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42032" y="4434840"/>
            <a:ext cx="3602735"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추종·안정성·제어 비용을 하나의 값으로 합산</a:t>
            </a:r>
          </a:p>
        </p:txBody>
      </p:sp>
      <p:sp>
        <p:nvSpPr>
          <p:cNvPr id="39" name="Rectangle 38"/>
          <p:cNvSpPr/>
          <p:nvPr/>
        </p:nvSpPr>
        <p:spPr>
          <a:xfrm>
            <a:off x="6217920" y="4398264"/>
            <a:ext cx="5394960" cy="44805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91072" y="4522264"/>
            <a:ext cx="5248656" cy="200055"/>
          </a:xfrm>
          <a:prstGeom prst="rect">
            <a:avLst/>
          </a:prstGeom>
          <a:noFill/>
        </p:spPr>
        <p:txBody>
          <a:bodyPr wrap="square" lIns="9144" tIns="9144" rIns="9144" bIns="9144" anchor="ctr">
            <a:spAutoFit/>
          </a:bodyPr>
          <a:lstStyle/>
          <a:p>
            <a:pPr algn="ctr">
              <a:spcAft>
                <a:spcPts val="0"/>
              </a:spcAft>
            </a:pPr>
            <a:r>
              <a:rPr sz="1180" b="0" dirty="0" err="1">
                <a:solidFill>
                  <a:srgbClr val="3A3A3A"/>
                </a:solidFill>
                <a:latin typeface="맑은 고딕"/>
                <a:ea typeface="맑은 고딕"/>
                <a:cs typeface="맑은 고딕"/>
              </a:rPr>
              <a:t>활성</a:t>
            </a:r>
            <a:r>
              <a:rPr sz="1180" b="0" dirty="0">
                <a:solidFill>
                  <a:srgbClr val="3A3A3A"/>
                </a:solidFill>
                <a:latin typeface="맑은 고딕"/>
                <a:ea typeface="맑은 고딕"/>
                <a:cs typeface="맑은 고딕"/>
              </a:rPr>
              <a:t> 10개 </a:t>
            </a:r>
            <a:r>
              <a:rPr sz="1180" b="0" dirty="0" err="1">
                <a:solidFill>
                  <a:srgbClr val="3A3A3A"/>
                </a:solidFill>
                <a:latin typeface="맑은 고딕"/>
                <a:ea typeface="맑은 고딕"/>
                <a:cs typeface="맑은 고딕"/>
              </a:rPr>
              <a:t>항·계수·추종</a:t>
            </a:r>
            <a:r>
              <a:rPr sz="1180" b="0" dirty="0">
                <a:solidFill>
                  <a:srgbClr val="3A3A3A"/>
                </a:solidFill>
                <a:latin typeface="맑은 고딕"/>
                <a:ea typeface="맑은 고딕"/>
                <a:cs typeface="맑은 고딕"/>
              </a:rPr>
              <a:t> </a:t>
            </a:r>
            <a:r>
              <a:rPr sz="1180" b="0" dirty="0" err="1">
                <a:solidFill>
                  <a:srgbClr val="3A3A3A"/>
                </a:solidFill>
                <a:latin typeface="맑은 고딕"/>
                <a:ea typeface="맑은 고딕"/>
                <a:cs typeface="맑은 고딕"/>
              </a:rPr>
              <a:t>함수</a:t>
            </a:r>
            <a:endParaRPr sz="1180" b="0" dirty="0">
              <a:solidFill>
                <a:srgbClr val="3A3A3A"/>
              </a:solidFill>
              <a:latin typeface="맑은 고딕"/>
              <a:ea typeface="맑은 고딕"/>
              <a:cs typeface="맑은 고딕"/>
            </a:endParaRPr>
          </a:p>
        </p:txBody>
      </p:sp>
      <p:sp>
        <p:nvSpPr>
          <p:cNvPr id="41" name="Rectangle 40"/>
          <p:cNvSpPr/>
          <p:nvPr/>
        </p:nvSpPr>
        <p:spPr>
          <a:xfrm>
            <a:off x="640080" y="4846320"/>
            <a:ext cx="1828800"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1" y="4882896"/>
            <a:ext cx="1682496" cy="37490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초기화 / 종료</a:t>
            </a:r>
          </a:p>
        </p:txBody>
      </p:sp>
      <p:sp>
        <p:nvSpPr>
          <p:cNvPr id="43" name="Rectangle 42"/>
          <p:cNvSpPr/>
          <p:nvPr/>
        </p:nvSpPr>
        <p:spPr>
          <a:xfrm>
            <a:off x="2468880" y="4846320"/>
            <a:ext cx="3749039"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42032" y="4882896"/>
            <a:ext cx="3602735"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조건을 바꾸어 학습하고 episode를 구분</a:t>
            </a:r>
          </a:p>
        </p:txBody>
      </p:sp>
      <p:sp>
        <p:nvSpPr>
          <p:cNvPr id="45" name="Rectangle 44"/>
          <p:cNvSpPr/>
          <p:nvPr/>
        </p:nvSpPr>
        <p:spPr>
          <a:xfrm>
            <a:off x="6217920" y="4846320"/>
            <a:ext cx="5394960" cy="44805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291072" y="4882896"/>
            <a:ext cx="5248656" cy="37490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지형·물리조건 무작위화 / 몸체 접촉·시간 제한</a:t>
            </a:r>
          </a:p>
        </p:txBody>
      </p:sp>
      <mc:AlternateContent xmlns:mc="http://schemas.openxmlformats.org/markup-compatibility/2006" xmlns:a14="http://schemas.microsoft.com/office/drawing/2010/main">
        <mc:Choice Requires="a14">
          <p:sp>
            <p:nvSpPr>
              <p:cNvPr id="47" name="v10-math-2"/>
              <p:cNvSpPr txBox="1"/>
              <p:nvPr/>
            </p:nvSpPr>
            <p:spPr>
              <a:xfrm>
                <a:off x="1097280" y="5486400"/>
                <a:ext cx="9875520" cy="475488"/>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600" b="0">
                              <a:solidFill>
                                <a:srgbClr val="222222"/>
                              </a:solidFill>
                              <a:latin typeface="Cambria Math" panose="02040503050406030204" pitchFamily="18" charset="0"/>
                              <a:ea typeface="맑은 고딕"/>
                              <a:cs typeface="맑은 고딕"/>
                            </a:rPr>
                          </m:ctrlPr>
                        </m:sSubPr>
                        <m:e>
                          <m:r>
                            <a:rPr lang="ko-KR" sz="1600" b="0">
                              <a:solidFill>
                                <a:srgbClr val="222222"/>
                              </a:solidFill>
                              <a:latin typeface="Cambria Math" panose="02040503050406030204" pitchFamily="18" charset="0"/>
                              <a:ea typeface="맑은 고딕"/>
                              <a:cs typeface="맑은 고딕"/>
                            </a:rPr>
                            <m:t>𝑠</m:t>
                          </m:r>
                        </m:e>
                        <m:sub>
                          <m:r>
                            <a:rPr lang="ko-KR" sz="1600" b="0">
                              <a:solidFill>
                                <a:srgbClr val="222222"/>
                              </a:solidFill>
                              <a:latin typeface="Cambria Math" panose="02040503050406030204" pitchFamily="18" charset="0"/>
                              <a:ea typeface="맑은 고딕"/>
                              <a:cs typeface="맑은 고딕"/>
                            </a:rPr>
                            <m:t>𝑡</m:t>
                          </m:r>
                          <m:r>
                            <a:rPr lang="ko-KR" sz="1600" b="0">
                              <a:solidFill>
                                <a:srgbClr val="222222"/>
                              </a:solidFill>
                              <a:latin typeface="Cambria Math" panose="02040503050406030204" pitchFamily="18" charset="0"/>
                              <a:ea typeface="맑은 고딕"/>
                              <a:cs typeface="맑은 고딕"/>
                            </a:rPr>
                            <m:t>+1</m:t>
                          </m:r>
                        </m:sub>
                      </m:sSub>
                      <m:r>
                        <a:rPr lang="ko-KR" sz="1600" b="0">
                          <a:solidFill>
                            <a:srgbClr val="222222"/>
                          </a:solidFill>
                          <a:latin typeface="Cambria Math" panose="02040503050406030204" pitchFamily="18" charset="0"/>
                          <a:ea typeface="맑은 고딕"/>
                          <a:cs typeface="맑은 고딕"/>
                        </a:rPr>
                        <m:t> ∼ </m:t>
                      </m:r>
                      <m:r>
                        <a:rPr lang="ko-KR" sz="1600" b="0">
                          <a:solidFill>
                            <a:srgbClr val="222222"/>
                          </a:solidFill>
                          <a:latin typeface="Cambria Math" panose="02040503050406030204" pitchFamily="18" charset="0"/>
                          <a:ea typeface="맑은 고딕"/>
                          <a:cs typeface="맑은 고딕"/>
                        </a:rPr>
                        <m:t>𝑃</m:t>
                      </m:r>
                      <m:r>
                        <a:rPr lang="ko-KR" sz="1600" b="0">
                          <a:solidFill>
                            <a:srgbClr val="222222"/>
                          </a:solidFill>
                          <a:latin typeface="Cambria Math" panose="02040503050406030204" pitchFamily="18" charset="0"/>
                          <a:ea typeface="맑은 고딕"/>
                          <a:cs typeface="맑은 고딕"/>
                        </a:rPr>
                        <m:t>(· | </m:t>
                      </m:r>
                      <m:sSub>
                        <m:sSubPr>
                          <m:ctrlPr>
                            <a:rPr lang="ko-KR" sz="1600" b="0">
                              <a:solidFill>
                                <a:srgbClr val="222222"/>
                              </a:solidFill>
                              <a:latin typeface="Cambria Math" panose="02040503050406030204" pitchFamily="18" charset="0"/>
                              <a:ea typeface="맑은 고딕"/>
                              <a:cs typeface="맑은 고딕"/>
                            </a:rPr>
                          </m:ctrlPr>
                        </m:sSubPr>
                        <m:e>
                          <m:r>
                            <a:rPr lang="ko-KR" sz="1600" b="0">
                              <a:solidFill>
                                <a:srgbClr val="222222"/>
                              </a:solidFill>
                              <a:latin typeface="Cambria Math" panose="02040503050406030204" pitchFamily="18" charset="0"/>
                              <a:ea typeface="맑은 고딕"/>
                              <a:cs typeface="맑은 고딕"/>
                            </a:rPr>
                            <m:t>𝑠</m:t>
                          </m:r>
                        </m:e>
                        <m:sub>
                          <m:r>
                            <a:rPr lang="ko-KR" sz="1600" b="0">
                              <a:solidFill>
                                <a:srgbClr val="222222"/>
                              </a:solidFill>
                              <a:latin typeface="Cambria Math" panose="02040503050406030204" pitchFamily="18" charset="0"/>
                              <a:ea typeface="맑은 고딕"/>
                              <a:cs typeface="맑은 고딕"/>
                            </a:rPr>
                            <m:t>𝑡</m:t>
                          </m:r>
                        </m:sub>
                      </m:sSub>
                      <m:r>
                        <a:rPr lang="ko-KR" sz="1600" b="0">
                          <a:solidFill>
                            <a:srgbClr val="222222"/>
                          </a:solidFill>
                          <a:latin typeface="Cambria Math" panose="02040503050406030204" pitchFamily="18" charset="0"/>
                          <a:ea typeface="맑은 고딕"/>
                          <a:cs typeface="맑은 고딕"/>
                        </a:rPr>
                        <m:t>, </m:t>
                      </m:r>
                      <m:sSub>
                        <m:sSubPr>
                          <m:ctrlPr>
                            <a:rPr lang="ko-KR" sz="1600" b="0">
                              <a:solidFill>
                                <a:srgbClr val="222222"/>
                              </a:solidFill>
                              <a:latin typeface="Cambria Math" panose="02040503050406030204" pitchFamily="18" charset="0"/>
                              <a:ea typeface="맑은 고딕"/>
                              <a:cs typeface="맑은 고딕"/>
                            </a:rPr>
                          </m:ctrlPr>
                        </m:sSubPr>
                        <m:e>
                          <m:r>
                            <a:rPr lang="ko-KR" sz="1600" b="0">
                              <a:solidFill>
                                <a:srgbClr val="222222"/>
                              </a:solidFill>
                              <a:latin typeface="Cambria Math" panose="02040503050406030204" pitchFamily="18" charset="0"/>
                              <a:ea typeface="맑은 고딕"/>
                              <a:cs typeface="맑은 고딕"/>
                            </a:rPr>
                            <m:t>𝑎</m:t>
                          </m:r>
                        </m:e>
                        <m:sub>
                          <m:r>
                            <a:rPr lang="ko-KR" sz="1600" b="0">
                              <a:solidFill>
                                <a:srgbClr val="222222"/>
                              </a:solidFill>
                              <a:latin typeface="Cambria Math" panose="02040503050406030204" pitchFamily="18" charset="0"/>
                              <a:ea typeface="맑은 고딕"/>
                              <a:cs typeface="맑은 고딕"/>
                            </a:rPr>
                            <m:t>𝑡</m:t>
                          </m:r>
                        </m:sub>
                      </m:sSub>
                      <m:r>
                        <a:rPr lang="ko-KR" sz="1600" b="0">
                          <a:solidFill>
                            <a:srgbClr val="222222"/>
                          </a:solidFill>
                          <a:latin typeface="Cambria Math" panose="02040503050406030204" pitchFamily="18" charset="0"/>
                          <a:ea typeface="맑은 고딕"/>
                          <a:cs typeface="맑은 고딕"/>
                        </a:rPr>
                        <m:t>),   </m:t>
                      </m:r>
                      <m:sSub>
                        <m:sSubPr>
                          <m:ctrlPr>
                            <a:rPr lang="ko-KR" sz="1600" b="0">
                              <a:solidFill>
                                <a:srgbClr val="222222"/>
                              </a:solidFill>
                              <a:latin typeface="Cambria Math" panose="02040503050406030204" pitchFamily="18" charset="0"/>
                              <a:ea typeface="맑은 고딕"/>
                              <a:cs typeface="맑은 고딕"/>
                            </a:rPr>
                          </m:ctrlPr>
                        </m:sSubPr>
                        <m:e>
                          <m:r>
                            <a:rPr lang="ko-KR" sz="1600" b="0">
                              <a:solidFill>
                                <a:srgbClr val="222222"/>
                              </a:solidFill>
                              <a:latin typeface="Cambria Math" panose="02040503050406030204" pitchFamily="18" charset="0"/>
                              <a:ea typeface="맑은 고딕"/>
                              <a:cs typeface="맑은 고딕"/>
                            </a:rPr>
                            <m:t>𝑜</m:t>
                          </m:r>
                        </m:e>
                        <m:sub>
                          <m:r>
                            <a:rPr lang="ko-KR" sz="1600" b="0">
                              <a:solidFill>
                                <a:srgbClr val="222222"/>
                              </a:solidFill>
                              <a:latin typeface="Cambria Math" panose="02040503050406030204" pitchFamily="18" charset="0"/>
                              <a:ea typeface="맑은 고딕"/>
                              <a:cs typeface="맑은 고딕"/>
                            </a:rPr>
                            <m:t>𝑡</m:t>
                          </m:r>
                        </m:sub>
                      </m:sSub>
                      <m:r>
                        <a:rPr lang="ko-KR" sz="1600" b="0">
                          <a:solidFill>
                            <a:srgbClr val="222222"/>
                          </a:solidFill>
                          <a:latin typeface="Cambria Math" panose="02040503050406030204" pitchFamily="18" charset="0"/>
                          <a:ea typeface="맑은 고딕"/>
                          <a:cs typeface="맑은 고딕"/>
                        </a:rPr>
                        <m:t> ∼ </m:t>
                      </m:r>
                      <m:r>
                        <a:rPr lang="ko-KR" sz="1600" b="0">
                          <a:solidFill>
                            <a:srgbClr val="222222"/>
                          </a:solidFill>
                          <a:latin typeface="Cambria Math" panose="02040503050406030204" pitchFamily="18" charset="0"/>
                          <a:ea typeface="맑은 고딕"/>
                          <a:cs typeface="맑은 고딕"/>
                        </a:rPr>
                        <m:t>𝑂</m:t>
                      </m:r>
                      <m:r>
                        <a:rPr lang="ko-KR" sz="1600" b="0">
                          <a:solidFill>
                            <a:srgbClr val="222222"/>
                          </a:solidFill>
                          <a:latin typeface="Cambria Math" panose="02040503050406030204" pitchFamily="18" charset="0"/>
                          <a:ea typeface="맑은 고딕"/>
                          <a:cs typeface="맑은 고딕"/>
                        </a:rPr>
                        <m:t>(· | </m:t>
                      </m:r>
                      <m:sSub>
                        <m:sSubPr>
                          <m:ctrlPr>
                            <a:rPr lang="ko-KR" sz="1600" b="0">
                              <a:solidFill>
                                <a:srgbClr val="222222"/>
                              </a:solidFill>
                              <a:latin typeface="Cambria Math" panose="02040503050406030204" pitchFamily="18" charset="0"/>
                              <a:ea typeface="맑은 고딕"/>
                              <a:cs typeface="맑은 고딕"/>
                            </a:rPr>
                          </m:ctrlPr>
                        </m:sSubPr>
                        <m:e>
                          <m:r>
                            <a:rPr lang="ko-KR" sz="1600" b="0">
                              <a:solidFill>
                                <a:srgbClr val="222222"/>
                              </a:solidFill>
                              <a:latin typeface="Cambria Math" panose="02040503050406030204" pitchFamily="18" charset="0"/>
                              <a:ea typeface="맑은 고딕"/>
                              <a:cs typeface="맑은 고딕"/>
                            </a:rPr>
                            <m:t>𝑠</m:t>
                          </m:r>
                        </m:e>
                        <m:sub>
                          <m:r>
                            <a:rPr lang="ko-KR" sz="1600" b="0">
                              <a:solidFill>
                                <a:srgbClr val="222222"/>
                              </a:solidFill>
                              <a:latin typeface="Cambria Math" panose="02040503050406030204" pitchFamily="18" charset="0"/>
                              <a:ea typeface="맑은 고딕"/>
                              <a:cs typeface="맑은 고딕"/>
                            </a:rPr>
                            <m:t>𝑡</m:t>
                          </m:r>
                        </m:sub>
                      </m:sSub>
                      <m:r>
                        <a:rPr lang="ko-KR" sz="1600" b="0">
                          <a:solidFill>
                            <a:srgbClr val="222222"/>
                          </a:solidFill>
                          <a:latin typeface="Cambria Math" panose="02040503050406030204" pitchFamily="18" charset="0"/>
                          <a:ea typeface="맑은 고딕"/>
                          <a:cs typeface="맑은 고딕"/>
                        </a:rPr>
                        <m:t>)</m:t>
                      </m:r>
                    </m:oMath>
                  </m:oMathPara>
                </a14:m>
                <a:endParaRPr/>
              </a:p>
            </p:txBody>
          </p:sp>
        </mc:Choice>
        <mc:Fallback xmlns="">
          <p:sp>
            <p:nvSpPr>
              <p:cNvPr id="47" name="v10-math-2"/>
              <p:cNvSpPr txBox="1">
                <a:spLocks noRot="1" noChangeAspect="1" noMove="1" noResize="1" noEditPoints="1" noAdjustHandles="1" noChangeArrowheads="1" noChangeShapeType="1" noTextEdit="1"/>
              </p:cNvSpPr>
              <p:nvPr/>
            </p:nvSpPr>
            <p:spPr>
              <a:xfrm>
                <a:off x="1097280" y="5486400"/>
                <a:ext cx="9875520" cy="475488"/>
              </a:xfrm>
              <a:prstGeom prst="rect">
                <a:avLst/>
              </a:prstGeom>
              <a:blipFill>
                <a:blip r:embed="rId5"/>
                <a:stretch>
                  <a:fillRect/>
                </a:stretch>
              </a:blipFill>
            </p:spPr>
            <p:txBody>
              <a:bodyPr/>
              <a:lstStyle/>
              <a:p>
                <a:r>
                  <a:rPr lang="ko-KR"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10 | 관측 및 행동 공간</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01 제어 문제 · MDP / 관측·행동 / 고장 전이 / 보상</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Local code: a1_official_wim_teacher/schema.py; joint_schema.py.</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10 / 43</a:t>
            </a:r>
          </a:p>
        </p:txBody>
      </p:sp>
      <p:sp>
        <p:nvSpPr>
          <p:cNvPr id="8" name="Rectangle 7"/>
          <p:cNvSpPr/>
          <p:nvPr/>
        </p:nvSpPr>
        <p:spPr>
          <a:xfrm>
            <a:off x="566928" y="1821119"/>
            <a:ext cx="1938528" cy="495421"/>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9" name="TextBox 8"/>
          <p:cNvSpPr txBox="1"/>
          <p:nvPr/>
        </p:nvSpPr>
        <p:spPr>
          <a:xfrm>
            <a:off x="640080" y="1936486"/>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FFFFFF"/>
                </a:solidFill>
                <a:latin typeface="맑은 고딕"/>
                <a:ea typeface="맑은 고딕"/>
                <a:cs typeface="맑은 고딕"/>
              </a:rPr>
              <a:t>관측</a:t>
            </a:r>
          </a:p>
        </p:txBody>
      </p:sp>
      <p:sp>
        <p:nvSpPr>
          <p:cNvPr id="10" name="Rectangle 9"/>
          <p:cNvSpPr/>
          <p:nvPr/>
        </p:nvSpPr>
        <p:spPr>
          <a:xfrm>
            <a:off x="2505456" y="1821119"/>
            <a:ext cx="1463040" cy="495421"/>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11" name="TextBox 10"/>
          <p:cNvSpPr txBox="1"/>
          <p:nvPr/>
        </p:nvSpPr>
        <p:spPr>
          <a:xfrm>
            <a:off x="2578608" y="1936486"/>
            <a:ext cx="1316736"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FFFFFF"/>
                </a:solidFill>
                <a:latin typeface="맑은 고딕"/>
                <a:ea typeface="맑은 고딕"/>
                <a:cs typeface="맑은 고딕"/>
              </a:rPr>
              <a:t>기호</a:t>
            </a:r>
          </a:p>
        </p:txBody>
      </p:sp>
      <p:sp>
        <p:nvSpPr>
          <p:cNvPr id="12" name="Rectangle 11"/>
          <p:cNvSpPr/>
          <p:nvPr/>
        </p:nvSpPr>
        <p:spPr>
          <a:xfrm>
            <a:off x="3968496" y="1821119"/>
            <a:ext cx="749808" cy="495421"/>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13" name="TextBox 12"/>
          <p:cNvSpPr txBox="1"/>
          <p:nvPr/>
        </p:nvSpPr>
        <p:spPr>
          <a:xfrm>
            <a:off x="4041648" y="1936486"/>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FFFFFF"/>
                </a:solidFill>
                <a:latin typeface="맑은 고딕"/>
                <a:ea typeface="맑은 고딕"/>
                <a:cs typeface="맑은 고딕"/>
              </a:rPr>
              <a:t>차원</a:t>
            </a:r>
          </a:p>
        </p:txBody>
      </p:sp>
      <p:sp>
        <p:nvSpPr>
          <p:cNvPr id="14" name="Rectangle 13"/>
          <p:cNvSpPr/>
          <p:nvPr/>
        </p:nvSpPr>
        <p:spPr>
          <a:xfrm>
            <a:off x="4718304" y="1821119"/>
            <a:ext cx="1847088" cy="495421"/>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15" name="TextBox 14"/>
          <p:cNvSpPr txBox="1"/>
          <p:nvPr/>
        </p:nvSpPr>
        <p:spPr>
          <a:xfrm>
            <a:off x="4791456" y="1936486"/>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FFFFFF"/>
                </a:solidFill>
                <a:latin typeface="맑은 고딕"/>
                <a:ea typeface="맑은 고딕"/>
                <a:cs typeface="맑은 고딕"/>
              </a:rPr>
              <a:t>단위</a:t>
            </a:r>
          </a:p>
        </p:txBody>
      </p:sp>
      <p:sp>
        <p:nvSpPr>
          <p:cNvPr id="16" name="Rectangle 15"/>
          <p:cNvSpPr/>
          <p:nvPr/>
        </p:nvSpPr>
        <p:spPr>
          <a:xfrm>
            <a:off x="566928" y="2316540"/>
            <a:ext cx="193852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17" name="TextBox 16"/>
          <p:cNvSpPr txBox="1"/>
          <p:nvPr/>
        </p:nvSpPr>
        <p:spPr>
          <a:xfrm>
            <a:off x="640080" y="2431907"/>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3A3A3A"/>
                </a:solidFill>
                <a:latin typeface="맑은 고딕"/>
                <a:ea typeface="맑은 고딕"/>
                <a:cs typeface="맑은 고딕"/>
              </a:rPr>
              <a:t>몸체 선속도</a:t>
            </a:r>
          </a:p>
        </p:txBody>
      </p:sp>
      <p:sp>
        <p:nvSpPr>
          <p:cNvPr id="18" name="Rectangle 17"/>
          <p:cNvSpPr/>
          <p:nvPr/>
        </p:nvSpPr>
        <p:spPr>
          <a:xfrm>
            <a:off x="2505456" y="2316540"/>
            <a:ext cx="1463040"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mc:AlternateContent xmlns:mc="http://schemas.openxmlformats.org/markup-compatibility/2006" xmlns:a14="http://schemas.microsoft.com/office/drawing/2010/main">
        <mc:Choice Requires="a14">
          <p:sp>
            <p:nvSpPr>
              <p:cNvPr id="19" name="TextBox 18"/>
              <p:cNvSpPr txBox="1"/>
              <p:nvPr/>
            </p:nvSpPr>
            <p:spPr>
              <a:xfrm>
                <a:off x="3073149" y="2416517"/>
                <a:ext cx="327654" cy="2954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𝑣</m:t>
                          </m:r>
                        </m:e>
                        <m:sub>
                          <m:r>
                            <a:rPr lang="ko-KR" b="0">
                              <a:solidFill>
                                <a:srgbClr val="3A3A3A"/>
                              </a:solidFill>
                              <a:latin typeface="Cambria Math" panose="02040503050406030204" pitchFamily="18" charset="0"/>
                              <a:ea typeface="맑은 고딕"/>
                              <a:cs typeface="맑은 고딕"/>
                            </a:rPr>
                            <m:t>𝑏</m:t>
                          </m:r>
                        </m:sub>
                      </m:sSub>
                    </m:oMath>
                  </m:oMathPara>
                </a14:m>
                <a:endParaRPr sz="2800"/>
              </a:p>
            </p:txBody>
          </p:sp>
        </mc:Choice>
        <mc:Fallback xmlns="">
          <p:sp>
            <p:nvSpPr>
              <p:cNvPr id="19" name="TextBox 18"/>
              <p:cNvSpPr txBox="1">
                <a:spLocks noRot="1" noChangeAspect="1" noMove="1" noResize="1" noEditPoints="1" noAdjustHandles="1" noChangeArrowheads="1" noChangeShapeType="1" noTextEdit="1"/>
              </p:cNvSpPr>
              <p:nvPr/>
            </p:nvSpPr>
            <p:spPr>
              <a:xfrm>
                <a:off x="3073149" y="2416517"/>
                <a:ext cx="327654" cy="295466"/>
              </a:xfrm>
              <a:prstGeom prst="rect">
                <a:avLst/>
              </a:prstGeom>
              <a:blipFill>
                <a:blip r:embed="rId3"/>
                <a:stretch>
                  <a:fillRect l="-11111" b="-12245"/>
                </a:stretch>
              </a:blipFill>
            </p:spPr>
            <p:txBody>
              <a:bodyPr/>
              <a:lstStyle/>
              <a:p>
                <a:r>
                  <a:rPr lang="ko-KR" altLang="en-US">
                    <a:noFill/>
                  </a:rPr>
                  <a:t> </a:t>
                </a:r>
              </a:p>
            </p:txBody>
          </p:sp>
        </mc:Fallback>
      </mc:AlternateContent>
      <p:sp>
        <p:nvSpPr>
          <p:cNvPr id="20" name="Rectangle 19"/>
          <p:cNvSpPr/>
          <p:nvPr/>
        </p:nvSpPr>
        <p:spPr>
          <a:xfrm>
            <a:off x="3968496" y="2316540"/>
            <a:ext cx="74980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21" name="TextBox 20"/>
          <p:cNvSpPr txBox="1"/>
          <p:nvPr/>
        </p:nvSpPr>
        <p:spPr>
          <a:xfrm>
            <a:off x="4041648" y="2431907"/>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3</a:t>
            </a:r>
          </a:p>
        </p:txBody>
      </p:sp>
      <p:sp>
        <p:nvSpPr>
          <p:cNvPr id="22" name="Rectangle 21"/>
          <p:cNvSpPr/>
          <p:nvPr/>
        </p:nvSpPr>
        <p:spPr>
          <a:xfrm>
            <a:off x="4718304" y="2316540"/>
            <a:ext cx="184708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23" name="TextBox 22"/>
          <p:cNvSpPr txBox="1"/>
          <p:nvPr/>
        </p:nvSpPr>
        <p:spPr>
          <a:xfrm>
            <a:off x="4791456" y="2431907"/>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m/s</a:t>
            </a:r>
          </a:p>
        </p:txBody>
      </p:sp>
      <p:sp>
        <p:nvSpPr>
          <p:cNvPr id="24" name="Rectangle 23"/>
          <p:cNvSpPr/>
          <p:nvPr/>
        </p:nvSpPr>
        <p:spPr>
          <a:xfrm>
            <a:off x="566928" y="2811962"/>
            <a:ext cx="193852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25" name="TextBox 24"/>
          <p:cNvSpPr txBox="1"/>
          <p:nvPr/>
        </p:nvSpPr>
        <p:spPr>
          <a:xfrm>
            <a:off x="640080" y="2927330"/>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3A3A3A"/>
                </a:solidFill>
                <a:latin typeface="맑은 고딕"/>
                <a:ea typeface="맑은 고딕"/>
                <a:cs typeface="맑은 고딕"/>
              </a:rPr>
              <a:t>몸체 각속도</a:t>
            </a:r>
          </a:p>
        </p:txBody>
      </p:sp>
      <p:sp>
        <p:nvSpPr>
          <p:cNvPr id="26" name="Rectangle 25"/>
          <p:cNvSpPr/>
          <p:nvPr/>
        </p:nvSpPr>
        <p:spPr>
          <a:xfrm>
            <a:off x="2505456" y="2811962"/>
            <a:ext cx="1463040"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mc:AlternateContent xmlns:mc="http://schemas.openxmlformats.org/markup-compatibility/2006" xmlns:a14="http://schemas.microsoft.com/office/drawing/2010/main">
        <mc:Choice Requires="a14">
          <p:sp>
            <p:nvSpPr>
              <p:cNvPr id="27" name="TextBox 26"/>
              <p:cNvSpPr txBox="1"/>
              <p:nvPr/>
            </p:nvSpPr>
            <p:spPr>
              <a:xfrm>
                <a:off x="3051187" y="2911940"/>
                <a:ext cx="371577" cy="2954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𝜔</m:t>
                          </m:r>
                        </m:e>
                        <m:sub>
                          <m:r>
                            <a:rPr lang="ko-KR" b="0">
                              <a:solidFill>
                                <a:srgbClr val="3A3A3A"/>
                              </a:solidFill>
                              <a:latin typeface="Cambria Math" panose="02040503050406030204" pitchFamily="18" charset="0"/>
                              <a:ea typeface="맑은 고딕"/>
                              <a:cs typeface="맑은 고딕"/>
                            </a:rPr>
                            <m:t>𝑏</m:t>
                          </m:r>
                        </m:sub>
                      </m:sSub>
                    </m:oMath>
                  </m:oMathPara>
                </a14:m>
                <a:endParaRPr sz="2800"/>
              </a:p>
            </p:txBody>
          </p:sp>
        </mc:Choice>
        <mc:Fallback xmlns="">
          <p:sp>
            <p:nvSpPr>
              <p:cNvPr id="27" name="TextBox 26"/>
              <p:cNvSpPr txBox="1">
                <a:spLocks noRot="1" noChangeAspect="1" noMove="1" noResize="1" noEditPoints="1" noAdjustHandles="1" noChangeArrowheads="1" noChangeShapeType="1" noTextEdit="1"/>
              </p:cNvSpPr>
              <p:nvPr/>
            </p:nvSpPr>
            <p:spPr>
              <a:xfrm>
                <a:off x="3051187" y="2911940"/>
                <a:ext cx="371577" cy="295466"/>
              </a:xfrm>
              <a:prstGeom prst="rect">
                <a:avLst/>
              </a:prstGeom>
              <a:blipFill>
                <a:blip r:embed="rId4"/>
                <a:stretch>
                  <a:fillRect l="-11667" b="-12500"/>
                </a:stretch>
              </a:blipFill>
            </p:spPr>
            <p:txBody>
              <a:bodyPr/>
              <a:lstStyle/>
              <a:p>
                <a:r>
                  <a:rPr lang="ko-KR" altLang="en-US">
                    <a:noFill/>
                  </a:rPr>
                  <a:t> </a:t>
                </a:r>
              </a:p>
            </p:txBody>
          </p:sp>
        </mc:Fallback>
      </mc:AlternateContent>
      <p:sp>
        <p:nvSpPr>
          <p:cNvPr id="28" name="Rectangle 27"/>
          <p:cNvSpPr/>
          <p:nvPr/>
        </p:nvSpPr>
        <p:spPr>
          <a:xfrm>
            <a:off x="3968496" y="2811962"/>
            <a:ext cx="74980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29" name="TextBox 28"/>
          <p:cNvSpPr txBox="1"/>
          <p:nvPr/>
        </p:nvSpPr>
        <p:spPr>
          <a:xfrm>
            <a:off x="4041648" y="2927330"/>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3</a:t>
            </a:r>
          </a:p>
        </p:txBody>
      </p:sp>
      <p:sp>
        <p:nvSpPr>
          <p:cNvPr id="30" name="Rectangle 29"/>
          <p:cNvSpPr/>
          <p:nvPr/>
        </p:nvSpPr>
        <p:spPr>
          <a:xfrm>
            <a:off x="4718304" y="2811962"/>
            <a:ext cx="184708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31" name="TextBox 30"/>
          <p:cNvSpPr txBox="1"/>
          <p:nvPr/>
        </p:nvSpPr>
        <p:spPr>
          <a:xfrm>
            <a:off x="4791456" y="2927330"/>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rad/s</a:t>
            </a:r>
          </a:p>
        </p:txBody>
      </p:sp>
      <p:sp>
        <p:nvSpPr>
          <p:cNvPr id="32" name="Rectangle 31"/>
          <p:cNvSpPr/>
          <p:nvPr/>
        </p:nvSpPr>
        <p:spPr>
          <a:xfrm>
            <a:off x="566928" y="3307384"/>
            <a:ext cx="193852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33" name="TextBox 32"/>
          <p:cNvSpPr txBox="1"/>
          <p:nvPr/>
        </p:nvSpPr>
        <p:spPr>
          <a:xfrm>
            <a:off x="640080" y="3422752"/>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3A3A3A"/>
                </a:solidFill>
                <a:latin typeface="맑은 고딕"/>
                <a:ea typeface="맑은 고딕"/>
                <a:cs typeface="맑은 고딕"/>
              </a:rPr>
              <a:t>중력·명령</a:t>
            </a:r>
          </a:p>
        </p:txBody>
      </p:sp>
      <p:sp>
        <p:nvSpPr>
          <p:cNvPr id="34" name="Rectangle 33"/>
          <p:cNvSpPr/>
          <p:nvPr/>
        </p:nvSpPr>
        <p:spPr>
          <a:xfrm>
            <a:off x="2505456" y="3307384"/>
            <a:ext cx="1463040"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mc:AlternateContent xmlns:mc="http://schemas.openxmlformats.org/markup-compatibility/2006" xmlns:a14="http://schemas.microsoft.com/office/drawing/2010/main">
        <mc:Choice Requires="a14">
          <p:sp>
            <p:nvSpPr>
              <p:cNvPr id="35" name="TextBox 34"/>
              <p:cNvSpPr txBox="1"/>
              <p:nvPr/>
            </p:nvSpPr>
            <p:spPr>
              <a:xfrm>
                <a:off x="2930706" y="3407362"/>
                <a:ext cx="612540" cy="2954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𝑔</m:t>
                          </m:r>
                        </m:e>
                        <m:sub>
                          <m:r>
                            <a:rPr lang="ko-KR" b="0">
                              <a:solidFill>
                                <a:srgbClr val="3A3A3A"/>
                              </a:solidFill>
                              <a:latin typeface="Cambria Math" panose="02040503050406030204" pitchFamily="18" charset="0"/>
                              <a:ea typeface="맑은 고딕"/>
                              <a:cs typeface="맑은 고딕"/>
                            </a:rPr>
                            <m:t>𝑏</m:t>
                          </m:r>
                        </m:sub>
                      </m:sSub>
                      <m:r>
                        <a:rPr lang="ko-KR" b="0">
                          <a:solidFill>
                            <a:srgbClr val="3A3A3A"/>
                          </a:solidFill>
                          <a:latin typeface="Cambria Math" panose="02040503050406030204" pitchFamily="18" charset="0"/>
                          <a:ea typeface="맑은 고딕"/>
                          <a:cs typeface="맑은 고딕"/>
                        </a:rPr>
                        <m:t>, </m:t>
                      </m:r>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𝑐</m:t>
                          </m:r>
                        </m:e>
                        <m:sub>
                          <m:r>
                            <a:rPr lang="ko-KR" b="0">
                              <a:solidFill>
                                <a:srgbClr val="3A3A3A"/>
                              </a:solidFill>
                              <a:latin typeface="Cambria Math" panose="02040503050406030204" pitchFamily="18" charset="0"/>
                              <a:ea typeface="맑은 고딕"/>
                              <a:cs typeface="맑은 고딕"/>
                            </a:rPr>
                            <m:t>𝑡</m:t>
                          </m:r>
                        </m:sub>
                      </m:sSub>
                    </m:oMath>
                  </m:oMathPara>
                </a14:m>
                <a:endParaRPr sz="2800"/>
              </a:p>
            </p:txBody>
          </p:sp>
        </mc:Choice>
        <mc:Fallback xmlns="">
          <p:sp>
            <p:nvSpPr>
              <p:cNvPr id="35" name="TextBox 34"/>
              <p:cNvSpPr txBox="1">
                <a:spLocks noRot="1" noChangeAspect="1" noMove="1" noResize="1" noEditPoints="1" noAdjustHandles="1" noChangeArrowheads="1" noChangeShapeType="1" noTextEdit="1"/>
              </p:cNvSpPr>
              <p:nvPr/>
            </p:nvSpPr>
            <p:spPr>
              <a:xfrm>
                <a:off x="2930706" y="3407362"/>
                <a:ext cx="612540" cy="295466"/>
              </a:xfrm>
              <a:prstGeom prst="rect">
                <a:avLst/>
              </a:prstGeom>
              <a:blipFill>
                <a:blip r:embed="rId5"/>
                <a:stretch>
                  <a:fillRect l="-10000" b="-22917"/>
                </a:stretch>
              </a:blipFill>
            </p:spPr>
            <p:txBody>
              <a:bodyPr/>
              <a:lstStyle/>
              <a:p>
                <a:r>
                  <a:rPr lang="ko-KR" altLang="en-US">
                    <a:noFill/>
                  </a:rPr>
                  <a:t> </a:t>
                </a:r>
              </a:p>
            </p:txBody>
          </p:sp>
        </mc:Fallback>
      </mc:AlternateContent>
      <p:sp>
        <p:nvSpPr>
          <p:cNvPr id="36" name="Rectangle 35"/>
          <p:cNvSpPr/>
          <p:nvPr/>
        </p:nvSpPr>
        <p:spPr>
          <a:xfrm>
            <a:off x="3968496" y="3307384"/>
            <a:ext cx="74980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37" name="TextBox 36"/>
          <p:cNvSpPr txBox="1"/>
          <p:nvPr/>
        </p:nvSpPr>
        <p:spPr>
          <a:xfrm>
            <a:off x="4041648" y="3422752"/>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6</a:t>
            </a:r>
          </a:p>
        </p:txBody>
      </p:sp>
      <p:sp>
        <p:nvSpPr>
          <p:cNvPr id="38" name="Rectangle 37"/>
          <p:cNvSpPr/>
          <p:nvPr/>
        </p:nvSpPr>
        <p:spPr>
          <a:xfrm>
            <a:off x="4718304" y="3307384"/>
            <a:ext cx="184708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39" name="TextBox 38"/>
          <p:cNvSpPr txBox="1"/>
          <p:nvPr/>
        </p:nvSpPr>
        <p:spPr>
          <a:xfrm>
            <a:off x="4791456" y="3422752"/>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 m/s, rad/s</a:t>
            </a:r>
          </a:p>
        </p:txBody>
      </p:sp>
      <p:sp>
        <p:nvSpPr>
          <p:cNvPr id="40" name="Rectangle 39"/>
          <p:cNvSpPr/>
          <p:nvPr/>
        </p:nvSpPr>
        <p:spPr>
          <a:xfrm>
            <a:off x="566928" y="3802806"/>
            <a:ext cx="193852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41" name="TextBox 40"/>
          <p:cNvSpPr txBox="1"/>
          <p:nvPr/>
        </p:nvSpPr>
        <p:spPr>
          <a:xfrm>
            <a:off x="640080" y="3918174"/>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3A3A3A"/>
                </a:solidFill>
                <a:latin typeface="맑은 고딕"/>
                <a:ea typeface="맑은 고딕"/>
                <a:cs typeface="맑은 고딕"/>
              </a:rPr>
              <a:t>관절 상태</a:t>
            </a:r>
          </a:p>
        </p:txBody>
      </p:sp>
      <p:sp>
        <p:nvSpPr>
          <p:cNvPr id="42" name="Rectangle 41"/>
          <p:cNvSpPr/>
          <p:nvPr/>
        </p:nvSpPr>
        <p:spPr>
          <a:xfrm>
            <a:off x="2505456" y="3802806"/>
            <a:ext cx="1463040"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mc:AlternateContent xmlns:mc="http://schemas.openxmlformats.org/markup-compatibility/2006" xmlns:a14="http://schemas.microsoft.com/office/drawing/2010/main">
        <mc:Choice Requires="a14">
          <p:sp>
            <p:nvSpPr>
              <p:cNvPr id="43" name="TextBox 42"/>
              <p:cNvSpPr txBox="1"/>
              <p:nvPr/>
            </p:nvSpPr>
            <p:spPr>
              <a:xfrm>
                <a:off x="2768451" y="3902784"/>
                <a:ext cx="937051" cy="2954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a:rPr lang="ko-KR" b="0">
                          <a:solidFill>
                            <a:srgbClr val="3A3A3A"/>
                          </a:solidFill>
                          <a:latin typeface="Cambria Math" panose="02040503050406030204" pitchFamily="18" charset="0"/>
                          <a:ea typeface="맑은 고딕"/>
                          <a:cs typeface="맑은 고딕"/>
                        </a:rPr>
                        <m:t>𝑞</m:t>
                      </m:r>
                      <m:r>
                        <a:rPr lang="ko-KR" b="0">
                          <a:solidFill>
                            <a:srgbClr val="3A3A3A"/>
                          </a:solidFill>
                          <a:latin typeface="Cambria Math" panose="02040503050406030204" pitchFamily="18" charset="0"/>
                          <a:ea typeface="맑은 고딕"/>
                          <a:cs typeface="맑은 고딕"/>
                        </a:rPr>
                        <m:t>−</m:t>
                      </m:r>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𝑞</m:t>
                          </m:r>
                        </m:e>
                        <m:sub>
                          <m:r>
                            <a:rPr lang="ko-KR" b="0">
                              <a:solidFill>
                                <a:srgbClr val="3A3A3A"/>
                              </a:solidFill>
                              <a:latin typeface="Cambria Math" panose="02040503050406030204" pitchFamily="18" charset="0"/>
                              <a:ea typeface="맑은 고딕"/>
                              <a:cs typeface="맑은 고딕"/>
                            </a:rPr>
                            <m:t>0</m:t>
                          </m:r>
                        </m:sub>
                      </m:sSub>
                      <m:r>
                        <a:rPr lang="ko-KR" b="0">
                          <a:solidFill>
                            <a:srgbClr val="3A3A3A"/>
                          </a:solidFill>
                          <a:latin typeface="Cambria Math" panose="02040503050406030204" pitchFamily="18" charset="0"/>
                          <a:ea typeface="맑은 고딕"/>
                          <a:cs typeface="맑은 고딕"/>
                        </a:rPr>
                        <m:t>, </m:t>
                      </m:r>
                      <m:r>
                        <a:rPr lang="ko-KR" b="0">
                          <a:solidFill>
                            <a:srgbClr val="3A3A3A"/>
                          </a:solidFill>
                          <a:latin typeface="Cambria Math" panose="02040503050406030204" pitchFamily="18" charset="0"/>
                          <a:ea typeface="맑은 고딕"/>
                          <a:cs typeface="맑은 고딕"/>
                        </a:rPr>
                        <m:t>𝑞</m:t>
                      </m:r>
                      <m:r>
                        <a:rPr lang="ko-KR" b="0">
                          <a:solidFill>
                            <a:srgbClr val="3A3A3A"/>
                          </a:solidFill>
                          <a:latin typeface="Cambria Math" panose="02040503050406030204" pitchFamily="18" charset="0"/>
                          <a:ea typeface="맑은 고딕"/>
                          <a:cs typeface="맑은 고딕"/>
                        </a:rPr>
                        <m:t>̇</m:t>
                      </m:r>
                    </m:oMath>
                  </m:oMathPara>
                </a14:m>
                <a:endParaRPr sz="2800"/>
              </a:p>
            </p:txBody>
          </p:sp>
        </mc:Choice>
        <mc:Fallback xmlns="">
          <p:sp>
            <p:nvSpPr>
              <p:cNvPr id="43" name="TextBox 42"/>
              <p:cNvSpPr txBox="1">
                <a:spLocks noRot="1" noChangeAspect="1" noMove="1" noResize="1" noEditPoints="1" noAdjustHandles="1" noChangeArrowheads="1" noChangeShapeType="1" noTextEdit="1"/>
              </p:cNvSpPr>
              <p:nvPr/>
            </p:nvSpPr>
            <p:spPr>
              <a:xfrm>
                <a:off x="2768451" y="3902784"/>
                <a:ext cx="937051" cy="295466"/>
              </a:xfrm>
              <a:prstGeom prst="rect">
                <a:avLst/>
              </a:prstGeom>
              <a:blipFill>
                <a:blip r:embed="rId6"/>
                <a:stretch>
                  <a:fillRect l="-6494" r="-2597" b="-26531"/>
                </a:stretch>
              </a:blipFill>
            </p:spPr>
            <p:txBody>
              <a:bodyPr/>
              <a:lstStyle/>
              <a:p>
                <a:r>
                  <a:rPr lang="ko-KR" altLang="en-US">
                    <a:noFill/>
                  </a:rPr>
                  <a:t> </a:t>
                </a:r>
              </a:p>
            </p:txBody>
          </p:sp>
        </mc:Fallback>
      </mc:AlternateContent>
      <p:sp>
        <p:nvSpPr>
          <p:cNvPr id="44" name="Rectangle 43"/>
          <p:cNvSpPr/>
          <p:nvPr/>
        </p:nvSpPr>
        <p:spPr>
          <a:xfrm>
            <a:off x="3968496" y="3802806"/>
            <a:ext cx="74980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45" name="TextBox 44"/>
          <p:cNvSpPr txBox="1"/>
          <p:nvPr/>
        </p:nvSpPr>
        <p:spPr>
          <a:xfrm>
            <a:off x="4041648" y="3918174"/>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24</a:t>
            </a:r>
          </a:p>
        </p:txBody>
      </p:sp>
      <p:sp>
        <p:nvSpPr>
          <p:cNvPr id="46" name="Rectangle 45"/>
          <p:cNvSpPr/>
          <p:nvPr/>
        </p:nvSpPr>
        <p:spPr>
          <a:xfrm>
            <a:off x="4718304" y="3802806"/>
            <a:ext cx="184708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47" name="TextBox 46"/>
          <p:cNvSpPr txBox="1"/>
          <p:nvPr/>
        </p:nvSpPr>
        <p:spPr>
          <a:xfrm>
            <a:off x="4791456" y="3918174"/>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rad, rad/s</a:t>
            </a:r>
          </a:p>
        </p:txBody>
      </p:sp>
      <p:sp>
        <p:nvSpPr>
          <p:cNvPr id="48" name="Rectangle 47"/>
          <p:cNvSpPr/>
          <p:nvPr/>
        </p:nvSpPr>
        <p:spPr>
          <a:xfrm>
            <a:off x="566928" y="4298228"/>
            <a:ext cx="193852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49" name="TextBox 48"/>
          <p:cNvSpPr txBox="1"/>
          <p:nvPr/>
        </p:nvSpPr>
        <p:spPr>
          <a:xfrm>
            <a:off x="640080" y="4413595"/>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3A3A3A"/>
                </a:solidFill>
                <a:latin typeface="맑은 고딕"/>
                <a:ea typeface="맑은 고딕"/>
                <a:cs typeface="맑은 고딕"/>
              </a:rPr>
              <a:t>이전 행동</a:t>
            </a:r>
          </a:p>
        </p:txBody>
      </p:sp>
      <p:sp>
        <p:nvSpPr>
          <p:cNvPr id="50" name="Rectangle 49"/>
          <p:cNvSpPr/>
          <p:nvPr/>
        </p:nvSpPr>
        <p:spPr>
          <a:xfrm>
            <a:off x="2505456" y="4298228"/>
            <a:ext cx="1463040"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mc:AlternateContent xmlns:mc="http://schemas.openxmlformats.org/markup-compatibility/2006" xmlns:a14="http://schemas.microsoft.com/office/drawing/2010/main">
        <mc:Choice Requires="a14">
          <p:sp>
            <p:nvSpPr>
              <p:cNvPr id="51" name="TextBox 50"/>
              <p:cNvSpPr txBox="1"/>
              <p:nvPr/>
            </p:nvSpPr>
            <p:spPr>
              <a:xfrm>
                <a:off x="2974244" y="4398205"/>
                <a:ext cx="525464" cy="2954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𝑎</m:t>
                          </m:r>
                        </m:e>
                        <m:sub>
                          <m:r>
                            <a:rPr lang="ko-KR" b="0">
                              <a:solidFill>
                                <a:srgbClr val="3A3A3A"/>
                              </a:solidFill>
                              <a:latin typeface="Cambria Math" panose="02040503050406030204" pitchFamily="18" charset="0"/>
                              <a:ea typeface="맑은 고딕"/>
                              <a:cs typeface="맑은 고딕"/>
                            </a:rPr>
                            <m:t>𝑡</m:t>
                          </m:r>
                          <m:r>
                            <a:rPr lang="ko-KR" b="0">
                              <a:solidFill>
                                <a:srgbClr val="3A3A3A"/>
                              </a:solidFill>
                              <a:latin typeface="Cambria Math" panose="02040503050406030204" pitchFamily="18" charset="0"/>
                              <a:ea typeface="맑은 고딕"/>
                              <a:cs typeface="맑은 고딕"/>
                            </a:rPr>
                            <m:t>−1</m:t>
                          </m:r>
                        </m:sub>
                      </m:sSub>
                    </m:oMath>
                  </m:oMathPara>
                </a14:m>
                <a:endParaRPr sz="2800"/>
              </a:p>
            </p:txBody>
          </p:sp>
        </mc:Choice>
        <mc:Fallback xmlns="">
          <p:sp>
            <p:nvSpPr>
              <p:cNvPr id="51" name="TextBox 50"/>
              <p:cNvSpPr txBox="1">
                <a:spLocks noRot="1" noChangeAspect="1" noMove="1" noResize="1" noEditPoints="1" noAdjustHandles="1" noChangeArrowheads="1" noChangeShapeType="1" noTextEdit="1"/>
              </p:cNvSpPr>
              <p:nvPr/>
            </p:nvSpPr>
            <p:spPr>
              <a:xfrm>
                <a:off x="2974244" y="4398205"/>
                <a:ext cx="525464" cy="295466"/>
              </a:xfrm>
              <a:prstGeom prst="rect">
                <a:avLst/>
              </a:prstGeom>
              <a:blipFill>
                <a:blip r:embed="rId7"/>
                <a:stretch>
                  <a:fillRect l="-6977" b="-10204"/>
                </a:stretch>
              </a:blipFill>
            </p:spPr>
            <p:txBody>
              <a:bodyPr/>
              <a:lstStyle/>
              <a:p>
                <a:r>
                  <a:rPr lang="ko-KR" altLang="en-US">
                    <a:noFill/>
                  </a:rPr>
                  <a:t> </a:t>
                </a:r>
              </a:p>
            </p:txBody>
          </p:sp>
        </mc:Fallback>
      </mc:AlternateContent>
      <p:sp>
        <p:nvSpPr>
          <p:cNvPr id="52" name="Rectangle 51"/>
          <p:cNvSpPr/>
          <p:nvPr/>
        </p:nvSpPr>
        <p:spPr>
          <a:xfrm>
            <a:off x="3968496" y="4298228"/>
            <a:ext cx="74980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53" name="TextBox 52"/>
          <p:cNvSpPr txBox="1"/>
          <p:nvPr/>
        </p:nvSpPr>
        <p:spPr>
          <a:xfrm>
            <a:off x="4041648" y="4413595"/>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12</a:t>
            </a:r>
          </a:p>
        </p:txBody>
      </p:sp>
      <p:sp>
        <p:nvSpPr>
          <p:cNvPr id="54" name="Rectangle 53"/>
          <p:cNvSpPr/>
          <p:nvPr/>
        </p:nvSpPr>
        <p:spPr>
          <a:xfrm>
            <a:off x="4718304" y="4298228"/>
            <a:ext cx="1847088" cy="495421"/>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55" name="TextBox 54"/>
          <p:cNvSpPr txBox="1"/>
          <p:nvPr/>
        </p:nvSpPr>
        <p:spPr>
          <a:xfrm>
            <a:off x="4791456" y="4413595"/>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a:t>
            </a:r>
          </a:p>
        </p:txBody>
      </p:sp>
      <p:sp>
        <p:nvSpPr>
          <p:cNvPr id="56" name="Rectangle 55"/>
          <p:cNvSpPr/>
          <p:nvPr/>
        </p:nvSpPr>
        <p:spPr>
          <a:xfrm>
            <a:off x="566928" y="4793650"/>
            <a:ext cx="193852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57" name="TextBox 56"/>
          <p:cNvSpPr txBox="1"/>
          <p:nvPr/>
        </p:nvSpPr>
        <p:spPr>
          <a:xfrm>
            <a:off x="640080" y="4909017"/>
            <a:ext cx="1792224" cy="264688"/>
          </a:xfrm>
          <a:prstGeom prst="rect">
            <a:avLst/>
          </a:prstGeom>
          <a:noFill/>
        </p:spPr>
        <p:txBody>
          <a:bodyPr wrap="square" lIns="9144" tIns="9144" rIns="9144" bIns="9144" anchor="ctr">
            <a:spAutoFit/>
          </a:bodyPr>
          <a:lstStyle/>
          <a:p>
            <a:pPr algn="ctr">
              <a:lnSpc>
                <a:spcPct val="100000"/>
              </a:lnSpc>
              <a:spcAft>
                <a:spcPts val="0"/>
              </a:spcAft>
            </a:pPr>
            <a:r>
              <a:rPr sz="1600" b="1">
                <a:solidFill>
                  <a:srgbClr val="3A3A3A"/>
                </a:solidFill>
                <a:latin typeface="맑은 고딕"/>
                <a:ea typeface="맑은 고딕"/>
                <a:cs typeface="맑은 고딕"/>
              </a:rPr>
              <a:t>지형 높이</a:t>
            </a:r>
          </a:p>
        </p:txBody>
      </p:sp>
      <p:sp>
        <p:nvSpPr>
          <p:cNvPr id="58" name="Rectangle 57"/>
          <p:cNvSpPr/>
          <p:nvPr/>
        </p:nvSpPr>
        <p:spPr>
          <a:xfrm>
            <a:off x="2505456" y="4793650"/>
            <a:ext cx="1463040"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mc:AlternateContent xmlns:mc="http://schemas.openxmlformats.org/markup-compatibility/2006" xmlns:a14="http://schemas.microsoft.com/office/drawing/2010/main">
        <mc:Choice Requires="a14">
          <p:sp>
            <p:nvSpPr>
              <p:cNvPr id="59" name="TextBox 58"/>
              <p:cNvSpPr txBox="1"/>
              <p:nvPr/>
            </p:nvSpPr>
            <p:spPr>
              <a:xfrm>
                <a:off x="3051188" y="4893627"/>
                <a:ext cx="371577" cy="295466"/>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
                        <m:sSubPr>
                          <m:ctrlPr>
                            <a:rPr lang="ko-KR" b="0">
                              <a:solidFill>
                                <a:srgbClr val="3A3A3A"/>
                              </a:solidFill>
                              <a:latin typeface="Cambria Math" panose="02040503050406030204" pitchFamily="18" charset="0"/>
                              <a:ea typeface="맑은 고딕"/>
                              <a:cs typeface="맑은 고딕"/>
                            </a:rPr>
                          </m:ctrlPr>
                        </m:sSubPr>
                        <m:e>
                          <m:r>
                            <a:rPr lang="ko-KR" b="0">
                              <a:solidFill>
                                <a:srgbClr val="3A3A3A"/>
                              </a:solidFill>
                              <a:latin typeface="Cambria Math" panose="02040503050406030204" pitchFamily="18" charset="0"/>
                              <a:ea typeface="맑은 고딕"/>
                              <a:cs typeface="맑은 고딕"/>
                            </a:rPr>
                            <m:t>𝑚</m:t>
                          </m:r>
                        </m:e>
                        <m:sub>
                          <m:r>
                            <a:rPr lang="ko-KR" b="0">
                              <a:solidFill>
                                <a:srgbClr val="3A3A3A"/>
                              </a:solidFill>
                              <a:latin typeface="Cambria Math" panose="02040503050406030204" pitchFamily="18" charset="0"/>
                              <a:ea typeface="맑은 고딕"/>
                              <a:cs typeface="맑은 고딕"/>
                            </a:rPr>
                            <m:t>𝑡</m:t>
                          </m:r>
                        </m:sub>
                      </m:sSub>
                    </m:oMath>
                  </m:oMathPara>
                </a14:m>
                <a:endParaRPr sz="2800"/>
              </a:p>
            </p:txBody>
          </p:sp>
        </mc:Choice>
        <mc:Fallback xmlns="">
          <p:sp>
            <p:nvSpPr>
              <p:cNvPr id="59" name="TextBox 58"/>
              <p:cNvSpPr txBox="1">
                <a:spLocks noRot="1" noChangeAspect="1" noMove="1" noResize="1" noEditPoints="1" noAdjustHandles="1" noChangeArrowheads="1" noChangeShapeType="1" noTextEdit="1"/>
              </p:cNvSpPr>
              <p:nvPr/>
            </p:nvSpPr>
            <p:spPr>
              <a:xfrm>
                <a:off x="3051188" y="4893627"/>
                <a:ext cx="371577" cy="295466"/>
              </a:xfrm>
              <a:prstGeom prst="rect">
                <a:avLst/>
              </a:prstGeom>
              <a:blipFill>
                <a:blip r:embed="rId8"/>
                <a:stretch>
                  <a:fillRect l="-11667" b="-10417"/>
                </a:stretch>
              </a:blipFill>
            </p:spPr>
            <p:txBody>
              <a:bodyPr/>
              <a:lstStyle/>
              <a:p>
                <a:r>
                  <a:rPr lang="ko-KR" altLang="en-US">
                    <a:noFill/>
                  </a:rPr>
                  <a:t> </a:t>
                </a:r>
              </a:p>
            </p:txBody>
          </p:sp>
        </mc:Fallback>
      </mc:AlternateContent>
      <p:sp>
        <p:nvSpPr>
          <p:cNvPr id="60" name="Rectangle 59"/>
          <p:cNvSpPr/>
          <p:nvPr/>
        </p:nvSpPr>
        <p:spPr>
          <a:xfrm>
            <a:off x="3968496" y="4793650"/>
            <a:ext cx="74980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61" name="TextBox 60"/>
          <p:cNvSpPr txBox="1"/>
          <p:nvPr/>
        </p:nvSpPr>
        <p:spPr>
          <a:xfrm>
            <a:off x="4041648" y="4909017"/>
            <a:ext cx="603503"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187</a:t>
            </a:r>
          </a:p>
        </p:txBody>
      </p:sp>
      <p:sp>
        <p:nvSpPr>
          <p:cNvPr id="62" name="Rectangle 61"/>
          <p:cNvSpPr/>
          <p:nvPr/>
        </p:nvSpPr>
        <p:spPr>
          <a:xfrm>
            <a:off x="4718304" y="4793650"/>
            <a:ext cx="1847088" cy="495421"/>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sz="2800"/>
          </a:p>
        </p:txBody>
      </p:sp>
      <p:sp>
        <p:nvSpPr>
          <p:cNvPr id="63" name="TextBox 62"/>
          <p:cNvSpPr txBox="1"/>
          <p:nvPr/>
        </p:nvSpPr>
        <p:spPr>
          <a:xfrm>
            <a:off x="4791456" y="4909017"/>
            <a:ext cx="1700784" cy="264688"/>
          </a:xfrm>
          <a:prstGeom prst="rect">
            <a:avLst/>
          </a:prstGeom>
          <a:noFill/>
        </p:spPr>
        <p:txBody>
          <a:bodyPr wrap="square" lIns="9144" tIns="9144" rIns="9144" bIns="9144" anchor="ctr">
            <a:spAutoFit/>
          </a:bodyPr>
          <a:lstStyle/>
          <a:p>
            <a:pPr algn="ctr">
              <a:lnSpc>
                <a:spcPct val="100000"/>
              </a:lnSpc>
              <a:spcAft>
                <a:spcPts val="0"/>
              </a:spcAft>
            </a:pPr>
            <a:r>
              <a:rPr sz="1600" b="0">
                <a:solidFill>
                  <a:srgbClr val="3A3A3A"/>
                </a:solidFill>
                <a:latin typeface="맑은 고딕"/>
                <a:ea typeface="맑은 고딕"/>
                <a:cs typeface="맑은 고딕"/>
              </a:rPr>
              <a:t>m</a:t>
            </a:r>
          </a:p>
        </p:txBody>
      </p:sp>
      <p:sp>
        <p:nvSpPr>
          <p:cNvPr id="64" name="Rectangle 63"/>
          <p:cNvSpPr/>
          <p:nvPr/>
        </p:nvSpPr>
        <p:spPr>
          <a:xfrm>
            <a:off x="6784848" y="1884029"/>
            <a:ext cx="2148840"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5" name="TextBox 64"/>
          <p:cNvSpPr txBox="1"/>
          <p:nvPr/>
        </p:nvSpPr>
        <p:spPr>
          <a:xfrm>
            <a:off x="6912864" y="1978395"/>
            <a:ext cx="1892808" cy="196596"/>
          </a:xfrm>
          <a:prstGeom prst="rect">
            <a:avLst/>
          </a:prstGeom>
          <a:noFill/>
        </p:spPr>
        <p:txBody>
          <a:bodyPr wrap="square" lIns="36576" tIns="36576" rIns="36576" bIns="36576" anchor="t">
            <a:spAutoFit/>
          </a:bodyPr>
          <a:lstStyle/>
          <a:p>
            <a:pPr algn="l">
              <a:lnSpc>
                <a:spcPct val="100000"/>
              </a:lnSpc>
              <a:spcAft>
                <a:spcPts val="0"/>
              </a:spcAft>
            </a:pPr>
            <a:r>
              <a:rPr sz="1150" b="0">
                <a:solidFill>
                  <a:srgbClr val="686868"/>
                </a:solidFill>
                <a:latin typeface="맑은 고딕"/>
                <a:ea typeface="맑은 고딕"/>
                <a:cs typeface="맑은 고딕"/>
              </a:rPr>
              <a:t>현재 관측</a:t>
            </a:r>
          </a:p>
        </p:txBody>
      </p:sp>
      <p:sp>
        <p:nvSpPr>
          <p:cNvPr id="66" name="TextBox 65"/>
          <p:cNvSpPr txBox="1"/>
          <p:nvPr/>
        </p:nvSpPr>
        <p:spPr>
          <a:xfrm>
            <a:off x="6912864" y="2198583"/>
            <a:ext cx="1892808"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235D</a:t>
            </a:r>
          </a:p>
        </p:txBody>
      </p:sp>
      <p:sp>
        <p:nvSpPr>
          <p:cNvPr id="67" name="TextBox 66"/>
          <p:cNvSpPr txBox="1"/>
          <p:nvPr/>
        </p:nvSpPr>
        <p:spPr>
          <a:xfrm>
            <a:off x="6912864" y="2513136"/>
            <a:ext cx="1892808" cy="141549"/>
          </a:xfrm>
          <a:prstGeom prst="rect">
            <a:avLst/>
          </a:prstGeom>
          <a:noFill/>
        </p:spPr>
        <p:txBody>
          <a:bodyPr wrap="square" lIns="36576" tIns="36576" rIns="36576" bIns="36576" anchor="t">
            <a:spAutoFit/>
          </a:bodyPr>
          <a:lstStyle/>
          <a:p>
            <a:pPr algn="l">
              <a:lnSpc>
                <a:spcPct val="100000"/>
              </a:lnSpc>
              <a:spcAft>
                <a:spcPts val="0"/>
              </a:spcAft>
            </a:pPr>
            <a:r>
              <a:rPr sz="850" b="0" dirty="0">
                <a:solidFill>
                  <a:srgbClr val="686868"/>
                </a:solidFill>
                <a:latin typeface="맑은 고딕"/>
                <a:ea typeface="맑은 고딕"/>
                <a:cs typeface="맑은 고딕"/>
              </a:rPr>
              <a:t>48D + terrain 187D</a:t>
            </a:r>
          </a:p>
        </p:txBody>
      </p:sp>
      <p:sp>
        <p:nvSpPr>
          <p:cNvPr id="68" name="Rectangle 67"/>
          <p:cNvSpPr/>
          <p:nvPr/>
        </p:nvSpPr>
        <p:spPr>
          <a:xfrm>
            <a:off x="9189720" y="1884029"/>
            <a:ext cx="2148840"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9" name="TextBox 68"/>
          <p:cNvSpPr txBox="1"/>
          <p:nvPr/>
        </p:nvSpPr>
        <p:spPr>
          <a:xfrm>
            <a:off x="9317736" y="1978395"/>
            <a:ext cx="1892808" cy="196596"/>
          </a:xfrm>
          <a:prstGeom prst="rect">
            <a:avLst/>
          </a:prstGeom>
          <a:noFill/>
        </p:spPr>
        <p:txBody>
          <a:bodyPr wrap="square" lIns="36576" tIns="36576" rIns="36576" bIns="36576" anchor="t">
            <a:spAutoFit/>
          </a:bodyPr>
          <a:lstStyle/>
          <a:p>
            <a:pPr algn="l">
              <a:lnSpc>
                <a:spcPct val="100000"/>
              </a:lnSpc>
              <a:spcAft>
                <a:spcPts val="0"/>
              </a:spcAft>
            </a:pPr>
            <a:r>
              <a:rPr sz="1150" b="0">
                <a:solidFill>
                  <a:srgbClr val="686868"/>
                </a:solidFill>
                <a:latin typeface="맑은 고딕"/>
                <a:ea typeface="맑은 고딕"/>
                <a:cs typeface="맑은 고딕"/>
              </a:rPr>
              <a:t>Student history</a:t>
            </a:r>
          </a:p>
        </p:txBody>
      </p:sp>
      <p:sp>
        <p:nvSpPr>
          <p:cNvPr id="70" name="TextBox 69"/>
          <p:cNvSpPr txBox="1"/>
          <p:nvPr/>
        </p:nvSpPr>
        <p:spPr>
          <a:xfrm>
            <a:off x="9317736" y="2198583"/>
            <a:ext cx="1892808"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50×48</a:t>
            </a:r>
          </a:p>
        </p:txBody>
      </p:sp>
      <p:sp>
        <p:nvSpPr>
          <p:cNvPr id="71" name="TextBox 70"/>
          <p:cNvSpPr txBox="1"/>
          <p:nvPr/>
        </p:nvSpPr>
        <p:spPr>
          <a:xfrm>
            <a:off x="9317736" y="2513136"/>
            <a:ext cx="1892808" cy="141549"/>
          </a:xfrm>
          <a:prstGeom prst="rect">
            <a:avLst/>
          </a:prstGeom>
          <a:noFill/>
        </p:spPr>
        <p:txBody>
          <a:bodyPr wrap="square" lIns="36576" tIns="36576" rIns="36576" bIns="36576" anchor="t">
            <a:spAutoFit/>
          </a:bodyPr>
          <a:lstStyle/>
          <a:p>
            <a:pPr algn="l">
              <a:lnSpc>
                <a:spcPct val="100000"/>
              </a:lnSpc>
              <a:spcAft>
                <a:spcPts val="0"/>
              </a:spcAft>
            </a:pPr>
            <a:r>
              <a:rPr sz="850" b="0">
                <a:solidFill>
                  <a:srgbClr val="686868"/>
                </a:solidFill>
                <a:latin typeface="맑은 고딕"/>
                <a:ea typeface="맑은 고딕"/>
                <a:cs typeface="맑은 고딕"/>
              </a:rPr>
              <a:t>약 1초</a:t>
            </a:r>
          </a:p>
        </p:txBody>
      </p:sp>
      <mc:AlternateContent xmlns:mc="http://schemas.openxmlformats.org/markup-compatibility/2006" xmlns:a14="http://schemas.microsoft.com/office/drawing/2010/main">
        <mc:Choice Requires="a14">
          <p:sp>
            <p:nvSpPr>
              <p:cNvPr id="72" name="TextBox 71"/>
              <p:cNvSpPr txBox="1"/>
              <p:nvPr/>
            </p:nvSpPr>
            <p:spPr>
              <a:xfrm>
                <a:off x="6601968" y="3354567"/>
                <a:ext cx="4846320" cy="566196"/>
              </a:xfrm>
              <a:prstGeom prst="rect">
                <a:avLst/>
              </a:prstGeom>
              <a:noFill/>
            </p:spPr>
            <p:txBody>
              <a:bodyPr wrap="none" lIns="27432" tIns="27432" rIns="27432" bIns="27432" anchor="ctr">
                <a:spAutoFit/>
              </a:bodyPr>
              <a:lstStyle/>
              <a:p>
                <a:pPr algn="ctr">
                  <a:lnSpc>
                    <a:spcPct val="100000"/>
                  </a:lnSpc>
                </a:pPr>
                <a14:m>
                  <m:oMathPara xmlns:m="http://schemas.openxmlformats.org/officeDocument/2006/math">
                    <m:oMath>
                      <m:sSubSup>
                        <m:sSubSupPr>
                          <m:ctrlPr>
                            <a:rPr lang="ko-KR" sz="1900" b="0">
                              <a:solidFill>
                                <a:srgbClr val="222222"/>
                              </a:solidFill>
                              <a:latin typeface="Cambria Math" panose="02040503050406030204" pitchFamily="18" charset="0"/>
                              <a:ea typeface="맑은 고딕"/>
                              <a:cs typeface="맑은 고딕"/>
                            </a:rPr>
                          </m:ctrlPr>
                        </m:sSubSupPr>
                        <m:e>
                          <m:r>
                            <a:rPr lang="ko-KR" sz="1900" b="0">
                              <a:solidFill>
                                <a:srgbClr val="222222"/>
                              </a:solidFill>
                              <a:latin typeface="Cambria Math" panose="02040503050406030204" pitchFamily="18" charset="0"/>
                              <a:ea typeface="맑은 고딕"/>
                              <a:cs typeface="맑은 고딕"/>
                            </a:rPr>
                            <m:t>𝑞</m:t>
                          </m:r>
                        </m:e>
                        <m:sub>
                          <m:r>
                            <a:rPr lang="ko-KR" sz="1900" b="0">
                              <a:solidFill>
                                <a:srgbClr val="222222"/>
                              </a:solidFill>
                              <a:latin typeface="Cambria Math" panose="02040503050406030204" pitchFamily="18" charset="0"/>
                              <a:ea typeface="맑은 고딕"/>
                              <a:cs typeface="맑은 고딕"/>
                            </a:rPr>
                            <m:t>𝑡</m:t>
                          </m:r>
                        </m:sub>
                        <m:sup>
                          <m:r>
                            <m:rPr>
                              <m:nor/>
                            </m:rPr>
                            <a:rPr lang="ko-KR" sz="1900" b="0" i="0">
                              <a:solidFill>
                                <a:srgbClr val="222222"/>
                              </a:solidFill>
                              <a:latin typeface="맑은 고딕"/>
                              <a:ea typeface="맑은 고딕"/>
                              <a:cs typeface="맑은 고딕"/>
                            </a:rPr>
                            <m:t>des</m:t>
                          </m:r>
                        </m:sup>
                      </m:sSubSup>
                      <m:r>
                        <a:rPr lang="ko-KR" sz="1900" b="0">
                          <a:solidFill>
                            <a:srgbClr val="222222"/>
                          </a:solidFill>
                          <a:latin typeface="Cambria Math" panose="02040503050406030204" pitchFamily="18" charset="0"/>
                          <a:ea typeface="맑은 고딕"/>
                          <a:cs typeface="맑은 고딕"/>
                        </a:rPr>
                        <m:t> = </m:t>
                      </m:r>
                      <m:sSup>
                        <m:sSupPr>
                          <m:ctrlPr>
                            <a:rPr lang="ko-KR" sz="1900" b="0">
                              <a:solidFill>
                                <a:srgbClr val="222222"/>
                              </a:solidFill>
                              <a:latin typeface="Cambria Math" panose="02040503050406030204" pitchFamily="18" charset="0"/>
                              <a:ea typeface="맑은 고딕"/>
                              <a:cs typeface="맑은 고딕"/>
                            </a:rPr>
                          </m:ctrlPr>
                        </m:sSupPr>
                        <m:e>
                          <m:r>
                            <a:rPr lang="ko-KR" sz="1900" b="0">
                              <a:solidFill>
                                <a:srgbClr val="222222"/>
                              </a:solidFill>
                              <a:latin typeface="Cambria Math" panose="02040503050406030204" pitchFamily="18" charset="0"/>
                              <a:ea typeface="맑은 고딕"/>
                              <a:cs typeface="맑은 고딕"/>
                            </a:rPr>
                            <m:t>𝑞</m:t>
                          </m:r>
                        </m:e>
                        <m:sup>
                          <m:r>
                            <m:rPr>
                              <m:nor/>
                            </m:rPr>
                            <a:rPr lang="ko-KR" sz="1900" b="0" i="0">
                              <a:solidFill>
                                <a:srgbClr val="222222"/>
                              </a:solidFill>
                              <a:latin typeface="맑은 고딕"/>
                              <a:ea typeface="맑은 고딕"/>
                              <a:cs typeface="맑은 고딕"/>
                            </a:rPr>
                            <m:t>default</m:t>
                          </m:r>
                        </m:sup>
                      </m:sSup>
                      <m:r>
                        <a:rPr lang="ko-KR" sz="1900" b="0">
                          <a:solidFill>
                            <a:srgbClr val="222222"/>
                          </a:solidFill>
                          <a:latin typeface="Cambria Math" panose="02040503050406030204" pitchFamily="18" charset="0"/>
                          <a:ea typeface="맑은 고딕"/>
                          <a:cs typeface="맑은 고딕"/>
                        </a:rPr>
                        <m:t> + 0.25 </m:t>
                      </m:r>
                      <m:sSub>
                        <m:sSubPr>
                          <m:ctrlPr>
                            <a:rPr lang="ko-KR" sz="1900" b="0">
                              <a:solidFill>
                                <a:srgbClr val="222222"/>
                              </a:solidFill>
                              <a:latin typeface="Cambria Math" panose="02040503050406030204" pitchFamily="18" charset="0"/>
                              <a:ea typeface="맑은 고딕"/>
                              <a:cs typeface="맑은 고딕"/>
                            </a:rPr>
                          </m:ctrlPr>
                        </m:sSubPr>
                        <m:e>
                          <m:r>
                            <a:rPr lang="ko-KR" sz="1900" b="0">
                              <a:solidFill>
                                <a:srgbClr val="222222"/>
                              </a:solidFill>
                              <a:latin typeface="Cambria Math" panose="02040503050406030204" pitchFamily="18" charset="0"/>
                              <a:ea typeface="맑은 고딕"/>
                              <a:cs typeface="맑은 고딕"/>
                            </a:rPr>
                            <m:t>𝑎</m:t>
                          </m:r>
                        </m:e>
                        <m:sub>
                          <m:r>
                            <a:rPr lang="ko-KR" sz="1900" b="0">
                              <a:solidFill>
                                <a:srgbClr val="222222"/>
                              </a:solidFill>
                              <a:latin typeface="Cambria Math" panose="02040503050406030204" pitchFamily="18" charset="0"/>
                              <a:ea typeface="맑은 고딕"/>
                              <a:cs typeface="맑은 고딕"/>
                            </a:rPr>
                            <m:t>𝑡</m:t>
                          </m:r>
                        </m:sub>
                      </m:sSub>
                      <m:r>
                        <a:rPr lang="ko-KR" sz="1900" b="0">
                          <a:solidFill>
                            <a:srgbClr val="222222"/>
                          </a:solidFill>
                          <a:latin typeface="Cambria Math" panose="02040503050406030204" pitchFamily="18" charset="0"/>
                          <a:ea typeface="맑은 고딕"/>
                          <a:cs typeface="맑은 고딕"/>
                        </a:rPr>
                        <m:t>,     </m:t>
                      </m:r>
                      <m:sSub>
                        <m:sSubPr>
                          <m:ctrlPr>
                            <a:rPr lang="ko-KR" sz="1900" b="0">
                              <a:solidFill>
                                <a:srgbClr val="222222"/>
                              </a:solidFill>
                              <a:latin typeface="Cambria Math" panose="02040503050406030204" pitchFamily="18" charset="0"/>
                              <a:ea typeface="맑은 고딕"/>
                              <a:cs typeface="맑은 고딕"/>
                            </a:rPr>
                          </m:ctrlPr>
                        </m:sSubPr>
                        <m:e>
                          <m:r>
                            <a:rPr lang="ko-KR" sz="1900" b="0">
                              <a:solidFill>
                                <a:srgbClr val="222222"/>
                              </a:solidFill>
                              <a:latin typeface="Cambria Math" panose="02040503050406030204" pitchFamily="18" charset="0"/>
                              <a:ea typeface="맑은 고딕"/>
                              <a:cs typeface="맑은 고딕"/>
                            </a:rPr>
                            <m:t>𝑎</m:t>
                          </m:r>
                        </m:e>
                        <m:sub>
                          <m:r>
                            <a:rPr lang="ko-KR" sz="1900" b="0">
                              <a:solidFill>
                                <a:srgbClr val="222222"/>
                              </a:solidFill>
                              <a:latin typeface="Cambria Math" panose="02040503050406030204" pitchFamily="18" charset="0"/>
                              <a:ea typeface="맑은 고딕"/>
                              <a:cs typeface="맑은 고딕"/>
                            </a:rPr>
                            <m:t>𝑡</m:t>
                          </m:r>
                        </m:sub>
                      </m:sSub>
                      <m:r>
                        <a:rPr lang="ko-KR" sz="1900" b="0">
                          <a:solidFill>
                            <a:srgbClr val="222222"/>
                          </a:solidFill>
                          <a:latin typeface="Cambria Math" panose="02040503050406030204" pitchFamily="18" charset="0"/>
                          <a:ea typeface="맑은 고딕"/>
                          <a:cs typeface="맑은 고딕"/>
                        </a:rPr>
                        <m:t> ∈ </m:t>
                      </m:r>
                      <m:sSup>
                        <m:sSupPr>
                          <m:ctrlPr>
                            <a:rPr lang="ko-KR" sz="1900" b="0" i="0">
                              <a:solidFill>
                                <a:srgbClr val="222222"/>
                              </a:solidFill>
                              <a:latin typeface="맑은 고딕"/>
                              <a:ea typeface="맑은 고딕"/>
                              <a:cs typeface="맑은 고딕"/>
                            </a:rPr>
                          </m:ctrlPr>
                        </m:sSupPr>
                        <m:e>
                          <m:r>
                            <m:rPr>
                              <m:nor/>
                            </m:rPr>
                            <a:rPr lang="ko-KR" sz="1900" b="0" i="0">
                              <a:solidFill>
                                <a:srgbClr val="222222"/>
                              </a:solidFill>
                              <a:latin typeface="맑은 고딕"/>
                              <a:ea typeface="맑은 고딕"/>
                              <a:cs typeface="맑은 고딕"/>
                            </a:rPr>
                            <m:t>R</m:t>
                          </m:r>
                        </m:e>
                        <m:sup>
                          <m:r>
                            <m:rPr>
                              <m:nor/>
                            </m:rPr>
                            <a:rPr lang="ko-KR" sz="1900" b="0" i="0">
                              <a:solidFill>
                                <a:srgbClr val="222222"/>
                              </a:solidFill>
                              <a:latin typeface="맑은 고딕"/>
                              <a:ea typeface="맑은 고딕"/>
                              <a:cs typeface="맑은 고딕"/>
                            </a:rPr>
                            <m:t>12</m:t>
                          </m:r>
                        </m:sup>
                      </m:sSup>
                    </m:oMath>
                  </m:oMathPara>
                </a14:m>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6601968" y="3354567"/>
                <a:ext cx="4846320" cy="566196"/>
              </a:xfrm>
              <a:prstGeom prst="rect">
                <a:avLst/>
              </a:prstGeom>
              <a:blipFill>
                <a:blip r:embed="rId9"/>
                <a:stretch>
                  <a:fillRect l="-881"/>
                </a:stretch>
              </a:blipFill>
            </p:spPr>
            <p:txBody>
              <a:bodyPr/>
              <a:lstStyle/>
              <a:p>
                <a:r>
                  <a:rPr lang="ko-KR" altLang="en-US">
                    <a:noFill/>
                  </a:rPr>
                  <a:t> </a:t>
                </a:r>
              </a:p>
            </p:txBody>
          </p:sp>
        </mc:Fallback>
      </mc:AlternateContent>
      <p:sp>
        <p:nvSpPr>
          <p:cNvPr id="73" name="Rectangle 72"/>
          <p:cNvSpPr/>
          <p:nvPr/>
        </p:nvSpPr>
        <p:spPr>
          <a:xfrm>
            <a:off x="6629400" y="4219590"/>
            <a:ext cx="4800600" cy="880750"/>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4" name="TextBox 73"/>
          <p:cNvSpPr txBox="1"/>
          <p:nvPr/>
        </p:nvSpPr>
        <p:spPr>
          <a:xfrm>
            <a:off x="6793992" y="4345411"/>
            <a:ext cx="447141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정책 입력</a:t>
            </a:r>
          </a:p>
        </p:txBody>
      </p:sp>
      <p:sp>
        <p:nvSpPr>
          <p:cNvPr id="75" name="TextBox 74"/>
          <p:cNvSpPr txBox="1"/>
          <p:nvPr/>
        </p:nvSpPr>
        <p:spPr>
          <a:xfrm>
            <a:off x="6793992" y="4738603"/>
            <a:ext cx="4471416" cy="251642"/>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현재 관측 235D + latent 8D = 243D</a:t>
            </a:r>
          </a:p>
        </p:txBody>
      </p:sp>
      <p:sp>
        <p:nvSpPr>
          <p:cNvPr id="76"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lnSpc>
                <a:spcPct val="100000"/>
              </a:lnSpc>
              <a:spcAft>
                <a:spcPts val="0"/>
              </a:spcAft>
            </a:pPr>
            <a:r>
              <a:rPr sz="1300" b="0" dirty="0" err="1">
                <a:solidFill>
                  <a:srgbClr val="3A3A3A"/>
                </a:solidFill>
                <a:latin typeface="맑은 고딕"/>
                <a:ea typeface="맑은 고딕"/>
                <a:cs typeface="맑은 고딕"/>
              </a:rPr>
              <a:t>관측은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정책이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받는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행동은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관절각</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보정량이다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차원·단위를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정의하고</a:t>
            </a:r>
            <a:r>
              <a:rPr sz="1300" b="0" dirty="0">
                <a:solidFill>
                  <a:srgbClr val="3A3A3A"/>
                </a:solidFill>
                <a:latin typeface="맑은 고딕"/>
                <a:ea typeface="맑은 고딕"/>
                <a:cs typeface="맑은 고딕"/>
              </a:rPr>
              <a:t> PD </a:t>
            </a:r>
            <a:r>
              <a:rPr sz="1300" b="0" dirty="0" err="1">
                <a:solidFill>
                  <a:srgbClr val="3A3A3A"/>
                </a:solidFill>
                <a:latin typeface="맑은 고딕"/>
                <a:ea typeface="맑은 고딕"/>
                <a:cs typeface="맑은 고딕"/>
              </a:rPr>
              <a:t>제어로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연결한다</a:t>
            </a:r>
            <a:r>
              <a:rPr sz="1300" b="0" dirty="0">
                <a:solidFill>
                  <a:srgbClr val="3A3A3A"/>
                </a:solidFill>
                <a:latin typeface="맑은 고딕"/>
                <a:ea typeface="맑은 고딕"/>
                <a:cs typeface="맑은 고딕"/>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11 | </a:t>
            </a:r>
            <a:r>
              <a:rPr sz="2800" b="1" dirty="0" err="1">
                <a:solidFill>
                  <a:srgbClr val="111111"/>
                </a:solidFill>
                <a:latin typeface="맑은 고딕"/>
                <a:ea typeface="맑은 고딕"/>
                <a:cs typeface="맑은 고딕"/>
              </a:rPr>
              <a:t>출력</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저하</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동역학</a:t>
            </a:r>
            <a:r>
              <a:rPr sz="800" b="0" baseline="30000" dirty="0">
                <a:solidFill>
                  <a:srgbClr val="686868"/>
                </a:solidFill>
                <a:latin typeface="맑은 고딕"/>
                <a:ea typeface="맑은 고딕"/>
                <a:cs typeface="맑은 고딕"/>
              </a:rPr>
              <a:t>  1) </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01 제어 문제 · MDP / 관측·행동 / 고장 전이 / 보상</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360566"/>
            <a:ext cx="9902952" cy="126188"/>
          </a:xfrm>
          <a:prstGeom prst="rect">
            <a:avLst/>
          </a:prstGeom>
          <a:noFill/>
        </p:spPr>
        <p:txBody>
          <a:bodyPr wrap="square" lIns="9144" tIns="9144" rIns="9144" bIns="9144" anchor="ctr">
            <a:spAutoFit/>
          </a:bodyPr>
          <a:lstStyle/>
          <a:p>
            <a:pPr algn="l">
              <a:lnSpc>
                <a:spcPct val="100000"/>
              </a:lnSpc>
              <a:spcAft>
                <a:spcPts val="0"/>
              </a:spcAft>
            </a:pPr>
            <a:r>
              <a:rPr sz="700" b="0" dirty="0">
                <a:solidFill>
                  <a:srgbClr val="686868"/>
                </a:solidFill>
                <a:latin typeface="맑은 고딕"/>
                <a:ea typeface="맑은 고딕"/>
                <a:cs typeface="맑은 고딕"/>
              </a:rPr>
              <a:t>1) ADAPT Eq. (7): output degradation model..</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11 / 43</a:t>
            </a:r>
          </a:p>
        </p:txBody>
      </p:sp>
      <p:sp>
        <p:nvSpPr>
          <p:cNvPr id="8" name="v5-content-intro"/>
          <p:cNvSpPr txBox="1"/>
          <p:nvPr/>
        </p:nvSpPr>
        <p:spPr>
          <a:xfrm>
            <a:off x="658368" y="1261872"/>
            <a:ext cx="10881360" cy="473976"/>
          </a:xfrm>
          <a:prstGeom prst="rect">
            <a:avLst/>
          </a:prstGeom>
          <a:noFill/>
        </p:spPr>
        <p:txBody>
          <a:bodyPr wrap="square" lIns="36576" tIns="36576" rIns="36576" bIns="36576" anchor="t">
            <a:spAutoFit/>
          </a:bodyPr>
          <a:lstStyle/>
          <a:p>
            <a:pPr marL="285750" indent="-285750" algn="l">
              <a:spcAft>
                <a:spcPts val="0"/>
              </a:spcAft>
              <a:buFont typeface="Arial" panose="020B0604020202020204" pitchFamily="34" charset="0"/>
              <a:buChar char="•"/>
            </a:pPr>
            <a:r>
              <a:rPr sz="1300" b="0" dirty="0" err="1">
                <a:solidFill>
                  <a:srgbClr val="3A3A3A"/>
                </a:solidFill>
                <a:latin typeface="맑은 고딕"/>
                <a:ea typeface="맑은 고딕"/>
                <a:cs typeface="맑은 고딕"/>
              </a:rPr>
              <a:t>고장</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모델은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전이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과정의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적용</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토크를</a:t>
            </a:r>
            <a:r>
              <a:rPr sz="1300" b="0" dirty="0">
                <a:solidFill>
                  <a:srgbClr val="3A3A3A"/>
                </a:solidFill>
                <a:latin typeface="맑은 고딕"/>
                <a:ea typeface="맑은 고딕"/>
                <a:cs typeface="맑은 고딕"/>
              </a:rPr>
              <a:t> </a:t>
            </a:r>
            <a:r>
              <a:rPr lang="ko-KR" altLang="en-US" sz="1300" b="0" dirty="0">
                <a:solidFill>
                  <a:srgbClr val="3A3A3A"/>
                </a:solidFill>
                <a:latin typeface="맑은 고딕"/>
                <a:ea typeface="맑은 고딕"/>
                <a:cs typeface="맑은 고딕"/>
              </a:rPr>
              <a:t>변경</a:t>
            </a:r>
            <a:r>
              <a:rPr lang="en-US" altLang="ko-KR" sz="1300" b="0" dirty="0">
                <a:solidFill>
                  <a:srgbClr val="3A3A3A"/>
                </a:solidFill>
                <a:latin typeface="맑은 고딕"/>
                <a:ea typeface="맑은 고딕"/>
                <a:cs typeface="맑은 고딕"/>
              </a:rPr>
              <a:t>.</a:t>
            </a:r>
            <a:br>
              <a:rPr lang="en-US" altLang="ko-KR" sz="1300" b="0" dirty="0">
                <a:solidFill>
                  <a:srgbClr val="3A3A3A"/>
                </a:solidFill>
                <a:latin typeface="맑은 고딕"/>
                <a:ea typeface="맑은 고딕"/>
                <a:cs typeface="맑은 고딕"/>
              </a:rPr>
            </a:br>
            <a:r>
              <a:rPr sz="1300" b="0" dirty="0" err="1">
                <a:solidFill>
                  <a:srgbClr val="3A3A3A"/>
                </a:solidFill>
                <a:latin typeface="맑은 고딕"/>
                <a:ea typeface="맑은 고딕"/>
                <a:cs typeface="맑은 고딕"/>
              </a:rPr>
              <a:t>열화율이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커질수록</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해당</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관절이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명령</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토크를</a:t>
            </a:r>
            <a:r>
              <a:rPr sz="1300" b="0" dirty="0">
                <a:solidFill>
                  <a:srgbClr val="3A3A3A"/>
                </a:solidFill>
                <a:latin typeface="맑은 고딕"/>
                <a:ea typeface="맑은 고딕"/>
                <a:cs typeface="맑은 고딕"/>
              </a:rPr>
              <a:t> 덜 </a:t>
            </a:r>
            <a:r>
              <a:rPr sz="1300" b="0" dirty="0" err="1">
                <a:solidFill>
                  <a:srgbClr val="3A3A3A"/>
                </a:solidFill>
                <a:latin typeface="맑은 고딕"/>
                <a:ea typeface="맑은 고딕"/>
                <a:cs typeface="맑은 고딕"/>
              </a:rPr>
              <a:t>낸다</a:t>
            </a:r>
            <a:r>
              <a:rPr sz="1300" b="0" dirty="0">
                <a:solidFill>
                  <a:srgbClr val="3A3A3A"/>
                </a:solidFill>
                <a:latin typeface="맑은 고딕"/>
                <a:ea typeface="맑은 고딕"/>
                <a:cs typeface="맑은 고딕"/>
              </a:rPr>
              <a:t>.</a:t>
            </a:r>
          </a:p>
        </p:txBody>
      </p:sp>
      <mc:AlternateContent xmlns:mc="http://schemas.openxmlformats.org/markup-compatibility/2006" xmlns:a14="http://schemas.microsoft.com/office/drawing/2010/main">
        <mc:Choice Requires="a14">
          <p:sp>
            <p:nvSpPr>
              <p:cNvPr id="9" name="v10-math-3"/>
              <p:cNvSpPr txBox="1"/>
              <p:nvPr/>
            </p:nvSpPr>
            <p:spPr>
              <a:xfrm>
                <a:off x="960120" y="1819656"/>
                <a:ext cx="10332720" cy="521207"/>
              </a:xfrm>
              <a:prstGeom prst="rect">
                <a:avLst/>
              </a:prstGeom>
              <a:noFill/>
            </p:spPr>
            <p:txBody>
              <a:bodyPr wrap="none" lIns="27432" tIns="27432" rIns="27432" bIns="27432" anchor="ctr">
                <a:spAutoFit/>
              </a:bodyPr>
              <a:lstStyle/>
              <a:p>
                <a:pPr algn="ctr"/>
                <a14:m>
                  <m:oMathPara xmlns:m="http://schemas.openxmlformats.org/officeDocument/2006/math">
                    <m:oMath>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𝜏</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𝑐𝑚𝑑</m:t>
                          </m:r>
                        </m:sup>
                      </m:sSubSup>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𝐾</m:t>
                          </m:r>
                        </m:e>
                        <m:sub>
                          <m:r>
                            <a:rPr lang="ko-KR" sz="1800" b="0">
                              <a:solidFill>
                                <a:srgbClr val="222222"/>
                              </a:solidFill>
                              <a:latin typeface="Cambria Math" panose="02040503050406030204" pitchFamily="18" charset="0"/>
                              <a:ea typeface="맑은 고딕"/>
                              <a:cs typeface="맑은 고딕"/>
                            </a:rPr>
                            <m:t>𝑝</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𝑗</m:t>
                          </m:r>
                        </m:sub>
                      </m:sSub>
                      <m:r>
                        <a:rPr lang="ko-KR" sz="1800" b="0">
                          <a:solidFill>
                            <a:srgbClr val="222222"/>
                          </a:solidFill>
                          <a:latin typeface="Cambria Math" panose="02040503050406030204" pitchFamily="18" charset="0"/>
                          <a:ea typeface="맑은 고딕"/>
                          <a:cs typeface="맑은 고딕"/>
                        </a:rPr>
                        <m:t>(</m:t>
                      </m:r>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𝑞</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𝑑𝑒𝑠</m:t>
                          </m:r>
                        </m:sup>
                      </m:sSubSup>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𝑞</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𝐾</m:t>
                          </m:r>
                        </m:e>
                        <m:sub>
                          <m:r>
                            <a:rPr lang="ko-KR" sz="1800" b="0">
                              <a:solidFill>
                                <a:srgbClr val="222222"/>
                              </a:solidFill>
                              <a:latin typeface="Cambria Math" panose="02040503050406030204" pitchFamily="18" charset="0"/>
                              <a:ea typeface="맑은 고딕"/>
                              <a:cs typeface="맑은 고딕"/>
                            </a:rPr>
                            <m:t>𝑑</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𝑗</m:t>
                          </m:r>
                        </m:sub>
                      </m:sSub>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𝑞</m:t>
                          </m:r>
                          <m:r>
                            <a:rPr lang="ko-KR" sz="1800" b="0">
                              <a:solidFill>
                                <a:srgbClr val="222222"/>
                              </a:solidFill>
                              <a:latin typeface="Cambria Math" panose="02040503050406030204" pitchFamily="18" charset="0"/>
                              <a:ea typeface="맑은 고딕"/>
                              <a:cs typeface="맑은 고딕"/>
                            </a:rPr>
                            <m:t>̇</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oMath>
                  </m:oMathPara>
                </a14:m>
                <a:endParaRPr/>
              </a:p>
            </p:txBody>
          </p:sp>
        </mc:Choice>
        <mc:Fallback xmlns="">
          <p:sp>
            <p:nvSpPr>
              <p:cNvPr id="9" name="v10-math-3"/>
              <p:cNvSpPr txBox="1">
                <a:spLocks noRot="1" noChangeAspect="1" noMove="1" noResize="1" noEditPoints="1" noAdjustHandles="1" noChangeArrowheads="1" noChangeShapeType="1" noTextEdit="1"/>
              </p:cNvSpPr>
              <p:nvPr/>
            </p:nvSpPr>
            <p:spPr>
              <a:xfrm>
                <a:off x="960120" y="1819656"/>
                <a:ext cx="10332720" cy="521207"/>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v10-math-4"/>
              <p:cNvSpPr txBox="1"/>
              <p:nvPr/>
            </p:nvSpPr>
            <p:spPr>
              <a:xfrm>
                <a:off x="960120" y="2450592"/>
                <a:ext cx="10332720" cy="521207"/>
              </a:xfrm>
              <a:prstGeom prst="rect">
                <a:avLst/>
              </a:prstGeom>
              <a:noFill/>
            </p:spPr>
            <p:txBody>
              <a:bodyPr wrap="none" lIns="27432" tIns="27432" rIns="27432" bIns="27432" anchor="ctr">
                <a:spAutoFit/>
              </a:bodyPr>
              <a:lstStyle/>
              <a:p>
                <a:pPr algn="ctr"/>
                <a14:m>
                  <m:oMathPara xmlns:m="http://schemas.openxmlformats.org/officeDocument/2006/math">
                    <m:oMath>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𝜏</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𝑎𝑝𝑝𝑙𝑖𝑒𝑑</m:t>
                          </m:r>
                        </m:sup>
                      </m:sSubSup>
                      <m:r>
                        <a:rPr lang="ko-KR" sz="1800" b="0">
                          <a:solidFill>
                            <a:srgbClr val="222222"/>
                          </a:solidFill>
                          <a:latin typeface="Cambria Math" panose="02040503050406030204" pitchFamily="18" charset="0"/>
                          <a:ea typeface="맑은 고딕"/>
                          <a:cs typeface="맑은 고딕"/>
                        </a:rPr>
                        <m:t> = (1 −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𝑑</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m:t>
                      </m:r>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𝜏</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𝑐𝑚𝑑</m:t>
                          </m:r>
                        </m:sup>
                      </m:sSubSup>
                    </m:oMath>
                  </m:oMathPara>
                </a14:m>
                <a:endParaRPr/>
              </a:p>
            </p:txBody>
          </p:sp>
        </mc:Choice>
        <mc:Fallback xmlns="">
          <p:sp>
            <p:nvSpPr>
              <p:cNvPr id="10" name="v10-math-4"/>
              <p:cNvSpPr txBox="1">
                <a:spLocks noRot="1" noChangeAspect="1" noMove="1" noResize="1" noEditPoints="1" noAdjustHandles="1" noChangeArrowheads="1" noChangeShapeType="1" noTextEdit="1"/>
              </p:cNvSpPr>
              <p:nvPr/>
            </p:nvSpPr>
            <p:spPr>
              <a:xfrm>
                <a:off x="960120" y="2450592"/>
                <a:ext cx="10332720" cy="521207"/>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v10-math-5"/>
              <p:cNvSpPr txBox="1"/>
              <p:nvPr/>
            </p:nvSpPr>
            <p:spPr>
              <a:xfrm>
                <a:off x="960120" y="3081528"/>
                <a:ext cx="10332720" cy="521207"/>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𝑑</m:t>
                          </m:r>
                        </m:e>
                        <m:sub>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 = </m:t>
                      </m:r>
                      <m:r>
                        <a:rPr lang="ko-KR" sz="1800" b="0">
                          <a:solidFill>
                            <a:srgbClr val="222222"/>
                          </a:solidFill>
                          <a:latin typeface="Cambria Math" panose="02040503050406030204" pitchFamily="18" charset="0"/>
                          <a:ea typeface="맑은 고딕"/>
                          <a:cs typeface="맑은 고딕"/>
                        </a:rPr>
                        <m:t>𝑑</m:t>
                      </m:r>
                      <m:r>
                        <a:rPr lang="ko-KR" sz="1800" b="0">
                          <a:solidFill>
                            <a:srgbClr val="222222"/>
                          </a:solidFill>
                          <a:latin typeface="Cambria Math" panose="02040503050406030204" pitchFamily="18" charset="0"/>
                          <a:ea typeface="맑은 고딕"/>
                          <a:cs typeface="맑은 고딕"/>
                        </a:rPr>
                        <m:t> · 1{</m:t>
                      </m:r>
                      <m:r>
                        <a:rPr lang="ko-KR" sz="1800" b="0">
                          <a:solidFill>
                            <a:srgbClr val="222222"/>
                          </a:solidFill>
                          <a:latin typeface="Cambria Math" panose="02040503050406030204" pitchFamily="18" charset="0"/>
                          <a:ea typeface="맑은 고딕"/>
                          <a:cs typeface="맑은 고딕"/>
                        </a:rPr>
                        <m:t>𝑗</m:t>
                      </m:r>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𝐽</m:t>
                          </m:r>
                        </m:e>
                        <m:sub>
                          <m:r>
                            <a:rPr lang="ko-KR" sz="1800" b="0">
                              <a:solidFill>
                                <a:srgbClr val="222222"/>
                              </a:solidFill>
                              <a:latin typeface="Cambria Math" panose="02040503050406030204" pitchFamily="18" charset="0"/>
                              <a:ea typeface="맑은 고딕"/>
                              <a:cs typeface="맑은 고딕"/>
                            </a:rPr>
                            <m:t>𝑓</m:t>
                          </m:r>
                        </m:sub>
                      </m:sSub>
                      <m:r>
                        <a:rPr lang="ko-KR" sz="1800" b="0">
                          <a:solidFill>
                            <a:srgbClr val="222222"/>
                          </a:solidFill>
                          <a:latin typeface="Cambria Math" panose="02040503050406030204" pitchFamily="18" charset="0"/>
                          <a:ea typeface="맑은 고딕"/>
                          <a:cs typeface="맑은 고딕"/>
                        </a:rPr>
                        <m:t>, </m:t>
                      </m:r>
                      <m:r>
                        <a:rPr lang="ko-KR" sz="1800" b="0">
                          <a:solidFill>
                            <a:srgbClr val="222222"/>
                          </a:solidFill>
                          <a:latin typeface="Cambria Math" panose="02040503050406030204" pitchFamily="18" charset="0"/>
                          <a:ea typeface="맑은 고딕"/>
                          <a:cs typeface="맑은 고딕"/>
                        </a:rPr>
                        <m:t>𝑡</m:t>
                      </m:r>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𝑇</m:t>
                          </m:r>
                        </m:e>
                        <m:sub>
                          <m:r>
                            <a:rPr lang="ko-KR" sz="1800" b="0">
                              <a:solidFill>
                                <a:srgbClr val="222222"/>
                              </a:solidFill>
                              <a:latin typeface="Cambria Math" panose="02040503050406030204" pitchFamily="18" charset="0"/>
                              <a:ea typeface="맑은 고딕"/>
                              <a:cs typeface="맑은 고딕"/>
                            </a:rPr>
                            <m:t>𝑓</m:t>
                          </m:r>
                        </m:sub>
                      </m:sSub>
                      <m:r>
                        <a:rPr lang="ko-KR" sz="1800" b="0">
                          <a:solidFill>
                            <a:srgbClr val="222222"/>
                          </a:solidFill>
                          <a:latin typeface="Cambria Math" panose="02040503050406030204" pitchFamily="18" charset="0"/>
                          <a:ea typeface="맑은 고딕"/>
                          <a:cs typeface="맑은 고딕"/>
                        </a:rPr>
                        <m:t>},   </m:t>
                      </m:r>
                      <m:r>
                        <a:rPr lang="ko-KR" sz="1800" b="0">
                          <a:solidFill>
                            <a:srgbClr val="222222"/>
                          </a:solidFill>
                          <a:latin typeface="Cambria Math" panose="02040503050406030204" pitchFamily="18" charset="0"/>
                          <a:ea typeface="맑은 고딕"/>
                          <a:cs typeface="맑은 고딕"/>
                        </a:rPr>
                        <m:t>𝑑</m:t>
                      </m:r>
                      <m:r>
                        <a:rPr lang="ko-KR" sz="1800" b="0">
                          <a:solidFill>
                            <a:srgbClr val="222222"/>
                          </a:solidFill>
                          <a:latin typeface="Cambria Math" panose="02040503050406030204" pitchFamily="18" charset="0"/>
                          <a:ea typeface="맑은 고딕"/>
                          <a:cs typeface="맑은 고딕"/>
                        </a:rPr>
                        <m:t> ∈ [0,1]</m:t>
                      </m:r>
                    </m:oMath>
                  </m:oMathPara>
                </a14:m>
                <a:endParaRPr/>
              </a:p>
            </p:txBody>
          </p:sp>
        </mc:Choice>
        <mc:Fallback xmlns="">
          <p:sp>
            <p:nvSpPr>
              <p:cNvPr id="11" name="v10-math-5"/>
              <p:cNvSpPr txBox="1">
                <a:spLocks noRot="1" noChangeAspect="1" noMove="1" noResize="1" noEditPoints="1" noAdjustHandles="1" noChangeArrowheads="1" noChangeShapeType="1" noTextEdit="1"/>
              </p:cNvSpPr>
              <p:nvPr/>
            </p:nvSpPr>
            <p:spPr>
              <a:xfrm>
                <a:off x="960120" y="3081528"/>
                <a:ext cx="10332720" cy="521207"/>
              </a:xfrm>
              <a:prstGeom prst="rect">
                <a:avLst/>
              </a:prstGeom>
              <a:blipFill>
                <a:blip r:embed="rId5"/>
                <a:stretch>
                  <a:fillRect/>
                </a:stretch>
              </a:blipFill>
            </p:spPr>
            <p:txBody>
              <a:bodyPr/>
              <a:lstStyle/>
              <a:p>
                <a:r>
                  <a:rPr lang="ko-KR" altLang="en-US">
                    <a:noFill/>
                  </a:rPr>
                  <a:t> </a:t>
                </a:r>
              </a:p>
            </p:txBody>
          </p:sp>
        </mc:Fallback>
      </mc:AlternateContent>
      <p:sp>
        <p:nvSpPr>
          <p:cNvPr id="12" name="Rectangle 11"/>
          <p:cNvSpPr/>
          <p:nvPr/>
        </p:nvSpPr>
        <p:spPr>
          <a:xfrm>
            <a:off x="640080" y="3822191"/>
            <a:ext cx="2194560" cy="28346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1" y="3858768"/>
            <a:ext cx="2048255" cy="210311"/>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열화율</a:t>
            </a:r>
          </a:p>
        </p:txBody>
      </p:sp>
      <p:sp>
        <p:nvSpPr>
          <p:cNvPr id="14" name="Rectangle 13"/>
          <p:cNvSpPr/>
          <p:nvPr/>
        </p:nvSpPr>
        <p:spPr>
          <a:xfrm>
            <a:off x="2834639" y="3822191"/>
            <a:ext cx="2834640" cy="28346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07791" y="3858768"/>
            <a:ext cx="2688336" cy="210311"/>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남은 출력</a:t>
            </a:r>
          </a:p>
        </p:txBody>
      </p:sp>
      <p:sp>
        <p:nvSpPr>
          <p:cNvPr id="16" name="Rectangle 15"/>
          <p:cNvSpPr/>
          <p:nvPr/>
        </p:nvSpPr>
        <p:spPr>
          <a:xfrm>
            <a:off x="5669279" y="3822191"/>
            <a:ext cx="5943600" cy="28346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42431" y="3858768"/>
            <a:ext cx="5797296" cy="210311"/>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명령 토크의 감소</a:t>
            </a:r>
          </a:p>
        </p:txBody>
      </p:sp>
      <p:sp>
        <p:nvSpPr>
          <p:cNvPr id="18" name="Rectangle 17"/>
          <p:cNvSpPr/>
          <p:nvPr/>
        </p:nvSpPr>
        <p:spPr>
          <a:xfrm>
            <a:off x="640080" y="4105655"/>
            <a:ext cx="219456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1" y="4142231"/>
            <a:ext cx="2048255" cy="210311"/>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0.0</a:t>
            </a:r>
          </a:p>
        </p:txBody>
      </p:sp>
      <p:sp>
        <p:nvSpPr>
          <p:cNvPr id="20" name="Rectangle 19"/>
          <p:cNvSpPr/>
          <p:nvPr/>
        </p:nvSpPr>
        <p:spPr>
          <a:xfrm>
            <a:off x="2834639" y="4105655"/>
            <a:ext cx="283464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07791" y="4142231"/>
            <a:ext cx="268833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100%</a:t>
            </a:r>
          </a:p>
        </p:txBody>
      </p:sp>
      <p:sp>
        <p:nvSpPr>
          <p:cNvPr id="22" name="Rectangle 21"/>
          <p:cNvSpPr/>
          <p:nvPr/>
        </p:nvSpPr>
        <p:spPr>
          <a:xfrm>
            <a:off x="5669279" y="4105655"/>
            <a:ext cx="594360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42431" y="4142231"/>
            <a:ext cx="579729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정상 · 감소 없음</a:t>
            </a:r>
          </a:p>
        </p:txBody>
      </p:sp>
      <p:sp>
        <p:nvSpPr>
          <p:cNvPr id="24" name="Rectangle 23"/>
          <p:cNvSpPr/>
          <p:nvPr/>
        </p:nvSpPr>
        <p:spPr>
          <a:xfrm>
            <a:off x="640080" y="4389120"/>
            <a:ext cx="219456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1" y="4425696"/>
            <a:ext cx="2048255" cy="210311"/>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0.2</a:t>
            </a:r>
          </a:p>
        </p:txBody>
      </p:sp>
      <p:sp>
        <p:nvSpPr>
          <p:cNvPr id="26" name="Rectangle 25"/>
          <p:cNvSpPr/>
          <p:nvPr/>
        </p:nvSpPr>
        <p:spPr>
          <a:xfrm>
            <a:off x="2834639" y="4389120"/>
            <a:ext cx="283464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07791" y="4425696"/>
            <a:ext cx="268833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80%</a:t>
            </a:r>
          </a:p>
        </p:txBody>
      </p:sp>
      <p:sp>
        <p:nvSpPr>
          <p:cNvPr id="28" name="Rectangle 27"/>
          <p:cNvSpPr/>
          <p:nvPr/>
        </p:nvSpPr>
        <p:spPr>
          <a:xfrm>
            <a:off x="5669279" y="4389120"/>
            <a:ext cx="594360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42431" y="4425696"/>
            <a:ext cx="579729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20% 감소</a:t>
            </a:r>
          </a:p>
        </p:txBody>
      </p:sp>
      <p:sp>
        <p:nvSpPr>
          <p:cNvPr id="30" name="Rectangle 29"/>
          <p:cNvSpPr/>
          <p:nvPr/>
        </p:nvSpPr>
        <p:spPr>
          <a:xfrm>
            <a:off x="640080" y="4672583"/>
            <a:ext cx="219456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3231" y="4709159"/>
            <a:ext cx="2048255" cy="210311"/>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0.4</a:t>
            </a:r>
          </a:p>
        </p:txBody>
      </p:sp>
      <p:sp>
        <p:nvSpPr>
          <p:cNvPr id="32" name="Rectangle 31"/>
          <p:cNvSpPr/>
          <p:nvPr/>
        </p:nvSpPr>
        <p:spPr>
          <a:xfrm>
            <a:off x="2834639" y="4672583"/>
            <a:ext cx="283464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07791" y="4709159"/>
            <a:ext cx="268833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60%</a:t>
            </a:r>
          </a:p>
        </p:txBody>
      </p:sp>
      <p:sp>
        <p:nvSpPr>
          <p:cNvPr id="34" name="Rectangle 33"/>
          <p:cNvSpPr/>
          <p:nvPr/>
        </p:nvSpPr>
        <p:spPr>
          <a:xfrm>
            <a:off x="5669279" y="4672583"/>
            <a:ext cx="594360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42431" y="4709159"/>
            <a:ext cx="579729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40% 감소</a:t>
            </a:r>
          </a:p>
        </p:txBody>
      </p:sp>
      <p:sp>
        <p:nvSpPr>
          <p:cNvPr id="36" name="Rectangle 35"/>
          <p:cNvSpPr/>
          <p:nvPr/>
        </p:nvSpPr>
        <p:spPr>
          <a:xfrm>
            <a:off x="640080" y="4956048"/>
            <a:ext cx="219456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3231" y="4992624"/>
            <a:ext cx="2048255" cy="210311"/>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0.6</a:t>
            </a:r>
          </a:p>
        </p:txBody>
      </p:sp>
      <p:sp>
        <p:nvSpPr>
          <p:cNvPr id="38" name="Rectangle 37"/>
          <p:cNvSpPr/>
          <p:nvPr/>
        </p:nvSpPr>
        <p:spPr>
          <a:xfrm>
            <a:off x="2834639" y="4956048"/>
            <a:ext cx="283464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07791" y="4992624"/>
            <a:ext cx="268833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40%</a:t>
            </a:r>
          </a:p>
        </p:txBody>
      </p:sp>
      <p:sp>
        <p:nvSpPr>
          <p:cNvPr id="40" name="Rectangle 39"/>
          <p:cNvSpPr/>
          <p:nvPr/>
        </p:nvSpPr>
        <p:spPr>
          <a:xfrm>
            <a:off x="5669279" y="4956048"/>
            <a:ext cx="594360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742431" y="4992624"/>
            <a:ext cx="579729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60% 감소</a:t>
            </a:r>
          </a:p>
        </p:txBody>
      </p:sp>
      <p:sp>
        <p:nvSpPr>
          <p:cNvPr id="42" name="Rectangle 41"/>
          <p:cNvSpPr/>
          <p:nvPr/>
        </p:nvSpPr>
        <p:spPr>
          <a:xfrm>
            <a:off x="640080" y="5239512"/>
            <a:ext cx="219456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3231" y="5276088"/>
            <a:ext cx="2048255" cy="210311"/>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0.8</a:t>
            </a:r>
          </a:p>
        </p:txBody>
      </p:sp>
      <p:sp>
        <p:nvSpPr>
          <p:cNvPr id="44" name="Rectangle 43"/>
          <p:cNvSpPr/>
          <p:nvPr/>
        </p:nvSpPr>
        <p:spPr>
          <a:xfrm>
            <a:off x="2834639" y="5239512"/>
            <a:ext cx="283464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907791" y="5276088"/>
            <a:ext cx="268833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20%</a:t>
            </a:r>
          </a:p>
        </p:txBody>
      </p:sp>
      <p:sp>
        <p:nvSpPr>
          <p:cNvPr id="46" name="Rectangle 45"/>
          <p:cNvSpPr/>
          <p:nvPr/>
        </p:nvSpPr>
        <p:spPr>
          <a:xfrm>
            <a:off x="5669279" y="5239512"/>
            <a:ext cx="5943600" cy="2834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742431" y="5276088"/>
            <a:ext cx="579729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80% 감소</a:t>
            </a:r>
          </a:p>
        </p:txBody>
      </p:sp>
      <p:sp>
        <p:nvSpPr>
          <p:cNvPr id="48" name="Rectangle 47"/>
          <p:cNvSpPr/>
          <p:nvPr/>
        </p:nvSpPr>
        <p:spPr>
          <a:xfrm>
            <a:off x="640080" y="5522975"/>
            <a:ext cx="219456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3231" y="5559551"/>
            <a:ext cx="2048255" cy="210311"/>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1.0</a:t>
            </a:r>
          </a:p>
        </p:txBody>
      </p:sp>
      <p:sp>
        <p:nvSpPr>
          <p:cNvPr id="50" name="Rectangle 49"/>
          <p:cNvSpPr/>
          <p:nvPr/>
        </p:nvSpPr>
        <p:spPr>
          <a:xfrm>
            <a:off x="2834639" y="5522975"/>
            <a:ext cx="283464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907791" y="5559551"/>
            <a:ext cx="268833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0%</a:t>
            </a:r>
          </a:p>
        </p:txBody>
      </p:sp>
      <p:sp>
        <p:nvSpPr>
          <p:cNvPr id="52" name="Rectangle 51"/>
          <p:cNvSpPr/>
          <p:nvPr/>
        </p:nvSpPr>
        <p:spPr>
          <a:xfrm>
            <a:off x="5669279" y="5522975"/>
            <a:ext cx="5943600" cy="2834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742431" y="5559551"/>
            <a:ext cx="5797296" cy="210311"/>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100% 감소 · 명령 토크 제거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12 | 보상함수의 구성</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01 제어 문제 · MDP / 관측·행동 / 고장 전이 / 보상</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00" b="0">
                <a:solidFill>
                  <a:srgbClr val="686868"/>
                </a:solidFill>
                <a:latin typeface="맑은 고딕"/>
                <a:ea typeface="맑은 고딕"/>
                <a:cs typeface="맑은 고딕"/>
              </a:rPr>
              <a:t>1) Saved JT resolved_config.json: environment.rewards.   2) legged_robot.py: compute_reward / _prepare_reward_function.</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12 / 43</a:t>
            </a:r>
          </a:p>
        </p:txBody>
      </p:sp>
      <p:sp>
        <p:nvSpPr>
          <p:cNvPr id="8" name="v5-content-intro"/>
          <p:cNvSpPr txBox="1"/>
          <p:nvPr/>
        </p:nvSpPr>
        <p:spPr>
          <a:xfrm>
            <a:off x="658368" y="1280160"/>
            <a:ext cx="10881360" cy="504754"/>
          </a:xfrm>
          <a:prstGeom prst="rect">
            <a:avLst/>
          </a:prstGeom>
          <a:noFill/>
        </p:spPr>
        <p:txBody>
          <a:bodyPr wrap="square" lIns="36576" tIns="36576" rIns="36576" bIns="36576" anchor="t">
            <a:spAutoFit/>
          </a:bodyPr>
          <a:lstStyle/>
          <a:p>
            <a:pPr algn="l">
              <a:spcAft>
                <a:spcPts val="0"/>
              </a:spcAft>
            </a:pPr>
            <a:r>
              <a:rPr sz="1400" b="0" dirty="0" err="1">
                <a:solidFill>
                  <a:srgbClr val="3A3A3A"/>
                </a:solidFill>
                <a:latin typeface="맑은 고딕"/>
                <a:ea typeface="맑은 고딕"/>
                <a:cs typeface="맑은 고딕"/>
              </a:rPr>
              <a:t>MDP는</a:t>
            </a:r>
            <a:r>
              <a:rPr sz="1400" b="0" dirty="0">
                <a:solidFill>
                  <a:srgbClr val="3A3A3A"/>
                </a:solidFill>
                <a:latin typeface="맑은 고딕"/>
                <a:ea typeface="맑은 고딕"/>
                <a:cs typeface="맑은 고딕"/>
              </a:rPr>
              <a:t> 매 </a:t>
            </a:r>
            <a:r>
              <a:rPr sz="1400" b="0" dirty="0" err="1">
                <a:solidFill>
                  <a:srgbClr val="3A3A3A"/>
                </a:solidFill>
                <a:latin typeface="맑은 고딕"/>
                <a:ea typeface="맑은 고딕"/>
                <a:cs typeface="맑은 고딕"/>
              </a:rPr>
              <a:t>step에</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스칼라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보상</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하나를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받지만</a:t>
            </a:r>
            <a:r>
              <a:rPr sz="1400" b="0" dirty="0">
                <a:solidFill>
                  <a:srgbClr val="3A3A3A"/>
                </a:solidFill>
                <a:latin typeface="맑은 고딕"/>
                <a:ea typeface="맑은 고딕"/>
                <a:cs typeface="맑은 고딕"/>
              </a:rPr>
              <a:t>, 그 </a:t>
            </a:r>
            <a:r>
              <a:rPr sz="1400" b="0" dirty="0" err="1">
                <a:solidFill>
                  <a:srgbClr val="3A3A3A"/>
                </a:solidFill>
                <a:latin typeface="맑은 고딕"/>
                <a:ea typeface="맑은 고딕"/>
                <a:cs typeface="맑은 고딕"/>
              </a:rPr>
              <a:t>값은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아래</a:t>
            </a:r>
            <a:r>
              <a:rPr sz="1400" b="0" dirty="0">
                <a:solidFill>
                  <a:srgbClr val="3A3A3A"/>
                </a:solidFill>
                <a:latin typeface="맑은 고딕"/>
                <a:ea typeface="맑은 고딕"/>
                <a:cs typeface="맑은 고딕"/>
              </a:rPr>
              <a:t> 10개 </a:t>
            </a:r>
            <a:r>
              <a:rPr sz="1400" b="0" dirty="0" err="1">
                <a:solidFill>
                  <a:srgbClr val="3A3A3A"/>
                </a:solidFill>
                <a:latin typeface="맑은 고딕"/>
                <a:ea typeface="맑은 고딕"/>
                <a:cs typeface="맑은 고딕"/>
              </a:rPr>
              <a:t>항의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가중합이다</a:t>
            </a:r>
            <a:r>
              <a:rPr sz="1400" b="0" dirty="0">
                <a:solidFill>
                  <a:srgbClr val="3A3A3A"/>
                </a:solidFill>
                <a:latin typeface="맑은 고딕"/>
                <a:ea typeface="맑은 고딕"/>
                <a:cs typeface="맑은 고딕"/>
              </a:rPr>
              <a:t>.</a:t>
            </a:r>
            <a:endParaRPr lang="en-US" sz="1400" b="0" dirty="0">
              <a:solidFill>
                <a:srgbClr val="3A3A3A"/>
              </a:solidFill>
              <a:latin typeface="맑은 고딕"/>
              <a:ea typeface="맑은 고딕"/>
              <a:cs typeface="맑은 고딕"/>
            </a:endParaRPr>
          </a:p>
          <a:p>
            <a:pPr algn="l">
              <a:spcAft>
                <a:spcPts val="0"/>
              </a:spcAft>
            </a:pPr>
            <a:endParaRPr sz="1400" b="0" dirty="0">
              <a:solidFill>
                <a:srgbClr val="3A3A3A"/>
              </a:solidFill>
              <a:latin typeface="맑은 고딕"/>
              <a:ea typeface="맑은 고딕"/>
              <a:cs typeface="맑은 고딕"/>
            </a:endParaRPr>
          </a:p>
        </p:txBody>
      </p:sp>
      <mc:AlternateContent xmlns:mc="http://schemas.openxmlformats.org/markup-compatibility/2006" xmlns:a14="http://schemas.microsoft.com/office/drawing/2010/main">
        <mc:Choice Requires="a14">
          <p:sp>
            <p:nvSpPr>
              <p:cNvPr id="9" name="v7-math-5"/>
              <p:cNvSpPr txBox="1"/>
              <p:nvPr/>
            </p:nvSpPr>
            <p:spPr>
              <a:xfrm>
                <a:off x="777240" y="1810512"/>
                <a:ext cx="10607040" cy="667512"/>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𝑟</m:t>
                          </m:r>
                        </m:e>
                        <m:sub>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 = </m:t>
                      </m:r>
                      <m:r>
                        <a:rPr lang="ko-KR" sz="1800" b="0">
                          <a:solidFill>
                            <a:srgbClr val="222222"/>
                          </a:solidFill>
                          <a:latin typeface="Cambria Math" panose="02040503050406030204" pitchFamily="18" charset="0"/>
                          <a:ea typeface="맑은 고딕"/>
                          <a:cs typeface="맑은 고딕"/>
                        </a:rPr>
                        <m:t>𝑚𝑎𝑥</m:t>
                      </m:r>
                      <m:r>
                        <a:rPr lang="ko-KR" sz="1800" b="0">
                          <a:solidFill>
                            <a:srgbClr val="222222"/>
                          </a:solidFill>
                          <a:latin typeface="Cambria Math" panose="02040503050406030204" pitchFamily="18" charset="0"/>
                          <a:ea typeface="맑은 고딕"/>
                          <a:cs typeface="맑은 고딕"/>
                        </a:rPr>
                        <m:t>(0, </m:t>
                      </m:r>
                      <m:r>
                        <a:rPr lang="ko-KR" sz="1800" b="0">
                          <a:solidFill>
                            <a:srgbClr val="222222"/>
                          </a:solidFill>
                          <a:latin typeface="Cambria Math" panose="02040503050406030204" pitchFamily="18" charset="0"/>
                          <a:ea typeface="맑은 고딕"/>
                          <a:cs typeface="맑은 고딕"/>
                        </a:rPr>
                        <m:t>𝛥</m:t>
                      </m:r>
                      <m:r>
                        <a:rPr lang="ko-KR" sz="1800" b="0">
                          <a:solidFill>
                            <a:srgbClr val="222222"/>
                          </a:solidFill>
                          <a:latin typeface="Cambria Math" panose="02040503050406030204" pitchFamily="18" charset="0"/>
                          <a:ea typeface="맑은 고딕"/>
                          <a:cs typeface="맑은 고딕"/>
                        </a:rPr>
                        <m:t>𝑡</m:t>
                      </m:r>
                      <m:r>
                        <a:rPr lang="ko-KR" sz="1800" b="0">
                          <a:solidFill>
                            <a:srgbClr val="222222"/>
                          </a:solidFill>
                          <a:latin typeface="Cambria Math" panose="02040503050406030204" pitchFamily="18" charset="0"/>
                          <a:ea typeface="맑은 고딕"/>
                          <a:cs typeface="맑은 고딕"/>
                        </a:rPr>
                        <m:t> </m:t>
                      </m:r>
                      <m:nary>
                        <m:naryPr>
                          <m:chr m:val="∑"/>
                          <m:limLoc m:val="undOvr"/>
                          <m:ctrlPr>
                            <a:rPr lang="ko-KR" sz="1800" b="0">
                              <a:solidFill>
                                <a:srgbClr val="222222"/>
                              </a:solidFill>
                              <a:latin typeface="Cambria Math" panose="02040503050406030204" pitchFamily="18" charset="0"/>
                              <a:ea typeface="맑은 고딕"/>
                              <a:cs typeface="맑은 고딕"/>
                            </a:rPr>
                          </m:ctrlPr>
                        </m:naryPr>
                        <m:sub>
                          <m:r>
                            <a:rPr lang="ko-KR" sz="1800" b="0">
                              <a:solidFill>
                                <a:srgbClr val="222222"/>
                              </a:solidFill>
                              <a:latin typeface="Cambria Math" panose="02040503050406030204" pitchFamily="18" charset="0"/>
                              <a:ea typeface="맑은 고딕"/>
                              <a:cs typeface="맑은 고딕"/>
                            </a:rPr>
                            <m:t>𝑖</m:t>
                          </m:r>
                          <m:r>
                            <a:rPr lang="ko-KR" sz="1800" b="0">
                              <a:solidFill>
                                <a:srgbClr val="222222"/>
                              </a:solidFill>
                              <a:latin typeface="Cambria Math" panose="02040503050406030204" pitchFamily="18" charset="0"/>
                              <a:ea typeface="맑은 고딕"/>
                              <a:cs typeface="맑은 고딕"/>
                            </a:rPr>
                            <m:t>=1</m:t>
                          </m:r>
                        </m:sub>
                        <m:sup>
                          <m:r>
                            <a:rPr lang="ko-KR" sz="1800" b="0">
                              <a:solidFill>
                                <a:srgbClr val="222222"/>
                              </a:solidFill>
                              <a:latin typeface="Cambria Math" panose="02040503050406030204" pitchFamily="18" charset="0"/>
                              <a:ea typeface="맑은 고딕"/>
                              <a:cs typeface="맑은 고딕"/>
                            </a:rPr>
                            <m:t>10</m:t>
                          </m:r>
                        </m:sup>
                        <m:e>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𝑤</m:t>
                              </m:r>
                            </m:e>
                            <m:sub>
                              <m:r>
                                <a:rPr lang="ko-KR" sz="1800" b="0">
                                  <a:solidFill>
                                    <a:srgbClr val="222222"/>
                                  </a:solidFill>
                                  <a:latin typeface="Cambria Math" panose="02040503050406030204" pitchFamily="18" charset="0"/>
                                  <a:ea typeface="맑은 고딕"/>
                                  <a:cs typeface="맑은 고딕"/>
                                </a:rPr>
                                <m:t>𝑖</m:t>
                              </m:r>
                            </m:sub>
                          </m:sSub>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𝑓</m:t>
                              </m:r>
                            </m:e>
                            <m:sub>
                              <m:r>
                                <a:rPr lang="ko-KR" sz="1800" b="0">
                                  <a:solidFill>
                                    <a:srgbClr val="222222"/>
                                  </a:solidFill>
                                  <a:latin typeface="Cambria Math" panose="02040503050406030204" pitchFamily="18" charset="0"/>
                                  <a:ea typeface="맑은 고딕"/>
                                  <a:cs typeface="맑은 고딕"/>
                                </a:rPr>
                                <m:t>𝑖</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e>
                      </m:nary>
                      <m:r>
                        <a:rPr lang="ko-KR" sz="1800" b="0">
                          <a:solidFill>
                            <a:srgbClr val="222222"/>
                          </a:solidFill>
                          <a:latin typeface="Cambria Math" panose="02040503050406030204" pitchFamily="18" charset="0"/>
                          <a:ea typeface="맑은 고딕"/>
                          <a:cs typeface="맑은 고딕"/>
                        </a:rPr>
                        <m:t>),    </m:t>
                      </m:r>
                      <m:r>
                        <a:rPr lang="ko-KR" sz="1800" b="0">
                          <a:solidFill>
                            <a:srgbClr val="222222"/>
                          </a:solidFill>
                          <a:latin typeface="Cambria Math" panose="02040503050406030204" pitchFamily="18" charset="0"/>
                          <a:ea typeface="맑은 고딕"/>
                          <a:cs typeface="맑은 고딕"/>
                        </a:rPr>
                        <m:t>𝛥</m:t>
                      </m:r>
                      <m:r>
                        <a:rPr lang="ko-KR" sz="1800" b="0">
                          <a:solidFill>
                            <a:srgbClr val="222222"/>
                          </a:solidFill>
                          <a:latin typeface="Cambria Math" panose="02040503050406030204" pitchFamily="18" charset="0"/>
                          <a:ea typeface="맑은 고딕"/>
                          <a:cs typeface="맑은 고딕"/>
                        </a:rPr>
                        <m:t>𝑡</m:t>
                      </m:r>
                      <m:r>
                        <a:rPr lang="ko-KR" sz="1800" b="0">
                          <a:solidFill>
                            <a:srgbClr val="222222"/>
                          </a:solidFill>
                          <a:latin typeface="Cambria Math" panose="02040503050406030204" pitchFamily="18" charset="0"/>
                          <a:ea typeface="맑은 고딕"/>
                          <a:cs typeface="맑은 고딕"/>
                        </a:rPr>
                        <m:t> = 0.02 </m:t>
                      </m:r>
                      <m:r>
                        <a:rPr lang="ko-KR" sz="1800" b="0">
                          <a:solidFill>
                            <a:srgbClr val="222222"/>
                          </a:solidFill>
                          <a:latin typeface="Cambria Math" panose="02040503050406030204" pitchFamily="18" charset="0"/>
                          <a:ea typeface="맑은 고딕"/>
                          <a:cs typeface="맑은 고딕"/>
                        </a:rPr>
                        <m:t>𝑠</m:t>
                      </m:r>
                    </m:oMath>
                  </m:oMathPara>
                </a14:m>
                <a:endParaRPr/>
              </a:p>
            </p:txBody>
          </p:sp>
        </mc:Choice>
        <mc:Fallback xmlns="">
          <p:sp>
            <p:nvSpPr>
              <p:cNvPr id="9" name="v7-math-5"/>
              <p:cNvSpPr txBox="1">
                <a:spLocks noRot="1" noChangeAspect="1" noMove="1" noResize="1" noEditPoints="1" noAdjustHandles="1" noChangeArrowheads="1" noChangeShapeType="1" noTextEdit="1"/>
              </p:cNvSpPr>
              <p:nvPr/>
            </p:nvSpPr>
            <p:spPr>
              <a:xfrm>
                <a:off x="777240" y="1810512"/>
                <a:ext cx="10607040" cy="667512"/>
              </a:xfrm>
              <a:prstGeom prst="rect">
                <a:avLst/>
              </a:prstGeom>
              <a:blipFill>
                <a:blip r:embed="rId3"/>
                <a:stretch>
                  <a:fillRect t="-4545" b="-7273"/>
                </a:stretch>
              </a:blipFill>
            </p:spPr>
            <p:txBody>
              <a:bodyPr/>
              <a:lstStyle/>
              <a:p>
                <a:r>
                  <a:rPr lang="ko-KR" altLang="en-US">
                    <a:noFill/>
                  </a:rPr>
                  <a:t> </a:t>
                </a:r>
              </a:p>
            </p:txBody>
          </p:sp>
        </mc:Fallback>
      </mc:AlternateContent>
      <p:sp>
        <p:nvSpPr>
          <p:cNvPr id="10" name="Rectangle 9"/>
          <p:cNvSpPr/>
          <p:nvPr/>
        </p:nvSpPr>
        <p:spPr>
          <a:xfrm>
            <a:off x="640080" y="2670048"/>
            <a:ext cx="2057400" cy="2788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1" y="2706624"/>
            <a:ext cx="1911095" cy="205739"/>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항</a:t>
            </a:r>
          </a:p>
        </p:txBody>
      </p:sp>
      <p:sp>
        <p:nvSpPr>
          <p:cNvPr id="12" name="Rectangle 11"/>
          <p:cNvSpPr/>
          <p:nvPr/>
        </p:nvSpPr>
        <p:spPr>
          <a:xfrm>
            <a:off x="2697480" y="2670048"/>
            <a:ext cx="7205472" cy="2788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70632" y="2706624"/>
            <a:ext cx="7059168" cy="205739"/>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의도 / 정의 요약</a:t>
            </a:r>
          </a:p>
        </p:txBody>
      </p:sp>
      <p:sp>
        <p:nvSpPr>
          <p:cNvPr id="14" name="Rectangle 13"/>
          <p:cNvSpPr/>
          <p:nvPr/>
        </p:nvSpPr>
        <p:spPr>
          <a:xfrm>
            <a:off x="9902952" y="2670048"/>
            <a:ext cx="1709928" cy="2788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976104" y="2706624"/>
            <a:ext cx="1563624" cy="205739"/>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설정 계수</a:t>
            </a:r>
          </a:p>
        </p:txBody>
      </p:sp>
      <p:sp>
        <p:nvSpPr>
          <p:cNvPr id="16" name="Rectangle 15"/>
          <p:cNvSpPr/>
          <p:nvPr/>
        </p:nvSpPr>
        <p:spPr>
          <a:xfrm>
            <a:off x="640080" y="2948940"/>
            <a:ext cx="2057400"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1" y="2985516"/>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평면 선속도 추종</a:t>
            </a:r>
          </a:p>
        </p:txBody>
      </p:sp>
      <p:sp>
        <p:nvSpPr>
          <p:cNvPr id="18" name="Rectangle 17"/>
          <p:cNvSpPr/>
          <p:nvPr/>
        </p:nvSpPr>
        <p:spPr>
          <a:xfrm>
            <a:off x="2697480" y="2948940"/>
            <a:ext cx="7205472"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70632" y="2985516"/>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평면 명령 속도와 실제 속도의 오차를 지수 보상으로 변환</a:t>
            </a:r>
          </a:p>
        </p:txBody>
      </p:sp>
      <p:sp>
        <p:nvSpPr>
          <p:cNvPr id="20" name="Rectangle 19"/>
          <p:cNvSpPr/>
          <p:nvPr/>
        </p:nvSpPr>
        <p:spPr>
          <a:xfrm>
            <a:off x="9902952" y="2948940"/>
            <a:ext cx="1709928"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976104" y="2985516"/>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+1.0</a:t>
            </a:r>
          </a:p>
        </p:txBody>
      </p:sp>
      <p:sp>
        <p:nvSpPr>
          <p:cNvPr id="22" name="Rectangle 21"/>
          <p:cNvSpPr/>
          <p:nvPr/>
        </p:nvSpPr>
        <p:spPr>
          <a:xfrm>
            <a:off x="640080" y="3227832"/>
            <a:ext cx="2057400"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1" y="3264408"/>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yaw 각속도 추종</a:t>
            </a:r>
          </a:p>
        </p:txBody>
      </p:sp>
      <p:sp>
        <p:nvSpPr>
          <p:cNvPr id="24" name="Rectangle 23"/>
          <p:cNvSpPr/>
          <p:nvPr/>
        </p:nvSpPr>
        <p:spPr>
          <a:xfrm>
            <a:off x="2697480" y="3227832"/>
            <a:ext cx="7205472"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70632" y="3264408"/>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명령 yaw rate와 실제 yaw rate의 오차를 지수 보상으로 변환</a:t>
            </a:r>
          </a:p>
        </p:txBody>
      </p:sp>
      <p:sp>
        <p:nvSpPr>
          <p:cNvPr id="26" name="Rectangle 25"/>
          <p:cNvSpPr/>
          <p:nvPr/>
        </p:nvSpPr>
        <p:spPr>
          <a:xfrm>
            <a:off x="9902952" y="3227832"/>
            <a:ext cx="1709928"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76104" y="3264408"/>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+0.5</a:t>
            </a:r>
          </a:p>
        </p:txBody>
      </p:sp>
      <p:sp>
        <p:nvSpPr>
          <p:cNvPr id="28" name="Rectangle 27"/>
          <p:cNvSpPr/>
          <p:nvPr/>
        </p:nvSpPr>
        <p:spPr>
          <a:xfrm>
            <a:off x="640080" y="3506724"/>
            <a:ext cx="2057400"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1" y="3543300"/>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수직 속도</a:t>
            </a:r>
          </a:p>
        </p:txBody>
      </p:sp>
      <p:sp>
        <p:nvSpPr>
          <p:cNvPr id="30" name="Rectangle 29"/>
          <p:cNvSpPr/>
          <p:nvPr/>
        </p:nvSpPr>
        <p:spPr>
          <a:xfrm>
            <a:off x="2697480" y="3506724"/>
            <a:ext cx="7205472"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70632" y="3543300"/>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몸체 수직 속도의 제곱</a:t>
            </a:r>
          </a:p>
        </p:txBody>
      </p:sp>
      <p:sp>
        <p:nvSpPr>
          <p:cNvPr id="32" name="Rectangle 31"/>
          <p:cNvSpPr/>
          <p:nvPr/>
        </p:nvSpPr>
        <p:spPr>
          <a:xfrm>
            <a:off x="9902952" y="3506724"/>
            <a:ext cx="1709928"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976104" y="3543300"/>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−2.0</a:t>
            </a:r>
          </a:p>
        </p:txBody>
      </p:sp>
      <p:sp>
        <p:nvSpPr>
          <p:cNvPr id="34" name="Rectangle 33"/>
          <p:cNvSpPr/>
          <p:nvPr/>
        </p:nvSpPr>
        <p:spPr>
          <a:xfrm>
            <a:off x="640080" y="3785615"/>
            <a:ext cx="2057400"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1" y="3822191"/>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roll·pitch 각속도</a:t>
            </a:r>
          </a:p>
        </p:txBody>
      </p:sp>
      <p:sp>
        <p:nvSpPr>
          <p:cNvPr id="36" name="Rectangle 35"/>
          <p:cNvSpPr/>
          <p:nvPr/>
        </p:nvSpPr>
        <p:spPr>
          <a:xfrm>
            <a:off x="2697480" y="3785615"/>
            <a:ext cx="7205472"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70632" y="3822191"/>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몸체 roll·pitch 각속도 제곱합</a:t>
            </a:r>
          </a:p>
        </p:txBody>
      </p:sp>
      <p:sp>
        <p:nvSpPr>
          <p:cNvPr id="38" name="Rectangle 37"/>
          <p:cNvSpPr/>
          <p:nvPr/>
        </p:nvSpPr>
        <p:spPr>
          <a:xfrm>
            <a:off x="9902952" y="3785615"/>
            <a:ext cx="1709928"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76104" y="3822191"/>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−0.05</a:t>
            </a:r>
          </a:p>
        </p:txBody>
      </p:sp>
      <p:sp>
        <p:nvSpPr>
          <p:cNvPr id="40" name="Rectangle 39"/>
          <p:cNvSpPr/>
          <p:nvPr/>
        </p:nvSpPr>
        <p:spPr>
          <a:xfrm>
            <a:off x="640080" y="4064508"/>
            <a:ext cx="2057400"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3231" y="4101084"/>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토크</a:t>
            </a:r>
          </a:p>
        </p:txBody>
      </p:sp>
      <p:sp>
        <p:nvSpPr>
          <p:cNvPr id="42" name="Rectangle 41"/>
          <p:cNvSpPr/>
          <p:nvPr/>
        </p:nvSpPr>
        <p:spPr>
          <a:xfrm>
            <a:off x="2697480" y="4064508"/>
            <a:ext cx="7205472"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70632" y="4101084"/>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12개 관절에 적용된 토크의 제곱합</a:t>
            </a:r>
          </a:p>
        </p:txBody>
      </p:sp>
      <p:sp>
        <p:nvSpPr>
          <p:cNvPr id="44" name="Rectangle 43"/>
          <p:cNvSpPr/>
          <p:nvPr/>
        </p:nvSpPr>
        <p:spPr>
          <a:xfrm>
            <a:off x="9902952" y="4064508"/>
            <a:ext cx="1709928"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5" name="v7-math-6"/>
              <p:cNvSpPr txBox="1"/>
              <p:nvPr/>
            </p:nvSpPr>
            <p:spPr>
              <a:xfrm>
                <a:off x="9976104" y="4101084"/>
                <a:ext cx="1563624" cy="205739"/>
              </a:xfrm>
              <a:prstGeom prst="rect">
                <a:avLst/>
              </a:prstGeom>
              <a:noFill/>
            </p:spPr>
            <p:txBody>
              <a:bodyPr wrap="none" lIns="18288" tIns="9144" rIns="18288" bIns="9144" anchor="ctr">
                <a:spAutoFit/>
              </a:bodyPr>
              <a:lstStyle/>
              <a:p>
                <a:pPr algn="ctr">
                  <a:spcAft>
                    <a:spcPts val="0"/>
                  </a:spcAft>
                </a:pPr>
                <a14:m>
                  <m:oMathPara xmlns:m="http://schemas.openxmlformats.org/officeDocument/2006/math">
                    <m:oMath>
                      <m:r>
                        <a:rPr lang="ko-KR" sz="1100" b="0">
                          <a:solidFill>
                            <a:srgbClr val="222222"/>
                          </a:solidFill>
                          <a:latin typeface="Cambria Math" panose="02040503050406030204" pitchFamily="18" charset="0"/>
                          <a:ea typeface="맑은 고딕"/>
                          <a:cs typeface="맑은 고딕"/>
                        </a:rPr>
                        <m:t>−2 × </m:t>
                      </m:r>
                      <m:sSup>
                        <m:sSupPr>
                          <m:ctrlPr>
                            <a:rPr lang="ko-KR" sz="1100" b="0">
                              <a:solidFill>
                                <a:srgbClr val="222222"/>
                              </a:solidFill>
                              <a:latin typeface="Cambria Math" panose="02040503050406030204" pitchFamily="18" charset="0"/>
                              <a:ea typeface="맑은 고딕"/>
                              <a:cs typeface="맑은 고딕"/>
                            </a:rPr>
                          </m:ctrlPr>
                        </m:sSupPr>
                        <m:e>
                          <m:r>
                            <a:rPr lang="ko-KR" sz="1100" b="0">
                              <a:solidFill>
                                <a:srgbClr val="222222"/>
                              </a:solidFill>
                              <a:latin typeface="Cambria Math" panose="02040503050406030204" pitchFamily="18" charset="0"/>
                              <a:ea typeface="맑은 고딕"/>
                              <a:cs typeface="맑은 고딕"/>
                            </a:rPr>
                            <m:t>10</m:t>
                          </m:r>
                        </m:e>
                        <m:sup>
                          <m:r>
                            <a:rPr lang="ko-KR" sz="1100" b="0">
                              <a:solidFill>
                                <a:srgbClr val="222222"/>
                              </a:solidFill>
                              <a:latin typeface="Cambria Math" panose="02040503050406030204" pitchFamily="18" charset="0"/>
                              <a:ea typeface="맑은 고딕"/>
                              <a:cs typeface="맑은 고딕"/>
                            </a:rPr>
                            <m:t>−4</m:t>
                          </m:r>
                        </m:sup>
                      </m:sSup>
                    </m:oMath>
                  </m:oMathPara>
                </a14:m>
                <a:endParaRPr/>
              </a:p>
            </p:txBody>
          </p:sp>
        </mc:Choice>
        <mc:Fallback xmlns="">
          <p:sp>
            <p:nvSpPr>
              <p:cNvPr id="45" name="v7-math-6"/>
              <p:cNvSpPr txBox="1">
                <a:spLocks noRot="1" noChangeAspect="1" noMove="1" noResize="1" noEditPoints="1" noAdjustHandles="1" noChangeArrowheads="1" noChangeShapeType="1" noTextEdit="1"/>
              </p:cNvSpPr>
              <p:nvPr/>
            </p:nvSpPr>
            <p:spPr>
              <a:xfrm>
                <a:off x="9976104" y="4101084"/>
                <a:ext cx="1563624" cy="205739"/>
              </a:xfrm>
              <a:prstGeom prst="rect">
                <a:avLst/>
              </a:prstGeom>
              <a:blipFill>
                <a:blip r:embed="rId4"/>
                <a:stretch>
                  <a:fillRect/>
                </a:stretch>
              </a:blipFill>
            </p:spPr>
            <p:txBody>
              <a:bodyPr/>
              <a:lstStyle/>
              <a:p>
                <a:r>
                  <a:rPr lang="ko-KR" altLang="en-US">
                    <a:noFill/>
                  </a:rPr>
                  <a:t> </a:t>
                </a:r>
              </a:p>
            </p:txBody>
          </p:sp>
        </mc:Fallback>
      </mc:AlternateContent>
      <p:sp>
        <p:nvSpPr>
          <p:cNvPr id="46" name="Rectangle 45"/>
          <p:cNvSpPr/>
          <p:nvPr/>
        </p:nvSpPr>
        <p:spPr>
          <a:xfrm>
            <a:off x="640080" y="4343400"/>
            <a:ext cx="2057400"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231" y="4379976"/>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관절 가속도</a:t>
            </a:r>
          </a:p>
        </p:txBody>
      </p:sp>
      <p:sp>
        <p:nvSpPr>
          <p:cNvPr id="48" name="Rectangle 47"/>
          <p:cNvSpPr/>
          <p:nvPr/>
        </p:nvSpPr>
        <p:spPr>
          <a:xfrm>
            <a:off x="2697480" y="4343400"/>
            <a:ext cx="7205472"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70632" y="4379976"/>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관절 속도 차분 / policy dt의 제곱합</a:t>
            </a:r>
          </a:p>
        </p:txBody>
      </p:sp>
      <p:sp>
        <p:nvSpPr>
          <p:cNvPr id="50" name="Rectangle 49"/>
          <p:cNvSpPr/>
          <p:nvPr/>
        </p:nvSpPr>
        <p:spPr>
          <a:xfrm>
            <a:off x="9902952" y="4343400"/>
            <a:ext cx="1709928"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51" name="v7-math-7"/>
              <p:cNvSpPr txBox="1"/>
              <p:nvPr/>
            </p:nvSpPr>
            <p:spPr>
              <a:xfrm>
                <a:off x="9976104" y="4379976"/>
                <a:ext cx="1563624" cy="205739"/>
              </a:xfrm>
              <a:prstGeom prst="rect">
                <a:avLst/>
              </a:prstGeom>
              <a:noFill/>
            </p:spPr>
            <p:txBody>
              <a:bodyPr wrap="none" lIns="18288" tIns="9144" rIns="18288" bIns="9144" anchor="ctr">
                <a:spAutoFit/>
              </a:bodyPr>
              <a:lstStyle/>
              <a:p>
                <a:pPr algn="ctr">
                  <a:spcAft>
                    <a:spcPts val="0"/>
                  </a:spcAft>
                </a:pPr>
                <a14:m>
                  <m:oMathPara xmlns:m="http://schemas.openxmlformats.org/officeDocument/2006/math">
                    <m:oMath>
                      <m:r>
                        <a:rPr lang="ko-KR" sz="1100" b="0">
                          <a:solidFill>
                            <a:srgbClr val="222222"/>
                          </a:solidFill>
                          <a:latin typeface="Cambria Math" panose="02040503050406030204" pitchFamily="18" charset="0"/>
                          <a:ea typeface="맑은 고딕"/>
                          <a:cs typeface="맑은 고딕"/>
                        </a:rPr>
                        <m:t>−2.5 × </m:t>
                      </m:r>
                      <m:sSup>
                        <m:sSupPr>
                          <m:ctrlPr>
                            <a:rPr lang="ko-KR" sz="1100" b="0">
                              <a:solidFill>
                                <a:srgbClr val="222222"/>
                              </a:solidFill>
                              <a:latin typeface="Cambria Math" panose="02040503050406030204" pitchFamily="18" charset="0"/>
                              <a:ea typeface="맑은 고딕"/>
                              <a:cs typeface="맑은 고딕"/>
                            </a:rPr>
                          </m:ctrlPr>
                        </m:sSupPr>
                        <m:e>
                          <m:r>
                            <a:rPr lang="ko-KR" sz="1100" b="0">
                              <a:solidFill>
                                <a:srgbClr val="222222"/>
                              </a:solidFill>
                              <a:latin typeface="Cambria Math" panose="02040503050406030204" pitchFamily="18" charset="0"/>
                              <a:ea typeface="맑은 고딕"/>
                              <a:cs typeface="맑은 고딕"/>
                            </a:rPr>
                            <m:t>10</m:t>
                          </m:r>
                        </m:e>
                        <m:sup>
                          <m:r>
                            <a:rPr lang="ko-KR" sz="1100" b="0">
                              <a:solidFill>
                                <a:srgbClr val="222222"/>
                              </a:solidFill>
                              <a:latin typeface="Cambria Math" panose="02040503050406030204" pitchFamily="18" charset="0"/>
                              <a:ea typeface="맑은 고딕"/>
                              <a:cs typeface="맑은 고딕"/>
                            </a:rPr>
                            <m:t>−7</m:t>
                          </m:r>
                        </m:sup>
                      </m:sSup>
                    </m:oMath>
                  </m:oMathPara>
                </a14:m>
                <a:endParaRPr/>
              </a:p>
            </p:txBody>
          </p:sp>
        </mc:Choice>
        <mc:Fallback xmlns="">
          <p:sp>
            <p:nvSpPr>
              <p:cNvPr id="51" name="v7-math-7"/>
              <p:cNvSpPr txBox="1">
                <a:spLocks noRot="1" noChangeAspect="1" noMove="1" noResize="1" noEditPoints="1" noAdjustHandles="1" noChangeArrowheads="1" noChangeShapeType="1" noTextEdit="1"/>
              </p:cNvSpPr>
              <p:nvPr/>
            </p:nvSpPr>
            <p:spPr>
              <a:xfrm>
                <a:off x="9976104" y="4379976"/>
                <a:ext cx="1563624" cy="205739"/>
              </a:xfrm>
              <a:prstGeom prst="rect">
                <a:avLst/>
              </a:prstGeom>
              <a:blipFill>
                <a:blip r:embed="rId5"/>
                <a:stretch>
                  <a:fillRect/>
                </a:stretch>
              </a:blipFill>
            </p:spPr>
            <p:txBody>
              <a:bodyPr/>
              <a:lstStyle/>
              <a:p>
                <a:r>
                  <a:rPr lang="ko-KR" altLang="en-US">
                    <a:noFill/>
                  </a:rPr>
                  <a:t> </a:t>
                </a:r>
              </a:p>
            </p:txBody>
          </p:sp>
        </mc:Fallback>
      </mc:AlternateContent>
      <p:sp>
        <p:nvSpPr>
          <p:cNvPr id="52" name="Rectangle 51"/>
          <p:cNvSpPr/>
          <p:nvPr/>
        </p:nvSpPr>
        <p:spPr>
          <a:xfrm>
            <a:off x="640080" y="4622292"/>
            <a:ext cx="2057400"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3231" y="4658868"/>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행동 변화</a:t>
            </a:r>
          </a:p>
        </p:txBody>
      </p:sp>
      <p:sp>
        <p:nvSpPr>
          <p:cNvPr id="54" name="Rectangle 53"/>
          <p:cNvSpPr/>
          <p:nvPr/>
        </p:nvSpPr>
        <p:spPr>
          <a:xfrm>
            <a:off x="2697480" y="4622292"/>
            <a:ext cx="7205472"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70632" y="4658868"/>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현재·직전 행동 차이의 제곱합</a:t>
            </a:r>
          </a:p>
        </p:txBody>
      </p:sp>
      <p:sp>
        <p:nvSpPr>
          <p:cNvPr id="56" name="Rectangle 55"/>
          <p:cNvSpPr/>
          <p:nvPr/>
        </p:nvSpPr>
        <p:spPr>
          <a:xfrm>
            <a:off x="9902952" y="4622292"/>
            <a:ext cx="1709928"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76104" y="4658868"/>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−0.01</a:t>
            </a:r>
          </a:p>
        </p:txBody>
      </p:sp>
      <p:sp>
        <p:nvSpPr>
          <p:cNvPr id="58" name="Rectangle 57"/>
          <p:cNvSpPr/>
          <p:nvPr/>
        </p:nvSpPr>
        <p:spPr>
          <a:xfrm>
            <a:off x="640080" y="4901183"/>
            <a:ext cx="2057400"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13231" y="4937759"/>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충돌</a:t>
            </a:r>
          </a:p>
        </p:txBody>
      </p:sp>
      <p:sp>
        <p:nvSpPr>
          <p:cNvPr id="60" name="Rectangle 59"/>
          <p:cNvSpPr/>
          <p:nvPr/>
        </p:nvSpPr>
        <p:spPr>
          <a:xfrm>
            <a:off x="2697480" y="4901183"/>
            <a:ext cx="7205472"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0632" y="4937759"/>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thigh·calf의 임계값 초과 접촉 개수</a:t>
            </a:r>
          </a:p>
        </p:txBody>
      </p:sp>
      <p:sp>
        <p:nvSpPr>
          <p:cNvPr id="62" name="Rectangle 61"/>
          <p:cNvSpPr/>
          <p:nvPr/>
        </p:nvSpPr>
        <p:spPr>
          <a:xfrm>
            <a:off x="9902952" y="4901183"/>
            <a:ext cx="1709928"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976104" y="4937759"/>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−1.0</a:t>
            </a:r>
          </a:p>
        </p:txBody>
      </p:sp>
      <p:sp>
        <p:nvSpPr>
          <p:cNvPr id="64" name="Rectangle 63"/>
          <p:cNvSpPr/>
          <p:nvPr/>
        </p:nvSpPr>
        <p:spPr>
          <a:xfrm>
            <a:off x="640080" y="5180076"/>
            <a:ext cx="2057400"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13231" y="5216652"/>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관절 위치 한계</a:t>
            </a:r>
          </a:p>
        </p:txBody>
      </p:sp>
      <p:sp>
        <p:nvSpPr>
          <p:cNvPr id="66" name="Rectangle 65"/>
          <p:cNvSpPr/>
          <p:nvPr/>
        </p:nvSpPr>
        <p:spPr>
          <a:xfrm>
            <a:off x="2697480" y="5180076"/>
            <a:ext cx="7205472"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770632" y="5216652"/>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soft joint limit를 벗어난 각도량 합</a:t>
            </a:r>
          </a:p>
        </p:txBody>
      </p:sp>
      <p:sp>
        <p:nvSpPr>
          <p:cNvPr id="68" name="Rectangle 67"/>
          <p:cNvSpPr/>
          <p:nvPr/>
        </p:nvSpPr>
        <p:spPr>
          <a:xfrm>
            <a:off x="9902952" y="5180076"/>
            <a:ext cx="1709928" cy="2788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976104" y="5216652"/>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−10.0</a:t>
            </a:r>
          </a:p>
        </p:txBody>
      </p:sp>
      <p:sp>
        <p:nvSpPr>
          <p:cNvPr id="70" name="Rectangle 69"/>
          <p:cNvSpPr/>
          <p:nvPr/>
        </p:nvSpPr>
        <p:spPr>
          <a:xfrm>
            <a:off x="640080" y="5458968"/>
            <a:ext cx="2057400"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13231" y="5495544"/>
            <a:ext cx="1911095" cy="205739"/>
          </a:xfrm>
          <a:prstGeom prst="rect">
            <a:avLst/>
          </a:prstGeom>
          <a:noFill/>
        </p:spPr>
        <p:txBody>
          <a:bodyPr wrap="square" lIns="9144" tIns="9144" rIns="9144" bIns="9144" anchor="ctr">
            <a:spAutoFit/>
          </a:bodyPr>
          <a:lstStyle/>
          <a:p>
            <a:pPr algn="ctr">
              <a:spcAft>
                <a:spcPts val="0"/>
              </a:spcAft>
            </a:pPr>
            <a:r>
              <a:rPr sz="1180" b="1">
                <a:solidFill>
                  <a:srgbClr val="3A3A3A"/>
                </a:solidFill>
                <a:latin typeface="맑은 고딕"/>
                <a:ea typeface="맑은 고딕"/>
                <a:cs typeface="맑은 고딕"/>
              </a:rPr>
              <a:t>발 체공 시간</a:t>
            </a:r>
          </a:p>
        </p:txBody>
      </p:sp>
      <p:sp>
        <p:nvSpPr>
          <p:cNvPr id="72" name="Rectangle 71"/>
          <p:cNvSpPr/>
          <p:nvPr/>
        </p:nvSpPr>
        <p:spPr>
          <a:xfrm>
            <a:off x="2697480" y="5458968"/>
            <a:ext cx="7205472"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70632" y="5495544"/>
            <a:ext cx="7059168"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착지 시 체공 시간 − 0.5초; 이동 명령 조건에서만 적용</a:t>
            </a:r>
          </a:p>
        </p:txBody>
      </p:sp>
      <p:sp>
        <p:nvSpPr>
          <p:cNvPr id="74" name="Rectangle 73"/>
          <p:cNvSpPr/>
          <p:nvPr/>
        </p:nvSpPr>
        <p:spPr>
          <a:xfrm>
            <a:off x="9902952" y="5458968"/>
            <a:ext cx="1709928" cy="2788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976104" y="5495544"/>
            <a:ext cx="1563624" cy="205739"/>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13 | 추종 목표의 보상 표현</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01 제어 문제 · MDP / 관측·행동 / 고장 전이 / 보상</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legged_robot.py: _reward_tracking_lin_vel / _reward_tracking_ang_vel.   2) JT saved config: tracking_sigma=0.25; P5 evaluation protocol.</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13 / 43</a:t>
            </a:r>
          </a:p>
        </p:txBody>
      </p:sp>
      <p:sp>
        <p:nvSpPr>
          <p:cNvPr id="8"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spcAft>
                <a:spcPts val="0"/>
              </a:spcAft>
            </a:pPr>
            <a:r>
              <a:rPr sz="1250" b="0" dirty="0" err="1">
                <a:solidFill>
                  <a:srgbClr val="3A3A3A"/>
                </a:solidFill>
                <a:latin typeface="맑은 고딕"/>
                <a:ea typeface="맑은 고딕"/>
                <a:cs typeface="맑은 고딕"/>
              </a:rPr>
              <a:t>속도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오차를</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지수</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보상으로</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바꿔</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정확한</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추종을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유도한다</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아래</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예시는</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횡속도</a:t>
            </a:r>
            <a:r>
              <a:rPr sz="1250" b="0" dirty="0">
                <a:solidFill>
                  <a:srgbClr val="3A3A3A"/>
                </a:solidFill>
                <a:latin typeface="맑은 고딕"/>
                <a:ea typeface="맑은 고딕"/>
                <a:cs typeface="맑은 고딕"/>
              </a:rPr>
              <a:t> 오차0·선속도 항 계수1·dt0.02초 </a:t>
            </a:r>
            <a:r>
              <a:rPr sz="1250" b="0" dirty="0" err="1">
                <a:solidFill>
                  <a:srgbClr val="3A3A3A"/>
                </a:solidFill>
                <a:latin typeface="맑은 고딕"/>
                <a:ea typeface="맑은 고딕"/>
                <a:cs typeface="맑은 고딕"/>
              </a:rPr>
              <a:t>조건이다</a:t>
            </a:r>
            <a:r>
              <a:rPr sz="1250" b="0" dirty="0">
                <a:solidFill>
                  <a:srgbClr val="3A3A3A"/>
                </a:solidFill>
                <a:latin typeface="맑은 고딕"/>
                <a:ea typeface="맑은 고딕"/>
                <a:cs typeface="맑은 고딕"/>
              </a:rPr>
              <a:t>.</a:t>
            </a:r>
          </a:p>
        </p:txBody>
      </p:sp>
      <mc:AlternateContent xmlns:mc="http://schemas.openxmlformats.org/markup-compatibility/2006" xmlns:a14="http://schemas.microsoft.com/office/drawing/2010/main">
        <mc:Choice Requires="a14">
          <p:sp>
            <p:nvSpPr>
              <p:cNvPr id="9" name="v7-math-10"/>
              <p:cNvSpPr txBox="1"/>
              <p:nvPr/>
            </p:nvSpPr>
            <p:spPr>
              <a:xfrm>
                <a:off x="822960" y="1847088"/>
                <a:ext cx="4937760" cy="795528"/>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𝑓</m:t>
                          </m:r>
                        </m:e>
                        <m:sub>
                          <m:r>
                            <a:rPr lang="ko-KR" sz="1800" b="0">
                              <a:solidFill>
                                <a:srgbClr val="222222"/>
                              </a:solidFill>
                              <a:latin typeface="Cambria Math" panose="02040503050406030204" pitchFamily="18" charset="0"/>
                              <a:ea typeface="맑은 고딕"/>
                              <a:cs typeface="맑은 고딕"/>
                            </a:rPr>
                            <m:t>𝑙𝑖𝑛</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 = </m:t>
                      </m:r>
                      <m:r>
                        <a:rPr lang="ko-KR" sz="1800" b="0">
                          <a:solidFill>
                            <a:srgbClr val="222222"/>
                          </a:solidFill>
                          <a:latin typeface="Cambria Math" panose="02040503050406030204" pitchFamily="18" charset="0"/>
                          <a:ea typeface="맑은 고딕"/>
                          <a:cs typeface="맑은 고딕"/>
                        </a:rPr>
                        <m:t>𝑒𝑥𝑝</m:t>
                      </m:r>
                      <m:r>
                        <a:rPr lang="ko-KR" sz="1800" b="0">
                          <a:solidFill>
                            <a:srgbClr val="222222"/>
                          </a:solidFill>
                          <a:latin typeface="Cambria Math" panose="02040503050406030204" pitchFamily="18" charset="0"/>
                          <a:ea typeface="맑은 고딕"/>
                          <a:cs typeface="맑은 고딕"/>
                        </a:rPr>
                        <m:t>(</m:t>
                      </m:r>
                      <m:f>
                        <m:fPr>
                          <m:ctrlPr>
                            <a:rPr lang="ko-KR" sz="1800" b="0">
                              <a:solidFill>
                                <a:srgbClr val="222222"/>
                              </a:solidFill>
                              <a:latin typeface="Cambria Math" panose="02040503050406030204" pitchFamily="18" charset="0"/>
                              <a:ea typeface="맑은 고딕"/>
                              <a:cs typeface="맑은 고딕"/>
                            </a:rPr>
                          </m:ctrlPr>
                        </m:fPr>
                        <m:num>
                          <m:r>
                            <a:rPr lang="ko-KR" sz="1800" b="0">
                              <a:solidFill>
                                <a:srgbClr val="222222"/>
                              </a:solidFill>
                              <a:latin typeface="Cambria Math" panose="02040503050406030204" pitchFamily="18" charset="0"/>
                              <a:ea typeface="맑은 고딕"/>
                              <a:cs typeface="맑은 고딕"/>
                            </a:rPr>
                            <m:t>−</m:t>
                          </m:r>
                          <m:sSup>
                            <m:sSupPr>
                              <m:ctrlPr>
                                <a:rPr lang="ko-KR" sz="1800" b="0" i="1">
                                  <a:solidFill>
                                    <a:srgbClr val="222222"/>
                                  </a:solidFill>
                                  <a:latin typeface="Cambria Math" panose="02040503050406030204" pitchFamily="18" charset="0"/>
                                  <a:ea typeface="맑은 고딕"/>
                                  <a:cs typeface="맑은 고딕"/>
                                </a:rPr>
                              </m:ctrlPr>
                            </m:sSupPr>
                            <m:e>
                              <m:box>
                                <m:boxPr>
                                  <m:ctrlPr>
                                    <a:rPr lang="ko-KR" sz="1800" b="0">
                                      <a:solidFill>
                                        <a:srgbClr val="222222"/>
                                      </a:solidFill>
                                      <a:latin typeface="Cambria Math" panose="02040503050406030204" pitchFamily="18" charset="0"/>
                                      <a:ea typeface="맑은 고딕"/>
                                      <a:cs typeface="맑은 고딕"/>
                                    </a:rPr>
                                  </m:ctrlPr>
                                </m:boxPr>
                                <m:e>
                                  <m:r>
                                    <a:rPr lang="ko-KR" sz="1800" b="0">
                                      <a:solidFill>
                                        <a:srgbClr val="222222"/>
                                      </a:solidFill>
                                      <a:latin typeface="Cambria Math" panose="02040503050406030204" pitchFamily="18" charset="0"/>
                                      <a:ea typeface="맑은 고딕"/>
                                      <a:cs typeface="맑은 고딕"/>
                                    </a:rPr>
                                    <m:t>‖</m:t>
                                  </m:r>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𝑣</m:t>
                                      </m:r>
                                    </m:e>
                                    <m:sub>
                                      <m:r>
                                        <a:rPr lang="ko-KR" sz="1800" b="0">
                                          <a:solidFill>
                                            <a:srgbClr val="222222"/>
                                          </a:solidFill>
                                          <a:latin typeface="Cambria Math" panose="02040503050406030204" pitchFamily="18" charset="0"/>
                                          <a:ea typeface="맑은 고딕"/>
                                          <a:cs typeface="맑은 고딕"/>
                                        </a:rPr>
                                        <m:t>𝑥𝑦</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𝑐𝑚𝑑</m:t>
                                      </m:r>
                                    </m:sup>
                                  </m:sSubSup>
                                  <m:r>
                                    <a:rPr lang="ko-KR" sz="1800" b="0">
                                      <a:solidFill>
                                        <a:srgbClr val="222222"/>
                                      </a:solidFill>
                                      <a:latin typeface="Cambria Math" panose="02040503050406030204" pitchFamily="18" charset="0"/>
                                      <a:ea typeface="맑은 고딕"/>
                                      <a:cs typeface="맑은 고딕"/>
                                    </a:rPr>
                                    <m:t>−</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𝑣</m:t>
                                      </m:r>
                                    </m:e>
                                    <m:sub>
                                      <m:r>
                                        <a:rPr lang="ko-KR" sz="1800" b="0">
                                          <a:solidFill>
                                            <a:srgbClr val="222222"/>
                                          </a:solidFill>
                                          <a:latin typeface="Cambria Math" panose="02040503050406030204" pitchFamily="18" charset="0"/>
                                          <a:ea typeface="맑은 고딕"/>
                                          <a:cs typeface="맑은 고딕"/>
                                        </a:rPr>
                                        <m:t>𝑥𝑦</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m:t>
                                  </m:r>
                                </m:e>
                              </m:box>
                            </m:e>
                            <m:sup>
                              <m:r>
                                <a:rPr lang="ko-KR" sz="1800" b="0">
                                  <a:solidFill>
                                    <a:srgbClr val="222222"/>
                                  </a:solidFill>
                                  <a:latin typeface="Cambria Math" panose="02040503050406030204" pitchFamily="18" charset="0"/>
                                  <a:ea typeface="맑은 고딕"/>
                                  <a:cs typeface="맑은 고딕"/>
                                </a:rPr>
                                <m:t>2</m:t>
                              </m:r>
                            </m:sup>
                          </m:sSup>
                        </m:num>
                        <m:den>
                          <m:r>
                            <a:rPr lang="ko-KR" sz="1800" b="0">
                              <a:solidFill>
                                <a:srgbClr val="222222"/>
                              </a:solidFill>
                              <a:latin typeface="Cambria Math" panose="02040503050406030204" pitchFamily="18" charset="0"/>
                              <a:ea typeface="맑은 고딕"/>
                              <a:cs typeface="맑은 고딕"/>
                            </a:rPr>
                            <m:t>0.25</m:t>
                          </m:r>
                        </m:den>
                      </m:f>
                      <m:r>
                        <a:rPr lang="ko-KR" sz="1800" b="0">
                          <a:solidFill>
                            <a:srgbClr val="222222"/>
                          </a:solidFill>
                          <a:latin typeface="Cambria Math" panose="02040503050406030204" pitchFamily="18" charset="0"/>
                          <a:ea typeface="맑은 고딕"/>
                          <a:cs typeface="맑은 고딕"/>
                        </a:rPr>
                        <m:t>)</m:t>
                      </m:r>
                    </m:oMath>
                  </m:oMathPara>
                </a14:m>
                <a:endParaRPr/>
              </a:p>
            </p:txBody>
          </p:sp>
        </mc:Choice>
        <mc:Fallback xmlns="">
          <p:sp>
            <p:nvSpPr>
              <p:cNvPr id="9" name="v7-math-10"/>
              <p:cNvSpPr txBox="1">
                <a:spLocks noRot="1" noChangeAspect="1" noMove="1" noResize="1" noEditPoints="1" noAdjustHandles="1" noChangeArrowheads="1" noChangeShapeType="1" noTextEdit="1"/>
              </p:cNvSpPr>
              <p:nvPr/>
            </p:nvSpPr>
            <p:spPr>
              <a:xfrm>
                <a:off x="822960" y="1847088"/>
                <a:ext cx="4937760" cy="795528"/>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v7-math-11"/>
              <p:cNvSpPr txBox="1"/>
              <p:nvPr/>
            </p:nvSpPr>
            <p:spPr>
              <a:xfrm>
                <a:off x="6263640" y="1847088"/>
                <a:ext cx="5029200" cy="795528"/>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𝑓</m:t>
                          </m:r>
                        </m:e>
                        <m:sub>
                          <m:r>
                            <a:rPr lang="ko-KR" sz="1800" b="0">
                              <a:solidFill>
                                <a:srgbClr val="222222"/>
                              </a:solidFill>
                              <a:latin typeface="Cambria Math" panose="02040503050406030204" pitchFamily="18" charset="0"/>
                              <a:ea typeface="맑은 고딕"/>
                              <a:cs typeface="맑은 고딕"/>
                            </a:rPr>
                            <m:t>𝑦𝑎𝑤</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 = </m:t>
                      </m:r>
                      <m:r>
                        <a:rPr lang="ko-KR" sz="1800" b="0">
                          <a:solidFill>
                            <a:srgbClr val="222222"/>
                          </a:solidFill>
                          <a:latin typeface="Cambria Math" panose="02040503050406030204" pitchFamily="18" charset="0"/>
                          <a:ea typeface="맑은 고딕"/>
                          <a:cs typeface="맑은 고딕"/>
                        </a:rPr>
                        <m:t>𝑒𝑥𝑝</m:t>
                      </m:r>
                      <m:r>
                        <a:rPr lang="ko-KR" sz="1800" b="0">
                          <a:solidFill>
                            <a:srgbClr val="222222"/>
                          </a:solidFill>
                          <a:latin typeface="Cambria Math" panose="02040503050406030204" pitchFamily="18" charset="0"/>
                          <a:ea typeface="맑은 고딕"/>
                          <a:cs typeface="맑은 고딕"/>
                        </a:rPr>
                        <m:t>(</m:t>
                      </m:r>
                      <m:f>
                        <m:fPr>
                          <m:ctrlPr>
                            <a:rPr lang="ko-KR" sz="1800" b="0">
                              <a:solidFill>
                                <a:srgbClr val="222222"/>
                              </a:solidFill>
                              <a:latin typeface="Cambria Math" panose="02040503050406030204" pitchFamily="18" charset="0"/>
                              <a:ea typeface="맑은 고딕"/>
                              <a:cs typeface="맑은 고딕"/>
                            </a:rPr>
                          </m:ctrlPr>
                        </m:fPr>
                        <m:num>
                          <m:r>
                            <a:rPr lang="ko-KR" sz="1800" b="0">
                              <a:solidFill>
                                <a:srgbClr val="222222"/>
                              </a:solidFill>
                              <a:latin typeface="Cambria Math" panose="02040503050406030204" pitchFamily="18" charset="0"/>
                              <a:ea typeface="맑은 고딕"/>
                              <a:cs typeface="맑은 고딕"/>
                            </a:rPr>
                            <m:t>−</m:t>
                          </m:r>
                          <m:sSup>
                            <m:sSupPr>
                              <m:ctrlPr>
                                <a:rPr lang="ko-KR" sz="1800" b="0" i="1">
                                  <a:solidFill>
                                    <a:srgbClr val="222222"/>
                                  </a:solidFill>
                                  <a:latin typeface="Cambria Math" panose="02040503050406030204" pitchFamily="18" charset="0"/>
                                  <a:ea typeface="맑은 고딕"/>
                                  <a:cs typeface="맑은 고딕"/>
                                </a:rPr>
                              </m:ctrlPr>
                            </m:sSupPr>
                            <m:e>
                              <m:box>
                                <m:boxPr>
                                  <m:ctrlPr>
                                    <a:rPr lang="ko-KR" sz="1800" b="0">
                                      <a:solidFill>
                                        <a:srgbClr val="222222"/>
                                      </a:solidFill>
                                      <a:latin typeface="Cambria Math" panose="02040503050406030204" pitchFamily="18" charset="0"/>
                                      <a:ea typeface="맑은 고딕"/>
                                      <a:cs typeface="맑은 고딕"/>
                                    </a:rPr>
                                  </m:ctrlPr>
                                </m:boxPr>
                                <m:e>
                                  <m:r>
                                    <a:rPr lang="ko-KR" sz="1800" b="0">
                                      <a:solidFill>
                                        <a:srgbClr val="222222"/>
                                      </a:solidFill>
                                      <a:latin typeface="Cambria Math" panose="02040503050406030204" pitchFamily="18" charset="0"/>
                                      <a:ea typeface="맑은 고딕"/>
                                      <a:cs typeface="맑은 고딕"/>
                                    </a:rPr>
                                    <m:t>(</m:t>
                                  </m:r>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𝜔</m:t>
                                      </m:r>
                                    </m:e>
                                    <m:sub>
                                      <m:r>
                                        <a:rPr lang="ko-KR" sz="1800" b="0">
                                          <a:solidFill>
                                            <a:srgbClr val="222222"/>
                                          </a:solidFill>
                                          <a:latin typeface="Cambria Math" panose="02040503050406030204" pitchFamily="18" charset="0"/>
                                          <a:ea typeface="맑은 고딕"/>
                                          <a:cs typeface="맑은 고딕"/>
                                        </a:rPr>
                                        <m:t>𝑧</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𝑐𝑚𝑑</m:t>
                                      </m:r>
                                    </m:sup>
                                  </m:sSubSup>
                                  <m:r>
                                    <a:rPr lang="ko-KR" sz="1800" b="0">
                                      <a:solidFill>
                                        <a:srgbClr val="222222"/>
                                      </a:solidFill>
                                      <a:latin typeface="Cambria Math" panose="02040503050406030204" pitchFamily="18" charset="0"/>
                                      <a:ea typeface="맑은 고딕"/>
                                      <a:cs typeface="맑은 고딕"/>
                                    </a:rPr>
                                    <m:t>−</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𝜔</m:t>
                                      </m:r>
                                    </m:e>
                                    <m:sub>
                                      <m:r>
                                        <a:rPr lang="ko-KR" sz="1800" b="0">
                                          <a:solidFill>
                                            <a:srgbClr val="222222"/>
                                          </a:solidFill>
                                          <a:latin typeface="Cambria Math" panose="02040503050406030204" pitchFamily="18" charset="0"/>
                                          <a:ea typeface="맑은 고딕"/>
                                          <a:cs typeface="맑은 고딕"/>
                                        </a:rPr>
                                        <m:t>𝑧</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𝑡</m:t>
                                      </m:r>
                                    </m:sub>
                                  </m:sSub>
                                  <m:r>
                                    <a:rPr lang="ko-KR" sz="1800" b="0">
                                      <a:solidFill>
                                        <a:srgbClr val="222222"/>
                                      </a:solidFill>
                                      <a:latin typeface="Cambria Math" panose="02040503050406030204" pitchFamily="18" charset="0"/>
                                      <a:ea typeface="맑은 고딕"/>
                                      <a:cs typeface="맑은 고딕"/>
                                    </a:rPr>
                                    <m:t>)</m:t>
                                  </m:r>
                                </m:e>
                              </m:box>
                            </m:e>
                            <m:sup>
                              <m:r>
                                <a:rPr lang="ko-KR" sz="1800" b="0">
                                  <a:solidFill>
                                    <a:srgbClr val="222222"/>
                                  </a:solidFill>
                                  <a:latin typeface="Cambria Math" panose="02040503050406030204" pitchFamily="18" charset="0"/>
                                  <a:ea typeface="맑은 고딕"/>
                                  <a:cs typeface="맑은 고딕"/>
                                </a:rPr>
                                <m:t>2</m:t>
                              </m:r>
                            </m:sup>
                          </m:sSup>
                        </m:num>
                        <m:den>
                          <m:r>
                            <a:rPr lang="ko-KR" sz="1800" b="0">
                              <a:solidFill>
                                <a:srgbClr val="222222"/>
                              </a:solidFill>
                              <a:latin typeface="Cambria Math" panose="02040503050406030204" pitchFamily="18" charset="0"/>
                              <a:ea typeface="맑은 고딕"/>
                              <a:cs typeface="맑은 고딕"/>
                            </a:rPr>
                            <m:t>0.25</m:t>
                          </m:r>
                        </m:den>
                      </m:f>
                      <m:r>
                        <a:rPr lang="ko-KR" sz="1800" b="0">
                          <a:solidFill>
                            <a:srgbClr val="222222"/>
                          </a:solidFill>
                          <a:latin typeface="Cambria Math" panose="02040503050406030204" pitchFamily="18" charset="0"/>
                          <a:ea typeface="맑은 고딕"/>
                          <a:cs typeface="맑은 고딕"/>
                        </a:rPr>
                        <m:t>)</m:t>
                      </m:r>
                    </m:oMath>
                  </m:oMathPara>
                </a14:m>
                <a:endParaRPr/>
              </a:p>
            </p:txBody>
          </p:sp>
        </mc:Choice>
        <mc:Fallback xmlns="">
          <p:sp>
            <p:nvSpPr>
              <p:cNvPr id="10" name="v7-math-11"/>
              <p:cNvSpPr txBox="1">
                <a:spLocks noRot="1" noChangeAspect="1" noMove="1" noResize="1" noEditPoints="1" noAdjustHandles="1" noChangeArrowheads="1" noChangeShapeType="1" noTextEdit="1"/>
              </p:cNvSpPr>
              <p:nvPr/>
            </p:nvSpPr>
            <p:spPr>
              <a:xfrm>
                <a:off x="6263640" y="1847088"/>
                <a:ext cx="5029200" cy="795528"/>
              </a:xfrm>
              <a:prstGeom prst="rect">
                <a:avLst/>
              </a:prstGeom>
              <a:blipFill>
                <a:blip r:embed="rId4"/>
                <a:stretch>
                  <a:fillRect/>
                </a:stretch>
              </a:blipFill>
            </p:spPr>
            <p:txBody>
              <a:bodyPr/>
              <a:lstStyle/>
              <a:p>
                <a:r>
                  <a:rPr lang="ko-KR" altLang="en-US">
                    <a:noFill/>
                  </a:rPr>
                  <a:t> </a:t>
                </a:r>
              </a:p>
            </p:txBody>
          </p:sp>
        </mc:Fallback>
      </mc:AlternateContent>
      <p:sp>
        <p:nvSpPr>
          <p:cNvPr id="11" name="Rectangle 10"/>
          <p:cNvSpPr/>
          <p:nvPr/>
        </p:nvSpPr>
        <p:spPr>
          <a:xfrm>
            <a:off x="640080" y="2926080"/>
            <a:ext cx="3840480" cy="51206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1" y="2962656"/>
            <a:ext cx="3694176" cy="438912"/>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전진 속도 예시</a:t>
            </a:r>
          </a:p>
        </p:txBody>
      </p:sp>
      <p:sp>
        <p:nvSpPr>
          <p:cNvPr id="13" name="Rectangle 12"/>
          <p:cNvSpPr/>
          <p:nvPr/>
        </p:nvSpPr>
        <p:spPr>
          <a:xfrm>
            <a:off x="4480560" y="2926080"/>
            <a:ext cx="2834640" cy="51206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2962656"/>
            <a:ext cx="2688336" cy="438912"/>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추종 항의 값</a:t>
            </a:r>
          </a:p>
        </p:txBody>
      </p:sp>
      <p:sp>
        <p:nvSpPr>
          <p:cNvPr id="15" name="Rectangle 14"/>
          <p:cNvSpPr/>
          <p:nvPr/>
        </p:nvSpPr>
        <p:spPr>
          <a:xfrm>
            <a:off x="7315200" y="2926080"/>
            <a:ext cx="4297680" cy="51206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88352" y="2962656"/>
            <a:ext cx="4151376" cy="438912"/>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한 step 선속도 보상 기여</a:t>
            </a:r>
          </a:p>
        </p:txBody>
      </p:sp>
      <p:sp>
        <p:nvSpPr>
          <p:cNvPr id="17" name="Rectangle 16"/>
          <p:cNvSpPr/>
          <p:nvPr/>
        </p:nvSpPr>
        <p:spPr>
          <a:xfrm>
            <a:off x="640080" y="3438144"/>
            <a:ext cx="3840480" cy="5120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1" y="3584915"/>
            <a:ext cx="3694176" cy="218521"/>
          </a:xfrm>
          <a:prstGeom prst="rect">
            <a:avLst/>
          </a:prstGeom>
          <a:noFill/>
        </p:spPr>
        <p:txBody>
          <a:bodyPr wrap="square" lIns="9144" tIns="9144" rIns="9144" bIns="9144" anchor="ctr">
            <a:spAutoFit/>
          </a:bodyPr>
          <a:lstStyle/>
          <a:p>
            <a:pPr algn="ctr">
              <a:spcAft>
                <a:spcPts val="0"/>
              </a:spcAft>
            </a:pPr>
            <a:r>
              <a:rPr sz="1300" b="1">
                <a:solidFill>
                  <a:srgbClr val="3A3A3A"/>
                </a:solidFill>
                <a:latin typeface="맑은 고딕"/>
                <a:ea typeface="맑은 고딕"/>
                <a:cs typeface="맑은 고딕"/>
              </a:rPr>
              <a:t>명령 0.5 / 실제 0.5 m/s</a:t>
            </a:r>
          </a:p>
        </p:txBody>
      </p:sp>
      <p:sp>
        <p:nvSpPr>
          <p:cNvPr id="19" name="Rectangle 18"/>
          <p:cNvSpPr/>
          <p:nvPr/>
        </p:nvSpPr>
        <p:spPr>
          <a:xfrm>
            <a:off x="4480560" y="3438144"/>
            <a:ext cx="2834640" cy="5120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53712" y="3474720"/>
            <a:ext cx="2688336" cy="438912"/>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1.000</a:t>
            </a:r>
          </a:p>
        </p:txBody>
      </p:sp>
      <p:sp>
        <p:nvSpPr>
          <p:cNvPr id="21" name="Rectangle 20"/>
          <p:cNvSpPr/>
          <p:nvPr/>
        </p:nvSpPr>
        <p:spPr>
          <a:xfrm>
            <a:off x="7315200" y="3438144"/>
            <a:ext cx="4297680" cy="5120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88352" y="3474720"/>
            <a:ext cx="4151376" cy="438912"/>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0.0200</a:t>
            </a:r>
          </a:p>
        </p:txBody>
      </p:sp>
      <p:sp>
        <p:nvSpPr>
          <p:cNvPr id="23" name="Rectangle 22"/>
          <p:cNvSpPr/>
          <p:nvPr/>
        </p:nvSpPr>
        <p:spPr>
          <a:xfrm>
            <a:off x="640080" y="3950208"/>
            <a:ext cx="3840480" cy="5120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1" y="4096979"/>
            <a:ext cx="3694176" cy="218521"/>
          </a:xfrm>
          <a:prstGeom prst="rect">
            <a:avLst/>
          </a:prstGeom>
          <a:noFill/>
        </p:spPr>
        <p:txBody>
          <a:bodyPr wrap="square" lIns="9144" tIns="9144" rIns="9144" bIns="9144" anchor="ctr">
            <a:spAutoFit/>
          </a:bodyPr>
          <a:lstStyle/>
          <a:p>
            <a:pPr algn="ctr">
              <a:spcAft>
                <a:spcPts val="0"/>
              </a:spcAft>
            </a:pPr>
            <a:r>
              <a:rPr sz="1300" b="1">
                <a:solidFill>
                  <a:srgbClr val="3A3A3A"/>
                </a:solidFill>
                <a:latin typeface="맑은 고딕"/>
                <a:ea typeface="맑은 고딕"/>
                <a:cs typeface="맑은 고딕"/>
              </a:rPr>
              <a:t>명령 0.5 / 실제 0.4 m/s</a:t>
            </a:r>
          </a:p>
        </p:txBody>
      </p:sp>
      <p:sp>
        <p:nvSpPr>
          <p:cNvPr id="25" name="Rectangle 24"/>
          <p:cNvSpPr/>
          <p:nvPr/>
        </p:nvSpPr>
        <p:spPr>
          <a:xfrm>
            <a:off x="4480560" y="3950208"/>
            <a:ext cx="2834640" cy="5120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53712" y="3986784"/>
            <a:ext cx="2688336" cy="438912"/>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약 0.961</a:t>
            </a:r>
          </a:p>
        </p:txBody>
      </p:sp>
      <p:sp>
        <p:nvSpPr>
          <p:cNvPr id="27" name="Rectangle 26"/>
          <p:cNvSpPr/>
          <p:nvPr/>
        </p:nvSpPr>
        <p:spPr>
          <a:xfrm>
            <a:off x="7315200" y="3950208"/>
            <a:ext cx="4297680" cy="51206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88352" y="3986784"/>
            <a:ext cx="4151376" cy="438912"/>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약 0.0192</a:t>
            </a:r>
          </a:p>
        </p:txBody>
      </p:sp>
      <p:sp>
        <p:nvSpPr>
          <p:cNvPr id="29" name="Rectangle 28"/>
          <p:cNvSpPr/>
          <p:nvPr/>
        </p:nvSpPr>
        <p:spPr>
          <a:xfrm>
            <a:off x="640080" y="4462272"/>
            <a:ext cx="3840480" cy="5120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4609043"/>
            <a:ext cx="3694176" cy="218521"/>
          </a:xfrm>
          <a:prstGeom prst="rect">
            <a:avLst/>
          </a:prstGeom>
          <a:noFill/>
        </p:spPr>
        <p:txBody>
          <a:bodyPr wrap="square" lIns="9144" tIns="9144" rIns="9144" bIns="9144" anchor="ctr">
            <a:spAutoFit/>
          </a:bodyPr>
          <a:lstStyle/>
          <a:p>
            <a:pPr algn="ctr">
              <a:spcAft>
                <a:spcPts val="0"/>
              </a:spcAft>
            </a:pPr>
            <a:r>
              <a:rPr sz="1300" b="1">
                <a:solidFill>
                  <a:srgbClr val="3A3A3A"/>
                </a:solidFill>
                <a:latin typeface="맑은 고딕"/>
                <a:ea typeface="맑은 고딕"/>
                <a:cs typeface="맑은 고딕"/>
              </a:rPr>
              <a:t>명령 0.5 / 실제 0.0 m/s</a:t>
            </a:r>
          </a:p>
        </p:txBody>
      </p:sp>
      <p:sp>
        <p:nvSpPr>
          <p:cNvPr id="31" name="Rectangle 30"/>
          <p:cNvSpPr/>
          <p:nvPr/>
        </p:nvSpPr>
        <p:spPr>
          <a:xfrm>
            <a:off x="4480560" y="4462272"/>
            <a:ext cx="2834640" cy="5120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53712" y="4498848"/>
            <a:ext cx="2688336" cy="438912"/>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약 0.368</a:t>
            </a:r>
          </a:p>
        </p:txBody>
      </p:sp>
      <p:sp>
        <p:nvSpPr>
          <p:cNvPr id="33" name="Rectangle 32"/>
          <p:cNvSpPr/>
          <p:nvPr/>
        </p:nvSpPr>
        <p:spPr>
          <a:xfrm>
            <a:off x="7315200" y="4462272"/>
            <a:ext cx="4297680" cy="51206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88352" y="4498848"/>
            <a:ext cx="4151376" cy="438912"/>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약 0.0074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14 | Teacher–Student의 학습 목적</a:t>
            </a:r>
            <a:r>
              <a:rPr sz="800" b="0" baseline="30000">
                <a:solidFill>
                  <a:srgbClr val="686868"/>
                </a:solidFill>
                <a:latin typeface="맑은 고딕"/>
                <a:ea typeface="맑은 고딕"/>
                <a:cs typeface="맑은 고딕"/>
              </a:rPr>
              <a:t>  1) 2) 3)</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02 학습 방법 · 목적 / 정보 / 구조 / 공동학습</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Liu et al., Saving the Limping, arXiv:2210.00474v3, 2023.   2) Kumar et al., RMA: Rapid Motor Adaptation for Legged Robots, RSS 2021.   3) Local code: a1_official_wim_joint.py; joint_teacher_student_actor_critic.py.</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14 / 43</a:t>
            </a:r>
          </a:p>
        </p:txBody>
      </p:sp>
      <p:sp>
        <p:nvSpPr>
          <p:cNvPr id="8"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spcAft>
                <a:spcPts val="0"/>
              </a:spcAft>
            </a:pPr>
            <a:r>
              <a:rPr sz="1300" b="0" dirty="0" err="1">
                <a:solidFill>
                  <a:srgbClr val="3A3A3A"/>
                </a:solidFill>
                <a:latin typeface="맑은 고딕"/>
                <a:ea typeface="맑은 고딕"/>
                <a:cs typeface="맑은 고딕"/>
              </a:rPr>
              <a:t>고장</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없이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제어할</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Student를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학습하기</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위해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Teacher의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물리정보를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활용한다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이제</a:t>
            </a:r>
            <a:r>
              <a:rPr sz="1300" b="0" dirty="0">
                <a:solidFill>
                  <a:srgbClr val="3A3A3A"/>
                </a:solidFill>
                <a:latin typeface="맑은 고딕"/>
                <a:ea typeface="맑은 고딕"/>
                <a:cs typeface="맑은 고딕"/>
              </a:rPr>
              <a:t> 이 </a:t>
            </a:r>
            <a:r>
              <a:rPr sz="1300" b="0" dirty="0" err="1">
                <a:solidFill>
                  <a:srgbClr val="3A3A3A"/>
                </a:solidFill>
                <a:latin typeface="맑은 고딕"/>
                <a:ea typeface="맑은 고딕"/>
                <a:cs typeface="맑은 고딕"/>
              </a:rPr>
              <a:t>제어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문제를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푸는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학습</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방법을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설명한다</a:t>
            </a:r>
            <a:r>
              <a:rPr sz="1300" b="0" dirty="0">
                <a:solidFill>
                  <a:srgbClr val="3A3A3A"/>
                </a:solidFill>
                <a:latin typeface="맑은 고딕"/>
                <a:ea typeface="맑은 고딕"/>
                <a:cs typeface="맑은 고딕"/>
              </a:rPr>
              <a:t>.</a:t>
            </a:r>
          </a:p>
        </p:txBody>
      </p:sp>
      <p:sp>
        <p:nvSpPr>
          <p:cNvPr id="9" name="Rectangle 8"/>
          <p:cNvSpPr/>
          <p:nvPr/>
        </p:nvSpPr>
        <p:spPr>
          <a:xfrm>
            <a:off x="640080" y="1883664"/>
            <a:ext cx="1920240" cy="95097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1920240"/>
            <a:ext cx="1773936" cy="877824"/>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단계</a:t>
            </a:r>
          </a:p>
        </p:txBody>
      </p:sp>
      <p:sp>
        <p:nvSpPr>
          <p:cNvPr id="11" name="Rectangle 10"/>
          <p:cNvSpPr/>
          <p:nvPr/>
        </p:nvSpPr>
        <p:spPr>
          <a:xfrm>
            <a:off x="2560320" y="1883664"/>
            <a:ext cx="4251960" cy="95097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33472" y="1920240"/>
            <a:ext cx="4105656" cy="877824"/>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이유</a:t>
            </a:r>
          </a:p>
        </p:txBody>
      </p:sp>
      <p:sp>
        <p:nvSpPr>
          <p:cNvPr id="13" name="Rectangle 12"/>
          <p:cNvSpPr/>
          <p:nvPr/>
        </p:nvSpPr>
        <p:spPr>
          <a:xfrm>
            <a:off x="6812280" y="1883664"/>
            <a:ext cx="4800600" cy="95097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5432" y="1920240"/>
            <a:ext cx="4654296" cy="877824"/>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프로젝트에서 하는 일</a:t>
            </a:r>
          </a:p>
        </p:txBody>
      </p:sp>
      <p:sp>
        <p:nvSpPr>
          <p:cNvPr id="15" name="Rectangle 14"/>
          <p:cNvSpPr/>
          <p:nvPr/>
        </p:nvSpPr>
        <p:spPr>
          <a:xfrm>
            <a:off x="640080" y="2834640"/>
            <a:ext cx="192024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1" y="2871216"/>
            <a:ext cx="1773936" cy="877824"/>
          </a:xfrm>
          <a:prstGeom prst="rect">
            <a:avLst/>
          </a:prstGeom>
          <a:noFill/>
        </p:spPr>
        <p:txBody>
          <a:bodyPr wrap="square" lIns="9144" tIns="9144" rIns="9144" bIns="9144" anchor="ctr">
            <a:spAutoFit/>
          </a:bodyPr>
          <a:lstStyle/>
          <a:p>
            <a:pPr algn="l">
              <a:spcAft>
                <a:spcPts val="0"/>
              </a:spcAft>
            </a:pPr>
            <a:r>
              <a:rPr sz="1300" b="1">
                <a:solidFill>
                  <a:srgbClr val="3A3A3A"/>
                </a:solidFill>
                <a:latin typeface="맑은 고딕"/>
                <a:ea typeface="맑은 고딕"/>
                <a:cs typeface="맑은 고딕"/>
              </a:rPr>
              <a:t>1 · Teacher 기준</a:t>
            </a:r>
          </a:p>
        </p:txBody>
      </p:sp>
      <p:sp>
        <p:nvSpPr>
          <p:cNvPr id="17" name="Rectangle 16"/>
          <p:cNvSpPr/>
          <p:nvPr/>
        </p:nvSpPr>
        <p:spPr>
          <a:xfrm>
            <a:off x="2560320" y="2834640"/>
            <a:ext cx="425196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33472" y="2871216"/>
            <a:ext cx="4105656" cy="877824"/>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마찰·출력 저하 같은 숨은 조건을 알면
상황에 맞는 행동을 배우기 쉽다.</a:t>
            </a:r>
          </a:p>
        </p:txBody>
      </p:sp>
      <p:sp>
        <p:nvSpPr>
          <p:cNvPr id="19" name="Rectangle 18"/>
          <p:cNvSpPr/>
          <p:nvPr/>
        </p:nvSpPr>
        <p:spPr>
          <a:xfrm>
            <a:off x="6812280" y="2834640"/>
            <a:ext cx="48006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85432" y="2871216"/>
            <a:ext cx="4654296" cy="877824"/>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시뮬레이터 물리정보를 8D 특징으로 압축
해당 특징을 쓰는 보행 정책을 먼저 학습</a:t>
            </a:r>
          </a:p>
        </p:txBody>
      </p:sp>
      <p:sp>
        <p:nvSpPr>
          <p:cNvPr id="21" name="Rectangle 20"/>
          <p:cNvSpPr/>
          <p:nvPr/>
        </p:nvSpPr>
        <p:spPr>
          <a:xfrm>
            <a:off x="640080" y="3785616"/>
            <a:ext cx="1920240" cy="95097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1" y="3822192"/>
            <a:ext cx="1773936" cy="877824"/>
          </a:xfrm>
          <a:prstGeom prst="rect">
            <a:avLst/>
          </a:prstGeom>
          <a:noFill/>
        </p:spPr>
        <p:txBody>
          <a:bodyPr wrap="square" lIns="9144" tIns="9144" rIns="9144" bIns="9144" anchor="ctr">
            <a:spAutoFit/>
          </a:bodyPr>
          <a:lstStyle/>
          <a:p>
            <a:pPr algn="l">
              <a:spcAft>
                <a:spcPts val="0"/>
              </a:spcAft>
            </a:pPr>
            <a:r>
              <a:rPr sz="1300" b="1">
                <a:solidFill>
                  <a:srgbClr val="3A3A3A"/>
                </a:solidFill>
                <a:latin typeface="맑은 고딕"/>
                <a:ea typeface="맑은 고딕"/>
                <a:cs typeface="맑은 고딕"/>
              </a:rPr>
              <a:t>2 · Student 추정</a:t>
            </a:r>
          </a:p>
        </p:txBody>
      </p:sp>
      <p:sp>
        <p:nvSpPr>
          <p:cNvPr id="23" name="Rectangle 22"/>
          <p:cNvSpPr/>
          <p:nvPr/>
        </p:nvSpPr>
        <p:spPr>
          <a:xfrm>
            <a:off x="2560320" y="3785616"/>
            <a:ext cx="4251960" cy="95097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33472" y="3822192"/>
            <a:ext cx="4105656" cy="877824"/>
          </a:xfrm>
          <a:prstGeom prst="rect">
            <a:avLst/>
          </a:prstGeom>
          <a:noFill/>
        </p:spPr>
        <p:txBody>
          <a:bodyPr wrap="square" lIns="9144" tIns="9144" rIns="9144" bIns="9144" anchor="ctr">
            <a:spAutoFit/>
          </a:bodyPr>
          <a:lstStyle/>
          <a:p>
            <a:pPr algn="ctr">
              <a:spcAft>
                <a:spcPts val="0"/>
              </a:spcAft>
            </a:pPr>
            <a:r>
              <a:rPr sz="1300" b="0" dirty="0" err="1">
                <a:solidFill>
                  <a:srgbClr val="3A3A3A"/>
                </a:solidFill>
                <a:latin typeface="맑은 고딕"/>
                <a:ea typeface="맑은 고딕"/>
                <a:cs typeface="맑은 고딕"/>
              </a:rPr>
              <a:t>평가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정책에</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정확한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고장</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관절과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열화율을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알려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주지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않는다</a:t>
            </a:r>
            <a:r>
              <a:rPr sz="1300" b="0" dirty="0">
                <a:solidFill>
                  <a:srgbClr val="3A3A3A"/>
                </a:solidFill>
                <a:latin typeface="맑은 고딕"/>
                <a:ea typeface="맑은 고딕"/>
                <a:cs typeface="맑은 고딕"/>
              </a:rPr>
              <a:t>.</a:t>
            </a:r>
          </a:p>
        </p:txBody>
      </p:sp>
      <p:sp>
        <p:nvSpPr>
          <p:cNvPr id="25" name="Rectangle 24"/>
          <p:cNvSpPr/>
          <p:nvPr/>
        </p:nvSpPr>
        <p:spPr>
          <a:xfrm>
            <a:off x="6812280" y="3785616"/>
            <a:ext cx="4800600" cy="95097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85432" y="3822192"/>
            <a:ext cx="4654296" cy="877824"/>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최근 1초의 관측·행동으로 8D 특징 추정
현재 관측과 함께 Actor에 입력</a:t>
            </a:r>
          </a:p>
        </p:txBody>
      </p:sp>
      <p:sp>
        <p:nvSpPr>
          <p:cNvPr id="27" name="Rectangle 26"/>
          <p:cNvSpPr/>
          <p:nvPr/>
        </p:nvSpPr>
        <p:spPr>
          <a:xfrm>
            <a:off x="640080" y="4736592"/>
            <a:ext cx="192024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1" y="4773168"/>
            <a:ext cx="1773936" cy="877824"/>
          </a:xfrm>
          <a:prstGeom prst="rect">
            <a:avLst/>
          </a:prstGeom>
          <a:noFill/>
        </p:spPr>
        <p:txBody>
          <a:bodyPr wrap="square" lIns="9144" tIns="9144" rIns="9144" bIns="9144" anchor="ctr">
            <a:spAutoFit/>
          </a:bodyPr>
          <a:lstStyle/>
          <a:p>
            <a:pPr algn="l">
              <a:spcAft>
                <a:spcPts val="0"/>
              </a:spcAft>
            </a:pPr>
            <a:r>
              <a:rPr sz="1300" b="1">
                <a:solidFill>
                  <a:srgbClr val="3A3A3A"/>
                </a:solidFill>
                <a:latin typeface="맑은 고딕"/>
                <a:ea typeface="맑은 고딕"/>
                <a:cs typeface="맑은 고딕"/>
              </a:rPr>
              <a:t>3 · 공동학습</a:t>
            </a:r>
          </a:p>
        </p:txBody>
      </p:sp>
      <p:sp>
        <p:nvSpPr>
          <p:cNvPr id="29" name="Rectangle 28"/>
          <p:cNvSpPr/>
          <p:nvPr/>
        </p:nvSpPr>
        <p:spPr>
          <a:xfrm>
            <a:off x="2560320" y="4736592"/>
            <a:ext cx="425196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633472" y="4773168"/>
            <a:ext cx="4105656" cy="877824"/>
          </a:xfrm>
          <a:prstGeom prst="rect">
            <a:avLst/>
          </a:prstGeom>
          <a:noFill/>
        </p:spPr>
        <p:txBody>
          <a:bodyPr wrap="square" lIns="9144" tIns="9144" rIns="9144" bIns="9144" anchor="ctr">
            <a:spAutoFit/>
          </a:bodyPr>
          <a:lstStyle/>
          <a:p>
            <a:pPr algn="ctr">
              <a:spcAft>
                <a:spcPts val="0"/>
              </a:spcAft>
            </a:pPr>
            <a:r>
              <a:rPr sz="1300" b="0" dirty="0" err="1">
                <a:solidFill>
                  <a:srgbClr val="3A3A3A"/>
                </a:solidFill>
                <a:latin typeface="맑은 고딕"/>
                <a:ea typeface="맑은 고딕"/>
                <a:cs typeface="맑은 고딕"/>
              </a:rPr>
              <a:t>Student의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추정</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특징은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Teacher의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특징을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완벽하게</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복제하지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못한다</a:t>
            </a:r>
            <a:r>
              <a:rPr sz="1300" b="0" dirty="0">
                <a:solidFill>
                  <a:srgbClr val="3A3A3A"/>
                </a:solidFill>
                <a:latin typeface="맑은 고딕"/>
                <a:ea typeface="맑은 고딕"/>
                <a:cs typeface="맑은 고딕"/>
              </a:rPr>
              <a:t>.</a:t>
            </a:r>
          </a:p>
        </p:txBody>
      </p:sp>
      <p:sp>
        <p:nvSpPr>
          <p:cNvPr id="31" name="Rectangle 30"/>
          <p:cNvSpPr/>
          <p:nvPr/>
        </p:nvSpPr>
        <p:spPr>
          <a:xfrm>
            <a:off x="6812280" y="4736592"/>
            <a:ext cx="4800600" cy="95097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85432" y="4773168"/>
            <a:ext cx="4654296" cy="877824"/>
          </a:xfrm>
          <a:prstGeom prst="rect">
            <a:avLst/>
          </a:prstGeom>
          <a:noFill/>
        </p:spPr>
        <p:txBody>
          <a:bodyPr wrap="square" lIns="9144" tIns="9144" rIns="9144" bIns="9144" anchor="ctr">
            <a:spAutoFit/>
          </a:bodyPr>
          <a:lstStyle/>
          <a:p>
            <a:pPr algn="ctr">
              <a:spcAft>
                <a:spcPts val="0"/>
              </a:spcAft>
            </a:pPr>
            <a:r>
              <a:rPr sz="1300" b="0" dirty="0" err="1">
                <a:solidFill>
                  <a:srgbClr val="3A3A3A"/>
                </a:solidFill>
                <a:latin typeface="맑은 고딕"/>
                <a:ea typeface="맑은 고딕"/>
                <a:cs typeface="맑은 고딕"/>
              </a:rPr>
              <a:t>Student를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학습하면서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Actor도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갱신</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추정</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오차가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있는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입력으로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보행하도록</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적응</a:t>
            </a:r>
            <a:endParaRPr sz="1300" b="0" dirty="0">
              <a:solidFill>
                <a:srgbClr val="3A3A3A"/>
              </a:solidFill>
              <a:latin typeface="맑은 고딕"/>
              <a:ea typeface="맑은 고딕"/>
              <a:cs typeface="맑은 고딕"/>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15 | Teacher–Student 정보 비대칭</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02 학습 방법 · 목적 / 정보 / 구조 / 공동학습</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Liu et al., Saving the Limping, arXiv:2210.00474v3, 2023.   2) Local code: a1_official_wim_teacher/schema.py; joint_schema.py.</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15 / 43</a:t>
            </a:r>
          </a:p>
        </p:txBody>
      </p:sp>
      <p:sp>
        <p:nvSpPr>
          <p:cNvPr id="8" name="Rectangle 7"/>
          <p:cNvSpPr/>
          <p:nvPr/>
        </p:nvSpPr>
        <p:spPr>
          <a:xfrm>
            <a:off x="640080" y="2163286"/>
            <a:ext cx="5212080" cy="1848002"/>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9" name="Rectangle 8"/>
          <p:cNvSpPr/>
          <p:nvPr/>
        </p:nvSpPr>
        <p:spPr>
          <a:xfrm>
            <a:off x="640080" y="2163286"/>
            <a:ext cx="5212080" cy="377464"/>
          </a:xfrm>
          <a:prstGeom prst="rect">
            <a:avLst/>
          </a:prstGeom>
          <a:solidFill>
            <a:srgbClr val="111111"/>
          </a:solidFill>
          <a:ln w="1016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731519" y="2202605"/>
            <a:ext cx="5029200" cy="267370"/>
          </a:xfrm>
          <a:prstGeom prst="rect">
            <a:avLst/>
          </a:prstGeom>
          <a:noFill/>
        </p:spPr>
        <p:txBody>
          <a:bodyPr wrap="square" lIns="36576" tIns="36576" rIns="36576" bIns="36576" anchor="ctr">
            <a:spAutoFit/>
          </a:bodyPr>
          <a:lstStyle/>
          <a:p>
            <a:pPr algn="ctr">
              <a:lnSpc>
                <a:spcPct val="100000"/>
              </a:lnSpc>
              <a:spcAft>
                <a:spcPts val="0"/>
              </a:spcAft>
            </a:pPr>
            <a:r>
              <a:rPr sz="1500" b="1">
                <a:solidFill>
                  <a:srgbClr val="FFFFFF"/>
                </a:solidFill>
                <a:latin typeface="맑은 고딕"/>
                <a:ea typeface="맑은 고딕"/>
                <a:cs typeface="맑은 고딕"/>
              </a:rPr>
              <a:t>Teacher · privileged 45D</a:t>
            </a:r>
          </a:p>
        </p:txBody>
      </p:sp>
      <p:sp>
        <p:nvSpPr>
          <p:cNvPr id="11" name="TextBox 10"/>
          <p:cNvSpPr txBox="1"/>
          <p:nvPr/>
        </p:nvSpPr>
        <p:spPr>
          <a:xfrm>
            <a:off x="2052626" y="2562316"/>
            <a:ext cx="2507872" cy="1458861"/>
          </a:xfrm>
          <a:prstGeom prst="rect">
            <a:avLst/>
          </a:prstGeom>
          <a:noFill/>
        </p:spPr>
        <p:txBody>
          <a:bodyPr wrap="square" lIns="36576" tIns="36576" rIns="36576" bIns="36576" anchor="ctr">
            <a:spAutoFit/>
          </a:bodyPr>
          <a:lstStyle/>
          <a:p>
            <a:pPr marL="285750" indent="-285750">
              <a:lnSpc>
                <a:spcPct val="100000"/>
              </a:lnSpc>
              <a:spcAft>
                <a:spcPts val="0"/>
              </a:spcAft>
              <a:buFont typeface="Arial" panose="020B0604020202020204" pitchFamily="34" charset="0"/>
              <a:buChar char="•"/>
            </a:pPr>
            <a:r>
              <a:rPr sz="1500" b="0" dirty="0">
                <a:solidFill>
                  <a:srgbClr val="3A3A3A"/>
                </a:solidFill>
                <a:latin typeface="맑은 고딕"/>
                <a:ea typeface="맑은 고딕"/>
                <a:cs typeface="맑은 고딕"/>
              </a:rPr>
              <a:t>friction 1 </a:t>
            </a:r>
            <a:endParaRPr lang="en-US" sz="1500" dirty="0">
              <a:solidFill>
                <a:srgbClr val="3A3A3A"/>
              </a:solidFill>
              <a:latin typeface="맑은 고딕"/>
              <a:ea typeface="맑은 고딕"/>
              <a:cs typeface="맑은 고딕"/>
            </a:endParaRPr>
          </a:p>
          <a:p>
            <a:pPr marL="285750" indent="-285750">
              <a:lnSpc>
                <a:spcPct val="100000"/>
              </a:lnSpc>
              <a:spcAft>
                <a:spcPts val="0"/>
              </a:spcAft>
              <a:buFont typeface="Arial" panose="020B0604020202020204" pitchFamily="34" charset="0"/>
              <a:buChar char="•"/>
            </a:pPr>
            <a:r>
              <a:rPr sz="1500" b="0" dirty="0">
                <a:solidFill>
                  <a:srgbClr val="3A3A3A"/>
                </a:solidFill>
                <a:latin typeface="맑은 고딕"/>
                <a:ea typeface="맑은 고딕"/>
                <a:cs typeface="맑은 고딕"/>
              </a:rPr>
              <a:t>payload 1
motor strength 12</a:t>
            </a:r>
            <a:endParaRPr lang="en-US" sz="1500" b="0" dirty="0">
              <a:solidFill>
                <a:srgbClr val="3A3A3A"/>
              </a:solidFill>
              <a:latin typeface="맑은 고딕"/>
              <a:ea typeface="맑은 고딕"/>
              <a:cs typeface="맑은 고딕"/>
            </a:endParaRPr>
          </a:p>
          <a:p>
            <a:pPr marL="285750" indent="-285750">
              <a:lnSpc>
                <a:spcPct val="100000"/>
              </a:lnSpc>
              <a:spcAft>
                <a:spcPts val="0"/>
              </a:spcAft>
              <a:buFont typeface="Arial" panose="020B0604020202020204" pitchFamily="34" charset="0"/>
              <a:buChar char="•"/>
            </a:pPr>
            <a:r>
              <a:rPr sz="1500" b="0" dirty="0" err="1">
                <a:solidFill>
                  <a:srgbClr val="3A3A3A"/>
                </a:solidFill>
                <a:latin typeface="맑은 고딕"/>
                <a:ea typeface="맑은 고딕"/>
                <a:cs typeface="맑은 고딕"/>
              </a:rPr>
              <a:t>Kp</a:t>
            </a:r>
            <a:r>
              <a:rPr sz="1500" b="0" dirty="0">
                <a:solidFill>
                  <a:srgbClr val="3A3A3A"/>
                </a:solidFill>
                <a:latin typeface="맑은 고딕"/>
                <a:ea typeface="맑은 고딕"/>
                <a:cs typeface="맑은 고딕"/>
              </a:rPr>
              <a:t>/</a:t>
            </a:r>
            <a:r>
              <a:rPr sz="1500" b="0" dirty="0" err="1">
                <a:solidFill>
                  <a:srgbClr val="3A3A3A"/>
                </a:solidFill>
                <a:latin typeface="맑은 고딕"/>
                <a:ea typeface="맑은 고딕"/>
                <a:cs typeface="맑은 고딕"/>
              </a:rPr>
              <a:t>Kd</a:t>
            </a:r>
            <a:r>
              <a:rPr sz="1500" b="0" dirty="0">
                <a:solidFill>
                  <a:srgbClr val="3A3A3A"/>
                </a:solidFill>
                <a:latin typeface="맑은 고딕"/>
                <a:ea typeface="맑은 고딕"/>
                <a:cs typeface="맑은 고딕"/>
              </a:rPr>
              <a:t> scale 24
clean body velocity 6</a:t>
            </a:r>
            <a:endParaRPr lang="en-US" sz="1500" b="0" dirty="0">
              <a:solidFill>
                <a:srgbClr val="3A3A3A"/>
              </a:solidFill>
              <a:latin typeface="맑은 고딕"/>
              <a:ea typeface="맑은 고딕"/>
              <a:cs typeface="맑은 고딕"/>
            </a:endParaRPr>
          </a:p>
          <a:p>
            <a:pPr marL="285750" indent="-285750">
              <a:lnSpc>
                <a:spcPct val="100000"/>
              </a:lnSpc>
              <a:spcAft>
                <a:spcPts val="0"/>
              </a:spcAft>
              <a:buFont typeface="Arial" panose="020B0604020202020204" pitchFamily="34" charset="0"/>
              <a:buChar char="•"/>
            </a:pPr>
            <a:r>
              <a:rPr sz="1500" b="0" dirty="0">
                <a:solidFill>
                  <a:srgbClr val="3A3A3A"/>
                </a:solidFill>
                <a:latin typeface="맑은 고딕"/>
                <a:ea typeface="맑은 고딕"/>
                <a:cs typeface="맑은 고딕"/>
              </a:rPr>
              <a:t>failure flag 1</a:t>
            </a:r>
          </a:p>
        </p:txBody>
      </p:sp>
      <p:sp>
        <p:nvSpPr>
          <p:cNvPr id="12" name="Rectangle 11"/>
          <p:cNvSpPr/>
          <p:nvPr/>
        </p:nvSpPr>
        <p:spPr>
          <a:xfrm>
            <a:off x="6327648" y="2163286"/>
            <a:ext cx="5212080" cy="1848002"/>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Rectangle 12"/>
          <p:cNvSpPr/>
          <p:nvPr/>
        </p:nvSpPr>
        <p:spPr>
          <a:xfrm>
            <a:off x="6327648" y="2163286"/>
            <a:ext cx="5212080" cy="377464"/>
          </a:xfrm>
          <a:prstGeom prst="rect">
            <a:avLst/>
          </a:prstGeom>
          <a:solidFill>
            <a:srgbClr val="111111"/>
          </a:solidFill>
          <a:ln w="1016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6419088" y="2202605"/>
            <a:ext cx="5029200" cy="267370"/>
          </a:xfrm>
          <a:prstGeom prst="rect">
            <a:avLst/>
          </a:prstGeom>
          <a:noFill/>
        </p:spPr>
        <p:txBody>
          <a:bodyPr wrap="square" lIns="36576" tIns="36576" rIns="36576" bIns="36576" anchor="ctr">
            <a:spAutoFit/>
          </a:bodyPr>
          <a:lstStyle/>
          <a:p>
            <a:pPr algn="ctr">
              <a:lnSpc>
                <a:spcPct val="100000"/>
              </a:lnSpc>
              <a:spcAft>
                <a:spcPts val="0"/>
              </a:spcAft>
            </a:pPr>
            <a:r>
              <a:rPr sz="1500" b="1">
                <a:solidFill>
                  <a:srgbClr val="FFFFFF"/>
                </a:solidFill>
                <a:latin typeface="맑은 고딕"/>
                <a:ea typeface="맑은 고딕"/>
                <a:cs typeface="맑은 고딕"/>
              </a:rPr>
              <a:t>Student · history 50×48</a:t>
            </a:r>
          </a:p>
        </p:txBody>
      </p:sp>
      <p:sp>
        <p:nvSpPr>
          <p:cNvPr id="15" name="TextBox 14"/>
          <p:cNvSpPr txBox="1"/>
          <p:nvPr/>
        </p:nvSpPr>
        <p:spPr>
          <a:xfrm>
            <a:off x="6492240" y="3023980"/>
            <a:ext cx="4882896" cy="535531"/>
          </a:xfrm>
          <a:prstGeom prst="rect">
            <a:avLst/>
          </a:prstGeom>
          <a:noFill/>
        </p:spPr>
        <p:txBody>
          <a:bodyPr wrap="square" lIns="36576" tIns="36576" rIns="36576" bIns="36576" anchor="ctr">
            <a:spAutoFit/>
          </a:bodyPr>
          <a:lstStyle/>
          <a:p>
            <a:pPr marL="285750" indent="-285750">
              <a:lnSpc>
                <a:spcPct val="100000"/>
              </a:lnSpc>
              <a:spcAft>
                <a:spcPts val="0"/>
              </a:spcAft>
              <a:buFont typeface="Arial" panose="020B0604020202020204" pitchFamily="34" charset="0"/>
              <a:buChar char="•"/>
            </a:pPr>
            <a:r>
              <a:rPr sz="1500" b="0" dirty="0" err="1">
                <a:solidFill>
                  <a:srgbClr val="3A3A3A"/>
                </a:solidFill>
                <a:latin typeface="맑은 고딕"/>
                <a:ea typeface="맑은 고딕"/>
                <a:cs typeface="맑은 고딕"/>
              </a:rPr>
              <a:t>최근</a:t>
            </a:r>
            <a:r>
              <a:rPr sz="1500" b="0" dirty="0">
                <a:solidFill>
                  <a:srgbClr val="3A3A3A"/>
                </a:solidFill>
                <a:latin typeface="맑은 고딕"/>
                <a:ea typeface="맑은 고딕"/>
                <a:cs typeface="맑은 고딕"/>
              </a:rPr>
              <a:t> 50프레임의 </a:t>
            </a:r>
            <a:r>
              <a:rPr sz="1500" b="0" dirty="0" err="1">
                <a:solidFill>
                  <a:srgbClr val="3A3A3A"/>
                </a:solidFill>
                <a:latin typeface="맑은 고딕"/>
                <a:ea typeface="맑은 고딕"/>
                <a:cs typeface="맑은 고딕"/>
              </a:rPr>
              <a:t>몸체·명령·관절·행동</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고장</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관절·열화율은</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직접</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입력하지</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않음</a:t>
            </a:r>
            <a:endParaRPr sz="1500" b="0" dirty="0">
              <a:solidFill>
                <a:srgbClr val="3A3A3A"/>
              </a:solidFill>
              <a:latin typeface="맑은 고딕"/>
              <a:ea typeface="맑은 고딕"/>
              <a:cs typeface="맑은 고딕"/>
            </a:endParaRPr>
          </a:p>
        </p:txBody>
      </p:sp>
      <mc:AlternateContent xmlns:mc="http://schemas.openxmlformats.org/markup-compatibility/2006" xmlns:a14="http://schemas.microsoft.com/office/drawing/2010/main">
        <mc:Choice Requires="a14">
          <p:sp>
            <p:nvSpPr>
              <p:cNvPr id="16" name="TextBox 15"/>
              <p:cNvSpPr txBox="1"/>
              <p:nvPr/>
            </p:nvSpPr>
            <p:spPr>
              <a:xfrm>
                <a:off x="960120" y="4302251"/>
                <a:ext cx="4526280" cy="487558"/>
              </a:xfrm>
              <a:prstGeom prst="rect">
                <a:avLst/>
              </a:prstGeom>
              <a:noFill/>
            </p:spPr>
            <p:txBody>
              <a:bodyPr wrap="none" lIns="27432" tIns="27432" rIns="27432" bIns="27432" anchor="ctr">
                <a:spAutoFit/>
              </a:bodyPr>
              <a:lstStyle/>
              <a:p>
                <a:pPr algn="ctr">
                  <a:lnSpc>
                    <a:spcPct val="100000"/>
                  </a:lnSpc>
                </a:pPr>
                <a14:m>
                  <m:oMathPara xmlns:m="http://schemas.openxmlformats.org/officeDocument/2006/math">
                    <m:oMath>
                      <m:sSubSup>
                        <m:sSubSupPr>
                          <m:ctrlPr>
                            <a:rPr lang="ko-KR" sz="1900" b="0">
                              <a:solidFill>
                                <a:srgbClr val="222222"/>
                              </a:solidFill>
                              <a:latin typeface="Cambria Math" panose="02040503050406030204" pitchFamily="18" charset="0"/>
                              <a:ea typeface="맑은 고딕"/>
                              <a:cs typeface="맑은 고딕"/>
                            </a:rPr>
                          </m:ctrlPr>
                        </m:sSubSupPr>
                        <m:e>
                          <m:r>
                            <a:rPr lang="ko-KR" sz="1900" b="0">
                              <a:solidFill>
                                <a:srgbClr val="222222"/>
                              </a:solidFill>
                              <a:latin typeface="Cambria Math" panose="02040503050406030204" pitchFamily="18" charset="0"/>
                              <a:ea typeface="맑은 고딕"/>
                              <a:cs typeface="맑은 고딕"/>
                            </a:rPr>
                            <m:t>𝑧</m:t>
                          </m:r>
                        </m:e>
                        <m:sub>
                          <m:r>
                            <a:rPr lang="ko-KR" sz="1900" b="0">
                              <a:solidFill>
                                <a:srgbClr val="222222"/>
                              </a:solidFill>
                              <a:latin typeface="Cambria Math" panose="02040503050406030204" pitchFamily="18" charset="0"/>
                              <a:ea typeface="맑은 고딕"/>
                              <a:cs typeface="맑은 고딕"/>
                            </a:rPr>
                            <m:t>𝑡</m:t>
                          </m:r>
                        </m:sub>
                        <m:sup>
                          <m:r>
                            <a:rPr lang="ko-KR" sz="1900" b="0">
                              <a:solidFill>
                                <a:srgbClr val="222222"/>
                              </a:solidFill>
                              <a:latin typeface="Cambria Math" panose="02040503050406030204" pitchFamily="18" charset="0"/>
                              <a:ea typeface="맑은 고딕"/>
                              <a:cs typeface="맑은 고딕"/>
                            </a:rPr>
                            <m:t>𝑇</m:t>
                          </m:r>
                        </m:sup>
                      </m:sSubSup>
                      <m:r>
                        <a:rPr lang="ko-KR" sz="1900" b="0">
                          <a:solidFill>
                            <a:srgbClr val="222222"/>
                          </a:solidFill>
                          <a:latin typeface="Cambria Math" panose="02040503050406030204" pitchFamily="18" charset="0"/>
                          <a:ea typeface="맑은 고딕"/>
                          <a:cs typeface="맑은 고딕"/>
                        </a:rPr>
                        <m:t> = </m:t>
                      </m:r>
                      <m:r>
                        <a:rPr lang="ko-KR" sz="1900" b="0">
                          <a:solidFill>
                            <a:srgbClr val="222222"/>
                          </a:solidFill>
                          <a:latin typeface="Cambria Math" panose="02040503050406030204" pitchFamily="18" charset="0"/>
                          <a:ea typeface="맑은 고딕"/>
                          <a:cs typeface="맑은 고딕"/>
                        </a:rPr>
                        <m:t>𝜇</m:t>
                      </m:r>
                      <m:r>
                        <a:rPr lang="ko-KR" sz="1900" b="0">
                          <a:solidFill>
                            <a:srgbClr val="222222"/>
                          </a:solidFill>
                          <a:latin typeface="Cambria Math" panose="02040503050406030204" pitchFamily="18" charset="0"/>
                          <a:ea typeface="맑은 고딕"/>
                          <a:cs typeface="맑은 고딕"/>
                        </a:rPr>
                        <m:t>(</m:t>
                      </m:r>
                      <m:sSub>
                        <m:sSubPr>
                          <m:ctrlPr>
                            <a:rPr lang="ko-KR" sz="1900" b="0">
                              <a:solidFill>
                                <a:srgbClr val="222222"/>
                              </a:solidFill>
                              <a:latin typeface="Cambria Math" panose="02040503050406030204" pitchFamily="18" charset="0"/>
                              <a:ea typeface="맑은 고딕"/>
                              <a:cs typeface="맑은 고딕"/>
                            </a:rPr>
                          </m:ctrlPr>
                        </m:sSubPr>
                        <m:e>
                          <m:r>
                            <a:rPr lang="ko-KR" sz="1900" b="0">
                              <a:solidFill>
                                <a:srgbClr val="222222"/>
                              </a:solidFill>
                              <a:latin typeface="Cambria Math" panose="02040503050406030204" pitchFamily="18" charset="0"/>
                              <a:ea typeface="맑은 고딕"/>
                              <a:cs typeface="맑은 고딕"/>
                            </a:rPr>
                            <m:t>𝜉</m:t>
                          </m:r>
                        </m:e>
                        <m:sub>
                          <m:r>
                            <a:rPr lang="ko-KR" sz="1900" b="0">
                              <a:solidFill>
                                <a:srgbClr val="222222"/>
                              </a:solidFill>
                              <a:latin typeface="Cambria Math" panose="02040503050406030204" pitchFamily="18" charset="0"/>
                              <a:ea typeface="맑은 고딕"/>
                              <a:cs typeface="맑은 고딕"/>
                            </a:rPr>
                            <m:t>𝑡</m:t>
                          </m:r>
                        </m:sub>
                      </m:sSub>
                      <m:r>
                        <a:rPr lang="ko-KR" sz="1900" b="0">
                          <a:solidFill>
                            <a:srgbClr val="222222"/>
                          </a:solidFill>
                          <a:latin typeface="Cambria Math" panose="02040503050406030204" pitchFamily="18" charset="0"/>
                          <a:ea typeface="맑은 고딕"/>
                          <a:cs typeface="맑은 고딕"/>
                        </a:rPr>
                        <m:t>) ∈ </m:t>
                      </m:r>
                      <m:sSup>
                        <m:sSupPr>
                          <m:ctrlPr>
                            <a:rPr lang="ko-KR" sz="1900" b="0" i="0">
                              <a:solidFill>
                                <a:srgbClr val="222222"/>
                              </a:solidFill>
                              <a:latin typeface="맑은 고딕"/>
                              <a:ea typeface="맑은 고딕"/>
                              <a:cs typeface="맑은 고딕"/>
                            </a:rPr>
                          </m:ctrlPr>
                        </m:sSupPr>
                        <m:e>
                          <m:r>
                            <m:rPr>
                              <m:nor/>
                            </m:rPr>
                            <a:rPr lang="ko-KR" sz="1900" b="0" i="0">
                              <a:solidFill>
                                <a:srgbClr val="222222"/>
                              </a:solidFill>
                              <a:latin typeface="맑은 고딕"/>
                              <a:ea typeface="맑은 고딕"/>
                              <a:cs typeface="맑은 고딕"/>
                            </a:rPr>
                            <m:t>R</m:t>
                          </m:r>
                        </m:e>
                        <m:sup>
                          <m:r>
                            <m:rPr>
                              <m:nor/>
                            </m:rPr>
                            <a:rPr lang="ko-KR" sz="1900" b="0" i="0">
                              <a:solidFill>
                                <a:srgbClr val="222222"/>
                              </a:solidFill>
                              <a:latin typeface="맑은 고딕"/>
                              <a:ea typeface="맑은 고딕"/>
                              <a:cs typeface="맑은 고딕"/>
                            </a:rPr>
                            <m:t>8</m:t>
                          </m:r>
                        </m:sup>
                      </m:sSup>
                    </m:oMath>
                  </m:oMathPara>
                </a14:m>
                <a:endParaRPr dirty="0"/>
              </a:p>
            </p:txBody>
          </p:sp>
        </mc:Choice>
        <mc:Fallback xmlns="">
          <p:sp>
            <p:nvSpPr>
              <p:cNvPr id="16" name="TextBox 15"/>
              <p:cNvSpPr txBox="1">
                <a:spLocks noRot="1" noChangeAspect="1" noMove="1" noResize="1" noEditPoints="1" noAdjustHandles="1" noChangeArrowheads="1" noChangeShapeType="1" noTextEdit="1"/>
              </p:cNvSpPr>
              <p:nvPr/>
            </p:nvSpPr>
            <p:spPr>
              <a:xfrm>
                <a:off x="960120" y="4302251"/>
                <a:ext cx="4526280" cy="487558"/>
              </a:xfrm>
              <a:prstGeom prst="rect">
                <a:avLst/>
              </a:prstGeom>
              <a:blipFill>
                <a:blip r:embed="rId3"/>
                <a:stretch>
                  <a:fillRect b="-875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656832" y="4302251"/>
                <a:ext cx="4526280" cy="487558"/>
              </a:xfrm>
              <a:prstGeom prst="rect">
                <a:avLst/>
              </a:prstGeom>
              <a:noFill/>
            </p:spPr>
            <p:txBody>
              <a:bodyPr wrap="none" lIns="27432" tIns="27432" rIns="27432" bIns="27432" anchor="ctr">
                <a:spAutoFit/>
              </a:bodyPr>
              <a:lstStyle/>
              <a:p>
                <a:pPr algn="ctr">
                  <a:lnSpc>
                    <a:spcPct val="100000"/>
                  </a:lnSpc>
                </a:pPr>
                <a14:m>
                  <m:oMathPara xmlns:m="http://schemas.openxmlformats.org/officeDocument/2006/math">
                    <m:oMath>
                      <m:sSubSup>
                        <m:sSubSupPr>
                          <m:ctrlPr>
                            <a:rPr lang="ko-KR" sz="1900" b="0">
                              <a:solidFill>
                                <a:srgbClr val="222222"/>
                              </a:solidFill>
                              <a:latin typeface="Cambria Math" panose="02040503050406030204" pitchFamily="18" charset="0"/>
                              <a:ea typeface="맑은 고딕"/>
                              <a:cs typeface="맑은 고딕"/>
                            </a:rPr>
                          </m:ctrlPr>
                        </m:sSubSupPr>
                        <m:e>
                          <m:r>
                            <a:rPr lang="ko-KR" sz="1900" b="0">
                              <a:solidFill>
                                <a:srgbClr val="222222"/>
                              </a:solidFill>
                              <a:latin typeface="Cambria Math" panose="02040503050406030204" pitchFamily="18" charset="0"/>
                              <a:ea typeface="맑은 고딕"/>
                              <a:cs typeface="맑은 고딕"/>
                            </a:rPr>
                            <m:t>𝑧</m:t>
                          </m:r>
                        </m:e>
                        <m:sub>
                          <m:r>
                            <a:rPr lang="ko-KR" sz="1900" b="0">
                              <a:solidFill>
                                <a:srgbClr val="222222"/>
                              </a:solidFill>
                              <a:latin typeface="Cambria Math" panose="02040503050406030204" pitchFamily="18" charset="0"/>
                              <a:ea typeface="맑은 고딕"/>
                              <a:cs typeface="맑은 고딕"/>
                            </a:rPr>
                            <m:t>𝑡</m:t>
                          </m:r>
                        </m:sub>
                        <m:sup>
                          <m:r>
                            <a:rPr lang="ko-KR" sz="1900" b="0">
                              <a:solidFill>
                                <a:srgbClr val="222222"/>
                              </a:solidFill>
                              <a:latin typeface="Cambria Math" panose="02040503050406030204" pitchFamily="18" charset="0"/>
                              <a:ea typeface="맑은 고딕"/>
                              <a:cs typeface="맑은 고딕"/>
                            </a:rPr>
                            <m:t>𝑆</m:t>
                          </m:r>
                        </m:sup>
                      </m:sSubSup>
                      <m:r>
                        <a:rPr lang="ko-KR" sz="1900" b="0">
                          <a:solidFill>
                            <a:srgbClr val="222222"/>
                          </a:solidFill>
                          <a:latin typeface="Cambria Math" panose="02040503050406030204" pitchFamily="18" charset="0"/>
                          <a:ea typeface="맑은 고딕"/>
                          <a:cs typeface="맑은 고딕"/>
                        </a:rPr>
                        <m:t> = </m:t>
                      </m:r>
                      <m:r>
                        <a:rPr lang="ko-KR" sz="1900" b="0">
                          <a:solidFill>
                            <a:srgbClr val="222222"/>
                          </a:solidFill>
                          <a:latin typeface="Cambria Math" panose="02040503050406030204" pitchFamily="18" charset="0"/>
                          <a:ea typeface="맑은 고딕"/>
                          <a:cs typeface="맑은 고딕"/>
                        </a:rPr>
                        <m:t>𝜑</m:t>
                      </m:r>
                      <m:r>
                        <a:rPr lang="ko-KR" sz="1900" b="0">
                          <a:solidFill>
                            <a:srgbClr val="222222"/>
                          </a:solidFill>
                          <a:latin typeface="Cambria Math" panose="02040503050406030204" pitchFamily="18" charset="0"/>
                          <a:ea typeface="맑은 고딕"/>
                          <a:cs typeface="맑은 고딕"/>
                        </a:rPr>
                        <m:t>(</m:t>
                      </m:r>
                      <m:sSub>
                        <m:sSubPr>
                          <m:ctrlPr>
                            <a:rPr lang="ko-KR" sz="1900" b="0">
                              <a:solidFill>
                                <a:srgbClr val="222222"/>
                              </a:solidFill>
                              <a:latin typeface="Cambria Math" panose="02040503050406030204" pitchFamily="18" charset="0"/>
                              <a:ea typeface="맑은 고딕"/>
                              <a:cs typeface="맑은 고딕"/>
                            </a:rPr>
                          </m:ctrlPr>
                        </m:sSubPr>
                        <m:e>
                          <m:r>
                            <a:rPr lang="ko-KR" sz="1900" b="0">
                              <a:solidFill>
                                <a:srgbClr val="222222"/>
                              </a:solidFill>
                              <a:latin typeface="Cambria Math" panose="02040503050406030204" pitchFamily="18" charset="0"/>
                              <a:ea typeface="맑은 고딕"/>
                              <a:cs typeface="맑은 고딕"/>
                            </a:rPr>
                            <m:t>ℎ</m:t>
                          </m:r>
                        </m:e>
                        <m:sub>
                          <m:r>
                            <a:rPr lang="ko-KR" sz="1900" b="0">
                              <a:solidFill>
                                <a:srgbClr val="222222"/>
                              </a:solidFill>
                              <a:latin typeface="Cambria Math" panose="02040503050406030204" pitchFamily="18" charset="0"/>
                              <a:ea typeface="맑은 고딕"/>
                              <a:cs typeface="맑은 고딕"/>
                            </a:rPr>
                            <m:t>𝑡</m:t>
                          </m:r>
                        </m:sub>
                      </m:sSub>
                      <m:r>
                        <a:rPr lang="ko-KR" sz="1900" b="0">
                          <a:solidFill>
                            <a:srgbClr val="222222"/>
                          </a:solidFill>
                          <a:latin typeface="Cambria Math" panose="02040503050406030204" pitchFamily="18" charset="0"/>
                          <a:ea typeface="맑은 고딕"/>
                          <a:cs typeface="맑은 고딕"/>
                        </a:rPr>
                        <m:t>) ∈ </m:t>
                      </m:r>
                      <m:sSup>
                        <m:sSupPr>
                          <m:ctrlPr>
                            <a:rPr lang="ko-KR" sz="1900" b="0" i="0">
                              <a:solidFill>
                                <a:srgbClr val="222222"/>
                              </a:solidFill>
                              <a:latin typeface="맑은 고딕"/>
                              <a:ea typeface="맑은 고딕"/>
                              <a:cs typeface="맑은 고딕"/>
                            </a:rPr>
                          </m:ctrlPr>
                        </m:sSupPr>
                        <m:e>
                          <m:r>
                            <m:rPr>
                              <m:nor/>
                            </m:rPr>
                            <a:rPr lang="ko-KR" sz="1900" b="0" i="0">
                              <a:solidFill>
                                <a:srgbClr val="222222"/>
                              </a:solidFill>
                              <a:latin typeface="맑은 고딕"/>
                              <a:ea typeface="맑은 고딕"/>
                              <a:cs typeface="맑은 고딕"/>
                            </a:rPr>
                            <m:t>R</m:t>
                          </m:r>
                        </m:e>
                        <m:sup>
                          <m:r>
                            <m:rPr>
                              <m:nor/>
                            </m:rPr>
                            <a:rPr lang="ko-KR" sz="1900" b="0" i="0">
                              <a:solidFill>
                                <a:srgbClr val="222222"/>
                              </a:solidFill>
                              <a:latin typeface="맑은 고딕"/>
                              <a:ea typeface="맑은 고딕"/>
                              <a:cs typeface="맑은 고딕"/>
                            </a:rPr>
                            <m:t>8</m:t>
                          </m:r>
                        </m:sup>
                      </m:sSup>
                    </m:oMath>
                  </m:oMathPara>
                </a14:m>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6656832" y="4302251"/>
                <a:ext cx="4526280" cy="487558"/>
              </a:xfrm>
              <a:prstGeom prst="rect">
                <a:avLst/>
              </a:prstGeom>
              <a:blipFill>
                <a:blip r:embed="rId4"/>
                <a:stretch>
                  <a:fillRect b="-8750"/>
                </a:stretch>
              </a:blipFill>
            </p:spPr>
            <p:txBody>
              <a:bodyPr/>
              <a:lstStyle/>
              <a:p>
                <a:r>
                  <a:rPr lang="ko-KR" altLang="en-US">
                    <a:noFill/>
                  </a:rPr>
                  <a:t> </a:t>
                </a:r>
              </a:p>
            </p:txBody>
          </p:sp>
        </mc:Fallback>
      </mc:AlternateContent>
      <p:sp>
        <p:nvSpPr>
          <p:cNvPr id="18" name="v5-content-intro"/>
          <p:cNvSpPr txBox="1"/>
          <p:nvPr/>
        </p:nvSpPr>
        <p:spPr>
          <a:xfrm>
            <a:off x="658368" y="1261872"/>
            <a:ext cx="10881360" cy="484632"/>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250" b="0" dirty="0">
                <a:solidFill>
                  <a:srgbClr val="3A3A3A"/>
                </a:solidFill>
                <a:latin typeface="맑은 고딕"/>
                <a:ea typeface="맑은 고딕"/>
                <a:cs typeface="맑은 고딕"/>
              </a:rPr>
              <a:t>[Saving the Limping/RMA </a:t>
            </a:r>
            <a:r>
              <a:rPr sz="1250" b="0" dirty="0" err="1">
                <a:solidFill>
                  <a:srgbClr val="3A3A3A"/>
                </a:solidFill>
                <a:latin typeface="맑은 고딕"/>
                <a:ea typeface="맑은 고딕"/>
                <a:cs typeface="맑은 고딕"/>
              </a:rPr>
              <a:t>구조</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계승</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Teacher는</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물리정보로</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Student는</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관측</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이력으로</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특징을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만든다</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프로젝트</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구현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물리정보</a:t>
            </a:r>
            <a:r>
              <a:rPr sz="1250" b="0" dirty="0">
                <a:solidFill>
                  <a:srgbClr val="3A3A3A"/>
                </a:solidFill>
                <a:latin typeface="맑은 고딕"/>
                <a:ea typeface="맑은 고딕"/>
                <a:cs typeface="맑은 고딕"/>
              </a:rPr>
              <a:t> 45D · </a:t>
            </a:r>
            <a:r>
              <a:rPr sz="1250" b="0" dirty="0" err="1">
                <a:solidFill>
                  <a:srgbClr val="3A3A3A"/>
                </a:solidFill>
                <a:latin typeface="맑은 고딕"/>
                <a:ea typeface="맑은 고딕"/>
                <a:cs typeface="맑은 고딕"/>
              </a:rPr>
              <a:t>이력</a:t>
            </a:r>
            <a:r>
              <a:rPr sz="1250" b="0" dirty="0">
                <a:solidFill>
                  <a:srgbClr val="3A3A3A"/>
                </a:solidFill>
                <a:latin typeface="맑은 고딕"/>
                <a:ea typeface="맑은 고딕"/>
                <a:cs typeface="맑은 고딕"/>
              </a:rPr>
              <a:t> 50×48 → </a:t>
            </a:r>
            <a:r>
              <a:rPr sz="1250" b="0" dirty="0" err="1">
                <a:solidFill>
                  <a:srgbClr val="3A3A3A"/>
                </a:solidFill>
                <a:latin typeface="맑은 고딕"/>
                <a:ea typeface="맑은 고딕"/>
                <a:cs typeface="맑은 고딕"/>
              </a:rPr>
              <a:t>각각</a:t>
            </a:r>
            <a:r>
              <a:rPr sz="1250" b="0" dirty="0">
                <a:solidFill>
                  <a:srgbClr val="3A3A3A"/>
                </a:solidFill>
                <a:latin typeface="맑은 고딕"/>
                <a:ea typeface="맑은 고딕"/>
                <a:cs typeface="맑은 고딕"/>
              </a:rPr>
              <a:t> 8D </a:t>
            </a:r>
            <a:r>
              <a:rPr sz="1250" b="0" dirty="0" err="1">
                <a:solidFill>
                  <a:srgbClr val="3A3A3A"/>
                </a:solidFill>
                <a:latin typeface="맑은 고딕"/>
                <a:ea typeface="맑은 고딕"/>
                <a:cs typeface="맑은 고딕"/>
              </a:rPr>
              <a:t>특징으로</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압축한다</a:t>
            </a:r>
            <a:r>
              <a:rPr sz="1250" b="0" dirty="0">
                <a:solidFill>
                  <a:srgbClr val="3A3A3A"/>
                </a:solidFill>
                <a:latin typeface="맑은 고딕"/>
                <a:ea typeface="맑은 고딕"/>
                <a:cs typeface="맑은 고딕"/>
              </a:rPr>
              <a:t>.</a:t>
            </a:r>
          </a:p>
        </p:txBody>
      </p:sp>
      <p:sp>
        <p:nvSpPr>
          <p:cNvPr id="20" name="Rectangle 63">
            <a:extLst>
              <a:ext uri="{FF2B5EF4-FFF2-40B4-BE49-F238E27FC236}">
                <a16:creationId xmlns:a16="http://schemas.microsoft.com/office/drawing/2014/main" id="{257ACB38-3DBF-19DE-CC38-19A2F070BF3F}"/>
              </a:ext>
            </a:extLst>
          </p:cNvPr>
          <p:cNvSpPr/>
          <p:nvPr/>
        </p:nvSpPr>
        <p:spPr>
          <a:xfrm>
            <a:off x="3703320" y="5024782"/>
            <a:ext cx="2148840"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a:extLst>
              <a:ext uri="{FF2B5EF4-FFF2-40B4-BE49-F238E27FC236}">
                <a16:creationId xmlns:a16="http://schemas.microsoft.com/office/drawing/2014/main" id="{2D70C63B-A058-2D59-AA0E-7BF9270E5B2E}"/>
              </a:ext>
            </a:extLst>
          </p:cNvPr>
          <p:cNvSpPr txBox="1"/>
          <p:nvPr/>
        </p:nvSpPr>
        <p:spPr>
          <a:xfrm>
            <a:off x="3831336" y="5119148"/>
            <a:ext cx="1892808" cy="250838"/>
          </a:xfrm>
          <a:prstGeom prst="rect">
            <a:avLst/>
          </a:prstGeom>
          <a:noFill/>
        </p:spPr>
        <p:txBody>
          <a:bodyPr wrap="square" lIns="36576" tIns="36576" rIns="36576" bIns="36576" anchor="t">
            <a:spAutoFit/>
          </a:bodyPr>
          <a:lstStyle/>
          <a:p>
            <a:pPr algn="ctr">
              <a:lnSpc>
                <a:spcPct val="100000"/>
              </a:lnSpc>
              <a:spcAft>
                <a:spcPts val="0"/>
              </a:spcAft>
            </a:pPr>
            <a:r>
              <a:rPr sz="1150" b="0">
                <a:solidFill>
                  <a:srgbClr val="686868"/>
                </a:solidFill>
                <a:latin typeface="맑은 고딕"/>
                <a:ea typeface="맑은 고딕"/>
                <a:cs typeface="맑은 고딕"/>
              </a:rPr>
              <a:t>현재 관측</a:t>
            </a:r>
          </a:p>
        </p:txBody>
      </p:sp>
      <p:sp>
        <p:nvSpPr>
          <p:cNvPr id="24" name="TextBox 23">
            <a:extLst>
              <a:ext uri="{FF2B5EF4-FFF2-40B4-BE49-F238E27FC236}">
                <a16:creationId xmlns:a16="http://schemas.microsoft.com/office/drawing/2014/main" id="{03F49F81-E6DD-5B7B-D810-02A5345AC535}"/>
              </a:ext>
            </a:extLst>
          </p:cNvPr>
          <p:cNvSpPr txBox="1"/>
          <p:nvPr/>
        </p:nvSpPr>
        <p:spPr>
          <a:xfrm>
            <a:off x="3831336" y="5339336"/>
            <a:ext cx="1892808" cy="412421"/>
          </a:xfrm>
          <a:prstGeom prst="rect">
            <a:avLst/>
          </a:prstGeom>
          <a:noFill/>
        </p:spPr>
        <p:txBody>
          <a:bodyPr wrap="square" lIns="36576" tIns="36576" rIns="36576" bIns="36576" anchor="t">
            <a:spAutoFit/>
          </a:bodyPr>
          <a:lstStyle/>
          <a:p>
            <a:pPr algn="ctr">
              <a:lnSpc>
                <a:spcPct val="100000"/>
              </a:lnSpc>
              <a:spcAft>
                <a:spcPts val="0"/>
              </a:spcAft>
            </a:pPr>
            <a:r>
              <a:rPr sz="2200" b="1">
                <a:solidFill>
                  <a:srgbClr val="111111"/>
                </a:solidFill>
                <a:latin typeface="맑은 고딕"/>
                <a:ea typeface="맑은 고딕"/>
                <a:cs typeface="맑은 고딕"/>
              </a:rPr>
              <a:t>235D</a:t>
            </a:r>
          </a:p>
        </p:txBody>
      </p:sp>
      <p:sp>
        <p:nvSpPr>
          <p:cNvPr id="26" name="TextBox 25">
            <a:extLst>
              <a:ext uri="{FF2B5EF4-FFF2-40B4-BE49-F238E27FC236}">
                <a16:creationId xmlns:a16="http://schemas.microsoft.com/office/drawing/2014/main" id="{E3ADA4B7-95FD-57A2-9491-E0A36AC7B5D3}"/>
              </a:ext>
            </a:extLst>
          </p:cNvPr>
          <p:cNvSpPr txBox="1"/>
          <p:nvPr/>
        </p:nvSpPr>
        <p:spPr>
          <a:xfrm>
            <a:off x="3831336" y="5653889"/>
            <a:ext cx="1892808" cy="204671"/>
          </a:xfrm>
          <a:prstGeom prst="rect">
            <a:avLst/>
          </a:prstGeom>
          <a:noFill/>
        </p:spPr>
        <p:txBody>
          <a:bodyPr wrap="square" lIns="36576" tIns="36576" rIns="36576" bIns="36576" anchor="t">
            <a:spAutoFit/>
          </a:bodyPr>
          <a:lstStyle/>
          <a:p>
            <a:pPr algn="ctr">
              <a:lnSpc>
                <a:spcPct val="100000"/>
              </a:lnSpc>
              <a:spcAft>
                <a:spcPts val="0"/>
              </a:spcAft>
            </a:pPr>
            <a:r>
              <a:rPr sz="850" b="0" dirty="0">
                <a:solidFill>
                  <a:srgbClr val="686868"/>
                </a:solidFill>
                <a:latin typeface="맑은 고딕"/>
                <a:ea typeface="맑은 고딕"/>
                <a:cs typeface="맑은 고딕"/>
              </a:rPr>
              <a:t>48D + terrain 187D</a:t>
            </a:r>
          </a:p>
        </p:txBody>
      </p:sp>
      <p:sp>
        <p:nvSpPr>
          <p:cNvPr id="28" name="Rectangle 72">
            <a:extLst>
              <a:ext uri="{FF2B5EF4-FFF2-40B4-BE49-F238E27FC236}">
                <a16:creationId xmlns:a16="http://schemas.microsoft.com/office/drawing/2014/main" id="{6A95A0E3-9FBB-8A7C-A2BE-6862CC55C229}"/>
              </a:ext>
            </a:extLst>
          </p:cNvPr>
          <p:cNvSpPr/>
          <p:nvPr/>
        </p:nvSpPr>
        <p:spPr>
          <a:xfrm>
            <a:off x="6327648" y="5007986"/>
            <a:ext cx="4800600" cy="880750"/>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0" name="TextBox 29">
            <a:extLst>
              <a:ext uri="{FF2B5EF4-FFF2-40B4-BE49-F238E27FC236}">
                <a16:creationId xmlns:a16="http://schemas.microsoft.com/office/drawing/2014/main" id="{C6ABED35-DB2C-97F1-D1A3-8978D9530082}"/>
              </a:ext>
            </a:extLst>
          </p:cNvPr>
          <p:cNvSpPr txBox="1"/>
          <p:nvPr/>
        </p:nvSpPr>
        <p:spPr>
          <a:xfrm>
            <a:off x="6492240" y="5133807"/>
            <a:ext cx="447141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정책 입력</a:t>
            </a:r>
          </a:p>
        </p:txBody>
      </p:sp>
      <p:sp>
        <p:nvSpPr>
          <p:cNvPr id="32" name="TextBox 31">
            <a:extLst>
              <a:ext uri="{FF2B5EF4-FFF2-40B4-BE49-F238E27FC236}">
                <a16:creationId xmlns:a16="http://schemas.microsoft.com/office/drawing/2014/main" id="{5745F97D-DD0F-9706-1718-C8CCDDD4645A}"/>
              </a:ext>
            </a:extLst>
          </p:cNvPr>
          <p:cNvSpPr txBox="1"/>
          <p:nvPr/>
        </p:nvSpPr>
        <p:spPr>
          <a:xfrm>
            <a:off x="6492240" y="5524622"/>
            <a:ext cx="4471416" cy="251642"/>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현재 관측 235D + latent 8D = 243D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16 | Teacher–Student 구조</a:t>
            </a:r>
            <a:r>
              <a:rPr sz="800" b="0" baseline="30000">
                <a:solidFill>
                  <a:srgbClr val="686868"/>
                </a:solidFill>
                <a:latin typeface="맑은 고딕"/>
                <a:ea typeface="맑은 고딕"/>
                <a:cs typeface="맑은 고딕"/>
              </a:rPr>
              <a:t>  1) 2) 3)</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02 학습 방법 · 목적 / 정보 / 구조 / 공동학습</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359027"/>
            <a:ext cx="9902952" cy="129266"/>
          </a:xfrm>
          <a:prstGeom prst="rect">
            <a:avLst/>
          </a:prstGeom>
          <a:noFill/>
        </p:spPr>
        <p:txBody>
          <a:bodyPr wrap="square" lIns="9144" tIns="9144" rIns="9144" bIns="9144" anchor="ctr">
            <a:spAutoFit/>
          </a:bodyPr>
          <a:lstStyle/>
          <a:p>
            <a:pPr algn="l">
              <a:lnSpc>
                <a:spcPct val="100000"/>
              </a:lnSpc>
              <a:spcAft>
                <a:spcPts val="0"/>
              </a:spcAft>
            </a:pPr>
            <a:r>
              <a:rPr sz="720" b="0" dirty="0">
                <a:solidFill>
                  <a:srgbClr val="686868"/>
                </a:solidFill>
                <a:latin typeface="맑은 고딕"/>
                <a:ea typeface="맑은 고딕"/>
                <a:cs typeface="맑은 고딕"/>
              </a:rPr>
              <a:t>1) Liu et al., Saving the Limping, arXiv:2210.00474v3, 2023.   2) Kumar et al., RMA: Rapid Motor Adaptation for Legged Robots, RSS 2021..</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16 / 43</a:t>
            </a:r>
          </a:p>
        </p:txBody>
      </p:sp>
      <p:sp>
        <p:nvSpPr>
          <p:cNvPr id="8" name="Rectangle 7"/>
          <p:cNvSpPr/>
          <p:nvPr/>
        </p:nvSpPr>
        <p:spPr>
          <a:xfrm>
            <a:off x="502920" y="1962668"/>
            <a:ext cx="1965960" cy="983530"/>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9" name="TextBox 8"/>
          <p:cNvSpPr txBox="1"/>
          <p:nvPr/>
        </p:nvSpPr>
        <p:spPr>
          <a:xfrm>
            <a:off x="667512" y="2088489"/>
            <a:ext cx="1636776" cy="597087"/>
          </a:xfrm>
          <a:prstGeom prst="rect">
            <a:avLst/>
          </a:prstGeom>
          <a:noFill/>
        </p:spPr>
        <p:txBody>
          <a:bodyPr wrap="square" lIns="36576" tIns="36576" rIns="36576" bIns="36576" anchor="t">
            <a:spAutoFit/>
          </a:bodyPr>
          <a:lstStyle/>
          <a:p>
            <a:pPr algn="ctr">
              <a:lnSpc>
                <a:spcPct val="100000"/>
              </a:lnSpc>
              <a:spcAft>
                <a:spcPts val="0"/>
              </a:spcAft>
            </a:pPr>
            <a:r>
              <a:rPr sz="1700" b="1" dirty="0">
                <a:solidFill>
                  <a:srgbClr val="111111"/>
                </a:solidFill>
                <a:latin typeface="맑은 고딕"/>
                <a:ea typeface="맑은 고딕"/>
                <a:cs typeface="맑은 고딕"/>
              </a:rPr>
              <a:t>Privileged </a:t>
            </a:r>
            <a:endParaRPr lang="en-US" sz="1700" b="1" dirty="0">
              <a:solidFill>
                <a:srgbClr val="111111"/>
              </a:solidFill>
              <a:latin typeface="맑은 고딕"/>
              <a:ea typeface="맑은 고딕"/>
              <a:cs typeface="맑은 고딕"/>
            </a:endParaRPr>
          </a:p>
          <a:p>
            <a:pPr algn="ctr">
              <a:lnSpc>
                <a:spcPct val="100000"/>
              </a:lnSpc>
              <a:spcAft>
                <a:spcPts val="0"/>
              </a:spcAft>
            </a:pPr>
            <a:r>
              <a:rPr sz="1700" b="1" dirty="0">
                <a:solidFill>
                  <a:srgbClr val="111111"/>
                </a:solidFill>
                <a:latin typeface="맑은 고딕"/>
                <a:ea typeface="맑은 고딕"/>
                <a:cs typeface="맑은 고딕"/>
              </a:rPr>
              <a:t>context</a:t>
            </a:r>
          </a:p>
        </p:txBody>
      </p:sp>
      <p:sp>
        <p:nvSpPr>
          <p:cNvPr id="10" name="TextBox 9"/>
          <p:cNvSpPr txBox="1"/>
          <p:nvPr/>
        </p:nvSpPr>
        <p:spPr>
          <a:xfrm>
            <a:off x="667512" y="2686143"/>
            <a:ext cx="1636776" cy="117956"/>
          </a:xfrm>
          <a:prstGeom prst="rect">
            <a:avLst/>
          </a:prstGeom>
          <a:noFill/>
        </p:spPr>
        <p:txBody>
          <a:bodyPr wrap="square" lIns="36576" tIns="36576" rIns="36576" bIns="36576" anchor="ctr">
            <a:spAutoFit/>
          </a:bodyPr>
          <a:lstStyle/>
          <a:p>
            <a:pPr algn="ctr">
              <a:lnSpc>
                <a:spcPct val="100000"/>
              </a:lnSpc>
              <a:spcAft>
                <a:spcPts val="0"/>
              </a:spcAft>
            </a:pPr>
            <a:r>
              <a:rPr sz="1500" b="0" dirty="0">
                <a:solidFill>
                  <a:srgbClr val="3A3A3A"/>
                </a:solidFill>
                <a:latin typeface="맑은 고딕"/>
                <a:ea typeface="맑은 고딕"/>
                <a:cs typeface="맑은 고딕"/>
              </a:rPr>
              <a:t>45D</a:t>
            </a:r>
          </a:p>
        </p:txBody>
      </p:sp>
      <p:sp>
        <p:nvSpPr>
          <p:cNvPr id="11" name="Rectangle 10"/>
          <p:cNvSpPr/>
          <p:nvPr/>
        </p:nvSpPr>
        <p:spPr>
          <a:xfrm>
            <a:off x="2907792" y="1974408"/>
            <a:ext cx="2834640" cy="1006571"/>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2" name="TextBox 11"/>
          <p:cNvSpPr txBox="1"/>
          <p:nvPr/>
        </p:nvSpPr>
        <p:spPr>
          <a:xfrm>
            <a:off x="3072384" y="2100229"/>
            <a:ext cx="250545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Teacher encoder μ</a:t>
            </a:r>
          </a:p>
        </p:txBody>
      </p:sp>
      <p:sp>
        <p:nvSpPr>
          <p:cNvPr id="13" name="TextBox 12"/>
          <p:cNvSpPr txBox="1"/>
          <p:nvPr/>
        </p:nvSpPr>
        <p:spPr>
          <a:xfrm>
            <a:off x="3072384" y="2529805"/>
            <a:ext cx="2505456" cy="304699"/>
          </a:xfrm>
          <a:prstGeom prst="rect">
            <a:avLst/>
          </a:prstGeom>
          <a:noFill/>
        </p:spPr>
        <p:txBody>
          <a:bodyPr wrap="square" lIns="36576" tIns="36576" rIns="36576" bIns="36576" anchor="ctr">
            <a:spAutoFit/>
          </a:bodyPr>
          <a:lstStyle/>
          <a:p>
            <a:pPr algn="ctr">
              <a:lnSpc>
                <a:spcPct val="100000"/>
              </a:lnSpc>
              <a:spcAft>
                <a:spcPts val="0"/>
              </a:spcAft>
            </a:pPr>
            <a:r>
              <a:rPr sz="1500" b="0" dirty="0">
                <a:solidFill>
                  <a:srgbClr val="3A3A3A"/>
                </a:solidFill>
                <a:latin typeface="맑은 고딕"/>
                <a:ea typeface="맑은 고딕"/>
                <a:cs typeface="맑은 고딕"/>
              </a:rPr>
              <a:t>45</a:t>
            </a:r>
            <a:r>
              <a:rPr lang="en-US" sz="1500" b="0" dirty="0">
                <a:solidFill>
                  <a:srgbClr val="3A3A3A"/>
                </a:solidFill>
                <a:latin typeface="맑은 고딕"/>
                <a:ea typeface="맑은 고딕"/>
                <a:cs typeface="맑은 고딕"/>
              </a:rPr>
              <a:t> </a:t>
            </a:r>
            <a:r>
              <a:rPr sz="1500" b="0" dirty="0">
                <a:solidFill>
                  <a:srgbClr val="3A3A3A"/>
                </a:solidFill>
                <a:latin typeface="맑은 고딕"/>
                <a:ea typeface="맑은 고딕"/>
                <a:cs typeface="맑은 고딕"/>
              </a:rPr>
              <a:t>→ 8</a:t>
            </a:r>
          </a:p>
        </p:txBody>
      </p:sp>
      <p:sp>
        <p:nvSpPr>
          <p:cNvPr id="14" name="Rectangle 13"/>
          <p:cNvSpPr/>
          <p:nvPr/>
        </p:nvSpPr>
        <p:spPr>
          <a:xfrm>
            <a:off x="502920" y="4117360"/>
            <a:ext cx="1965960" cy="747064"/>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5" name="TextBox 14"/>
          <p:cNvSpPr txBox="1"/>
          <p:nvPr/>
        </p:nvSpPr>
        <p:spPr>
          <a:xfrm>
            <a:off x="667512" y="4243181"/>
            <a:ext cx="163677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History</a:t>
            </a:r>
          </a:p>
        </p:txBody>
      </p:sp>
      <p:sp>
        <p:nvSpPr>
          <p:cNvPr id="16" name="TextBox 15"/>
          <p:cNvSpPr txBox="1"/>
          <p:nvPr/>
        </p:nvSpPr>
        <p:spPr>
          <a:xfrm>
            <a:off x="667512" y="4636373"/>
            <a:ext cx="1636776" cy="117956"/>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50 × 48</a:t>
            </a:r>
          </a:p>
        </p:txBody>
      </p:sp>
      <p:sp>
        <p:nvSpPr>
          <p:cNvPr id="17" name="Rectangle 16"/>
          <p:cNvSpPr/>
          <p:nvPr/>
        </p:nvSpPr>
        <p:spPr>
          <a:xfrm>
            <a:off x="2907792" y="3960083"/>
            <a:ext cx="2834640" cy="1038026"/>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3072384" y="4085904"/>
            <a:ext cx="2505456" cy="298825"/>
          </a:xfrm>
          <a:prstGeom prst="rect">
            <a:avLst/>
          </a:prstGeom>
          <a:noFill/>
        </p:spPr>
        <p:txBody>
          <a:bodyPr wrap="square" lIns="36576" tIns="36576" rIns="36576" bIns="36576" anchor="t">
            <a:spAutoFit/>
          </a:bodyPr>
          <a:lstStyle/>
          <a:p>
            <a:pPr algn="ctr">
              <a:lnSpc>
                <a:spcPct val="100000"/>
              </a:lnSpc>
              <a:spcAft>
                <a:spcPts val="0"/>
              </a:spcAft>
            </a:pPr>
            <a:r>
              <a:rPr sz="1700" b="1" dirty="0">
                <a:solidFill>
                  <a:srgbClr val="111111"/>
                </a:solidFill>
                <a:latin typeface="맑은 고딕"/>
                <a:ea typeface="맑은 고딕"/>
                <a:cs typeface="맑은 고딕"/>
              </a:rPr>
              <a:t>Student encoder φ</a:t>
            </a:r>
          </a:p>
        </p:txBody>
      </p:sp>
      <p:sp>
        <p:nvSpPr>
          <p:cNvPr id="19" name="TextBox 18"/>
          <p:cNvSpPr txBox="1"/>
          <p:nvPr/>
        </p:nvSpPr>
        <p:spPr>
          <a:xfrm>
            <a:off x="3072384" y="4479096"/>
            <a:ext cx="2505456" cy="408919"/>
          </a:xfrm>
          <a:prstGeom prst="rect">
            <a:avLst/>
          </a:prstGeom>
          <a:noFill/>
        </p:spPr>
        <p:txBody>
          <a:bodyPr wrap="square" lIns="36576" tIns="36576" rIns="36576" bIns="36576" anchor="ctr">
            <a:spAutoFit/>
          </a:bodyPr>
          <a:lstStyle/>
          <a:p>
            <a:pPr algn="ctr">
              <a:lnSpc>
                <a:spcPct val="100000"/>
              </a:lnSpc>
              <a:spcAft>
                <a:spcPts val="0"/>
              </a:spcAft>
            </a:pPr>
            <a:r>
              <a:rPr sz="1500" b="0">
                <a:solidFill>
                  <a:srgbClr val="3A3A3A"/>
                </a:solidFill>
                <a:latin typeface="맑은 고딕"/>
                <a:ea typeface="맑은 고딕"/>
                <a:cs typeface="맑은 고딕"/>
              </a:rPr>
              <a:t>Frame MLP + 1D CNN → 8</a:t>
            </a:r>
          </a:p>
        </p:txBody>
      </p:sp>
      <p:sp>
        <p:nvSpPr>
          <p:cNvPr id="20" name="Rectangle 19"/>
          <p:cNvSpPr/>
          <p:nvPr/>
        </p:nvSpPr>
        <p:spPr>
          <a:xfrm>
            <a:off x="6419088" y="2804099"/>
            <a:ext cx="1874519" cy="904341"/>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1" name="TextBox 20"/>
          <p:cNvSpPr txBox="1"/>
          <p:nvPr/>
        </p:nvSpPr>
        <p:spPr>
          <a:xfrm>
            <a:off x="6583679" y="2929920"/>
            <a:ext cx="1545336" cy="298825"/>
          </a:xfrm>
          <a:prstGeom prst="rect">
            <a:avLst/>
          </a:prstGeom>
          <a:noFill/>
        </p:spPr>
        <p:txBody>
          <a:bodyPr wrap="square" lIns="36576" tIns="36576" rIns="36576" bIns="36576" anchor="t">
            <a:spAutoFit/>
          </a:bodyPr>
          <a:lstStyle/>
          <a:p>
            <a:pPr algn="ctr">
              <a:lnSpc>
                <a:spcPct val="100000"/>
              </a:lnSpc>
              <a:spcAft>
                <a:spcPts val="0"/>
              </a:spcAft>
            </a:pPr>
            <a:r>
              <a:rPr sz="1400" b="1">
                <a:solidFill>
                  <a:srgbClr val="111111"/>
                </a:solidFill>
                <a:latin typeface="맑은 고딕"/>
                <a:ea typeface="맑은 고딕"/>
                <a:cs typeface="맑은 고딕"/>
              </a:rPr>
              <a:t>특징 혼합</a:t>
            </a:r>
          </a:p>
        </p:txBody>
      </p:sp>
      <mc:AlternateContent xmlns:mc="http://schemas.openxmlformats.org/markup-compatibility/2006" xmlns:a14="http://schemas.microsoft.com/office/drawing/2010/main">
        <mc:Choice Requires="a14">
          <p:sp>
            <p:nvSpPr>
              <p:cNvPr id="22" name="TextBox 21"/>
              <p:cNvSpPr txBox="1"/>
              <p:nvPr/>
            </p:nvSpPr>
            <p:spPr>
              <a:xfrm>
                <a:off x="6583679" y="3323112"/>
                <a:ext cx="1545336" cy="275233"/>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Sup>
                        <m:sSubSupPr>
                          <m:ctrlPr>
                            <a:rPr lang="ko-KR" sz="1300" b="0">
                              <a:solidFill>
                                <a:srgbClr val="3A3A3A"/>
                              </a:solidFill>
                              <a:latin typeface="Cambria Math" panose="02040503050406030204" pitchFamily="18" charset="0"/>
                              <a:ea typeface="맑은 고딕"/>
                              <a:cs typeface="맑은 고딕"/>
                            </a:rPr>
                          </m:ctrlPr>
                        </m:sSubSupPr>
                        <m:e>
                          <m:r>
                            <a:rPr lang="ko-KR" sz="1300" b="0">
                              <a:solidFill>
                                <a:srgbClr val="3A3A3A"/>
                              </a:solidFill>
                              <a:latin typeface="Cambria Math" panose="02040503050406030204" pitchFamily="18" charset="0"/>
                              <a:ea typeface="맑은 고딕"/>
                              <a:cs typeface="맑은 고딕"/>
                            </a:rPr>
                            <m:t>𝑧</m:t>
                          </m:r>
                        </m:e>
                        <m:sub>
                          <m:r>
                            <a:rPr lang="ko-KR" sz="1300" b="0">
                              <a:solidFill>
                                <a:srgbClr val="3A3A3A"/>
                              </a:solidFill>
                              <a:latin typeface="Cambria Math" panose="02040503050406030204" pitchFamily="18" charset="0"/>
                              <a:ea typeface="맑은 고딕"/>
                              <a:cs typeface="맑은 고딕"/>
                            </a:rPr>
                            <m:t>𝑡</m:t>
                          </m:r>
                        </m:sub>
                        <m:sup>
                          <m:r>
                            <m:rPr>
                              <m:nor/>
                            </m:rPr>
                            <a:rPr lang="ko-KR" sz="1300" b="0" i="0">
                              <a:solidFill>
                                <a:srgbClr val="3A3A3A"/>
                              </a:solidFill>
                              <a:latin typeface="맑은 고딕"/>
                              <a:ea typeface="맑은 고딕"/>
                              <a:cs typeface="맑은 고딕"/>
                            </a:rPr>
                            <m:t>′</m:t>
                          </m:r>
                        </m:sup>
                      </m:sSubSup>
                      <m:r>
                        <a:rPr lang="ko-KR" sz="1300" b="0">
                          <a:solidFill>
                            <a:srgbClr val="3A3A3A"/>
                          </a:solidFill>
                          <a:latin typeface="Cambria Math" panose="02040503050406030204" pitchFamily="18" charset="0"/>
                          <a:ea typeface="맑은 고딕"/>
                          <a:cs typeface="맑은 고딕"/>
                        </a:rPr>
                        <m:t> ∈ </m:t>
                      </m:r>
                      <m:sSup>
                        <m:sSupPr>
                          <m:ctrlPr>
                            <a:rPr lang="ko-KR" sz="1300" b="0" i="0">
                              <a:solidFill>
                                <a:srgbClr val="3A3A3A"/>
                              </a:solidFill>
                              <a:latin typeface="맑은 고딕"/>
                              <a:ea typeface="맑은 고딕"/>
                              <a:cs typeface="맑은 고딕"/>
                            </a:rPr>
                          </m:ctrlPr>
                        </m:sSupPr>
                        <m:e>
                          <m:r>
                            <m:rPr>
                              <m:nor/>
                            </m:rPr>
                            <a:rPr lang="ko-KR" sz="1300" b="0" i="0">
                              <a:solidFill>
                                <a:srgbClr val="3A3A3A"/>
                              </a:solidFill>
                              <a:latin typeface="맑은 고딕"/>
                              <a:ea typeface="맑은 고딕"/>
                              <a:cs typeface="맑은 고딕"/>
                            </a:rPr>
                            <m:t>R</m:t>
                          </m:r>
                        </m:e>
                        <m:sup>
                          <m:r>
                            <m:rPr>
                              <m:nor/>
                            </m:rPr>
                            <a:rPr lang="ko-KR" sz="1300" b="0" i="0">
                              <a:solidFill>
                                <a:srgbClr val="3A3A3A"/>
                              </a:solidFill>
                              <a:latin typeface="맑은 고딕"/>
                              <a:ea typeface="맑은 고딕"/>
                              <a:cs typeface="맑은 고딕"/>
                            </a:rPr>
                            <m:t>8</m:t>
                          </m:r>
                        </m:sup>
                      </m:sSup>
                    </m:oMath>
                  </m:oMathPara>
                </a14:m>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6583679" y="3323112"/>
                <a:ext cx="1545336" cy="275233"/>
              </a:xfrm>
              <a:prstGeom prst="rect">
                <a:avLst/>
              </a:prstGeom>
              <a:blipFill>
                <a:blip r:embed="rId3"/>
                <a:stretch>
                  <a:fillRect b="-8889"/>
                </a:stretch>
              </a:blipFill>
            </p:spPr>
            <p:txBody>
              <a:bodyPr/>
              <a:lstStyle/>
              <a:p>
                <a:r>
                  <a:rPr lang="ko-KR" altLang="en-US">
                    <a:noFill/>
                  </a:rPr>
                  <a:t> </a:t>
                </a:r>
              </a:p>
            </p:txBody>
          </p:sp>
        </mc:Fallback>
      </mc:AlternateContent>
      <p:sp>
        <p:nvSpPr>
          <p:cNvPr id="23" name="Rectangle 22"/>
          <p:cNvSpPr/>
          <p:nvPr/>
        </p:nvSpPr>
        <p:spPr>
          <a:xfrm>
            <a:off x="8915400" y="2670413"/>
            <a:ext cx="2651760" cy="1163848"/>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4" name="TextBox 23"/>
          <p:cNvSpPr txBox="1"/>
          <p:nvPr/>
        </p:nvSpPr>
        <p:spPr>
          <a:xfrm>
            <a:off x="9079992" y="2796235"/>
            <a:ext cx="232257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Actor π</a:t>
            </a:r>
          </a:p>
        </p:txBody>
      </p:sp>
      <p:sp>
        <p:nvSpPr>
          <p:cNvPr id="25" name="TextBox 24"/>
          <p:cNvSpPr txBox="1"/>
          <p:nvPr/>
        </p:nvSpPr>
        <p:spPr>
          <a:xfrm>
            <a:off x="9079992" y="3189427"/>
            <a:ext cx="2322576" cy="534741"/>
          </a:xfrm>
          <a:prstGeom prst="rect">
            <a:avLst/>
          </a:prstGeom>
          <a:noFill/>
        </p:spPr>
        <p:txBody>
          <a:bodyPr wrap="square" lIns="36576" tIns="36576" rIns="36576" bIns="36576" anchor="t">
            <a:spAutoFit/>
          </a:bodyPr>
          <a:lstStyle/>
          <a:p>
            <a:pPr algn="ctr">
              <a:lnSpc>
                <a:spcPct val="100000"/>
              </a:lnSpc>
              <a:spcAft>
                <a:spcPts val="0"/>
              </a:spcAft>
            </a:pPr>
            <a:r>
              <a:rPr sz="1250" b="0">
                <a:solidFill>
                  <a:srgbClr val="3A3A3A"/>
                </a:solidFill>
                <a:latin typeface="맑은 고딕"/>
                <a:ea typeface="맑은 고딕"/>
                <a:cs typeface="맑은 고딕"/>
              </a:rPr>
              <a:t>입력: 235D + 8D = 243D
출력: 관절각 보정량 12D</a:t>
            </a:r>
          </a:p>
        </p:txBody>
      </p:sp>
      <p:cxnSp>
        <p:nvCxnSpPr>
          <p:cNvPr id="26" name="Connector 25"/>
          <p:cNvCxnSpPr/>
          <p:nvPr/>
        </p:nvCxnSpPr>
        <p:spPr>
          <a:xfrm>
            <a:off x="2487168" y="2332267"/>
            <a:ext cx="347472"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487168" y="4494824"/>
            <a:ext cx="347472"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60720" y="2340132"/>
            <a:ext cx="585216" cy="77852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760720" y="3441070"/>
            <a:ext cx="585216" cy="1022299"/>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321040" y="3260201"/>
            <a:ext cx="502920"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sp>
        <p:nvSpPr>
          <p:cNvPr id="31" name="v5-content-intro"/>
          <p:cNvSpPr txBox="1"/>
          <p:nvPr/>
        </p:nvSpPr>
        <p:spPr>
          <a:xfrm>
            <a:off x="658368" y="1261872"/>
            <a:ext cx="10881360" cy="484632"/>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250" b="0" dirty="0">
                <a:solidFill>
                  <a:srgbClr val="3A3A3A"/>
                </a:solidFill>
                <a:latin typeface="맑은 고딕"/>
                <a:ea typeface="맑은 고딕"/>
                <a:cs typeface="맑은 고딕"/>
              </a:rPr>
              <a:t>[Saving the Limping </a:t>
            </a:r>
            <a:r>
              <a:rPr sz="1250" b="0" dirty="0" err="1">
                <a:solidFill>
                  <a:srgbClr val="3A3A3A"/>
                </a:solidFill>
                <a:latin typeface="맑은 고딕"/>
                <a:ea typeface="맑은 고딕"/>
                <a:cs typeface="맑은 고딕"/>
              </a:rPr>
              <a:t>구조</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계승</a:t>
            </a:r>
            <a:r>
              <a:rPr sz="1250" b="0" dirty="0">
                <a:solidFill>
                  <a:srgbClr val="3A3A3A"/>
                </a:solidFill>
                <a:latin typeface="맑은 고딕"/>
                <a:ea typeface="맑은 고딕"/>
                <a:cs typeface="맑은 고딕"/>
              </a:rPr>
              <a:t>] 두 </a:t>
            </a:r>
            <a:r>
              <a:rPr sz="1250" b="0" dirty="0" err="1">
                <a:solidFill>
                  <a:srgbClr val="3A3A3A"/>
                </a:solidFill>
                <a:latin typeface="맑은 고딕"/>
                <a:ea typeface="맑은 고딕"/>
                <a:cs typeface="맑은 고딕"/>
              </a:rPr>
              <a:t>encoder가</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만든</a:t>
            </a:r>
            <a:r>
              <a:rPr sz="1250" b="0" dirty="0">
                <a:solidFill>
                  <a:srgbClr val="3A3A3A"/>
                </a:solidFill>
                <a:latin typeface="맑은 고딕"/>
                <a:ea typeface="맑은 고딕"/>
                <a:cs typeface="맑은 고딕"/>
              </a:rPr>
              <a:t> 8D </a:t>
            </a:r>
            <a:r>
              <a:rPr sz="1250" b="0" dirty="0" err="1">
                <a:solidFill>
                  <a:srgbClr val="3A3A3A"/>
                </a:solidFill>
                <a:latin typeface="맑은 고딕"/>
                <a:ea typeface="맑은 고딕"/>
                <a:cs typeface="맑은 고딕"/>
              </a:rPr>
              <a:t>특징을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Actor가</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사용한다</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학습·평가</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구분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학습은</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Teacher·Student</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특징을</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혼합하고</a:t>
            </a:r>
            <a:r>
              <a:rPr sz="1250" b="0" dirty="0">
                <a:solidFill>
                  <a:srgbClr val="3A3A3A"/>
                </a:solidFill>
                <a:latin typeface="맑은 고딕"/>
                <a:ea typeface="맑은 고딕"/>
                <a:cs typeface="맑은 고딕"/>
              </a:rPr>
              <a:t>, Student </a:t>
            </a:r>
            <a:r>
              <a:rPr sz="1250" b="0" dirty="0" err="1">
                <a:solidFill>
                  <a:srgbClr val="3A3A3A"/>
                </a:solidFill>
                <a:latin typeface="맑은 고딕"/>
                <a:ea typeface="맑은 고딕"/>
                <a:cs typeface="맑은 고딕"/>
              </a:rPr>
              <a:t>평가에서는</a:t>
            </a:r>
            <a:r>
              <a:rPr sz="1250" b="0" dirty="0">
                <a:solidFill>
                  <a:srgbClr val="3A3A3A"/>
                </a:solidFill>
                <a:latin typeface="맑은 고딕"/>
                <a:ea typeface="맑은 고딕"/>
                <a:cs typeface="맑은 고딕"/>
              </a:rPr>
              <a:t> Student </a:t>
            </a:r>
            <a:r>
              <a:rPr sz="1250" b="0" dirty="0" err="1">
                <a:solidFill>
                  <a:srgbClr val="3A3A3A"/>
                </a:solidFill>
                <a:latin typeface="맑은 고딕"/>
                <a:ea typeface="맑은 고딕"/>
                <a:cs typeface="맑은 고딕"/>
              </a:rPr>
              <a:t>특징만</a:t>
            </a:r>
            <a:r>
              <a:rPr sz="1250" b="0" dirty="0">
                <a:solidFill>
                  <a:srgbClr val="3A3A3A"/>
                </a:solidFill>
                <a:latin typeface="맑은 고딕"/>
                <a:ea typeface="맑은 고딕"/>
                <a:cs typeface="맑은 고딕"/>
              </a:rPr>
              <a:t> </a:t>
            </a:r>
            <a:r>
              <a:rPr sz="1250" b="0" dirty="0" err="1">
                <a:solidFill>
                  <a:srgbClr val="3A3A3A"/>
                </a:solidFill>
                <a:latin typeface="맑은 고딕"/>
                <a:ea typeface="맑은 고딕"/>
                <a:cs typeface="맑은 고딕"/>
              </a:rPr>
              <a:t>사용한다</a:t>
            </a:r>
            <a:r>
              <a:rPr sz="1250" b="0" dirty="0">
                <a:solidFill>
                  <a:srgbClr val="3A3A3A"/>
                </a:solidFill>
                <a:latin typeface="맑은 고딕"/>
                <a:ea typeface="맑은 고딕"/>
                <a:cs typeface="맑은 고딕"/>
              </a:rPr>
              <a:t>.</a:t>
            </a:r>
          </a:p>
        </p:txBody>
      </p:sp>
      <p:sp>
        <p:nvSpPr>
          <p:cNvPr id="32" name="Rectangle 31"/>
          <p:cNvSpPr/>
          <p:nvPr/>
        </p:nvSpPr>
        <p:spPr>
          <a:xfrm>
            <a:off x="8915400" y="4590288"/>
            <a:ext cx="2651760" cy="630936"/>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3" name="TextBox 32"/>
          <p:cNvSpPr txBox="1"/>
          <p:nvPr/>
        </p:nvSpPr>
        <p:spPr>
          <a:xfrm>
            <a:off x="9034272" y="4709160"/>
            <a:ext cx="2395728" cy="274320"/>
          </a:xfrm>
          <a:prstGeom prst="rect">
            <a:avLst/>
          </a:prstGeom>
          <a:noFill/>
        </p:spPr>
        <p:txBody>
          <a:bodyPr wrap="square" lIns="36576" tIns="36576" rIns="36576" bIns="36576" anchor="t">
            <a:spAutoFit/>
          </a:bodyPr>
          <a:lstStyle/>
          <a:p>
            <a:pPr algn="ctr">
              <a:lnSpc>
                <a:spcPct val="100000"/>
              </a:lnSpc>
              <a:spcAft>
                <a:spcPts val="0"/>
              </a:spcAft>
            </a:pPr>
            <a:r>
              <a:rPr sz="1400" b="0">
                <a:solidFill>
                  <a:srgbClr val="3A3A3A"/>
                </a:solidFill>
                <a:latin typeface="맑은 고딕"/>
                <a:ea typeface="맑은 고딕"/>
                <a:cs typeface="맑은 고딕"/>
              </a:rPr>
              <a:t>현재 관측 235D</a:t>
            </a:r>
          </a:p>
        </p:txBody>
      </p:sp>
      <p:cxnSp>
        <p:nvCxnSpPr>
          <p:cNvPr id="34" name="Connector 33"/>
          <p:cNvCxnSpPr/>
          <p:nvPr/>
        </p:nvCxnSpPr>
        <p:spPr>
          <a:xfrm flipV="1">
            <a:off x="10222992" y="3858768"/>
            <a:ext cx="0" cy="68580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sp>
        <p:nvSpPr>
          <p:cNvPr id="35" name="v6-flow-mode-explanation"/>
          <p:cNvSpPr txBox="1"/>
          <p:nvPr/>
        </p:nvSpPr>
        <p:spPr>
          <a:xfrm>
            <a:off x="566928" y="5446534"/>
            <a:ext cx="5257800" cy="585216"/>
          </a:xfrm>
          <a:prstGeom prst="rect">
            <a:avLst/>
          </a:prstGeom>
          <a:noFill/>
        </p:spPr>
        <p:txBody>
          <a:bodyPr wrap="square" lIns="36576" tIns="36576" rIns="36576" bIns="36576" anchor="t">
            <a:spAutoFit/>
          </a:bodyPr>
          <a:lstStyle/>
          <a:p>
            <a:pPr algn="l">
              <a:lnSpc>
                <a:spcPct val="100000"/>
              </a:lnSpc>
              <a:spcAft>
                <a:spcPts val="0"/>
              </a:spcAft>
            </a:pPr>
            <a:r>
              <a:rPr sz="1200" b="0" dirty="0" err="1">
                <a:solidFill>
                  <a:srgbClr val="3A3A3A"/>
                </a:solidFill>
                <a:latin typeface="맑은 고딕"/>
                <a:ea typeface="맑은 고딕"/>
                <a:cs typeface="맑은 고딕"/>
              </a:rPr>
              <a:t>학습</a:t>
            </a:r>
            <a:r>
              <a:rPr sz="1200" b="0" dirty="0">
                <a:solidFill>
                  <a:srgbClr val="3A3A3A"/>
                </a:solidFill>
                <a:latin typeface="맑은 고딕"/>
                <a:ea typeface="맑은 고딕"/>
                <a:cs typeface="맑은 고딕"/>
              </a:rPr>
              <a:t>: Teacher + Student → </a:t>
            </a:r>
            <a:r>
              <a:rPr sz="1200" b="0" dirty="0" err="1">
                <a:solidFill>
                  <a:srgbClr val="3A3A3A"/>
                </a:solidFill>
                <a:latin typeface="맑은 고딕"/>
                <a:ea typeface="맑은 고딕"/>
                <a:cs typeface="맑은 고딕"/>
              </a:rPr>
              <a:t>혼합</a:t>
            </a:r>
            <a:r>
              <a:rPr sz="1200" b="0" dirty="0">
                <a:solidFill>
                  <a:srgbClr val="3A3A3A"/>
                </a:solidFill>
                <a:latin typeface="맑은 고딕"/>
                <a:ea typeface="맑은 고딕"/>
                <a:cs typeface="맑은 고딕"/>
              </a:rPr>
              <a:t> 8D
</a:t>
            </a:r>
            <a:r>
              <a:rPr sz="1200" b="0" dirty="0" err="1">
                <a:solidFill>
                  <a:srgbClr val="3A3A3A"/>
                </a:solidFill>
                <a:latin typeface="맑은 고딕"/>
                <a:ea typeface="맑은 고딕"/>
                <a:cs typeface="맑은 고딕"/>
              </a:rPr>
              <a:t>평가</a:t>
            </a:r>
            <a:r>
              <a:rPr sz="1200" b="0" dirty="0">
                <a:solidFill>
                  <a:srgbClr val="3A3A3A"/>
                </a:solidFill>
                <a:latin typeface="맑은 고딕"/>
                <a:ea typeface="맑은 고딕"/>
                <a:cs typeface="맑은 고딕"/>
              </a:rPr>
              <a:t>: Student → 8D (Teacher </a:t>
            </a:r>
            <a:r>
              <a:rPr sz="1200" b="0" dirty="0" err="1">
                <a:solidFill>
                  <a:srgbClr val="3A3A3A"/>
                </a:solidFill>
                <a:latin typeface="맑은 고딕"/>
                <a:ea typeface="맑은 고딕"/>
                <a:cs typeface="맑은 고딕"/>
              </a:rPr>
              <a:t>경로</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제외</a:t>
            </a:r>
            <a:r>
              <a:rPr sz="1200" b="0" dirty="0">
                <a:solidFill>
                  <a:srgbClr val="3A3A3A"/>
                </a:solidFill>
                <a:latin typeface="맑은 고딕"/>
                <a:ea typeface="맑은 고딕"/>
                <a:cs typeface="맑은 고딕"/>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dirty="0">
                <a:solidFill>
                  <a:srgbClr val="111111"/>
                </a:solidFill>
                <a:latin typeface="맑은 고딕"/>
                <a:ea typeface="맑은 고딕"/>
                <a:cs typeface="맑은 고딕"/>
              </a:rPr>
              <a:t>17 | </a:t>
            </a:r>
            <a:r>
              <a:rPr sz="2800" b="1" dirty="0" err="1">
                <a:solidFill>
                  <a:srgbClr val="111111"/>
                </a:solidFill>
                <a:latin typeface="맑은 고딕"/>
                <a:ea typeface="맑은 고딕"/>
                <a:cs typeface="맑은 고딕"/>
              </a:rPr>
              <a:t>특징</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혼합과</a:t>
            </a:r>
            <a:r>
              <a:rPr sz="2800" b="1" dirty="0">
                <a:solidFill>
                  <a:srgbClr val="111111"/>
                </a:solidFill>
                <a:latin typeface="맑은 고딕"/>
                <a:ea typeface="맑은 고딕"/>
                <a:cs typeface="맑은 고딕"/>
              </a:rPr>
              <a:t> Student </a:t>
            </a:r>
            <a:r>
              <a:rPr sz="2800" b="1" dirty="0" err="1">
                <a:solidFill>
                  <a:srgbClr val="111111"/>
                </a:solidFill>
                <a:latin typeface="맑은 고딕"/>
                <a:ea typeface="맑은 고딕"/>
                <a:cs typeface="맑은 고딕"/>
              </a:rPr>
              <a:t>전환</a:t>
            </a:r>
            <a:r>
              <a:rPr sz="800" b="0" baseline="30000" dirty="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02 학습 방법 · 목적 / 정보 / 구조 / 공동학습</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Liu et al., Saving the Limping, arXiv:2210.00474v3, 2023.   2) Local implementation: joint_teacher_student_actor_critic.py, fused_latent / set_training_iteration.</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17 / 43</a:t>
            </a:r>
          </a:p>
        </p:txBody>
      </p:sp>
      <p:sp>
        <p:nvSpPr>
          <p:cNvPr id="8" name="v5-content-intro"/>
          <p:cNvSpPr txBox="1"/>
          <p:nvPr/>
        </p:nvSpPr>
        <p:spPr>
          <a:xfrm>
            <a:off x="658368" y="1252728"/>
            <a:ext cx="10881360" cy="443198"/>
          </a:xfrm>
          <a:prstGeom prst="rect">
            <a:avLst/>
          </a:prstGeom>
          <a:noFill/>
        </p:spPr>
        <p:txBody>
          <a:bodyPr wrap="square" lIns="36576" tIns="36576" rIns="36576" bIns="36576" anchor="t">
            <a:spAutoFit/>
          </a:bodyPr>
          <a:lstStyle/>
          <a:p>
            <a:pPr marL="171450" indent="-171450" algn="l">
              <a:spcAft>
                <a:spcPts val="0"/>
              </a:spcAft>
              <a:buFont typeface="Arial" panose="020B0604020202020204" pitchFamily="34" charset="0"/>
              <a:buChar char="•"/>
            </a:pPr>
            <a:r>
              <a:rPr sz="1200" b="0" dirty="0">
                <a:solidFill>
                  <a:srgbClr val="3A3A3A"/>
                </a:solidFill>
                <a:latin typeface="맑은 고딕"/>
                <a:ea typeface="맑은 고딕"/>
                <a:cs typeface="맑은 고딕"/>
              </a:rPr>
              <a:t>α는 8차원 </a:t>
            </a:r>
            <a:r>
              <a:rPr sz="1200" b="0" dirty="0" err="1">
                <a:solidFill>
                  <a:srgbClr val="3A3A3A"/>
                </a:solidFill>
                <a:latin typeface="맑은 고딕"/>
                <a:ea typeface="맑은 고딕"/>
                <a:cs typeface="맑은 고딕"/>
              </a:rPr>
              <a:t>특징의</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혼합</a:t>
            </a:r>
            <a:r>
              <a:rPr sz="1200" b="0" dirty="0">
                <a:solidFill>
                  <a:srgbClr val="3A3A3A"/>
                </a:solidFill>
                <a:latin typeface="맑은 고딕"/>
                <a:ea typeface="맑은 고딕"/>
                <a:cs typeface="맑은 고딕"/>
              </a:rPr>
              <a:t> 비</a:t>
            </a:r>
            <a:r>
              <a:rPr lang="ko-KR" altLang="en-US" sz="1200" dirty="0">
                <a:solidFill>
                  <a:srgbClr val="3A3A3A"/>
                </a:solidFill>
                <a:latin typeface="맑은 고딕"/>
                <a:ea typeface="맑은 고딕"/>
                <a:cs typeface="맑은 고딕"/>
              </a:rPr>
              <a:t>율</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Student의</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추정</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오차로</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인한</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급격한</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입력</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변화를</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줄이면서</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Actor도</a:t>
            </a:r>
            <a:r>
              <a:rPr sz="1200" b="0" dirty="0">
                <a:solidFill>
                  <a:srgbClr val="3A3A3A"/>
                </a:solidFill>
                <a:latin typeface="맑은 고딕"/>
                <a:ea typeface="맑은 고딕"/>
                <a:cs typeface="맑은 고딕"/>
              </a:rPr>
              <a:t> 그 </a:t>
            </a:r>
            <a:r>
              <a:rPr sz="1200" b="0" dirty="0" err="1">
                <a:solidFill>
                  <a:srgbClr val="3A3A3A"/>
                </a:solidFill>
                <a:latin typeface="맑은 고딕"/>
                <a:ea typeface="맑은 고딕"/>
                <a:cs typeface="맑은 고딕"/>
              </a:rPr>
              <a:t>특징으로</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보행하도록</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함께</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학습한다</a:t>
            </a:r>
            <a:r>
              <a:rPr sz="1200" b="0" dirty="0">
                <a:solidFill>
                  <a:srgbClr val="3A3A3A"/>
                </a:solidFill>
                <a:latin typeface="맑은 고딕"/>
                <a:ea typeface="맑은 고딕"/>
                <a:cs typeface="맑은 고딕"/>
              </a:rPr>
              <a:t>.</a:t>
            </a:r>
          </a:p>
        </p:txBody>
      </p:sp>
      <mc:AlternateContent xmlns:mc="http://schemas.openxmlformats.org/markup-compatibility/2006" xmlns:a14="http://schemas.microsoft.com/office/drawing/2010/main">
        <mc:Choice Requires="a14">
          <p:sp>
            <p:nvSpPr>
              <p:cNvPr id="9" name="v7-math-8"/>
              <p:cNvSpPr txBox="1"/>
              <p:nvPr/>
            </p:nvSpPr>
            <p:spPr>
              <a:xfrm>
                <a:off x="1097280" y="1856231"/>
                <a:ext cx="9875520" cy="621792"/>
              </a:xfrm>
              <a:prstGeom prst="rect">
                <a:avLst/>
              </a:prstGeom>
              <a:noFill/>
            </p:spPr>
            <p:txBody>
              <a:bodyPr wrap="none" lIns="27432" tIns="27432" rIns="27432" bIns="27432" anchor="ctr">
                <a:spAutoFit/>
              </a:bodyPr>
              <a:lstStyle/>
              <a:p>
                <a:pPr algn="ctr"/>
                <a14:m>
                  <m:oMathPara xmlns:m="http://schemas.openxmlformats.org/officeDocument/2006/math">
                    <m:oMath>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𝑧</m:t>
                          </m:r>
                        </m:e>
                        <m:sub>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𝑚𝑖𝑥</m:t>
                          </m:r>
                        </m:sup>
                      </m:sSubSup>
                      <m:r>
                        <a:rPr lang="ko-KR" sz="1800" b="0">
                          <a:solidFill>
                            <a:srgbClr val="222222"/>
                          </a:solidFill>
                          <a:latin typeface="Cambria Math" panose="02040503050406030204" pitchFamily="18" charset="0"/>
                          <a:ea typeface="맑은 고딕"/>
                          <a:cs typeface="맑은 고딕"/>
                        </a:rPr>
                        <m:t> = (1−</m:t>
                      </m:r>
                      <m:r>
                        <a:rPr lang="ko-KR" sz="1800" b="0">
                          <a:solidFill>
                            <a:srgbClr val="222222"/>
                          </a:solidFill>
                          <a:latin typeface="Cambria Math" panose="02040503050406030204" pitchFamily="18" charset="0"/>
                          <a:ea typeface="맑은 고딕"/>
                          <a:cs typeface="맑은 고딕"/>
                        </a:rPr>
                        <m:t>𝛼</m:t>
                      </m:r>
                      <m:r>
                        <a:rPr lang="ko-KR" sz="1800" b="0">
                          <a:solidFill>
                            <a:srgbClr val="222222"/>
                          </a:solidFill>
                          <a:latin typeface="Cambria Math" panose="02040503050406030204" pitchFamily="18" charset="0"/>
                          <a:ea typeface="맑은 고딕"/>
                          <a:cs typeface="맑은 고딕"/>
                        </a:rPr>
                        <m:t>)</m:t>
                      </m:r>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𝑧</m:t>
                          </m:r>
                        </m:e>
                        <m:sub>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𝑇</m:t>
                          </m:r>
                        </m:sup>
                      </m:sSubSup>
                      <m:r>
                        <a:rPr lang="ko-KR" sz="1800" b="0">
                          <a:solidFill>
                            <a:srgbClr val="222222"/>
                          </a:solidFill>
                          <a:latin typeface="Cambria Math" panose="02040503050406030204" pitchFamily="18" charset="0"/>
                          <a:ea typeface="맑은 고딕"/>
                          <a:cs typeface="맑은 고딕"/>
                        </a:rPr>
                        <m:t> + </m:t>
                      </m:r>
                      <m:r>
                        <a:rPr lang="ko-KR" sz="1800" b="0">
                          <a:solidFill>
                            <a:srgbClr val="222222"/>
                          </a:solidFill>
                          <a:latin typeface="Cambria Math" panose="02040503050406030204" pitchFamily="18" charset="0"/>
                          <a:ea typeface="맑은 고딕"/>
                          <a:cs typeface="맑은 고딕"/>
                        </a:rPr>
                        <m:t>𝛼</m:t>
                      </m:r>
                      <m:sSubSup>
                        <m:sSubSupPr>
                          <m:ctrlPr>
                            <a:rPr lang="ko-KR" sz="1800" b="0">
                              <a:solidFill>
                                <a:srgbClr val="222222"/>
                              </a:solidFill>
                              <a:latin typeface="Cambria Math" panose="02040503050406030204" pitchFamily="18" charset="0"/>
                              <a:ea typeface="맑은 고딕"/>
                              <a:cs typeface="맑은 고딕"/>
                            </a:rPr>
                          </m:ctrlPr>
                        </m:sSubSupPr>
                        <m:e>
                          <m:r>
                            <a:rPr lang="ko-KR" sz="1800" b="0">
                              <a:solidFill>
                                <a:srgbClr val="222222"/>
                              </a:solidFill>
                              <a:latin typeface="Cambria Math" panose="02040503050406030204" pitchFamily="18" charset="0"/>
                              <a:ea typeface="맑은 고딕"/>
                              <a:cs typeface="맑은 고딕"/>
                            </a:rPr>
                            <m:t>𝑧</m:t>
                          </m:r>
                        </m:e>
                        <m:sub>
                          <m:r>
                            <a:rPr lang="ko-KR" sz="1800" b="0">
                              <a:solidFill>
                                <a:srgbClr val="222222"/>
                              </a:solidFill>
                              <a:latin typeface="Cambria Math" panose="02040503050406030204" pitchFamily="18" charset="0"/>
                              <a:ea typeface="맑은 고딕"/>
                              <a:cs typeface="맑은 고딕"/>
                            </a:rPr>
                            <m:t>𝑡</m:t>
                          </m:r>
                        </m:sub>
                        <m:sup>
                          <m:r>
                            <a:rPr lang="ko-KR" sz="1800" b="0">
                              <a:solidFill>
                                <a:srgbClr val="222222"/>
                              </a:solidFill>
                              <a:latin typeface="Cambria Math" panose="02040503050406030204" pitchFamily="18" charset="0"/>
                              <a:ea typeface="맑은 고딕"/>
                              <a:cs typeface="맑은 고딕"/>
                            </a:rPr>
                            <m:t>𝑆</m:t>
                          </m:r>
                        </m:sup>
                      </m:sSubSup>
                      <m:r>
                        <a:rPr lang="ko-KR" sz="1800" b="0">
                          <a:solidFill>
                            <a:srgbClr val="222222"/>
                          </a:solidFill>
                          <a:latin typeface="Cambria Math" panose="02040503050406030204" pitchFamily="18" charset="0"/>
                          <a:ea typeface="맑은 고딕"/>
                          <a:cs typeface="맑은 고딕"/>
                        </a:rPr>
                        <m:t> ∈ </m:t>
                      </m:r>
                      <m:sSup>
                        <m:sSupPr>
                          <m:ctrlPr>
                            <a:rPr lang="ko-KR" sz="1800" b="0">
                              <a:solidFill>
                                <a:srgbClr val="222222"/>
                              </a:solidFill>
                              <a:latin typeface="Cambria Math" panose="02040503050406030204" pitchFamily="18" charset="0"/>
                              <a:ea typeface="맑은 고딕"/>
                              <a:cs typeface="맑은 고딕"/>
                            </a:rPr>
                          </m:ctrlPr>
                        </m:sSupPr>
                        <m:e>
                          <m:r>
                            <a:rPr lang="ko-KR" sz="1800" b="0">
                              <a:solidFill>
                                <a:srgbClr val="222222"/>
                              </a:solidFill>
                              <a:latin typeface="Cambria Math" panose="02040503050406030204" pitchFamily="18" charset="0"/>
                              <a:ea typeface="맑은 고딕"/>
                              <a:cs typeface="맑은 고딕"/>
                            </a:rPr>
                            <m:t>𝑅</m:t>
                          </m:r>
                        </m:e>
                        <m:sup>
                          <m:r>
                            <a:rPr lang="ko-KR" sz="1800" b="0">
                              <a:solidFill>
                                <a:srgbClr val="222222"/>
                              </a:solidFill>
                              <a:latin typeface="Cambria Math" panose="02040503050406030204" pitchFamily="18" charset="0"/>
                              <a:ea typeface="맑은 고딕"/>
                              <a:cs typeface="맑은 고딕"/>
                            </a:rPr>
                            <m:t>8</m:t>
                          </m:r>
                        </m:sup>
                      </m:sSup>
                    </m:oMath>
                  </m:oMathPara>
                </a14:m>
                <a:endParaRPr/>
              </a:p>
            </p:txBody>
          </p:sp>
        </mc:Choice>
        <mc:Fallback xmlns="">
          <p:sp>
            <p:nvSpPr>
              <p:cNvPr id="9" name="v7-math-8"/>
              <p:cNvSpPr txBox="1">
                <a:spLocks noRot="1" noChangeAspect="1" noMove="1" noResize="1" noEditPoints="1" noAdjustHandles="1" noChangeArrowheads="1" noChangeShapeType="1" noTextEdit="1"/>
              </p:cNvSpPr>
              <p:nvPr/>
            </p:nvSpPr>
            <p:spPr>
              <a:xfrm>
                <a:off x="1097280" y="1856231"/>
                <a:ext cx="9875520" cy="621792"/>
              </a:xfrm>
              <a:prstGeom prst="rect">
                <a:avLst/>
              </a:prstGeom>
              <a:blipFill>
                <a:blip r:embed="rId3"/>
                <a:stretch>
                  <a:fillRect/>
                </a:stretch>
              </a:blipFill>
            </p:spPr>
            <p:txBody>
              <a:bodyPr/>
              <a:lstStyle/>
              <a:p>
                <a:r>
                  <a:rPr lang="ko-KR" altLang="en-US">
                    <a:noFill/>
                  </a:rPr>
                  <a:t> </a:t>
                </a:r>
              </a:p>
            </p:txBody>
          </p:sp>
        </mc:Fallback>
      </mc:AlternateContent>
      <p:sp>
        <p:nvSpPr>
          <p:cNvPr id="10" name="Rectangle 9"/>
          <p:cNvSpPr/>
          <p:nvPr/>
        </p:nvSpPr>
        <p:spPr>
          <a:xfrm>
            <a:off x="640080" y="2724912"/>
            <a:ext cx="1938528" cy="58521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1" y="2761488"/>
            <a:ext cx="1792224" cy="512064"/>
          </a:xfrm>
          <a:prstGeom prst="rect">
            <a:avLst/>
          </a:prstGeom>
          <a:noFill/>
        </p:spPr>
        <p:txBody>
          <a:bodyPr wrap="square" lIns="9144" tIns="9144" rIns="9144" bIns="9144" anchor="ctr">
            <a:spAutoFit/>
          </a:bodyPr>
          <a:lstStyle/>
          <a:p>
            <a:pPr algn="ctr">
              <a:spcAft>
                <a:spcPts val="0"/>
              </a:spcAft>
            </a:pPr>
            <a:r>
              <a:rPr sz="1220" b="1">
                <a:solidFill>
                  <a:srgbClr val="FFFFFF"/>
                </a:solidFill>
                <a:latin typeface="맑은 고딕"/>
                <a:ea typeface="맑은 고딕"/>
                <a:cs typeface="맑은 고딕"/>
              </a:rPr>
              <a:t>학습 단계</a:t>
            </a:r>
          </a:p>
        </p:txBody>
      </p:sp>
      <p:sp>
        <p:nvSpPr>
          <p:cNvPr id="12" name="Rectangle 11"/>
          <p:cNvSpPr/>
          <p:nvPr/>
        </p:nvSpPr>
        <p:spPr>
          <a:xfrm>
            <a:off x="2578608" y="2724912"/>
            <a:ext cx="1920240" cy="58521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51760" y="2761488"/>
            <a:ext cx="1773936" cy="512064"/>
          </a:xfrm>
          <a:prstGeom prst="rect">
            <a:avLst/>
          </a:prstGeom>
          <a:noFill/>
        </p:spPr>
        <p:txBody>
          <a:bodyPr wrap="square" lIns="9144" tIns="9144" rIns="9144" bIns="9144" anchor="ctr">
            <a:spAutoFit/>
          </a:bodyPr>
          <a:lstStyle/>
          <a:p>
            <a:pPr algn="ctr">
              <a:spcAft>
                <a:spcPts val="0"/>
              </a:spcAft>
            </a:pPr>
            <a:r>
              <a:rPr sz="1220" b="1">
                <a:solidFill>
                  <a:srgbClr val="FFFFFF"/>
                </a:solidFill>
                <a:latin typeface="맑은 고딕"/>
                <a:ea typeface="맑은 고딕"/>
                <a:cs typeface="맑은 고딕"/>
              </a:rPr>
              <a:t>Teacher 특징 비중</a:t>
            </a:r>
          </a:p>
        </p:txBody>
      </p:sp>
      <p:sp>
        <p:nvSpPr>
          <p:cNvPr id="14" name="Rectangle 13"/>
          <p:cNvSpPr/>
          <p:nvPr/>
        </p:nvSpPr>
        <p:spPr>
          <a:xfrm>
            <a:off x="4498848" y="2724912"/>
            <a:ext cx="1920240" cy="58521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2761488"/>
            <a:ext cx="1773936" cy="512064"/>
          </a:xfrm>
          <a:prstGeom prst="rect">
            <a:avLst/>
          </a:prstGeom>
          <a:noFill/>
        </p:spPr>
        <p:txBody>
          <a:bodyPr wrap="square" lIns="9144" tIns="9144" rIns="9144" bIns="9144" anchor="ctr">
            <a:spAutoFit/>
          </a:bodyPr>
          <a:lstStyle/>
          <a:p>
            <a:pPr algn="ctr">
              <a:spcAft>
                <a:spcPts val="0"/>
              </a:spcAft>
            </a:pPr>
            <a:r>
              <a:rPr sz="1220" b="1">
                <a:solidFill>
                  <a:srgbClr val="FFFFFF"/>
                </a:solidFill>
                <a:latin typeface="맑은 고딕"/>
                <a:ea typeface="맑은 고딕"/>
                <a:cs typeface="맑은 고딕"/>
              </a:rPr>
              <a:t>Student 특징 비중</a:t>
            </a:r>
          </a:p>
        </p:txBody>
      </p:sp>
      <p:sp>
        <p:nvSpPr>
          <p:cNvPr id="16" name="Rectangle 15"/>
          <p:cNvSpPr/>
          <p:nvPr/>
        </p:nvSpPr>
        <p:spPr>
          <a:xfrm>
            <a:off x="6419088" y="2724912"/>
            <a:ext cx="5193792" cy="58521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761488"/>
            <a:ext cx="5047488" cy="512064"/>
          </a:xfrm>
          <a:prstGeom prst="rect">
            <a:avLst/>
          </a:prstGeom>
          <a:noFill/>
        </p:spPr>
        <p:txBody>
          <a:bodyPr wrap="square" lIns="9144" tIns="9144" rIns="9144" bIns="9144" anchor="ctr">
            <a:spAutoFit/>
          </a:bodyPr>
          <a:lstStyle/>
          <a:p>
            <a:pPr algn="ctr">
              <a:spcAft>
                <a:spcPts val="0"/>
              </a:spcAft>
            </a:pPr>
            <a:r>
              <a:rPr sz="1220" b="1">
                <a:solidFill>
                  <a:srgbClr val="FFFFFF"/>
                </a:solidFill>
                <a:latin typeface="맑은 고딕"/>
                <a:ea typeface="맑은 고딕"/>
                <a:cs typeface="맑은 고딕"/>
              </a:rPr>
              <a:t>Actor가 받는 8D 특징</a:t>
            </a:r>
          </a:p>
        </p:txBody>
      </p:sp>
      <p:sp>
        <p:nvSpPr>
          <p:cNvPr id="18" name="Rectangle 17"/>
          <p:cNvSpPr/>
          <p:nvPr/>
        </p:nvSpPr>
        <p:spPr>
          <a:xfrm>
            <a:off x="640080" y="3310128"/>
            <a:ext cx="1938528"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1" y="3499631"/>
            <a:ext cx="1792224" cy="206210"/>
          </a:xfrm>
          <a:prstGeom prst="rect">
            <a:avLst/>
          </a:prstGeom>
          <a:noFill/>
        </p:spPr>
        <p:txBody>
          <a:bodyPr wrap="square" lIns="9144" tIns="9144" rIns="9144" bIns="9144" anchor="ctr">
            <a:spAutoFit/>
          </a:bodyPr>
          <a:lstStyle/>
          <a:p>
            <a:pPr algn="ctr">
              <a:spcAft>
                <a:spcPts val="0"/>
              </a:spcAft>
            </a:pPr>
            <a:r>
              <a:rPr sz="1220" b="1">
                <a:solidFill>
                  <a:srgbClr val="3A3A3A"/>
                </a:solidFill>
                <a:latin typeface="맑은 고딕"/>
                <a:ea typeface="맑은 고딕"/>
                <a:cs typeface="맑은 고딕"/>
              </a:rPr>
              <a:t>초기</a:t>
            </a:r>
          </a:p>
        </p:txBody>
      </p:sp>
      <p:sp>
        <p:nvSpPr>
          <p:cNvPr id="20" name="Rectangle 19"/>
          <p:cNvSpPr/>
          <p:nvPr/>
        </p:nvSpPr>
        <p:spPr>
          <a:xfrm>
            <a:off x="2578608" y="3310128"/>
            <a:ext cx="1920240"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51760" y="3346704"/>
            <a:ext cx="1773936"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100%</a:t>
            </a:r>
          </a:p>
        </p:txBody>
      </p:sp>
      <p:sp>
        <p:nvSpPr>
          <p:cNvPr id="22" name="Rectangle 21"/>
          <p:cNvSpPr/>
          <p:nvPr/>
        </p:nvSpPr>
        <p:spPr>
          <a:xfrm>
            <a:off x="4498848" y="3310128"/>
            <a:ext cx="1920240"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3346704"/>
            <a:ext cx="1773936"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0%</a:t>
            </a:r>
          </a:p>
        </p:txBody>
      </p:sp>
      <p:sp>
        <p:nvSpPr>
          <p:cNvPr id="24" name="Rectangle 23"/>
          <p:cNvSpPr/>
          <p:nvPr/>
        </p:nvSpPr>
        <p:spPr>
          <a:xfrm>
            <a:off x="6419088" y="3310128"/>
            <a:ext cx="5193792"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3346704"/>
            <a:ext cx="5047488"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Teacher 특징; Student는 모방 손실로 먼저 학습</a:t>
            </a:r>
          </a:p>
        </p:txBody>
      </p:sp>
      <p:sp>
        <p:nvSpPr>
          <p:cNvPr id="26" name="Rectangle 25"/>
          <p:cNvSpPr/>
          <p:nvPr/>
        </p:nvSpPr>
        <p:spPr>
          <a:xfrm>
            <a:off x="640080" y="3895344"/>
            <a:ext cx="1938528" cy="58521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1" y="4084847"/>
            <a:ext cx="1792224" cy="206210"/>
          </a:xfrm>
          <a:prstGeom prst="rect">
            <a:avLst/>
          </a:prstGeom>
          <a:noFill/>
        </p:spPr>
        <p:txBody>
          <a:bodyPr wrap="square" lIns="9144" tIns="9144" rIns="9144" bIns="9144" anchor="ctr">
            <a:spAutoFit/>
          </a:bodyPr>
          <a:lstStyle/>
          <a:p>
            <a:pPr algn="ctr">
              <a:spcAft>
                <a:spcPts val="0"/>
              </a:spcAft>
            </a:pPr>
            <a:r>
              <a:rPr sz="1220" b="1">
                <a:solidFill>
                  <a:srgbClr val="3A3A3A"/>
                </a:solidFill>
                <a:latin typeface="맑은 고딕"/>
                <a:ea typeface="맑은 고딕"/>
                <a:cs typeface="맑은 고딕"/>
              </a:rPr>
              <a:t>중간</a:t>
            </a:r>
          </a:p>
        </p:txBody>
      </p:sp>
      <p:sp>
        <p:nvSpPr>
          <p:cNvPr id="28" name="Rectangle 27"/>
          <p:cNvSpPr/>
          <p:nvPr/>
        </p:nvSpPr>
        <p:spPr>
          <a:xfrm>
            <a:off x="2578608" y="3895344"/>
            <a:ext cx="1920240" cy="58521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651760" y="3931920"/>
            <a:ext cx="1773936"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50%</a:t>
            </a:r>
          </a:p>
        </p:txBody>
      </p:sp>
      <p:sp>
        <p:nvSpPr>
          <p:cNvPr id="30" name="Rectangle 29"/>
          <p:cNvSpPr/>
          <p:nvPr/>
        </p:nvSpPr>
        <p:spPr>
          <a:xfrm>
            <a:off x="4498848" y="3895344"/>
            <a:ext cx="1920240" cy="58521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0" y="3931920"/>
            <a:ext cx="1773936"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50%</a:t>
            </a:r>
          </a:p>
        </p:txBody>
      </p:sp>
      <p:sp>
        <p:nvSpPr>
          <p:cNvPr id="32" name="Rectangle 31"/>
          <p:cNvSpPr/>
          <p:nvPr/>
        </p:nvSpPr>
        <p:spPr>
          <a:xfrm>
            <a:off x="6419088" y="3895344"/>
            <a:ext cx="5193792" cy="58521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3931920"/>
            <a:ext cx="5047488"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두 특징의 원소별 가중합; Actor도 이에 맞춰 갱신</a:t>
            </a:r>
          </a:p>
        </p:txBody>
      </p:sp>
      <p:sp>
        <p:nvSpPr>
          <p:cNvPr id="34" name="Rectangle 33"/>
          <p:cNvSpPr/>
          <p:nvPr/>
        </p:nvSpPr>
        <p:spPr>
          <a:xfrm>
            <a:off x="640080" y="4480560"/>
            <a:ext cx="1938528"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1" y="4670063"/>
            <a:ext cx="1792224" cy="206210"/>
          </a:xfrm>
          <a:prstGeom prst="rect">
            <a:avLst/>
          </a:prstGeom>
          <a:noFill/>
        </p:spPr>
        <p:txBody>
          <a:bodyPr wrap="square" lIns="9144" tIns="9144" rIns="9144" bIns="9144" anchor="ctr">
            <a:spAutoFit/>
          </a:bodyPr>
          <a:lstStyle/>
          <a:p>
            <a:pPr algn="ctr">
              <a:spcAft>
                <a:spcPts val="0"/>
              </a:spcAft>
            </a:pPr>
            <a:r>
              <a:rPr sz="1220" b="1">
                <a:solidFill>
                  <a:srgbClr val="3A3A3A"/>
                </a:solidFill>
                <a:latin typeface="맑은 고딕"/>
                <a:ea typeface="맑은 고딕"/>
                <a:cs typeface="맑은 고딕"/>
              </a:rPr>
              <a:t>후기</a:t>
            </a:r>
          </a:p>
        </p:txBody>
      </p:sp>
      <p:sp>
        <p:nvSpPr>
          <p:cNvPr id="36" name="Rectangle 35"/>
          <p:cNvSpPr/>
          <p:nvPr/>
        </p:nvSpPr>
        <p:spPr>
          <a:xfrm>
            <a:off x="2578608" y="4480560"/>
            <a:ext cx="1920240"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651760" y="4517136"/>
            <a:ext cx="1773936"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0%</a:t>
            </a:r>
          </a:p>
        </p:txBody>
      </p:sp>
      <p:sp>
        <p:nvSpPr>
          <p:cNvPr id="38" name="Rectangle 37"/>
          <p:cNvSpPr/>
          <p:nvPr/>
        </p:nvSpPr>
        <p:spPr>
          <a:xfrm>
            <a:off x="4498848" y="4480560"/>
            <a:ext cx="1920240"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0" y="4517136"/>
            <a:ext cx="1773936"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100%</a:t>
            </a:r>
          </a:p>
        </p:txBody>
      </p:sp>
      <p:sp>
        <p:nvSpPr>
          <p:cNvPr id="40" name="Rectangle 39"/>
          <p:cNvSpPr/>
          <p:nvPr/>
        </p:nvSpPr>
        <p:spPr>
          <a:xfrm>
            <a:off x="6419088" y="4480560"/>
            <a:ext cx="5193792" cy="58521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4517136"/>
            <a:ext cx="5047488" cy="512064"/>
          </a:xfrm>
          <a:prstGeom prst="rect">
            <a:avLst/>
          </a:prstGeom>
          <a:noFill/>
        </p:spPr>
        <p:txBody>
          <a:bodyPr wrap="square" lIns="9144" tIns="9144" rIns="9144" bIns="9144" anchor="ctr">
            <a:spAutoFit/>
          </a:bodyPr>
          <a:lstStyle/>
          <a:p>
            <a:pPr algn="ctr">
              <a:spcAft>
                <a:spcPts val="0"/>
              </a:spcAft>
            </a:pPr>
            <a:r>
              <a:rPr sz="1220" b="0">
                <a:solidFill>
                  <a:srgbClr val="3A3A3A"/>
                </a:solidFill>
                <a:latin typeface="맑은 고딕"/>
                <a:ea typeface="맑은 고딕"/>
                <a:cs typeface="맑은 고딕"/>
              </a:rPr>
              <a:t>Student 특징; 행동 보상으로 Student·Actor 갱신</a:t>
            </a:r>
          </a:p>
        </p:txBody>
      </p:sp>
      <mc:AlternateContent xmlns:mc="http://schemas.openxmlformats.org/markup-compatibility/2006" xmlns:a14="http://schemas.microsoft.com/office/drawing/2010/main">
        <mc:Choice Requires="a14">
          <p:sp>
            <p:nvSpPr>
              <p:cNvPr id="42" name="v7-math-9"/>
              <p:cNvSpPr txBox="1"/>
              <p:nvPr/>
            </p:nvSpPr>
            <p:spPr>
              <a:xfrm>
                <a:off x="914400" y="5367528"/>
                <a:ext cx="10332720" cy="585216"/>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𝛼</m:t>
                          </m:r>
                        </m:e>
                        <m:sub>
                          <m:r>
                            <a:rPr lang="ko-KR" sz="1700" b="0">
                              <a:solidFill>
                                <a:srgbClr val="222222"/>
                              </a:solidFill>
                              <a:latin typeface="Cambria Math" panose="02040503050406030204" pitchFamily="18" charset="0"/>
                              <a:ea typeface="맑은 고딕"/>
                              <a:cs typeface="맑은 고딕"/>
                            </a:rPr>
                            <m:t>𝑘</m:t>
                          </m:r>
                        </m:sub>
                      </m:sSub>
                      <m:r>
                        <a:rPr lang="ko-KR" sz="1700" b="0">
                          <a:solidFill>
                            <a:srgbClr val="222222"/>
                          </a:solidFill>
                          <a:latin typeface="Cambria Math" panose="02040503050406030204" pitchFamily="18" charset="0"/>
                          <a:ea typeface="맑은 고딕"/>
                          <a:cs typeface="맑은 고딕"/>
                        </a:rPr>
                        <m:t> = </m:t>
                      </m:r>
                      <m:r>
                        <a:rPr lang="ko-KR" sz="1700" b="0">
                          <a:solidFill>
                            <a:srgbClr val="222222"/>
                          </a:solidFill>
                          <a:latin typeface="Cambria Math" panose="02040503050406030204" pitchFamily="18" charset="0"/>
                          <a:ea typeface="맑은 고딕"/>
                          <a:cs typeface="맑은 고딕"/>
                        </a:rPr>
                        <m:t>𝑐𝑙𝑖𝑝</m:t>
                      </m:r>
                      <m:r>
                        <a:rPr lang="ko-KR" sz="1700" b="0">
                          <a:solidFill>
                            <a:srgbClr val="222222"/>
                          </a:solidFill>
                          <a:latin typeface="Cambria Math" panose="02040503050406030204" pitchFamily="18" charset="0"/>
                          <a:ea typeface="맑은 고딕"/>
                          <a:cs typeface="맑은 고딕"/>
                        </a:rPr>
                        <m:t>((</m:t>
                      </m:r>
                      <m:r>
                        <a:rPr lang="ko-KR" sz="1700" b="0">
                          <a:solidFill>
                            <a:srgbClr val="222222"/>
                          </a:solidFill>
                          <a:latin typeface="Cambria Math" panose="02040503050406030204" pitchFamily="18" charset="0"/>
                          <a:ea typeface="맑은 고딕"/>
                          <a:cs typeface="맑은 고딕"/>
                        </a:rPr>
                        <m:t>𝑘</m:t>
                      </m:r>
                      <m:r>
                        <a:rPr lang="ko-KR" sz="1700" b="0">
                          <a:solidFill>
                            <a:srgbClr val="222222"/>
                          </a:solidFill>
                          <a:latin typeface="Cambria Math" panose="02040503050406030204" pitchFamily="18" charset="0"/>
                          <a:ea typeface="맑은 고딕"/>
                          <a:cs typeface="맑은 고딕"/>
                        </a:rPr>
                        <m:t> − 43,000) / 10,000, 0, 1),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𝛽</m:t>
                          </m:r>
                        </m:e>
                        <m:sub>
                          <m:r>
                            <a:rPr lang="ko-KR" sz="1700" b="0">
                              <a:solidFill>
                                <a:srgbClr val="222222"/>
                              </a:solidFill>
                              <a:latin typeface="Cambria Math" panose="02040503050406030204" pitchFamily="18" charset="0"/>
                              <a:ea typeface="맑은 고딕"/>
                              <a:cs typeface="맑은 고딕"/>
                            </a:rPr>
                            <m:t>𝑘</m:t>
                          </m:r>
                        </m:sub>
                      </m:sSub>
                      <m:r>
                        <a:rPr lang="ko-KR" sz="1700" b="0">
                          <a:solidFill>
                            <a:srgbClr val="222222"/>
                          </a:solidFill>
                          <a:latin typeface="Cambria Math" panose="02040503050406030204" pitchFamily="18" charset="0"/>
                          <a:ea typeface="맑은 고딕"/>
                          <a:cs typeface="맑은 고딕"/>
                        </a:rPr>
                        <m:t> = 1 −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𝛼</m:t>
                          </m:r>
                        </m:e>
                        <m:sub>
                          <m:r>
                            <a:rPr lang="ko-KR" sz="1700" b="0">
                              <a:solidFill>
                                <a:srgbClr val="222222"/>
                              </a:solidFill>
                              <a:latin typeface="Cambria Math" panose="02040503050406030204" pitchFamily="18" charset="0"/>
                              <a:ea typeface="맑은 고딕"/>
                              <a:cs typeface="맑은 고딕"/>
                            </a:rPr>
                            <m:t>𝑘</m:t>
                          </m:r>
                        </m:sub>
                      </m:sSub>
                    </m:oMath>
                  </m:oMathPara>
                </a14:m>
                <a:endParaRPr dirty="0"/>
              </a:p>
            </p:txBody>
          </p:sp>
        </mc:Choice>
        <mc:Fallback xmlns="">
          <p:sp>
            <p:nvSpPr>
              <p:cNvPr id="42" name="v7-math-9"/>
              <p:cNvSpPr txBox="1">
                <a:spLocks noRot="1" noChangeAspect="1" noMove="1" noResize="1" noEditPoints="1" noAdjustHandles="1" noChangeArrowheads="1" noChangeShapeType="1" noTextEdit="1"/>
              </p:cNvSpPr>
              <p:nvPr/>
            </p:nvSpPr>
            <p:spPr>
              <a:xfrm>
                <a:off x="914400" y="5367528"/>
                <a:ext cx="10332720" cy="585216"/>
              </a:xfrm>
              <a:prstGeom prst="rect">
                <a:avLst/>
              </a:prstGeom>
              <a:blipFill>
                <a:blip r:embed="rId4"/>
                <a:stretch>
                  <a:fillRect/>
                </a:stretch>
              </a:blipFill>
            </p:spPr>
            <p:txBody>
              <a:bodyPr/>
              <a:lstStyle/>
              <a:p>
                <a:r>
                  <a:rPr lang="ko-KR"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F6B4F-6D88-03DF-9AB2-91FF1C1E08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814AAD-9DB1-E82F-9E9A-73B7E72BEDCF}"/>
              </a:ext>
            </a:extLst>
          </p:cNvPr>
          <p:cNvSpPr txBox="1"/>
          <p:nvPr/>
        </p:nvSpPr>
        <p:spPr>
          <a:xfrm>
            <a:off x="548640" y="283464"/>
            <a:ext cx="11082528" cy="512064"/>
          </a:xfrm>
          <a:prstGeom prst="rect">
            <a:avLst/>
          </a:prstGeom>
          <a:noFill/>
        </p:spPr>
        <p:txBody>
          <a:bodyPr wrap="square" lIns="36576" tIns="36576" rIns="36576" bIns="36576" anchor="ctr">
            <a:spAutoFit/>
          </a:bodyPr>
          <a:lstStyle/>
          <a:p>
            <a:r>
              <a:rPr lang="en-US" altLang="ko-KR" sz="2800" b="1" dirty="0">
                <a:solidFill>
                  <a:srgbClr val="111111"/>
                </a:solidFill>
                <a:latin typeface="맑은 고딕"/>
                <a:ea typeface="맑은 고딕"/>
                <a:cs typeface="맑은 고딕"/>
              </a:rPr>
              <a:t>18 | 정책 입력과 관절 명령</a:t>
            </a:r>
            <a:r>
              <a:rPr sz="800" b="0" baseline="30000">
                <a:solidFill>
                  <a:srgbClr val="686868"/>
                </a:solidFill>
                <a:latin typeface="맑은 고딕"/>
                <a:ea typeface="맑은 고딕"/>
                <a:cs typeface="맑은 고딕"/>
              </a:rPr>
              <a:t>  1) 2)</a:t>
            </a:r>
            <a:endParaRPr sz="800" b="0" baseline="30000" dirty="0">
              <a:solidFill>
                <a:srgbClr val="686868"/>
              </a:solidFill>
              <a:latin typeface="맑은 고딕"/>
              <a:ea typeface="맑은 고딕"/>
              <a:cs typeface="맑은 고딕"/>
            </a:endParaRPr>
          </a:p>
        </p:txBody>
      </p:sp>
      <p:sp>
        <p:nvSpPr>
          <p:cNvPr id="3" name="Rectangle 2">
            <a:extLst>
              <a:ext uri="{FF2B5EF4-FFF2-40B4-BE49-F238E27FC236}">
                <a16:creationId xmlns:a16="http://schemas.microsoft.com/office/drawing/2014/main" id="{6990135C-5B9C-CFC3-B405-55892EC17F6F}"/>
              </a:ext>
            </a:extLst>
          </p:cNvPr>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a:extLst>
              <a:ext uri="{FF2B5EF4-FFF2-40B4-BE49-F238E27FC236}">
                <a16:creationId xmlns:a16="http://schemas.microsoft.com/office/drawing/2014/main" id="{2C608374-19CF-9C0E-92EE-A2FF75055757}"/>
              </a:ext>
            </a:extLst>
          </p:cNvPr>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02 학습 방법 · 목적 / 정보 / 구조 / 공동학습</a:t>
            </a:r>
          </a:p>
        </p:txBody>
      </p:sp>
      <p:sp>
        <p:nvSpPr>
          <p:cNvPr id="5" name="Rectangle 4">
            <a:extLst>
              <a:ext uri="{FF2B5EF4-FFF2-40B4-BE49-F238E27FC236}">
                <a16:creationId xmlns:a16="http://schemas.microsoft.com/office/drawing/2014/main" id="{668719E6-E276-C68D-1167-EAF877B376EF}"/>
              </a:ext>
            </a:extLst>
          </p:cNvPr>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a:extLst>
              <a:ext uri="{FF2B5EF4-FFF2-40B4-BE49-F238E27FC236}">
                <a16:creationId xmlns:a16="http://schemas.microsoft.com/office/drawing/2014/main" id="{9F2D8E10-84E4-6C85-13FA-419E5A1EB217}"/>
              </a:ext>
            </a:extLst>
          </p:cNvPr>
          <p:cNvSpPr txBox="1"/>
          <p:nvPr/>
        </p:nvSpPr>
        <p:spPr>
          <a:xfrm>
            <a:off x="566928" y="6359027"/>
            <a:ext cx="9902952" cy="129266"/>
          </a:xfrm>
          <a:prstGeom prst="rect">
            <a:avLst/>
          </a:prstGeom>
          <a:noFill/>
        </p:spPr>
        <p:txBody>
          <a:bodyPr wrap="square" lIns="9144" tIns="9144" rIns="9144" bIns="9144" anchor="ctr">
            <a:spAutoFit/>
          </a:bodyPr>
          <a:lstStyle/>
          <a:p>
            <a:pPr algn="l">
              <a:lnSpc>
                <a:spcPct val="100000"/>
              </a:lnSpc>
              <a:spcAft>
                <a:spcPts val="0"/>
              </a:spcAft>
            </a:pPr>
            <a:r>
              <a:rPr sz="700" b="0" dirty="0">
                <a:solidFill>
                  <a:srgbClr val="686868"/>
                </a:solidFill>
                <a:latin typeface="맑은 고딕"/>
                <a:ea typeface="맑은 고딕"/>
                <a:cs typeface="맑은 고딕"/>
              </a:rPr>
              <a:t>1) Project input: joint_schema.py; joint_teacher_student_actor_critic.py.   2) A1RoughCfg.control.action_scale=0.25; legged_robot.py:_compute_torques.</a:t>
            </a:r>
          </a:p>
        </p:txBody>
      </p:sp>
      <p:sp>
        <p:nvSpPr>
          <p:cNvPr id="7" name="TextBox 6">
            <a:extLst>
              <a:ext uri="{FF2B5EF4-FFF2-40B4-BE49-F238E27FC236}">
                <a16:creationId xmlns:a16="http://schemas.microsoft.com/office/drawing/2014/main" id="{96C3654A-0A24-FCDD-E266-A01E11F317EB}"/>
              </a:ext>
            </a:extLst>
          </p:cNvPr>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18 / 43</a:t>
            </a:r>
          </a:p>
        </p:txBody>
      </p:sp>
      <p:sp>
        <p:nvSpPr>
          <p:cNvPr id="31" name="v5-content-intro">
            <a:extLst>
              <a:ext uri="{FF2B5EF4-FFF2-40B4-BE49-F238E27FC236}">
                <a16:creationId xmlns:a16="http://schemas.microsoft.com/office/drawing/2014/main" id="{65F5D37D-E57F-2558-FBB5-CFF1D1257B54}"/>
              </a:ext>
            </a:extLst>
          </p:cNvPr>
          <p:cNvSpPr txBox="1"/>
          <p:nvPr/>
        </p:nvSpPr>
        <p:spPr>
          <a:xfrm>
            <a:off x="658368" y="1261872"/>
            <a:ext cx="10881360" cy="484632"/>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200" b="0" dirty="0">
                <a:solidFill>
                  <a:srgbClr val="3A3A3A"/>
                </a:solidFill>
                <a:latin typeface="맑은 고딕"/>
                <a:ea typeface="맑은 고딕"/>
                <a:cs typeface="맑은 고딕"/>
              </a:rPr>
              <a:t>Actor 입력은 항상 현재 관측235D + 특징8D = 243D다. 관절 명령은 기준 자세에 각도 보정량을 더해 만든다.
0.25는 action scale이다. 도→라디안 변환 계수는 약0.01745이며, 두 값의 역할은 다르다.</a:t>
            </a:r>
          </a:p>
        </p:txBody>
      </p:sp>
      <p:pic>
        <p:nvPicPr>
          <p:cNvPr id="37" name="Picture 19" descr="jt71500_training.png">
            <a:extLst>
              <a:ext uri="{FF2B5EF4-FFF2-40B4-BE49-F238E27FC236}">
                <a16:creationId xmlns:a16="http://schemas.microsoft.com/office/drawing/2014/main" id="{EBE625C4-FE4E-048C-413F-E9AAFD35856A}"/>
              </a:ext>
            </a:extLst>
          </p:cNvPr>
          <p:cNvPicPr>
            <a:picLocks noChangeAspect="1"/>
          </p:cNvPicPr>
          <p:nvPr/>
        </p:nvPicPr>
        <p:blipFill>
          <a:blip r:embed="rId3"/>
          <a:srcRect t="10456" r="49573" b="47724"/>
          <a:stretch>
            <a:fillRect/>
          </a:stretch>
        </p:blipFill>
        <p:spPr>
          <a:xfrm>
            <a:off x="548640" y="1978395"/>
            <a:ext cx="6036706" cy="2665841"/>
          </a:xfrm>
          <a:prstGeom prst="rect">
            <a:avLst/>
          </a:prstGeom>
        </p:spPr>
      </p:pic>
      <p:sp>
        <p:nvSpPr>
          <p:cNvPr id="39" name="Rectangle 63">
            <a:extLst>
              <a:ext uri="{FF2B5EF4-FFF2-40B4-BE49-F238E27FC236}">
                <a16:creationId xmlns:a16="http://schemas.microsoft.com/office/drawing/2014/main" id="{D27327BD-41A6-0A8E-45F4-30C1EB4239D0}"/>
              </a:ext>
            </a:extLst>
          </p:cNvPr>
          <p:cNvSpPr/>
          <p:nvPr/>
        </p:nvSpPr>
        <p:spPr>
          <a:xfrm>
            <a:off x="6784848" y="1884029"/>
            <a:ext cx="2148840"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1" name="TextBox 40">
            <a:extLst>
              <a:ext uri="{FF2B5EF4-FFF2-40B4-BE49-F238E27FC236}">
                <a16:creationId xmlns:a16="http://schemas.microsoft.com/office/drawing/2014/main" id="{86F8D1B0-2469-7437-ED68-AB2495AE7D29}"/>
              </a:ext>
            </a:extLst>
          </p:cNvPr>
          <p:cNvSpPr txBox="1"/>
          <p:nvPr/>
        </p:nvSpPr>
        <p:spPr>
          <a:xfrm>
            <a:off x="6912864" y="1978395"/>
            <a:ext cx="1892808" cy="196596"/>
          </a:xfrm>
          <a:prstGeom prst="rect">
            <a:avLst/>
          </a:prstGeom>
          <a:noFill/>
        </p:spPr>
        <p:txBody>
          <a:bodyPr wrap="square" lIns="36576" tIns="36576" rIns="36576" bIns="36576" anchor="t">
            <a:spAutoFit/>
          </a:bodyPr>
          <a:lstStyle/>
          <a:p>
            <a:pPr algn="l">
              <a:lnSpc>
                <a:spcPct val="100000"/>
              </a:lnSpc>
              <a:spcAft>
                <a:spcPts val="0"/>
              </a:spcAft>
            </a:pPr>
            <a:r>
              <a:rPr sz="1150" b="0">
                <a:solidFill>
                  <a:srgbClr val="686868"/>
                </a:solidFill>
                <a:latin typeface="맑은 고딕"/>
                <a:ea typeface="맑은 고딕"/>
                <a:cs typeface="맑은 고딕"/>
              </a:rPr>
              <a:t>현재 관측</a:t>
            </a:r>
          </a:p>
        </p:txBody>
      </p:sp>
      <p:sp>
        <p:nvSpPr>
          <p:cNvPr id="43" name="TextBox 42">
            <a:extLst>
              <a:ext uri="{FF2B5EF4-FFF2-40B4-BE49-F238E27FC236}">
                <a16:creationId xmlns:a16="http://schemas.microsoft.com/office/drawing/2014/main" id="{240D321B-EF98-B1DF-D849-9052D8F6006D}"/>
              </a:ext>
            </a:extLst>
          </p:cNvPr>
          <p:cNvSpPr txBox="1"/>
          <p:nvPr/>
        </p:nvSpPr>
        <p:spPr>
          <a:xfrm>
            <a:off x="6912864" y="2198583"/>
            <a:ext cx="1892808"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235D</a:t>
            </a:r>
          </a:p>
        </p:txBody>
      </p:sp>
      <p:sp>
        <p:nvSpPr>
          <p:cNvPr id="45" name="TextBox 44">
            <a:extLst>
              <a:ext uri="{FF2B5EF4-FFF2-40B4-BE49-F238E27FC236}">
                <a16:creationId xmlns:a16="http://schemas.microsoft.com/office/drawing/2014/main" id="{94980CC0-F10F-58DD-CEC1-68432123E950}"/>
              </a:ext>
            </a:extLst>
          </p:cNvPr>
          <p:cNvSpPr txBox="1"/>
          <p:nvPr/>
        </p:nvSpPr>
        <p:spPr>
          <a:xfrm>
            <a:off x="6912864" y="2513136"/>
            <a:ext cx="1892808" cy="141549"/>
          </a:xfrm>
          <a:prstGeom prst="rect">
            <a:avLst/>
          </a:prstGeom>
          <a:noFill/>
        </p:spPr>
        <p:txBody>
          <a:bodyPr wrap="square" lIns="36576" tIns="36576" rIns="36576" bIns="36576" anchor="t">
            <a:spAutoFit/>
          </a:bodyPr>
          <a:lstStyle/>
          <a:p>
            <a:pPr algn="l">
              <a:lnSpc>
                <a:spcPct val="100000"/>
              </a:lnSpc>
              <a:spcAft>
                <a:spcPts val="0"/>
              </a:spcAft>
            </a:pPr>
            <a:r>
              <a:rPr sz="850" b="0">
                <a:solidFill>
                  <a:srgbClr val="686868"/>
                </a:solidFill>
                <a:latin typeface="맑은 고딕"/>
                <a:ea typeface="맑은 고딕"/>
                <a:cs typeface="맑은 고딕"/>
              </a:rPr>
              <a:t>48D + terrain 187D</a:t>
            </a:r>
          </a:p>
        </p:txBody>
      </p:sp>
      <p:sp>
        <p:nvSpPr>
          <p:cNvPr id="47" name="Rectangle 67">
            <a:extLst>
              <a:ext uri="{FF2B5EF4-FFF2-40B4-BE49-F238E27FC236}">
                <a16:creationId xmlns:a16="http://schemas.microsoft.com/office/drawing/2014/main" id="{71BFA972-8DA9-2F86-EF6A-98F7491DD5C4}"/>
              </a:ext>
            </a:extLst>
          </p:cNvPr>
          <p:cNvSpPr/>
          <p:nvPr/>
        </p:nvSpPr>
        <p:spPr>
          <a:xfrm>
            <a:off x="9189720" y="1884029"/>
            <a:ext cx="2148840"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9" name="TextBox 48">
            <a:extLst>
              <a:ext uri="{FF2B5EF4-FFF2-40B4-BE49-F238E27FC236}">
                <a16:creationId xmlns:a16="http://schemas.microsoft.com/office/drawing/2014/main" id="{C0D3783E-B0BA-7EC4-91C4-9456C650FE96}"/>
              </a:ext>
            </a:extLst>
          </p:cNvPr>
          <p:cNvSpPr txBox="1"/>
          <p:nvPr/>
        </p:nvSpPr>
        <p:spPr>
          <a:xfrm>
            <a:off x="9317736" y="1978395"/>
            <a:ext cx="1892808" cy="196596"/>
          </a:xfrm>
          <a:prstGeom prst="rect">
            <a:avLst/>
          </a:prstGeom>
          <a:noFill/>
        </p:spPr>
        <p:txBody>
          <a:bodyPr wrap="square" lIns="36576" tIns="36576" rIns="36576" bIns="36576" anchor="t">
            <a:spAutoFit/>
          </a:bodyPr>
          <a:lstStyle/>
          <a:p>
            <a:pPr algn="l">
              <a:lnSpc>
                <a:spcPct val="100000"/>
              </a:lnSpc>
              <a:spcAft>
                <a:spcPts val="0"/>
              </a:spcAft>
            </a:pPr>
            <a:r>
              <a:rPr sz="1150" b="0">
                <a:solidFill>
                  <a:srgbClr val="686868"/>
                </a:solidFill>
                <a:latin typeface="맑은 고딕"/>
                <a:ea typeface="맑은 고딕"/>
                <a:cs typeface="맑은 고딕"/>
              </a:rPr>
              <a:t>Student history</a:t>
            </a:r>
          </a:p>
        </p:txBody>
      </p:sp>
      <p:sp>
        <p:nvSpPr>
          <p:cNvPr id="51" name="TextBox 50">
            <a:extLst>
              <a:ext uri="{FF2B5EF4-FFF2-40B4-BE49-F238E27FC236}">
                <a16:creationId xmlns:a16="http://schemas.microsoft.com/office/drawing/2014/main" id="{CE3AD6E2-FE0E-B6EE-CDCE-50C930F227B5}"/>
              </a:ext>
            </a:extLst>
          </p:cNvPr>
          <p:cNvSpPr txBox="1"/>
          <p:nvPr/>
        </p:nvSpPr>
        <p:spPr>
          <a:xfrm>
            <a:off x="9317736" y="2198583"/>
            <a:ext cx="1892808"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50×48</a:t>
            </a:r>
          </a:p>
        </p:txBody>
      </p:sp>
      <p:sp>
        <p:nvSpPr>
          <p:cNvPr id="53" name="TextBox 52">
            <a:extLst>
              <a:ext uri="{FF2B5EF4-FFF2-40B4-BE49-F238E27FC236}">
                <a16:creationId xmlns:a16="http://schemas.microsoft.com/office/drawing/2014/main" id="{7001509D-E640-451D-F9F3-2B57CEA7DD59}"/>
              </a:ext>
            </a:extLst>
          </p:cNvPr>
          <p:cNvSpPr txBox="1"/>
          <p:nvPr/>
        </p:nvSpPr>
        <p:spPr>
          <a:xfrm>
            <a:off x="9317736" y="2513136"/>
            <a:ext cx="1892808" cy="141549"/>
          </a:xfrm>
          <a:prstGeom prst="rect">
            <a:avLst/>
          </a:prstGeom>
          <a:noFill/>
        </p:spPr>
        <p:txBody>
          <a:bodyPr wrap="square" lIns="36576" tIns="36576" rIns="36576" bIns="36576" anchor="t">
            <a:spAutoFit/>
          </a:bodyPr>
          <a:lstStyle/>
          <a:p>
            <a:pPr algn="l">
              <a:lnSpc>
                <a:spcPct val="100000"/>
              </a:lnSpc>
              <a:spcAft>
                <a:spcPts val="0"/>
              </a:spcAft>
            </a:pPr>
            <a:r>
              <a:rPr sz="850" b="0">
                <a:solidFill>
                  <a:srgbClr val="686868"/>
                </a:solidFill>
                <a:latin typeface="맑은 고딕"/>
                <a:ea typeface="맑은 고딕"/>
                <a:cs typeface="맑은 고딕"/>
              </a:rPr>
              <a:t>약 1초</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45945E2-4A66-F52C-3E99-86422AB63857}"/>
                  </a:ext>
                </a:extLst>
              </p:cNvPr>
              <p:cNvSpPr txBox="1"/>
              <p:nvPr/>
            </p:nvSpPr>
            <p:spPr>
              <a:xfrm>
                <a:off x="6601968" y="3354567"/>
                <a:ext cx="4846320" cy="566196"/>
              </a:xfrm>
              <a:prstGeom prst="rect">
                <a:avLst/>
              </a:prstGeom>
              <a:noFill/>
            </p:spPr>
            <p:txBody>
              <a:bodyPr wrap="none" lIns="27432" tIns="27432" rIns="27432" bIns="27432" anchor="ctr">
                <a:spAutoFit/>
              </a:bodyPr>
              <a:lstStyle/>
              <a:p>
                <a:pPr algn="ctr">
                  <a:lnSpc>
                    <a:spcPct val="100000"/>
                  </a:lnSpc>
                </a:pPr>
                <a14:m>
                  <m:oMathPara xmlns:m="http://schemas.openxmlformats.org/officeDocument/2006/math">
                    <m:oMath>
                      <m:sSubSup>
                        <m:sSubSupPr>
                          <m:ctrlPr>
                            <a:rPr lang="ko-KR" sz="1900" b="0">
                              <a:solidFill>
                                <a:srgbClr val="222222"/>
                              </a:solidFill>
                              <a:latin typeface="Cambria Math" panose="02040503050406030204" pitchFamily="18" charset="0"/>
                              <a:ea typeface="맑은 고딕"/>
                              <a:cs typeface="맑은 고딕"/>
                            </a:rPr>
                          </m:ctrlPr>
                        </m:sSubSupPr>
                        <m:e>
                          <m:r>
                            <a:rPr lang="ko-KR" sz="1900" b="0">
                              <a:solidFill>
                                <a:srgbClr val="222222"/>
                              </a:solidFill>
                              <a:latin typeface="Cambria Math" panose="02040503050406030204" pitchFamily="18" charset="0"/>
                              <a:ea typeface="맑은 고딕"/>
                              <a:cs typeface="맑은 고딕"/>
                            </a:rPr>
                            <m:t>𝑞</m:t>
                          </m:r>
                        </m:e>
                        <m:sub>
                          <m:r>
                            <a:rPr lang="ko-KR" sz="1900" b="0">
                              <a:solidFill>
                                <a:srgbClr val="222222"/>
                              </a:solidFill>
                              <a:latin typeface="Cambria Math" panose="02040503050406030204" pitchFamily="18" charset="0"/>
                              <a:ea typeface="맑은 고딕"/>
                              <a:cs typeface="맑은 고딕"/>
                            </a:rPr>
                            <m:t>𝑡</m:t>
                          </m:r>
                        </m:sub>
                        <m:sup>
                          <m:r>
                            <m:rPr>
                              <m:nor/>
                            </m:rPr>
                            <a:rPr lang="ko-KR" sz="1900" b="0" i="0">
                              <a:solidFill>
                                <a:srgbClr val="222222"/>
                              </a:solidFill>
                              <a:latin typeface="맑은 고딕"/>
                              <a:ea typeface="맑은 고딕"/>
                              <a:cs typeface="맑은 고딕"/>
                            </a:rPr>
                            <m:t>des</m:t>
                          </m:r>
                        </m:sup>
                      </m:sSubSup>
                      <m:r>
                        <a:rPr lang="ko-KR" sz="1900" b="0">
                          <a:solidFill>
                            <a:srgbClr val="222222"/>
                          </a:solidFill>
                          <a:latin typeface="Cambria Math" panose="02040503050406030204" pitchFamily="18" charset="0"/>
                          <a:ea typeface="맑은 고딕"/>
                          <a:cs typeface="맑은 고딕"/>
                        </a:rPr>
                        <m:t> = </m:t>
                      </m:r>
                      <m:sSup>
                        <m:sSupPr>
                          <m:ctrlPr>
                            <a:rPr lang="ko-KR" sz="1900" b="0">
                              <a:solidFill>
                                <a:srgbClr val="222222"/>
                              </a:solidFill>
                              <a:latin typeface="Cambria Math" panose="02040503050406030204" pitchFamily="18" charset="0"/>
                              <a:ea typeface="맑은 고딕"/>
                              <a:cs typeface="맑은 고딕"/>
                            </a:rPr>
                          </m:ctrlPr>
                        </m:sSupPr>
                        <m:e>
                          <m:r>
                            <a:rPr lang="ko-KR" sz="1900" b="0">
                              <a:solidFill>
                                <a:srgbClr val="222222"/>
                              </a:solidFill>
                              <a:latin typeface="Cambria Math" panose="02040503050406030204" pitchFamily="18" charset="0"/>
                              <a:ea typeface="맑은 고딕"/>
                              <a:cs typeface="맑은 고딕"/>
                            </a:rPr>
                            <m:t>𝑞</m:t>
                          </m:r>
                        </m:e>
                        <m:sup>
                          <m:r>
                            <m:rPr>
                              <m:nor/>
                            </m:rPr>
                            <a:rPr lang="ko-KR" sz="1900" b="0" i="0">
                              <a:solidFill>
                                <a:srgbClr val="222222"/>
                              </a:solidFill>
                              <a:latin typeface="맑은 고딕"/>
                              <a:ea typeface="맑은 고딕"/>
                              <a:cs typeface="맑은 고딕"/>
                            </a:rPr>
                            <m:t>default</m:t>
                          </m:r>
                        </m:sup>
                      </m:sSup>
                      <m:r>
                        <a:rPr lang="ko-KR" sz="1900" b="0">
                          <a:solidFill>
                            <a:srgbClr val="222222"/>
                          </a:solidFill>
                          <a:latin typeface="Cambria Math" panose="02040503050406030204" pitchFamily="18" charset="0"/>
                          <a:ea typeface="맑은 고딕"/>
                          <a:cs typeface="맑은 고딕"/>
                        </a:rPr>
                        <m:t> + 0.25 </m:t>
                      </m:r>
                      <m:sSub>
                        <m:sSubPr>
                          <m:ctrlPr>
                            <a:rPr lang="ko-KR" sz="1900" b="0">
                              <a:solidFill>
                                <a:srgbClr val="222222"/>
                              </a:solidFill>
                              <a:latin typeface="Cambria Math" panose="02040503050406030204" pitchFamily="18" charset="0"/>
                              <a:ea typeface="맑은 고딕"/>
                              <a:cs typeface="맑은 고딕"/>
                            </a:rPr>
                          </m:ctrlPr>
                        </m:sSubPr>
                        <m:e>
                          <m:r>
                            <a:rPr lang="ko-KR" sz="1900" b="0">
                              <a:solidFill>
                                <a:srgbClr val="222222"/>
                              </a:solidFill>
                              <a:latin typeface="Cambria Math" panose="02040503050406030204" pitchFamily="18" charset="0"/>
                              <a:ea typeface="맑은 고딕"/>
                              <a:cs typeface="맑은 고딕"/>
                            </a:rPr>
                            <m:t>𝑎</m:t>
                          </m:r>
                        </m:e>
                        <m:sub>
                          <m:r>
                            <a:rPr lang="ko-KR" sz="1900" b="0">
                              <a:solidFill>
                                <a:srgbClr val="222222"/>
                              </a:solidFill>
                              <a:latin typeface="Cambria Math" panose="02040503050406030204" pitchFamily="18" charset="0"/>
                              <a:ea typeface="맑은 고딕"/>
                              <a:cs typeface="맑은 고딕"/>
                            </a:rPr>
                            <m:t>𝑡</m:t>
                          </m:r>
                        </m:sub>
                      </m:sSub>
                      <m:r>
                        <a:rPr lang="ko-KR" sz="1900" b="0">
                          <a:solidFill>
                            <a:srgbClr val="222222"/>
                          </a:solidFill>
                          <a:latin typeface="Cambria Math" panose="02040503050406030204" pitchFamily="18" charset="0"/>
                          <a:ea typeface="맑은 고딕"/>
                          <a:cs typeface="맑은 고딕"/>
                        </a:rPr>
                        <m:t>,     </m:t>
                      </m:r>
                      <m:sSub>
                        <m:sSubPr>
                          <m:ctrlPr>
                            <a:rPr lang="ko-KR" sz="1900" b="0">
                              <a:solidFill>
                                <a:srgbClr val="222222"/>
                              </a:solidFill>
                              <a:latin typeface="Cambria Math" panose="02040503050406030204" pitchFamily="18" charset="0"/>
                              <a:ea typeface="맑은 고딕"/>
                              <a:cs typeface="맑은 고딕"/>
                            </a:rPr>
                          </m:ctrlPr>
                        </m:sSubPr>
                        <m:e>
                          <m:r>
                            <a:rPr lang="ko-KR" sz="1900" b="0">
                              <a:solidFill>
                                <a:srgbClr val="222222"/>
                              </a:solidFill>
                              <a:latin typeface="Cambria Math" panose="02040503050406030204" pitchFamily="18" charset="0"/>
                              <a:ea typeface="맑은 고딕"/>
                              <a:cs typeface="맑은 고딕"/>
                            </a:rPr>
                            <m:t>𝑎</m:t>
                          </m:r>
                        </m:e>
                        <m:sub>
                          <m:r>
                            <a:rPr lang="ko-KR" sz="1900" b="0">
                              <a:solidFill>
                                <a:srgbClr val="222222"/>
                              </a:solidFill>
                              <a:latin typeface="Cambria Math" panose="02040503050406030204" pitchFamily="18" charset="0"/>
                              <a:ea typeface="맑은 고딕"/>
                              <a:cs typeface="맑은 고딕"/>
                            </a:rPr>
                            <m:t>𝑡</m:t>
                          </m:r>
                        </m:sub>
                      </m:sSub>
                      <m:r>
                        <a:rPr lang="ko-KR" sz="1900" b="0">
                          <a:solidFill>
                            <a:srgbClr val="222222"/>
                          </a:solidFill>
                          <a:latin typeface="Cambria Math" panose="02040503050406030204" pitchFamily="18" charset="0"/>
                          <a:ea typeface="맑은 고딕"/>
                          <a:cs typeface="맑은 고딕"/>
                        </a:rPr>
                        <m:t> ∈ </m:t>
                      </m:r>
                      <m:sSup>
                        <m:sSupPr>
                          <m:ctrlPr>
                            <a:rPr lang="ko-KR" sz="1900" b="0" i="0">
                              <a:solidFill>
                                <a:srgbClr val="222222"/>
                              </a:solidFill>
                              <a:latin typeface="맑은 고딕"/>
                              <a:ea typeface="맑은 고딕"/>
                              <a:cs typeface="맑은 고딕"/>
                            </a:rPr>
                          </m:ctrlPr>
                        </m:sSupPr>
                        <m:e>
                          <m:r>
                            <m:rPr>
                              <m:nor/>
                            </m:rPr>
                            <a:rPr lang="ko-KR" sz="1900" b="0" i="0">
                              <a:solidFill>
                                <a:srgbClr val="222222"/>
                              </a:solidFill>
                              <a:latin typeface="맑은 고딕"/>
                              <a:ea typeface="맑은 고딕"/>
                              <a:cs typeface="맑은 고딕"/>
                            </a:rPr>
                            <m:t>R</m:t>
                          </m:r>
                        </m:e>
                        <m:sup>
                          <m:r>
                            <m:rPr>
                              <m:nor/>
                            </m:rPr>
                            <a:rPr lang="ko-KR" sz="1900" b="0" i="0">
                              <a:solidFill>
                                <a:srgbClr val="222222"/>
                              </a:solidFill>
                              <a:latin typeface="맑은 고딕"/>
                              <a:ea typeface="맑은 고딕"/>
                              <a:cs typeface="맑은 고딕"/>
                            </a:rPr>
                            <m:t>12</m:t>
                          </m:r>
                        </m:sup>
                      </m:sSup>
                    </m:oMath>
                  </m:oMathPara>
                </a14:m>
                <a:endParaRPr dirty="0"/>
              </a:p>
            </p:txBody>
          </p:sp>
        </mc:Choice>
        <mc:Fallback xmlns="">
          <p:sp>
            <p:nvSpPr>
              <p:cNvPr id="55" name="TextBox 54">
                <a:extLst>
                  <a:ext uri="{FF2B5EF4-FFF2-40B4-BE49-F238E27FC236}">
                    <a16:creationId xmlns:a16="http://schemas.microsoft.com/office/drawing/2014/main" id="{845945E2-4A66-F52C-3E99-86422AB63857}"/>
                  </a:ext>
                </a:extLst>
              </p:cNvPr>
              <p:cNvSpPr txBox="1">
                <a:spLocks noRot="1" noChangeAspect="1" noMove="1" noResize="1" noEditPoints="1" noAdjustHandles="1" noChangeArrowheads="1" noChangeShapeType="1" noTextEdit="1"/>
              </p:cNvSpPr>
              <p:nvPr/>
            </p:nvSpPr>
            <p:spPr>
              <a:xfrm>
                <a:off x="6601968" y="3354567"/>
                <a:ext cx="4846320" cy="566196"/>
              </a:xfrm>
              <a:prstGeom prst="rect">
                <a:avLst/>
              </a:prstGeom>
              <a:blipFill>
                <a:blip r:embed="rId4"/>
                <a:stretch>
                  <a:fillRect l="-881"/>
                </a:stretch>
              </a:blipFill>
            </p:spPr>
            <p:txBody>
              <a:bodyPr/>
              <a:lstStyle/>
              <a:p>
                <a:r>
                  <a:rPr lang="ko-KR" altLang="en-US">
                    <a:noFill/>
                  </a:rPr>
                  <a:t> </a:t>
                </a:r>
              </a:p>
            </p:txBody>
          </p:sp>
        </mc:Fallback>
      </mc:AlternateContent>
      <p:sp>
        <p:nvSpPr>
          <p:cNvPr id="57" name="Rectangle 72">
            <a:extLst>
              <a:ext uri="{FF2B5EF4-FFF2-40B4-BE49-F238E27FC236}">
                <a16:creationId xmlns:a16="http://schemas.microsoft.com/office/drawing/2014/main" id="{65212552-BC42-43B8-3329-C2A3BFBA7971}"/>
              </a:ext>
            </a:extLst>
          </p:cNvPr>
          <p:cNvSpPr/>
          <p:nvPr/>
        </p:nvSpPr>
        <p:spPr>
          <a:xfrm>
            <a:off x="6629400" y="4219590"/>
            <a:ext cx="4800600" cy="880750"/>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9" name="TextBox 58">
            <a:extLst>
              <a:ext uri="{FF2B5EF4-FFF2-40B4-BE49-F238E27FC236}">
                <a16:creationId xmlns:a16="http://schemas.microsoft.com/office/drawing/2014/main" id="{9CECF131-D8F2-7A16-4F88-9753ADBF7382}"/>
              </a:ext>
            </a:extLst>
          </p:cNvPr>
          <p:cNvSpPr txBox="1"/>
          <p:nvPr/>
        </p:nvSpPr>
        <p:spPr>
          <a:xfrm>
            <a:off x="6793992" y="4345411"/>
            <a:ext cx="4471416"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정책 입력</a:t>
            </a:r>
          </a:p>
        </p:txBody>
      </p:sp>
      <p:sp>
        <p:nvSpPr>
          <p:cNvPr id="61" name="TextBox 60">
            <a:extLst>
              <a:ext uri="{FF2B5EF4-FFF2-40B4-BE49-F238E27FC236}">
                <a16:creationId xmlns:a16="http://schemas.microsoft.com/office/drawing/2014/main" id="{9B800AD8-6FC9-AF36-22FD-324DCE4B53C0}"/>
              </a:ext>
            </a:extLst>
          </p:cNvPr>
          <p:cNvSpPr txBox="1"/>
          <p:nvPr/>
        </p:nvSpPr>
        <p:spPr>
          <a:xfrm>
            <a:off x="6793992" y="4738603"/>
            <a:ext cx="4471416" cy="251642"/>
          </a:xfrm>
          <a:prstGeom prst="rect">
            <a:avLst/>
          </a:prstGeom>
          <a:noFill/>
        </p:spPr>
        <p:txBody>
          <a:bodyPr wrap="square" lIns="36576" tIns="36576" rIns="36576" bIns="36576" anchor="ctr">
            <a:spAutoFit/>
          </a:bodyPr>
          <a:lstStyle/>
          <a:p>
            <a:pPr algn="ctr">
              <a:lnSpc>
                <a:spcPct val="100000"/>
              </a:lnSpc>
              <a:spcAft>
                <a:spcPts val="0"/>
              </a:spcAft>
            </a:pPr>
            <a:r>
              <a:rPr sz="1500" b="0" dirty="0" err="1">
                <a:solidFill>
                  <a:srgbClr val="3A3A3A"/>
                </a:solidFill>
                <a:latin typeface="맑은 고딕"/>
                <a:ea typeface="맑은 고딕"/>
                <a:cs typeface="맑은 고딕"/>
              </a:rPr>
              <a:t>현재</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관측</a:t>
            </a:r>
            <a:r>
              <a:rPr sz="1500" b="0" dirty="0">
                <a:solidFill>
                  <a:srgbClr val="3A3A3A"/>
                </a:solidFill>
                <a:latin typeface="맑은 고딕"/>
                <a:ea typeface="맑은 고딕"/>
                <a:cs typeface="맑은 고딕"/>
              </a:rPr>
              <a:t> 235D + latent 8D = 243D</a:t>
            </a:r>
          </a:p>
        </p:txBody>
      </p:sp>
    </p:spTree>
    <p:extLst>
      <p:ext uri="{BB962C8B-B14F-4D97-AF65-F5344CB8AC3E}">
        <p14:creationId xmlns:p14="http://schemas.microsoft.com/office/powerpoint/2010/main" val="3482690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19 | </a:t>
            </a:r>
            <a:r>
              <a:rPr sz="2800" b="1" dirty="0" err="1">
                <a:solidFill>
                  <a:srgbClr val="111111"/>
                </a:solidFill>
                <a:latin typeface="맑은 고딕"/>
                <a:ea typeface="맑은 고딕"/>
                <a:cs typeface="맑은 고딕"/>
              </a:rPr>
              <a:t>공동학습</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목적함수와</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갱신</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대상</a:t>
            </a:r>
            <a:r>
              <a:rPr sz="800" b="0" baseline="30000" dirty="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02 학습 방법 · 목적 / 정보 / 구조 / 공동학습</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00" b="0">
                <a:solidFill>
                  <a:srgbClr val="686868"/>
                </a:solidFill>
                <a:latin typeface="맑은 고딕"/>
                <a:ea typeface="맑은 고딕"/>
                <a:cs typeface="맑은 고딕"/>
              </a:rPr>
              <a:t>1) Liu et al., Saving the Limping, arXiv:2210.00474v3, 2023.   2) Local code: teacher_ppo.py:update; joint_teacher_student_actor_critic.py:adaptation_loss.</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19 / 43</a:t>
            </a:r>
          </a:p>
        </p:txBody>
      </p:sp>
      <p:sp>
        <p:nvSpPr>
          <p:cNvPr id="8"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spcAft>
                <a:spcPts val="0"/>
              </a:spcAft>
            </a:pPr>
            <a:r>
              <a:rPr sz="1400" b="0" dirty="0" err="1">
                <a:solidFill>
                  <a:srgbClr val="3A3A3A"/>
                </a:solidFill>
                <a:latin typeface="맑은 고딕"/>
                <a:ea typeface="맑은 고딕"/>
                <a:cs typeface="맑은 고딕"/>
              </a:rPr>
              <a:t>같은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rollout에서</a:t>
            </a:r>
            <a:r>
              <a:rPr sz="1400" b="0" dirty="0">
                <a:solidFill>
                  <a:srgbClr val="3A3A3A"/>
                </a:solidFill>
                <a:latin typeface="맑은 고딕"/>
                <a:ea typeface="맑은 고딕"/>
                <a:cs typeface="맑은 고딕"/>
              </a:rPr>
              <a:t> PPO </a:t>
            </a:r>
            <a:r>
              <a:rPr sz="1400" b="0" dirty="0" err="1">
                <a:solidFill>
                  <a:srgbClr val="3A3A3A"/>
                </a:solidFill>
                <a:latin typeface="맑은 고딕"/>
                <a:ea typeface="맑은 고딕"/>
                <a:cs typeface="맑은 고딕"/>
              </a:rPr>
              <a:t>보상</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최적화와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특징</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모방을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함께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수행한다</a:t>
            </a:r>
            <a:r>
              <a:rPr sz="1400" b="0" dirty="0">
                <a:solidFill>
                  <a:srgbClr val="3A3A3A"/>
                </a:solidFill>
                <a:latin typeface="맑은 고딕"/>
                <a:ea typeface="맑은 고딕"/>
                <a:cs typeface="맑은 고딕"/>
              </a:rPr>
              <a:t>. β는 </a:t>
            </a:r>
            <a:r>
              <a:rPr sz="1400" b="0" dirty="0" err="1">
                <a:solidFill>
                  <a:srgbClr val="3A3A3A"/>
                </a:solidFill>
                <a:latin typeface="맑은 고딕"/>
                <a:ea typeface="맑은 고딕"/>
                <a:cs typeface="맑은 고딕"/>
              </a:rPr>
              <a:t>모방</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손실의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비중이며</a:t>
            </a:r>
            <a:r>
              <a:rPr sz="1400" b="0" dirty="0">
                <a:solidFill>
                  <a:srgbClr val="3A3A3A"/>
                </a:solidFill>
                <a:latin typeface="맑은 고딕"/>
                <a:ea typeface="맑은 고딕"/>
                <a:cs typeface="맑은 고딕"/>
              </a:rPr>
              <a:t>, α와 </a:t>
            </a:r>
            <a:r>
              <a:rPr sz="1400" b="0" dirty="0" err="1">
                <a:solidFill>
                  <a:srgbClr val="3A3A3A"/>
                </a:solidFill>
                <a:latin typeface="맑은 고딕"/>
                <a:ea typeface="맑은 고딕"/>
                <a:cs typeface="맑은 고딕"/>
              </a:rPr>
              <a:t>역할이</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다르다</a:t>
            </a:r>
            <a:r>
              <a:rPr sz="1400" b="0" dirty="0">
                <a:solidFill>
                  <a:srgbClr val="3A3A3A"/>
                </a:solidFill>
                <a:latin typeface="맑은 고딕"/>
                <a:ea typeface="맑은 고딕"/>
                <a:cs typeface="맑은 고딕"/>
              </a:rPr>
              <a:t>.</a:t>
            </a:r>
          </a:p>
        </p:txBody>
      </p:sp>
      <mc:AlternateContent xmlns:mc="http://schemas.openxmlformats.org/markup-compatibility/2006" xmlns:a14="http://schemas.microsoft.com/office/drawing/2010/main">
        <mc:Choice Requires="a14">
          <p:sp>
            <p:nvSpPr>
              <p:cNvPr id="9" name="v7-math-3"/>
              <p:cNvSpPr txBox="1"/>
              <p:nvPr/>
            </p:nvSpPr>
            <p:spPr>
              <a:xfrm>
                <a:off x="914400" y="1847088"/>
                <a:ext cx="10332720" cy="566928"/>
              </a:xfrm>
              <a:prstGeom prst="rect">
                <a:avLst/>
              </a:prstGeom>
              <a:noFill/>
            </p:spPr>
            <p:txBody>
              <a:bodyPr wrap="none" lIns="27432" tIns="27432" rIns="27432" bIns="27432" anchor="ctr">
                <a:spAutoFit/>
              </a:bodyPr>
              <a:lstStyle/>
              <a:p>
                <a:pPr algn="ctr"/>
                <a14:m>
                  <m:oMathPara xmlns:m="http://schemas.openxmlformats.org/officeDocument/2006/math">
                    <m:oMath>
                      <m:r>
                        <a:rPr lang="ko-KR" sz="1800" b="0">
                          <a:solidFill>
                            <a:srgbClr val="222222"/>
                          </a:solidFill>
                          <a:latin typeface="Cambria Math" panose="02040503050406030204" pitchFamily="18" charset="0"/>
                          <a:ea typeface="맑은 고딕"/>
                          <a:cs typeface="맑은 고딕"/>
                        </a:rPr>
                        <m:t>𝐿</m:t>
                      </m:r>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𝐿</m:t>
                          </m:r>
                        </m:e>
                        <m:sub>
                          <m:r>
                            <a:rPr lang="ko-KR" sz="1800" b="0">
                              <a:solidFill>
                                <a:srgbClr val="222222"/>
                              </a:solidFill>
                              <a:latin typeface="Cambria Math" panose="02040503050406030204" pitchFamily="18" charset="0"/>
                              <a:ea typeface="맑은 고딕"/>
                              <a:cs typeface="맑은 고딕"/>
                            </a:rPr>
                            <m:t>𝑝𝑜𝑙𝑖𝑐𝑦</m:t>
                          </m:r>
                        </m:sub>
                      </m:sSub>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𝑐</m:t>
                          </m:r>
                        </m:e>
                        <m:sub>
                          <m:r>
                            <a:rPr lang="ko-KR" sz="1800" b="0">
                              <a:solidFill>
                                <a:srgbClr val="222222"/>
                              </a:solidFill>
                              <a:latin typeface="Cambria Math" panose="02040503050406030204" pitchFamily="18" charset="0"/>
                              <a:ea typeface="맑은 고딕"/>
                              <a:cs typeface="맑은 고딕"/>
                            </a:rPr>
                            <m:t>𝑉</m:t>
                          </m:r>
                        </m:sub>
                      </m:sSub>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𝐿</m:t>
                          </m:r>
                        </m:e>
                        <m:sub>
                          <m:r>
                            <a:rPr lang="ko-KR" sz="1800" b="0">
                              <a:solidFill>
                                <a:srgbClr val="222222"/>
                              </a:solidFill>
                              <a:latin typeface="Cambria Math" panose="02040503050406030204" pitchFamily="18" charset="0"/>
                              <a:ea typeface="맑은 고딕"/>
                              <a:cs typeface="맑은 고딕"/>
                            </a:rPr>
                            <m:t>𝑣𝑎𝑙𝑢𝑒</m:t>
                          </m:r>
                        </m:sub>
                      </m:sSub>
                      <m:r>
                        <a:rPr lang="ko-KR" sz="1800" b="0">
                          <a:solidFill>
                            <a:srgbClr val="222222"/>
                          </a:solidFill>
                          <a:latin typeface="Cambria Math" panose="02040503050406030204" pitchFamily="18" charset="0"/>
                          <a:ea typeface="맑은 고딕"/>
                          <a:cs typeface="맑은 고딕"/>
                        </a:rPr>
                        <m:t> − </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𝑐</m:t>
                          </m:r>
                        </m:e>
                        <m:sub>
                          <m:r>
                            <a:rPr lang="ko-KR" sz="1800" b="0">
                              <a:solidFill>
                                <a:srgbClr val="222222"/>
                              </a:solidFill>
                              <a:latin typeface="Cambria Math" panose="02040503050406030204" pitchFamily="18" charset="0"/>
                              <a:ea typeface="맑은 고딕"/>
                              <a:cs typeface="맑은 고딕"/>
                            </a:rPr>
                            <m:t>𝐻</m:t>
                          </m:r>
                        </m:sub>
                      </m:sSub>
                      <m:r>
                        <a:rPr lang="ko-KR" sz="1800" b="0">
                          <a:solidFill>
                            <a:srgbClr val="222222"/>
                          </a:solidFill>
                          <a:latin typeface="Cambria Math" panose="02040503050406030204" pitchFamily="18" charset="0"/>
                          <a:ea typeface="맑은 고딕"/>
                          <a:cs typeface="맑은 고딕"/>
                        </a:rPr>
                        <m:t>𝐻</m:t>
                      </m:r>
                      <m:r>
                        <a:rPr lang="ko-KR" sz="1800" b="0">
                          <a:solidFill>
                            <a:srgbClr val="222222"/>
                          </a:solidFill>
                          <a:latin typeface="Cambria Math" panose="02040503050406030204" pitchFamily="18" charset="0"/>
                          <a:ea typeface="맑은 고딕"/>
                          <a:cs typeface="맑은 고딕"/>
                        </a:rPr>
                        <m:t>(</m:t>
                      </m:r>
                      <m:r>
                        <a:rPr lang="ko-KR" sz="1800" b="0">
                          <a:solidFill>
                            <a:srgbClr val="222222"/>
                          </a:solidFill>
                          <a:latin typeface="Cambria Math" panose="02040503050406030204" pitchFamily="18" charset="0"/>
                          <a:ea typeface="맑은 고딕"/>
                          <a:cs typeface="맑은 고딕"/>
                        </a:rPr>
                        <m:t>𝜋</m:t>
                      </m:r>
                      <m:r>
                        <a:rPr lang="ko-KR" sz="1800" b="0">
                          <a:solidFill>
                            <a:srgbClr val="222222"/>
                          </a:solidFill>
                          <a:latin typeface="Cambria Math" panose="02040503050406030204" pitchFamily="18" charset="0"/>
                          <a:ea typeface="맑은 고딕"/>
                          <a:cs typeface="맑은 고딕"/>
                        </a:rPr>
                        <m:t>) + </m:t>
                      </m:r>
                      <m:r>
                        <a:rPr lang="ko-KR" sz="1800" b="0">
                          <a:solidFill>
                            <a:srgbClr val="222222"/>
                          </a:solidFill>
                          <a:latin typeface="Cambria Math" panose="02040503050406030204" pitchFamily="18" charset="0"/>
                          <a:ea typeface="맑은 고딕"/>
                          <a:cs typeface="맑은 고딕"/>
                        </a:rPr>
                        <m:t>𝛽</m:t>
                      </m:r>
                      <m:sSub>
                        <m:sSubPr>
                          <m:ctrlPr>
                            <a:rPr lang="ko-KR" sz="1800" b="0">
                              <a:solidFill>
                                <a:srgbClr val="222222"/>
                              </a:solidFill>
                              <a:latin typeface="Cambria Math" panose="02040503050406030204" pitchFamily="18" charset="0"/>
                              <a:ea typeface="맑은 고딕"/>
                              <a:cs typeface="맑은 고딕"/>
                            </a:rPr>
                          </m:ctrlPr>
                        </m:sSubPr>
                        <m:e>
                          <m:r>
                            <a:rPr lang="ko-KR" sz="1800" b="0">
                              <a:solidFill>
                                <a:srgbClr val="222222"/>
                              </a:solidFill>
                              <a:latin typeface="Cambria Math" panose="02040503050406030204" pitchFamily="18" charset="0"/>
                              <a:ea typeface="맑은 고딕"/>
                              <a:cs typeface="맑은 고딕"/>
                            </a:rPr>
                            <m:t>𝐿</m:t>
                          </m:r>
                        </m:e>
                        <m:sub>
                          <m:r>
                            <a:rPr lang="ko-KR" sz="1800" b="0">
                              <a:solidFill>
                                <a:srgbClr val="222222"/>
                              </a:solidFill>
                              <a:latin typeface="Cambria Math" panose="02040503050406030204" pitchFamily="18" charset="0"/>
                              <a:ea typeface="맑은 고딕"/>
                              <a:cs typeface="맑은 고딕"/>
                            </a:rPr>
                            <m:t>𝑎𝑑𝑎𝑝𝑡</m:t>
                          </m:r>
                        </m:sub>
                      </m:sSub>
                    </m:oMath>
                  </m:oMathPara>
                </a14:m>
                <a:endParaRPr/>
              </a:p>
            </p:txBody>
          </p:sp>
        </mc:Choice>
        <mc:Fallback xmlns="">
          <p:sp>
            <p:nvSpPr>
              <p:cNvPr id="9" name="v7-math-3"/>
              <p:cNvSpPr txBox="1">
                <a:spLocks noRot="1" noChangeAspect="1" noMove="1" noResize="1" noEditPoints="1" noAdjustHandles="1" noChangeArrowheads="1" noChangeShapeType="1" noTextEdit="1"/>
              </p:cNvSpPr>
              <p:nvPr/>
            </p:nvSpPr>
            <p:spPr>
              <a:xfrm>
                <a:off x="914400" y="1847088"/>
                <a:ext cx="10332720" cy="566928"/>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v7-math-4"/>
              <p:cNvSpPr txBox="1"/>
              <p:nvPr/>
            </p:nvSpPr>
            <p:spPr>
              <a:xfrm>
                <a:off x="914400" y="2542032"/>
                <a:ext cx="10332720" cy="594360"/>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𝐿</m:t>
                          </m:r>
                        </m:e>
                        <m:sub>
                          <m:r>
                            <a:rPr lang="ko-KR" sz="1700" b="0">
                              <a:solidFill>
                                <a:srgbClr val="222222"/>
                              </a:solidFill>
                              <a:latin typeface="Cambria Math" panose="02040503050406030204" pitchFamily="18" charset="0"/>
                              <a:ea typeface="맑은 고딕"/>
                              <a:cs typeface="맑은 고딕"/>
                            </a:rPr>
                            <m:t>𝑎𝑑𝑎𝑝𝑡</m:t>
                          </m:r>
                        </m:sub>
                      </m:sSub>
                      <m:r>
                        <a:rPr lang="ko-KR" sz="1700" b="0">
                          <a:solidFill>
                            <a:srgbClr val="222222"/>
                          </a:solidFill>
                          <a:latin typeface="Cambria Math" panose="02040503050406030204" pitchFamily="18" charset="0"/>
                          <a:ea typeface="맑은 고딕"/>
                          <a:cs typeface="맑은 고딕"/>
                        </a:rPr>
                        <m:t> =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𝐸</m:t>
                          </m:r>
                        </m:e>
                        <m:sub>
                          <m:r>
                            <a:rPr lang="ko-KR" sz="1700" b="0">
                              <a:solidFill>
                                <a:srgbClr val="222222"/>
                              </a:solidFill>
                              <a:latin typeface="Cambria Math" panose="02040503050406030204" pitchFamily="18" charset="0"/>
                              <a:ea typeface="맑은 고딕"/>
                              <a:cs typeface="맑은 고딕"/>
                            </a:rPr>
                            <m:t>𝑡</m:t>
                          </m:r>
                        </m:sub>
                      </m:sSub>
                      <m:r>
                        <a:rPr lang="ko-KR" sz="1700" b="0">
                          <a:solidFill>
                            <a:srgbClr val="222222"/>
                          </a:solidFill>
                          <a:latin typeface="Cambria Math" panose="02040503050406030204" pitchFamily="18" charset="0"/>
                          <a:ea typeface="맑은 고딕"/>
                          <a:cs typeface="맑은 고딕"/>
                        </a:rPr>
                        <m:t>[</m:t>
                      </m:r>
                      <m:sSub>
                        <m:sSubPr>
                          <m:ctrlPr>
                            <a:rPr lang="ko-KR" sz="1700" b="0" i="1">
                              <a:solidFill>
                                <a:srgbClr val="222222"/>
                              </a:solidFill>
                              <a:latin typeface="Cambria Math" panose="02040503050406030204" pitchFamily="18" charset="0"/>
                              <a:ea typeface="맑은 고딕"/>
                              <a:cs typeface="맑은 고딕"/>
                            </a:rPr>
                          </m:ctrlPr>
                        </m:sSubPr>
                        <m:e>
                          <m:box>
                            <m:boxPr>
                              <m:ctrlPr>
                                <a:rPr lang="ko-KR" sz="1700" b="0">
                                  <a:solidFill>
                                    <a:srgbClr val="222222"/>
                                  </a:solidFill>
                                  <a:latin typeface="Cambria Math" panose="02040503050406030204" pitchFamily="18" charset="0"/>
                                  <a:ea typeface="맑은 고딕"/>
                                  <a:cs typeface="맑은 고딕"/>
                                </a:rPr>
                              </m:ctrlPr>
                            </m:boxPr>
                            <m:e>
                              <m:r>
                                <a:rPr lang="ko-KR" sz="1700" b="0">
                                  <a:solidFill>
                                    <a:srgbClr val="222222"/>
                                  </a:solidFill>
                                  <a:latin typeface="Cambria Math" panose="02040503050406030204" pitchFamily="18" charset="0"/>
                                  <a:ea typeface="맑은 고딕"/>
                                  <a:cs typeface="맑은 고딕"/>
                                </a:rPr>
                                <m:t>‖</m:t>
                              </m:r>
                              <m:sSubSup>
                                <m:sSubSupPr>
                                  <m:ctrlPr>
                                    <a:rPr lang="ko-KR" sz="1700" b="0">
                                      <a:solidFill>
                                        <a:srgbClr val="222222"/>
                                      </a:solidFill>
                                      <a:latin typeface="Cambria Math" panose="02040503050406030204" pitchFamily="18" charset="0"/>
                                      <a:ea typeface="맑은 고딕"/>
                                      <a:cs typeface="맑은 고딕"/>
                                    </a:rPr>
                                  </m:ctrlPr>
                                </m:sSubSupPr>
                                <m:e>
                                  <m:r>
                                    <a:rPr lang="ko-KR" sz="1700" b="0">
                                      <a:solidFill>
                                        <a:srgbClr val="222222"/>
                                      </a:solidFill>
                                      <a:latin typeface="Cambria Math" panose="02040503050406030204" pitchFamily="18" charset="0"/>
                                      <a:ea typeface="맑은 고딕"/>
                                      <a:cs typeface="맑은 고딕"/>
                                    </a:rPr>
                                    <m:t>𝑧</m:t>
                                  </m:r>
                                </m:e>
                                <m:sub>
                                  <m:r>
                                    <a:rPr lang="ko-KR" sz="1700" b="0">
                                      <a:solidFill>
                                        <a:srgbClr val="222222"/>
                                      </a:solidFill>
                                      <a:latin typeface="Cambria Math" panose="02040503050406030204" pitchFamily="18" charset="0"/>
                                      <a:ea typeface="맑은 고딕"/>
                                      <a:cs typeface="맑은 고딕"/>
                                    </a:rPr>
                                    <m:t>𝑡</m:t>
                                  </m:r>
                                </m:sub>
                                <m:sup>
                                  <m:r>
                                    <a:rPr lang="ko-KR" sz="1700" b="0">
                                      <a:solidFill>
                                        <a:srgbClr val="222222"/>
                                      </a:solidFill>
                                      <a:latin typeface="Cambria Math" panose="02040503050406030204" pitchFamily="18" charset="0"/>
                                      <a:ea typeface="맑은 고딕"/>
                                      <a:cs typeface="맑은 고딕"/>
                                    </a:rPr>
                                    <m:t>𝑆</m:t>
                                  </m:r>
                                </m:sup>
                              </m:sSubSup>
                              <m:r>
                                <a:rPr lang="ko-KR" sz="1700" b="0">
                                  <a:solidFill>
                                    <a:srgbClr val="222222"/>
                                  </a:solidFill>
                                  <a:latin typeface="Cambria Math" panose="02040503050406030204" pitchFamily="18" charset="0"/>
                                  <a:ea typeface="맑은 고딕"/>
                                  <a:cs typeface="맑은 고딕"/>
                                </a:rPr>
                                <m:t> − </m:t>
                              </m:r>
                              <m:r>
                                <a:rPr lang="ko-KR" sz="1700" b="0">
                                  <a:solidFill>
                                    <a:srgbClr val="222222"/>
                                  </a:solidFill>
                                  <a:latin typeface="Cambria Math" panose="02040503050406030204" pitchFamily="18" charset="0"/>
                                  <a:ea typeface="맑은 고딕"/>
                                  <a:cs typeface="맑은 고딕"/>
                                </a:rPr>
                                <m:t>𝑠𝑔</m:t>
                              </m:r>
                              <m:r>
                                <a:rPr lang="ko-KR" sz="1700" b="0">
                                  <a:solidFill>
                                    <a:srgbClr val="222222"/>
                                  </a:solidFill>
                                  <a:latin typeface="Cambria Math" panose="02040503050406030204" pitchFamily="18" charset="0"/>
                                  <a:ea typeface="맑은 고딕"/>
                                  <a:cs typeface="맑은 고딕"/>
                                </a:rPr>
                                <m:t>(</m:t>
                              </m:r>
                              <m:sSubSup>
                                <m:sSubSupPr>
                                  <m:ctrlPr>
                                    <a:rPr lang="ko-KR" sz="1700" b="0">
                                      <a:solidFill>
                                        <a:srgbClr val="222222"/>
                                      </a:solidFill>
                                      <a:latin typeface="Cambria Math" panose="02040503050406030204" pitchFamily="18" charset="0"/>
                                      <a:ea typeface="맑은 고딕"/>
                                      <a:cs typeface="맑은 고딕"/>
                                    </a:rPr>
                                  </m:ctrlPr>
                                </m:sSubSupPr>
                                <m:e>
                                  <m:r>
                                    <a:rPr lang="ko-KR" sz="1700" b="0">
                                      <a:solidFill>
                                        <a:srgbClr val="222222"/>
                                      </a:solidFill>
                                      <a:latin typeface="Cambria Math" panose="02040503050406030204" pitchFamily="18" charset="0"/>
                                      <a:ea typeface="맑은 고딕"/>
                                      <a:cs typeface="맑은 고딕"/>
                                    </a:rPr>
                                    <m:t>𝑧</m:t>
                                  </m:r>
                                </m:e>
                                <m:sub>
                                  <m:r>
                                    <a:rPr lang="ko-KR" sz="1700" b="0">
                                      <a:solidFill>
                                        <a:srgbClr val="222222"/>
                                      </a:solidFill>
                                      <a:latin typeface="Cambria Math" panose="02040503050406030204" pitchFamily="18" charset="0"/>
                                      <a:ea typeface="맑은 고딕"/>
                                      <a:cs typeface="맑은 고딕"/>
                                    </a:rPr>
                                    <m:t>𝑡</m:t>
                                  </m:r>
                                </m:sub>
                                <m:sup>
                                  <m:r>
                                    <a:rPr lang="ko-KR" sz="1700" b="0">
                                      <a:solidFill>
                                        <a:srgbClr val="222222"/>
                                      </a:solidFill>
                                      <a:latin typeface="Cambria Math" panose="02040503050406030204" pitchFamily="18" charset="0"/>
                                      <a:ea typeface="맑은 고딕"/>
                                      <a:cs typeface="맑은 고딕"/>
                                    </a:rPr>
                                    <m:t>𝑇</m:t>
                                  </m:r>
                                </m:sup>
                              </m:sSubSup>
                              <m:r>
                                <a:rPr lang="ko-KR" sz="1700" b="0">
                                  <a:solidFill>
                                    <a:srgbClr val="222222"/>
                                  </a:solidFill>
                                  <a:latin typeface="Cambria Math" panose="02040503050406030204" pitchFamily="18" charset="0"/>
                                  <a:ea typeface="맑은 고딕"/>
                                  <a:cs typeface="맑은 고딕"/>
                                </a:rPr>
                                <m:t>)‖</m:t>
                              </m:r>
                            </m:e>
                          </m:box>
                        </m:e>
                        <m:sub>
                          <m:r>
                            <a:rPr lang="ko-KR" sz="1700" b="0">
                              <a:solidFill>
                                <a:srgbClr val="222222"/>
                              </a:solidFill>
                              <a:latin typeface="Cambria Math" panose="02040503050406030204" pitchFamily="18" charset="0"/>
                              <a:ea typeface="맑은 고딕"/>
                              <a:cs typeface="맑은 고딕"/>
                            </a:rPr>
                            <m:t>2</m:t>
                          </m:r>
                        </m:sub>
                      </m:sSub>
                      <m:r>
                        <a:rPr lang="ko-KR" sz="1700" b="0">
                          <a:solidFill>
                            <a:srgbClr val="222222"/>
                          </a:solidFill>
                          <a:latin typeface="Cambria Math" panose="02040503050406030204" pitchFamily="18" charset="0"/>
                          <a:ea typeface="맑은 고딕"/>
                          <a:cs typeface="맑은 고딕"/>
                        </a:rPr>
                        <m:t>],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𝑐</m:t>
                          </m:r>
                        </m:e>
                        <m:sub>
                          <m:r>
                            <a:rPr lang="ko-KR" sz="1700" b="0">
                              <a:solidFill>
                                <a:srgbClr val="222222"/>
                              </a:solidFill>
                              <a:latin typeface="Cambria Math" panose="02040503050406030204" pitchFamily="18" charset="0"/>
                              <a:ea typeface="맑은 고딕"/>
                              <a:cs typeface="맑은 고딕"/>
                            </a:rPr>
                            <m:t>𝑉</m:t>
                          </m:r>
                        </m:sub>
                      </m:sSub>
                      <m:r>
                        <a:rPr lang="ko-KR" sz="1700" b="0">
                          <a:solidFill>
                            <a:srgbClr val="222222"/>
                          </a:solidFill>
                          <a:latin typeface="Cambria Math" panose="02040503050406030204" pitchFamily="18" charset="0"/>
                          <a:ea typeface="맑은 고딕"/>
                          <a:cs typeface="맑은 고딕"/>
                        </a:rPr>
                        <m:t> = 1,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𝑐</m:t>
                          </m:r>
                        </m:e>
                        <m:sub>
                          <m:r>
                            <a:rPr lang="ko-KR" sz="1700" b="0">
                              <a:solidFill>
                                <a:srgbClr val="222222"/>
                              </a:solidFill>
                              <a:latin typeface="Cambria Math" panose="02040503050406030204" pitchFamily="18" charset="0"/>
                              <a:ea typeface="맑은 고딕"/>
                              <a:cs typeface="맑은 고딕"/>
                            </a:rPr>
                            <m:t>𝐻</m:t>
                          </m:r>
                        </m:sub>
                      </m:sSub>
                      <m:r>
                        <a:rPr lang="ko-KR" sz="1700" b="0">
                          <a:solidFill>
                            <a:srgbClr val="222222"/>
                          </a:solidFill>
                          <a:latin typeface="Cambria Math" panose="02040503050406030204" pitchFamily="18" charset="0"/>
                          <a:ea typeface="맑은 고딕"/>
                          <a:cs typeface="맑은 고딕"/>
                        </a:rPr>
                        <m:t> = 0.01</m:t>
                      </m:r>
                    </m:oMath>
                  </m:oMathPara>
                </a14:m>
                <a:endParaRPr/>
              </a:p>
            </p:txBody>
          </p:sp>
        </mc:Choice>
        <mc:Fallback xmlns="">
          <p:sp>
            <p:nvSpPr>
              <p:cNvPr id="10" name="v7-math-4"/>
              <p:cNvSpPr txBox="1">
                <a:spLocks noRot="1" noChangeAspect="1" noMove="1" noResize="1" noEditPoints="1" noAdjustHandles="1" noChangeArrowheads="1" noChangeShapeType="1" noTextEdit="1"/>
              </p:cNvSpPr>
              <p:nvPr/>
            </p:nvSpPr>
            <p:spPr>
              <a:xfrm>
                <a:off x="914400" y="2542032"/>
                <a:ext cx="10332720" cy="594360"/>
              </a:xfrm>
              <a:prstGeom prst="rect">
                <a:avLst/>
              </a:prstGeom>
              <a:blipFill>
                <a:blip r:embed="rId4"/>
                <a:stretch>
                  <a:fillRect/>
                </a:stretch>
              </a:blipFill>
            </p:spPr>
            <p:txBody>
              <a:bodyPr/>
              <a:lstStyle/>
              <a:p>
                <a:r>
                  <a:rPr lang="ko-KR" altLang="en-US">
                    <a:noFill/>
                  </a:rPr>
                  <a:t> </a:t>
                </a:r>
              </a:p>
            </p:txBody>
          </p:sp>
        </mc:Fallback>
      </mc:AlternateContent>
      <p:sp>
        <p:nvSpPr>
          <p:cNvPr id="11" name="Rectangle 10"/>
          <p:cNvSpPr/>
          <p:nvPr/>
        </p:nvSpPr>
        <p:spPr>
          <a:xfrm>
            <a:off x="640080" y="3474720"/>
            <a:ext cx="2514600"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1" y="3511296"/>
            <a:ext cx="2368296" cy="466344"/>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손실·경로</a:t>
            </a:r>
          </a:p>
        </p:txBody>
      </p:sp>
      <p:sp>
        <p:nvSpPr>
          <p:cNvPr id="13" name="Rectangle 12"/>
          <p:cNvSpPr/>
          <p:nvPr/>
        </p:nvSpPr>
        <p:spPr>
          <a:xfrm>
            <a:off x="3154680" y="3474720"/>
            <a:ext cx="3977639"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27832" y="3511296"/>
            <a:ext cx="3831335" cy="466344"/>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갱신되는 대상</a:t>
            </a:r>
          </a:p>
        </p:txBody>
      </p:sp>
      <p:sp>
        <p:nvSpPr>
          <p:cNvPr id="15" name="Rectangle 14"/>
          <p:cNvSpPr/>
          <p:nvPr/>
        </p:nvSpPr>
        <p:spPr>
          <a:xfrm>
            <a:off x="7132320" y="3474720"/>
            <a:ext cx="4480560" cy="539496"/>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05472" y="3511296"/>
            <a:ext cx="4334256" cy="466344"/>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의미</a:t>
            </a:r>
          </a:p>
        </p:txBody>
      </p:sp>
      <p:sp>
        <p:nvSpPr>
          <p:cNvPr id="17" name="Rectangle 16"/>
          <p:cNvSpPr/>
          <p:nvPr/>
        </p:nvSpPr>
        <p:spPr>
          <a:xfrm>
            <a:off x="640080" y="4014215"/>
            <a:ext cx="251460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1" y="4050791"/>
            <a:ext cx="2368296" cy="46634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PPO policy / value</a:t>
            </a:r>
          </a:p>
        </p:txBody>
      </p:sp>
      <p:sp>
        <p:nvSpPr>
          <p:cNvPr id="19" name="Rectangle 18"/>
          <p:cNvSpPr/>
          <p:nvPr/>
        </p:nvSpPr>
        <p:spPr>
          <a:xfrm>
            <a:off x="3154680" y="4014215"/>
            <a:ext cx="3977639"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27832" y="4050791"/>
            <a:ext cx="3831335" cy="46634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Actor · Critic · 혼합에 참여하는 encoder</a:t>
            </a:r>
          </a:p>
        </p:txBody>
      </p:sp>
      <p:sp>
        <p:nvSpPr>
          <p:cNvPr id="21" name="Rectangle 20"/>
          <p:cNvSpPr/>
          <p:nvPr/>
        </p:nvSpPr>
        <p:spPr>
          <a:xfrm>
            <a:off x="7132320" y="4014215"/>
            <a:ext cx="44805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05472" y="4050791"/>
            <a:ext cx="4334256" cy="46634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행동의 누적 보상이 높아지도록 갱신</a:t>
            </a:r>
          </a:p>
        </p:txBody>
      </p:sp>
      <p:sp>
        <p:nvSpPr>
          <p:cNvPr id="23" name="Rectangle 22"/>
          <p:cNvSpPr/>
          <p:nvPr/>
        </p:nvSpPr>
        <p:spPr>
          <a:xfrm>
            <a:off x="640080" y="4553712"/>
            <a:ext cx="251460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1" y="4590288"/>
            <a:ext cx="2368296" cy="46634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특징 모방</a:t>
            </a:r>
          </a:p>
        </p:txBody>
      </p:sp>
      <p:sp>
        <p:nvSpPr>
          <p:cNvPr id="25" name="Rectangle 24"/>
          <p:cNvSpPr/>
          <p:nvPr/>
        </p:nvSpPr>
        <p:spPr>
          <a:xfrm>
            <a:off x="3154680" y="4553712"/>
            <a:ext cx="3977639"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590288"/>
            <a:ext cx="3831335" cy="46634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Student encoder; Teacher target은 detach</a:t>
            </a:r>
          </a:p>
        </p:txBody>
      </p:sp>
      <p:sp>
        <p:nvSpPr>
          <p:cNvPr id="27" name="Rectangle 26"/>
          <p:cNvSpPr/>
          <p:nvPr/>
        </p:nvSpPr>
        <p:spPr>
          <a:xfrm>
            <a:off x="7132320" y="4553712"/>
            <a:ext cx="4480560" cy="539496"/>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05472" y="4590288"/>
            <a:ext cx="4334256" cy="46634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초기 Student 특징을 Teacher 특징에 가깝게 유도</a:t>
            </a:r>
          </a:p>
        </p:txBody>
      </p:sp>
      <p:sp>
        <p:nvSpPr>
          <p:cNvPr id="29" name="Rectangle 28"/>
          <p:cNvSpPr/>
          <p:nvPr/>
        </p:nvSpPr>
        <p:spPr>
          <a:xfrm>
            <a:off x="640080" y="5093208"/>
            <a:ext cx="251460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5129784"/>
            <a:ext cx="2368296" cy="466344"/>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Student-only 후기</a:t>
            </a:r>
          </a:p>
        </p:txBody>
      </p:sp>
      <p:sp>
        <p:nvSpPr>
          <p:cNvPr id="31" name="Rectangle 30"/>
          <p:cNvSpPr/>
          <p:nvPr/>
        </p:nvSpPr>
        <p:spPr>
          <a:xfrm>
            <a:off x="3154680" y="5093208"/>
            <a:ext cx="3977639"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27832" y="5129784"/>
            <a:ext cx="3831335" cy="46634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Student encoder · Actor · Critic</a:t>
            </a:r>
          </a:p>
        </p:txBody>
      </p:sp>
      <p:sp>
        <p:nvSpPr>
          <p:cNvPr id="33" name="Rectangle 32"/>
          <p:cNvSpPr/>
          <p:nvPr/>
        </p:nvSpPr>
        <p:spPr>
          <a:xfrm>
            <a:off x="7132320" y="5093208"/>
            <a:ext cx="4480560" cy="539496"/>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05472" y="5129784"/>
            <a:ext cx="4334256" cy="466344"/>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Teacher 특징과 모방 손실의 기여가 모두 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20 | 학습 절차와 정책 선택</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02 학습 방법 · 정보 / 구조 / 공동학습 / 실행 절차</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JT saved config / metrics.jsonl; teacher_runner.py; joint_teacher_student_actor_critic.py.</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20 / 43</a:t>
            </a:r>
          </a:p>
        </p:txBody>
      </p:sp>
      <p:sp>
        <p:nvSpPr>
          <p:cNvPr id="8"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spcAft>
                <a:spcPts val="0"/>
              </a:spcAft>
            </a:pPr>
            <a:r>
              <a:rPr sz="1300" b="0">
                <a:solidFill>
                  <a:srgbClr val="3A3A3A"/>
                </a:solidFill>
                <a:latin typeface="맑은 고딕"/>
                <a:ea typeface="맑은 고딕"/>
                <a:cs typeface="맑은 고딕"/>
              </a:rPr>
              <a:t>Teacher 기준 정책을 먼저 만든 뒤 Student 특징의 비중을 늘리며 공동학습한다. 최종 평가는 Student 경로만 사용한다.</a:t>
            </a:r>
          </a:p>
        </p:txBody>
      </p:sp>
      <p:sp>
        <p:nvSpPr>
          <p:cNvPr id="9" name="Rectangle 8"/>
          <p:cNvSpPr/>
          <p:nvPr/>
        </p:nvSpPr>
        <p:spPr>
          <a:xfrm>
            <a:off x="640080" y="1874519"/>
            <a:ext cx="2286000" cy="65836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1911095"/>
            <a:ext cx="2139696" cy="585216"/>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단계</a:t>
            </a:r>
          </a:p>
        </p:txBody>
      </p:sp>
      <p:sp>
        <p:nvSpPr>
          <p:cNvPr id="11" name="Rectangle 10"/>
          <p:cNvSpPr/>
          <p:nvPr/>
        </p:nvSpPr>
        <p:spPr>
          <a:xfrm>
            <a:off x="2926080" y="1874519"/>
            <a:ext cx="4206240" cy="65836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99232" y="1911095"/>
            <a:ext cx="4059935" cy="585216"/>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입력과 학습</a:t>
            </a:r>
          </a:p>
        </p:txBody>
      </p:sp>
      <p:sp>
        <p:nvSpPr>
          <p:cNvPr id="13" name="Rectangle 12"/>
          <p:cNvSpPr/>
          <p:nvPr/>
        </p:nvSpPr>
        <p:spPr>
          <a:xfrm>
            <a:off x="7132320" y="1874519"/>
            <a:ext cx="4480560" cy="65836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5472" y="1911095"/>
            <a:ext cx="4334256" cy="585216"/>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산출물·확인 대상</a:t>
            </a:r>
          </a:p>
        </p:txBody>
      </p:sp>
      <p:sp>
        <p:nvSpPr>
          <p:cNvPr id="15" name="Rectangle 14"/>
          <p:cNvSpPr/>
          <p:nvPr/>
        </p:nvSpPr>
        <p:spPr>
          <a:xfrm>
            <a:off x="640080" y="2532887"/>
            <a:ext cx="228600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1" y="2569463"/>
            <a:ext cx="2139696" cy="585216"/>
          </a:xfrm>
          <a:prstGeom prst="rect">
            <a:avLst/>
          </a:prstGeom>
          <a:noFill/>
        </p:spPr>
        <p:txBody>
          <a:bodyPr wrap="square" lIns="9144" tIns="9144" rIns="9144" bIns="9144" anchor="ctr">
            <a:spAutoFit/>
          </a:bodyPr>
          <a:lstStyle/>
          <a:p>
            <a:pPr algn="l">
              <a:spcAft>
                <a:spcPts val="0"/>
              </a:spcAft>
            </a:pPr>
            <a:r>
              <a:rPr sz="1200" b="1">
                <a:solidFill>
                  <a:srgbClr val="3A3A3A"/>
                </a:solidFill>
                <a:latin typeface="맑은 고딕"/>
                <a:ea typeface="맑은 고딕"/>
                <a:cs typeface="맑은 고딕"/>
              </a:rPr>
              <a:t>1 · Teacher 준비</a:t>
            </a:r>
          </a:p>
        </p:txBody>
      </p:sp>
      <p:sp>
        <p:nvSpPr>
          <p:cNvPr id="17" name="Rectangle 16"/>
          <p:cNvSpPr/>
          <p:nvPr/>
        </p:nvSpPr>
        <p:spPr>
          <a:xfrm>
            <a:off x="2926080" y="2532887"/>
            <a:ext cx="420624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99232" y="2569463"/>
            <a:ext cx="4059935"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물리정보를 쓰는 encoder와 Actor·Critic을 PPO 학습</a:t>
            </a:r>
          </a:p>
        </p:txBody>
      </p:sp>
      <p:sp>
        <p:nvSpPr>
          <p:cNvPr id="19" name="Rectangle 18"/>
          <p:cNvSpPr/>
          <p:nvPr/>
        </p:nvSpPr>
        <p:spPr>
          <a:xfrm>
            <a:off x="7132320" y="2532887"/>
            <a:ext cx="448056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05472" y="2569463"/>
            <a:ext cx="4334256"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기준 정책 TF43000; 비교용 Teacher로 보존</a:t>
            </a:r>
          </a:p>
        </p:txBody>
      </p:sp>
      <p:sp>
        <p:nvSpPr>
          <p:cNvPr id="21" name="Rectangle 20"/>
          <p:cNvSpPr/>
          <p:nvPr/>
        </p:nvSpPr>
        <p:spPr>
          <a:xfrm>
            <a:off x="640080" y="3191256"/>
            <a:ext cx="228600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1" y="3227832"/>
            <a:ext cx="2139696" cy="585216"/>
          </a:xfrm>
          <a:prstGeom prst="rect">
            <a:avLst/>
          </a:prstGeom>
          <a:noFill/>
        </p:spPr>
        <p:txBody>
          <a:bodyPr wrap="square" lIns="9144" tIns="9144" rIns="9144" bIns="9144" anchor="ctr">
            <a:spAutoFit/>
          </a:bodyPr>
          <a:lstStyle/>
          <a:p>
            <a:pPr algn="l">
              <a:spcAft>
                <a:spcPts val="0"/>
              </a:spcAft>
            </a:pPr>
            <a:r>
              <a:rPr sz="1200" b="1">
                <a:solidFill>
                  <a:srgbClr val="3A3A3A"/>
                </a:solidFill>
                <a:latin typeface="맑은 고딕"/>
                <a:ea typeface="맑은 고딕"/>
                <a:cs typeface="맑은 고딕"/>
              </a:rPr>
              <a:t>2 · 공동학습 시작</a:t>
            </a:r>
          </a:p>
        </p:txBody>
      </p:sp>
      <p:sp>
        <p:nvSpPr>
          <p:cNvPr id="23" name="Rectangle 22"/>
          <p:cNvSpPr/>
          <p:nvPr/>
        </p:nvSpPr>
        <p:spPr>
          <a:xfrm>
            <a:off x="2926080" y="3191256"/>
            <a:ext cx="420624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99232" y="3227832"/>
            <a:ext cx="4059935"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TF43000에서 시작; Student 신규 초기화
43,000 → 53,000에서 Student 특징 비중 증가</a:t>
            </a:r>
          </a:p>
        </p:txBody>
      </p:sp>
      <p:sp>
        <p:nvSpPr>
          <p:cNvPr id="25" name="Rectangle 24"/>
          <p:cNvSpPr/>
          <p:nvPr/>
        </p:nvSpPr>
        <p:spPr>
          <a:xfrm>
            <a:off x="7132320" y="3191256"/>
            <a:ext cx="448056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05472" y="3227832"/>
            <a:ext cx="4334256"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모방 손실 + PPO로 encoder와 정책을 함께 갱신</a:t>
            </a:r>
          </a:p>
        </p:txBody>
      </p:sp>
      <p:sp>
        <p:nvSpPr>
          <p:cNvPr id="27" name="Rectangle 26"/>
          <p:cNvSpPr/>
          <p:nvPr/>
        </p:nvSpPr>
        <p:spPr>
          <a:xfrm>
            <a:off x="640080" y="3849624"/>
            <a:ext cx="228600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1" y="3886200"/>
            <a:ext cx="2139696" cy="585216"/>
          </a:xfrm>
          <a:prstGeom prst="rect">
            <a:avLst/>
          </a:prstGeom>
          <a:noFill/>
        </p:spPr>
        <p:txBody>
          <a:bodyPr wrap="square" lIns="9144" tIns="9144" rIns="9144" bIns="9144" anchor="ctr">
            <a:spAutoFit/>
          </a:bodyPr>
          <a:lstStyle/>
          <a:p>
            <a:pPr algn="l">
              <a:spcAft>
                <a:spcPts val="0"/>
              </a:spcAft>
            </a:pPr>
            <a:r>
              <a:rPr sz="1200" b="1">
                <a:solidFill>
                  <a:srgbClr val="3A3A3A"/>
                </a:solidFill>
                <a:latin typeface="맑은 고딕"/>
                <a:ea typeface="맑은 고딕"/>
                <a:cs typeface="맑은 고딕"/>
              </a:rPr>
              <a:t>3 · Student 중심 학습</a:t>
            </a:r>
          </a:p>
        </p:txBody>
      </p:sp>
      <p:sp>
        <p:nvSpPr>
          <p:cNvPr id="29" name="Rectangle 28"/>
          <p:cNvSpPr/>
          <p:nvPr/>
        </p:nvSpPr>
        <p:spPr>
          <a:xfrm>
            <a:off x="2926080" y="3849624"/>
            <a:ext cx="420624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99232" y="3886200"/>
            <a:ext cx="4059935"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53,000 이후 Student 특징으로 rollout·PPO 반복</a:t>
            </a:r>
          </a:p>
        </p:txBody>
      </p:sp>
      <p:sp>
        <p:nvSpPr>
          <p:cNvPr id="31" name="Rectangle 30"/>
          <p:cNvSpPr/>
          <p:nvPr/>
        </p:nvSpPr>
        <p:spPr>
          <a:xfrm>
            <a:off x="7132320" y="3849624"/>
            <a:ext cx="448056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05472" y="3886200"/>
            <a:ext cx="4334256"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Teacher 입력 없이 행동; JT71500 평가</a:t>
            </a:r>
          </a:p>
        </p:txBody>
      </p:sp>
      <p:sp>
        <p:nvSpPr>
          <p:cNvPr id="33" name="Rectangle 32"/>
          <p:cNvSpPr/>
          <p:nvPr/>
        </p:nvSpPr>
        <p:spPr>
          <a:xfrm>
            <a:off x="640080" y="4507992"/>
            <a:ext cx="228600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3231" y="4544568"/>
            <a:ext cx="2139696" cy="585216"/>
          </a:xfrm>
          <a:prstGeom prst="rect">
            <a:avLst/>
          </a:prstGeom>
          <a:noFill/>
        </p:spPr>
        <p:txBody>
          <a:bodyPr wrap="square" lIns="9144" tIns="9144" rIns="9144" bIns="9144" anchor="ctr">
            <a:spAutoFit/>
          </a:bodyPr>
          <a:lstStyle/>
          <a:p>
            <a:pPr algn="l">
              <a:spcAft>
                <a:spcPts val="0"/>
              </a:spcAft>
            </a:pPr>
            <a:r>
              <a:rPr sz="1200" b="1">
                <a:solidFill>
                  <a:srgbClr val="3A3A3A"/>
                </a:solidFill>
                <a:latin typeface="맑은 고딕"/>
                <a:ea typeface="맑은 고딕"/>
                <a:cs typeface="맑은 고딕"/>
              </a:rPr>
              <a:t>4 · 같은 조건의 평가</a:t>
            </a:r>
          </a:p>
        </p:txBody>
      </p:sp>
      <p:sp>
        <p:nvSpPr>
          <p:cNvPr id="35" name="Rectangle 34"/>
          <p:cNvSpPr/>
          <p:nvPr/>
        </p:nvSpPr>
        <p:spPr>
          <a:xfrm>
            <a:off x="2926080" y="4507992"/>
            <a:ext cx="420624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99232" y="4544568"/>
            <a:ext cx="4059935"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Teacher / Student 경로를 분리해 추론</a:t>
            </a:r>
          </a:p>
        </p:txBody>
      </p:sp>
      <p:sp>
        <p:nvSpPr>
          <p:cNvPr id="37" name="Rectangle 36"/>
          <p:cNvSpPr/>
          <p:nvPr/>
        </p:nvSpPr>
        <p:spPr>
          <a:xfrm>
            <a:off x="7132320" y="4507992"/>
            <a:ext cx="448056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05472" y="4544568"/>
            <a:ext cx="4334256" cy="58521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생존·회복·추종 비교; 학습 reward만으로 판정하지 않음</a:t>
            </a:r>
          </a:p>
        </p:txBody>
      </p:sp>
      <mc:AlternateContent xmlns:mc="http://schemas.openxmlformats.org/markup-compatibility/2006" xmlns:a14="http://schemas.microsoft.com/office/drawing/2010/main">
        <mc:Choice Requires="a14">
          <p:sp>
            <p:nvSpPr>
              <p:cNvPr id="39" name="v10-math-10"/>
              <p:cNvSpPr txBox="1"/>
              <p:nvPr/>
            </p:nvSpPr>
            <p:spPr>
              <a:xfrm>
                <a:off x="822960" y="5431536"/>
                <a:ext cx="6217920" cy="457200"/>
              </a:xfrm>
              <a:prstGeom prst="rect">
                <a:avLst/>
              </a:prstGeom>
              <a:noFill/>
            </p:spPr>
            <p:txBody>
              <a:bodyPr wrap="none" lIns="27432" tIns="27432" rIns="27432" bIns="27432" anchor="ctr">
                <a:spAutoFit/>
              </a:bodyPr>
              <a:lstStyle/>
              <a:p>
                <a:pPr algn="ctr"/>
                <a14:m>
                  <m:oMathPara xmlns:m="http://schemas.openxmlformats.org/officeDocument/2006/math">
                    <m:oMath>
                      <m:r>
                        <a:rPr lang="ko-KR" sz="1500" b="0">
                          <a:solidFill>
                            <a:srgbClr val="222222"/>
                          </a:solidFill>
                          <a:latin typeface="Cambria Math" panose="02040503050406030204" pitchFamily="18" charset="0"/>
                          <a:ea typeface="맑은 고딕"/>
                          <a:cs typeface="맑은 고딕"/>
                        </a:rPr>
                        <m:t>4,096 × 24 = 98,304 </m:t>
                      </m:r>
                      <m:r>
                        <a:rPr lang="ko-KR" sz="1500" b="0">
                          <a:solidFill>
                            <a:srgbClr val="222222"/>
                          </a:solidFill>
                          <a:latin typeface="Cambria Math" panose="02040503050406030204" pitchFamily="18" charset="0"/>
                          <a:ea typeface="맑은 고딕"/>
                          <a:cs typeface="맑은 고딕"/>
                        </a:rPr>
                        <m:t>𝑡𝑟𝑎𝑛𝑠𝑖𝑡𝑖𝑜𝑛𝑠</m:t>
                      </m:r>
                      <m:r>
                        <a:rPr lang="ko-KR" sz="1500" b="0">
                          <a:solidFill>
                            <a:srgbClr val="222222"/>
                          </a:solidFill>
                          <a:latin typeface="Cambria Math" panose="02040503050406030204" pitchFamily="18" charset="0"/>
                          <a:ea typeface="맑은 고딕"/>
                          <a:cs typeface="맑은 고딕"/>
                        </a:rPr>
                        <m:t> / </m:t>
                      </m:r>
                      <m:r>
                        <a:rPr lang="ko-KR" sz="1500" b="0">
                          <a:solidFill>
                            <a:srgbClr val="222222"/>
                          </a:solidFill>
                          <a:latin typeface="Cambria Math" panose="02040503050406030204" pitchFamily="18" charset="0"/>
                          <a:ea typeface="맑은 고딕"/>
                          <a:cs typeface="맑은 고딕"/>
                        </a:rPr>
                        <m:t>𝑖𝑡𝑒𝑟𝑎𝑡𝑖𝑜𝑛</m:t>
                      </m:r>
                    </m:oMath>
                  </m:oMathPara>
                </a14:m>
                <a:endParaRPr/>
              </a:p>
            </p:txBody>
          </p:sp>
        </mc:Choice>
        <mc:Fallback xmlns="">
          <p:sp>
            <p:nvSpPr>
              <p:cNvPr id="39" name="v10-math-10"/>
              <p:cNvSpPr txBox="1">
                <a:spLocks noRot="1" noChangeAspect="1" noMove="1" noResize="1" noEditPoints="1" noAdjustHandles="1" noChangeArrowheads="1" noChangeShapeType="1" noTextEdit="1"/>
              </p:cNvSpPr>
              <p:nvPr/>
            </p:nvSpPr>
            <p:spPr>
              <a:xfrm>
                <a:off x="822960" y="5431536"/>
                <a:ext cx="6217920" cy="457200"/>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0" name="v10-math-11"/>
              <p:cNvSpPr txBox="1"/>
              <p:nvPr/>
            </p:nvSpPr>
            <p:spPr>
              <a:xfrm>
                <a:off x="7040880" y="5431536"/>
                <a:ext cx="4480560" cy="457200"/>
              </a:xfrm>
              <a:prstGeom prst="rect">
                <a:avLst/>
              </a:prstGeom>
              <a:noFill/>
            </p:spPr>
            <p:txBody>
              <a:bodyPr wrap="none" lIns="27432" tIns="27432" rIns="27432" bIns="27432" anchor="ctr">
                <a:spAutoFit/>
              </a:bodyPr>
              <a:lstStyle/>
              <a:p>
                <a:pPr algn="ctr"/>
                <a14:m>
                  <m:oMathPara xmlns:m="http://schemas.openxmlformats.org/officeDocument/2006/math">
                    <m:oMath>
                      <m:r>
                        <a:rPr lang="ko-KR" sz="1400" b="0">
                          <a:solidFill>
                            <a:srgbClr val="222222"/>
                          </a:solidFill>
                          <a:latin typeface="Cambria Math" panose="02040503050406030204" pitchFamily="18" charset="0"/>
                          <a:ea typeface="맑은 고딕"/>
                          <a:cs typeface="맑은 고딕"/>
                        </a:rPr>
                        <m:t>5 </m:t>
                      </m:r>
                      <m:r>
                        <a:rPr lang="ko-KR" sz="1400" b="0">
                          <a:solidFill>
                            <a:srgbClr val="222222"/>
                          </a:solidFill>
                          <a:latin typeface="Cambria Math" panose="02040503050406030204" pitchFamily="18" charset="0"/>
                          <a:ea typeface="맑은 고딕"/>
                          <a:cs typeface="맑은 고딕"/>
                        </a:rPr>
                        <m:t>𝑒𝑝𝑜𝑐ℎ𝑠</m:t>
                      </m:r>
                      <m:r>
                        <a:rPr lang="ko-KR" sz="1400" b="0">
                          <a:solidFill>
                            <a:srgbClr val="222222"/>
                          </a:solidFill>
                          <a:latin typeface="Cambria Math" panose="02040503050406030204" pitchFamily="18" charset="0"/>
                          <a:ea typeface="맑은 고딕"/>
                          <a:cs typeface="맑은 고딕"/>
                        </a:rPr>
                        <m:t> × 4 </m:t>
                      </m:r>
                      <m:r>
                        <a:rPr lang="ko-KR" sz="1400" b="0">
                          <a:solidFill>
                            <a:srgbClr val="222222"/>
                          </a:solidFill>
                          <a:latin typeface="Cambria Math" panose="02040503050406030204" pitchFamily="18" charset="0"/>
                          <a:ea typeface="맑은 고딕"/>
                          <a:cs typeface="맑은 고딕"/>
                        </a:rPr>
                        <m:t>𝑚𝑖𝑛𝑖𝑏𝑎𝑡𝑐ℎ𝑒𝑠</m:t>
                      </m:r>
                      <m:r>
                        <a:rPr lang="ko-KR" sz="1400" b="0">
                          <a:solidFill>
                            <a:srgbClr val="222222"/>
                          </a:solidFill>
                          <a:latin typeface="Cambria Math" panose="02040503050406030204" pitchFamily="18" charset="0"/>
                          <a:ea typeface="맑은 고딕"/>
                          <a:cs typeface="맑은 고딕"/>
                        </a:rPr>
                        <m:t> = 20 </m:t>
                      </m:r>
                      <m:r>
                        <a:rPr lang="ko-KR" sz="1400" b="0">
                          <a:solidFill>
                            <a:srgbClr val="222222"/>
                          </a:solidFill>
                          <a:latin typeface="Cambria Math" panose="02040503050406030204" pitchFamily="18" charset="0"/>
                          <a:ea typeface="맑은 고딕"/>
                          <a:cs typeface="맑은 고딕"/>
                        </a:rPr>
                        <m:t>𝑢𝑝𝑑𝑎𝑡𝑒𝑠</m:t>
                      </m:r>
                    </m:oMath>
                  </m:oMathPara>
                </a14:m>
                <a:endParaRPr/>
              </a:p>
            </p:txBody>
          </p:sp>
        </mc:Choice>
        <mc:Fallback xmlns="">
          <p:sp>
            <p:nvSpPr>
              <p:cNvPr id="40" name="v10-math-11"/>
              <p:cNvSpPr txBox="1">
                <a:spLocks noRot="1" noChangeAspect="1" noMove="1" noResize="1" noEditPoints="1" noAdjustHandles="1" noChangeArrowheads="1" noChangeShapeType="1" noTextEdit="1"/>
              </p:cNvSpPr>
              <p:nvPr/>
            </p:nvSpPr>
            <p:spPr>
              <a:xfrm>
                <a:off x="7040880" y="5431536"/>
                <a:ext cx="4480560" cy="457200"/>
              </a:xfrm>
              <a:prstGeom prst="rect">
                <a:avLst/>
              </a:prstGeom>
              <a:blipFill>
                <a:blip r:embed="rId4"/>
                <a:stretch>
                  <a:fillRect/>
                </a:stretch>
              </a:blipFill>
            </p:spPr>
            <p:txBody>
              <a:bodyPr/>
              <a:lstStyle/>
              <a:p>
                <a:r>
                  <a:rPr lang="ko-KR"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21 | </a:t>
            </a:r>
            <a:r>
              <a:rPr sz="2800" b="1" dirty="0" err="1">
                <a:solidFill>
                  <a:srgbClr val="111111"/>
                </a:solidFill>
                <a:latin typeface="맑은 고딕"/>
                <a:ea typeface="맑은 고딕"/>
                <a:cs typeface="맑은 고딕"/>
              </a:rPr>
              <a:t>평가</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지표와</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선정</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근거</a:t>
            </a:r>
            <a:r>
              <a:rPr sz="800" b="0" baseline="30000" dirty="0">
                <a:solidFill>
                  <a:srgbClr val="686868"/>
                </a:solidFill>
                <a:latin typeface="맑은 고딕"/>
                <a:ea typeface="맑은 고딕"/>
                <a:cs typeface="맑은 고딕"/>
              </a:rPr>
              <a:t>  1) 2) 3)</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03 평가 설계 · 지표의 의미 / 출처 / 비교 조건</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21 / 43</a:t>
            </a:r>
          </a:p>
        </p:txBody>
      </p:sp>
      <p:sp>
        <p:nvSpPr>
          <p:cNvPr id="8" name="v5-content-intro"/>
          <p:cNvSpPr txBox="1"/>
          <p:nvPr/>
        </p:nvSpPr>
        <p:spPr>
          <a:xfrm>
            <a:off x="658368" y="1261872"/>
            <a:ext cx="10881360" cy="273921"/>
          </a:xfrm>
          <a:prstGeom prst="rect">
            <a:avLst/>
          </a:prstGeom>
          <a:noFill/>
        </p:spPr>
        <p:txBody>
          <a:bodyPr wrap="square" lIns="36576" tIns="36576" rIns="36576" bIns="36576" anchor="t">
            <a:spAutoFit/>
          </a:bodyPr>
          <a:lstStyle/>
          <a:p>
            <a:pPr marL="285750" indent="-285750" algn="l">
              <a:spcAft>
                <a:spcPts val="0"/>
              </a:spcAft>
              <a:buFont typeface="Arial" panose="020B0604020202020204" pitchFamily="34" charset="0"/>
              <a:buChar char="•"/>
            </a:pPr>
            <a:r>
              <a:rPr sz="1300" b="0" dirty="0" err="1">
                <a:solidFill>
                  <a:srgbClr val="3A3A3A"/>
                </a:solidFill>
                <a:latin typeface="맑은 고딕"/>
                <a:ea typeface="맑은 고딕"/>
                <a:cs typeface="맑은 고딕"/>
              </a:rPr>
              <a:t>넘어지지</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않는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것과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속도를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회복하는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것을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구분한다</a:t>
            </a:r>
            <a:r>
              <a:rPr sz="1300" b="0" dirty="0">
                <a:solidFill>
                  <a:srgbClr val="3A3A3A"/>
                </a:solidFill>
                <a:latin typeface="맑은 고딕"/>
                <a:ea typeface="맑은 고딕"/>
                <a:cs typeface="맑은 고딕"/>
              </a:rPr>
              <a:t>. </a:t>
            </a:r>
          </a:p>
        </p:txBody>
      </p:sp>
      <p:sp>
        <p:nvSpPr>
          <p:cNvPr id="9" name="TextBox 8"/>
          <p:cNvSpPr txBox="1"/>
          <p:nvPr/>
        </p:nvSpPr>
        <p:spPr>
          <a:xfrm>
            <a:off x="566928" y="6291072"/>
            <a:ext cx="9902952" cy="265176"/>
          </a:xfrm>
          <a:prstGeom prst="rect">
            <a:avLst/>
          </a:prstGeom>
          <a:noFill/>
        </p:spPr>
        <p:txBody>
          <a:bodyPr wrap="square" lIns="36576" tIns="36576" rIns="36576" bIns="36576" anchor="t">
            <a:spAutoFit/>
          </a:bodyPr>
          <a:lstStyle/>
          <a:p>
            <a:pPr algn="l">
              <a:spcAft>
                <a:spcPts val="0"/>
              </a:spcAft>
            </a:pPr>
            <a:r>
              <a:rPr sz="700" b="0">
                <a:solidFill>
                  <a:srgbClr val="3A3A3A"/>
                </a:solidFill>
                <a:latin typeface="맑은 고딕"/>
                <a:ea typeface="맑은 고딕"/>
                <a:cs typeface="맑은 고딕"/>
              </a:rPr>
              <a:t>1) Liu et al., Saving the Limping, §IV-D, Table I, Fig. 5 (arXiv:2210.00474v3).   2) Kumar et al., RMA, §V, Table II, Supplement S1 (RSS 2021).   3) 프로젝트 정의: P5 protocol / onset evaluator. 20초·1초 회복·RMSE 집계·보조 기준은 본 평가 설계.</a:t>
            </a:r>
          </a:p>
        </p:txBody>
      </p:sp>
      <p:sp>
        <p:nvSpPr>
          <p:cNvPr id="10" name="Rectangle 9"/>
          <p:cNvSpPr/>
          <p:nvPr/>
        </p:nvSpPr>
        <p:spPr>
          <a:xfrm>
            <a:off x="640080" y="1588311"/>
            <a:ext cx="2011680" cy="55778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1" y="1624887"/>
            <a:ext cx="1865376" cy="484632"/>
          </a:xfrm>
          <a:prstGeom prst="rect">
            <a:avLst/>
          </a:prstGeom>
          <a:noFill/>
        </p:spPr>
        <p:txBody>
          <a:bodyPr wrap="square" lIns="9144" tIns="9144" rIns="9144" bIns="9144" anchor="ctr">
            <a:spAutoFit/>
          </a:bodyPr>
          <a:lstStyle/>
          <a:p>
            <a:pPr algn="ctr">
              <a:spcAft>
                <a:spcPts val="0"/>
              </a:spcAft>
            </a:pPr>
            <a:r>
              <a:rPr sz="1130" b="1">
                <a:solidFill>
                  <a:srgbClr val="FFFFFF"/>
                </a:solidFill>
                <a:latin typeface="맑은 고딕"/>
                <a:ea typeface="맑은 고딕"/>
                <a:cs typeface="맑은 고딕"/>
              </a:rPr>
              <a:t>지표</a:t>
            </a:r>
          </a:p>
        </p:txBody>
      </p:sp>
      <p:sp>
        <p:nvSpPr>
          <p:cNvPr id="12" name="Rectangle 11"/>
          <p:cNvSpPr/>
          <p:nvPr/>
        </p:nvSpPr>
        <p:spPr>
          <a:xfrm>
            <a:off x="2651760" y="1588311"/>
            <a:ext cx="4617720" cy="55778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24912" y="1771023"/>
            <a:ext cx="4471416" cy="192360"/>
          </a:xfrm>
          <a:prstGeom prst="rect">
            <a:avLst/>
          </a:prstGeom>
          <a:noFill/>
        </p:spPr>
        <p:txBody>
          <a:bodyPr wrap="square" lIns="9144" tIns="9144" rIns="9144" bIns="9144" anchor="ctr">
            <a:spAutoFit/>
          </a:bodyPr>
          <a:lstStyle/>
          <a:p>
            <a:pPr algn="ctr">
              <a:spcAft>
                <a:spcPts val="0"/>
              </a:spcAft>
            </a:pPr>
            <a:r>
              <a:rPr sz="1130" b="1" dirty="0" err="1">
                <a:solidFill>
                  <a:srgbClr val="FFFFFF"/>
                </a:solidFill>
                <a:latin typeface="맑은 고딕"/>
                <a:ea typeface="맑은 고딕"/>
                <a:cs typeface="맑은 고딕"/>
              </a:rPr>
              <a:t>계산</a:t>
            </a:r>
            <a:r>
              <a:rPr lang="en-US" sz="1130" b="1" dirty="0">
                <a:solidFill>
                  <a:srgbClr val="FFFFFF"/>
                </a:solidFill>
                <a:latin typeface="맑은 고딕"/>
                <a:ea typeface="맑은 고딕"/>
                <a:cs typeface="맑은 고딕"/>
              </a:rPr>
              <a:t> </a:t>
            </a:r>
            <a:r>
              <a:rPr sz="1130" b="1" dirty="0">
                <a:solidFill>
                  <a:srgbClr val="FFFFFF"/>
                </a:solidFill>
                <a:latin typeface="맑은 고딕"/>
                <a:ea typeface="맑은 고딕"/>
                <a:cs typeface="맑은 고딕"/>
              </a:rPr>
              <a:t>·</a:t>
            </a:r>
            <a:r>
              <a:rPr lang="en-US" sz="1130" b="1" dirty="0">
                <a:solidFill>
                  <a:srgbClr val="FFFFFF"/>
                </a:solidFill>
                <a:latin typeface="맑은 고딕"/>
                <a:ea typeface="맑은 고딕"/>
                <a:cs typeface="맑은 고딕"/>
              </a:rPr>
              <a:t> </a:t>
            </a:r>
            <a:r>
              <a:rPr sz="1130" b="1" dirty="0" err="1">
                <a:solidFill>
                  <a:srgbClr val="FFFFFF"/>
                </a:solidFill>
                <a:latin typeface="맑은 고딕"/>
                <a:ea typeface="맑은 고딕"/>
                <a:cs typeface="맑은 고딕"/>
              </a:rPr>
              <a:t>의미</a:t>
            </a:r>
            <a:endParaRPr sz="1130" b="1" dirty="0">
              <a:solidFill>
                <a:srgbClr val="FFFFFF"/>
              </a:solidFill>
              <a:latin typeface="맑은 고딕"/>
              <a:ea typeface="맑은 고딕"/>
              <a:cs typeface="맑은 고딕"/>
            </a:endParaRPr>
          </a:p>
        </p:txBody>
      </p:sp>
      <p:sp>
        <p:nvSpPr>
          <p:cNvPr id="14" name="Rectangle 13"/>
          <p:cNvSpPr/>
          <p:nvPr/>
        </p:nvSpPr>
        <p:spPr>
          <a:xfrm>
            <a:off x="7269480" y="1588311"/>
            <a:ext cx="4343400" cy="55778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42631" y="1624887"/>
            <a:ext cx="4197096" cy="484632"/>
          </a:xfrm>
          <a:prstGeom prst="rect">
            <a:avLst/>
          </a:prstGeom>
          <a:noFill/>
        </p:spPr>
        <p:txBody>
          <a:bodyPr wrap="square" lIns="9144" tIns="9144" rIns="9144" bIns="9144" anchor="ctr">
            <a:spAutoFit/>
          </a:bodyPr>
          <a:lstStyle/>
          <a:p>
            <a:pPr algn="ctr">
              <a:spcAft>
                <a:spcPts val="0"/>
              </a:spcAft>
            </a:pPr>
            <a:r>
              <a:rPr sz="1130" b="1">
                <a:solidFill>
                  <a:srgbClr val="FFFFFF"/>
                </a:solidFill>
                <a:latin typeface="맑은 고딕"/>
                <a:ea typeface="맑은 고딕"/>
                <a:cs typeface="맑은 고딕"/>
              </a:rPr>
              <a:t>선행연구와의 관계</a:t>
            </a:r>
          </a:p>
        </p:txBody>
      </p:sp>
      <p:sp>
        <p:nvSpPr>
          <p:cNvPr id="16" name="Rectangle 15"/>
          <p:cNvSpPr/>
          <p:nvPr/>
        </p:nvSpPr>
        <p:spPr>
          <a:xfrm>
            <a:off x="640080" y="2146095"/>
            <a:ext cx="201168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1" y="2328807"/>
            <a:ext cx="1865376" cy="192360"/>
          </a:xfrm>
          <a:prstGeom prst="rect">
            <a:avLst/>
          </a:prstGeom>
          <a:noFill/>
        </p:spPr>
        <p:txBody>
          <a:bodyPr wrap="square" lIns="9144" tIns="9144" rIns="9144" bIns="9144" anchor="ctr">
            <a:spAutoFit/>
          </a:bodyPr>
          <a:lstStyle/>
          <a:p>
            <a:pPr algn="ctr">
              <a:spcAft>
                <a:spcPts val="0"/>
              </a:spcAft>
            </a:pPr>
            <a:r>
              <a:rPr sz="1130" b="1">
                <a:solidFill>
                  <a:srgbClr val="3A3A3A"/>
                </a:solidFill>
                <a:latin typeface="맑은 고딕"/>
                <a:ea typeface="맑은 고딕"/>
                <a:cs typeface="맑은 고딕"/>
              </a:rPr>
              <a:t>20초 완주율</a:t>
            </a:r>
          </a:p>
        </p:txBody>
      </p:sp>
      <p:sp>
        <p:nvSpPr>
          <p:cNvPr id="18" name="Rectangle 17"/>
          <p:cNvSpPr/>
          <p:nvPr/>
        </p:nvSpPr>
        <p:spPr>
          <a:xfrm>
            <a:off x="2651760" y="2146095"/>
            <a:ext cx="461772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24912" y="2182671"/>
            <a:ext cx="4471416" cy="484632"/>
          </a:xfrm>
          <a:prstGeom prst="rect">
            <a:avLst/>
          </a:prstGeom>
          <a:noFill/>
        </p:spPr>
        <p:txBody>
          <a:bodyPr wrap="square" lIns="9144" tIns="9144" rIns="9144" bIns="9144" anchor="ctr">
            <a:spAutoFit/>
          </a:bodyPr>
          <a:lstStyle/>
          <a:p>
            <a:pPr algn="ctr">
              <a:spcAft>
                <a:spcPts val="0"/>
              </a:spcAft>
            </a:pPr>
            <a:r>
              <a:rPr sz="1130" b="0">
                <a:solidFill>
                  <a:srgbClr val="3A3A3A"/>
                </a:solidFill>
                <a:latin typeface="맑은 고딕"/>
                <a:ea typeface="맑은 고딕"/>
                <a:cs typeface="맑은 고딕"/>
              </a:rPr>
              <a:t>고장 후 20초를 끝까지 버틴 episode 비율</a:t>
            </a:r>
          </a:p>
        </p:txBody>
      </p:sp>
      <p:sp>
        <p:nvSpPr>
          <p:cNvPr id="20" name="Rectangle 19"/>
          <p:cNvSpPr/>
          <p:nvPr/>
        </p:nvSpPr>
        <p:spPr>
          <a:xfrm>
            <a:off x="7269480" y="2146095"/>
            <a:ext cx="434340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42631" y="2182671"/>
            <a:ext cx="4197096" cy="484632"/>
          </a:xfrm>
          <a:prstGeom prst="rect">
            <a:avLst/>
          </a:prstGeom>
          <a:noFill/>
        </p:spPr>
        <p:txBody>
          <a:bodyPr wrap="square" lIns="9144" tIns="9144" rIns="9144" bIns="9144" anchor="ctr">
            <a:spAutoFit/>
          </a:bodyPr>
          <a:lstStyle/>
          <a:p>
            <a:pPr algn="ctr">
              <a:spcAft>
                <a:spcPts val="0"/>
              </a:spcAft>
            </a:pPr>
            <a:r>
              <a:rPr sz="1130" b="0" dirty="0">
                <a:solidFill>
                  <a:srgbClr val="3A3A3A"/>
                </a:solidFill>
                <a:latin typeface="맑은 고딕"/>
                <a:ea typeface="맑은 고딕"/>
                <a:cs typeface="맑은 고딕"/>
              </a:rPr>
              <a:t>RMA: success </a:t>
            </a:r>
            <a:r>
              <a:rPr sz="1130" b="0" dirty="0" err="1">
                <a:solidFill>
                  <a:srgbClr val="3A3A3A"/>
                </a:solidFill>
                <a:latin typeface="맑은 고딕"/>
                <a:ea typeface="맑은 고딕"/>
                <a:cs typeface="맑은 고딕"/>
              </a:rPr>
              <a:t>rate의</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평가</a:t>
            </a:r>
            <a:r>
              <a:rPr sz="1130" b="0" dirty="0">
                <a:solidFill>
                  <a:srgbClr val="3A3A3A"/>
                </a:solidFill>
                <a:latin typeface="맑은 고딕"/>
                <a:ea typeface="맑은 고딕"/>
                <a:cs typeface="맑은 고딕"/>
              </a:rPr>
              <a:t> 축
본 </a:t>
            </a:r>
            <a:r>
              <a:rPr sz="1130" b="0" dirty="0" err="1">
                <a:solidFill>
                  <a:srgbClr val="3A3A3A"/>
                </a:solidFill>
                <a:latin typeface="맑은 고딕"/>
                <a:ea typeface="맑은 고딕"/>
                <a:cs typeface="맑은 고딕"/>
              </a:rPr>
              <a:t>프로젝트</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고장</a:t>
            </a:r>
            <a:r>
              <a:rPr sz="1130" b="0" dirty="0">
                <a:solidFill>
                  <a:srgbClr val="3A3A3A"/>
                </a:solidFill>
                <a:latin typeface="맑은 고딕"/>
                <a:ea typeface="맑은 고딕"/>
                <a:cs typeface="맑은 고딕"/>
              </a:rPr>
              <a:t> 후 20초 </a:t>
            </a:r>
            <a:r>
              <a:rPr sz="1130" b="0" dirty="0" err="1">
                <a:solidFill>
                  <a:srgbClr val="3A3A3A"/>
                </a:solidFill>
                <a:latin typeface="맑은 고딕"/>
                <a:ea typeface="맑은 고딕"/>
                <a:cs typeface="맑은 고딕"/>
              </a:rPr>
              <a:t>완주로</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정의</a:t>
            </a:r>
            <a:endParaRPr sz="1130" b="0" dirty="0">
              <a:solidFill>
                <a:srgbClr val="3A3A3A"/>
              </a:solidFill>
              <a:latin typeface="맑은 고딕"/>
              <a:ea typeface="맑은 고딕"/>
              <a:cs typeface="맑은 고딕"/>
            </a:endParaRPr>
          </a:p>
        </p:txBody>
      </p:sp>
      <p:sp>
        <p:nvSpPr>
          <p:cNvPr id="22" name="Rectangle 21"/>
          <p:cNvSpPr/>
          <p:nvPr/>
        </p:nvSpPr>
        <p:spPr>
          <a:xfrm>
            <a:off x="640080" y="2703879"/>
            <a:ext cx="201168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1" y="2886591"/>
            <a:ext cx="1865376" cy="192360"/>
          </a:xfrm>
          <a:prstGeom prst="rect">
            <a:avLst/>
          </a:prstGeom>
          <a:noFill/>
        </p:spPr>
        <p:txBody>
          <a:bodyPr wrap="square" lIns="9144" tIns="9144" rIns="9144" bIns="9144" anchor="ctr">
            <a:spAutoFit/>
          </a:bodyPr>
          <a:lstStyle/>
          <a:p>
            <a:pPr algn="ctr">
              <a:spcAft>
                <a:spcPts val="0"/>
              </a:spcAft>
            </a:pPr>
            <a:r>
              <a:rPr sz="1130" b="1">
                <a:solidFill>
                  <a:srgbClr val="3A3A3A"/>
                </a:solidFill>
                <a:latin typeface="맑은 고딕"/>
                <a:ea typeface="맑은 고딕"/>
                <a:cs typeface="맑은 고딕"/>
              </a:rPr>
              <a:t>평균 생존 시간</a:t>
            </a:r>
          </a:p>
        </p:txBody>
      </p:sp>
      <p:sp>
        <p:nvSpPr>
          <p:cNvPr id="24" name="Rectangle 23"/>
          <p:cNvSpPr/>
          <p:nvPr/>
        </p:nvSpPr>
        <p:spPr>
          <a:xfrm>
            <a:off x="2651760" y="2703879"/>
            <a:ext cx="461772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24912" y="2740455"/>
            <a:ext cx="4471416" cy="484632"/>
          </a:xfrm>
          <a:prstGeom prst="rect">
            <a:avLst/>
          </a:prstGeom>
          <a:noFill/>
        </p:spPr>
        <p:txBody>
          <a:bodyPr wrap="square" lIns="9144" tIns="9144" rIns="9144" bIns="9144" anchor="ctr">
            <a:spAutoFit/>
          </a:bodyPr>
          <a:lstStyle/>
          <a:p>
            <a:pPr algn="ctr">
              <a:spcAft>
                <a:spcPts val="0"/>
              </a:spcAft>
            </a:pPr>
            <a:r>
              <a:rPr sz="1130" b="0">
                <a:solidFill>
                  <a:srgbClr val="3A3A3A"/>
                </a:solidFill>
                <a:latin typeface="맑은 고딕"/>
                <a:ea typeface="맑은 고딕"/>
                <a:cs typeface="맑은 고딕"/>
              </a:rPr>
              <a:t>고장 후 생존 시간의 평균; 20초로 나누어 정규화</a:t>
            </a:r>
          </a:p>
        </p:txBody>
      </p:sp>
      <p:sp>
        <p:nvSpPr>
          <p:cNvPr id="26" name="Rectangle 25"/>
          <p:cNvSpPr/>
          <p:nvPr/>
        </p:nvSpPr>
        <p:spPr>
          <a:xfrm>
            <a:off x="7269480" y="2703879"/>
            <a:ext cx="434340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42631" y="2886591"/>
            <a:ext cx="4197096" cy="192360"/>
          </a:xfrm>
          <a:prstGeom prst="rect">
            <a:avLst/>
          </a:prstGeom>
          <a:noFill/>
        </p:spPr>
        <p:txBody>
          <a:bodyPr wrap="square" lIns="9144" tIns="9144" rIns="9144" bIns="9144" anchor="ctr">
            <a:spAutoFit/>
          </a:bodyPr>
          <a:lstStyle/>
          <a:p>
            <a:pPr algn="ctr">
              <a:spcAft>
                <a:spcPts val="0"/>
              </a:spcAft>
            </a:pPr>
            <a:r>
              <a:rPr sz="1130" b="0" dirty="0">
                <a:solidFill>
                  <a:srgbClr val="3A3A3A"/>
                </a:solidFill>
                <a:latin typeface="맑은 고딕"/>
                <a:ea typeface="맑은 고딕"/>
                <a:cs typeface="맑은 고딕"/>
              </a:rPr>
              <a:t>Saving the Limping </a:t>
            </a:r>
            <a:r>
              <a:rPr lang="en-US" sz="1130" b="0" dirty="0">
                <a:solidFill>
                  <a:srgbClr val="3A3A3A"/>
                </a:solidFill>
                <a:latin typeface="맑은 고딕"/>
                <a:ea typeface="맑은 고딕"/>
                <a:cs typeface="맑은 고딕"/>
              </a:rPr>
              <a:t>the Limping </a:t>
            </a:r>
            <a:r>
              <a:rPr sz="1130" b="0" dirty="0">
                <a:solidFill>
                  <a:srgbClr val="3A3A3A"/>
                </a:solidFill>
                <a:latin typeface="맑은 고딕"/>
                <a:ea typeface="맑은 고딕"/>
                <a:cs typeface="맑은 고딕"/>
              </a:rPr>
              <a:t>/ RMA 와 </a:t>
            </a:r>
            <a:r>
              <a:rPr sz="1130" b="0" dirty="0" err="1">
                <a:solidFill>
                  <a:srgbClr val="3A3A3A"/>
                </a:solidFill>
                <a:latin typeface="맑은 고딕"/>
                <a:ea typeface="맑은 고딕"/>
                <a:cs typeface="맑은 고딕"/>
              </a:rPr>
              <a:t>같은</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시간</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기반</a:t>
            </a:r>
            <a:r>
              <a:rPr sz="1130" b="0" dirty="0">
                <a:solidFill>
                  <a:srgbClr val="3A3A3A"/>
                </a:solidFill>
                <a:latin typeface="맑은 고딕"/>
                <a:ea typeface="맑은 고딕"/>
                <a:cs typeface="맑은 고딕"/>
              </a:rPr>
              <a:t> 축</a:t>
            </a:r>
          </a:p>
        </p:txBody>
      </p:sp>
      <p:sp>
        <p:nvSpPr>
          <p:cNvPr id="28" name="Rectangle 27"/>
          <p:cNvSpPr/>
          <p:nvPr/>
        </p:nvSpPr>
        <p:spPr>
          <a:xfrm>
            <a:off x="640080" y="3261664"/>
            <a:ext cx="201168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1" y="3444376"/>
            <a:ext cx="1865376" cy="192360"/>
          </a:xfrm>
          <a:prstGeom prst="rect">
            <a:avLst/>
          </a:prstGeom>
          <a:noFill/>
        </p:spPr>
        <p:txBody>
          <a:bodyPr wrap="square" lIns="9144" tIns="9144" rIns="9144" bIns="9144" anchor="ctr">
            <a:spAutoFit/>
          </a:bodyPr>
          <a:lstStyle/>
          <a:p>
            <a:pPr algn="ctr">
              <a:spcAft>
                <a:spcPts val="0"/>
              </a:spcAft>
            </a:pPr>
            <a:r>
              <a:rPr sz="1130" b="1" dirty="0" err="1">
                <a:solidFill>
                  <a:srgbClr val="3A3A3A"/>
                </a:solidFill>
                <a:latin typeface="맑은 고딕"/>
                <a:ea typeface="맑은 고딕"/>
                <a:cs typeface="맑은 고딕"/>
              </a:rPr>
              <a:t>속도</a:t>
            </a:r>
            <a:r>
              <a:rPr lang="en-US" sz="1130" b="1" dirty="0">
                <a:solidFill>
                  <a:srgbClr val="3A3A3A"/>
                </a:solidFill>
                <a:latin typeface="맑은 고딕"/>
                <a:ea typeface="맑은 고딕"/>
                <a:cs typeface="맑은 고딕"/>
              </a:rPr>
              <a:t> </a:t>
            </a:r>
            <a:r>
              <a:rPr sz="1130" b="1" dirty="0">
                <a:solidFill>
                  <a:srgbClr val="3A3A3A"/>
                </a:solidFill>
                <a:latin typeface="맑은 고딕"/>
                <a:ea typeface="맑은 고딕"/>
                <a:cs typeface="맑은 고딕"/>
              </a:rPr>
              <a:t>·</a:t>
            </a:r>
            <a:r>
              <a:rPr lang="en-US" sz="1130" b="1" dirty="0">
                <a:solidFill>
                  <a:srgbClr val="3A3A3A"/>
                </a:solidFill>
                <a:latin typeface="맑은 고딕"/>
                <a:ea typeface="맑은 고딕"/>
                <a:cs typeface="맑은 고딕"/>
              </a:rPr>
              <a:t> </a:t>
            </a:r>
            <a:r>
              <a:rPr sz="1130" b="1" dirty="0">
                <a:solidFill>
                  <a:srgbClr val="3A3A3A"/>
                </a:solidFill>
                <a:latin typeface="맑은 고딕"/>
                <a:ea typeface="맑은 고딕"/>
                <a:cs typeface="맑은 고딕"/>
              </a:rPr>
              <a:t>yaw RMSE</a:t>
            </a:r>
          </a:p>
        </p:txBody>
      </p:sp>
      <p:sp>
        <p:nvSpPr>
          <p:cNvPr id="30" name="Rectangle 29"/>
          <p:cNvSpPr/>
          <p:nvPr/>
        </p:nvSpPr>
        <p:spPr>
          <a:xfrm>
            <a:off x="2651760" y="3261664"/>
            <a:ext cx="461772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24912" y="3298240"/>
            <a:ext cx="4471416" cy="484632"/>
          </a:xfrm>
          <a:prstGeom prst="rect">
            <a:avLst/>
          </a:prstGeom>
          <a:noFill/>
        </p:spPr>
        <p:txBody>
          <a:bodyPr wrap="square" lIns="9144" tIns="9144" rIns="9144" bIns="9144" anchor="ctr">
            <a:spAutoFit/>
          </a:bodyPr>
          <a:lstStyle/>
          <a:p>
            <a:pPr algn="ctr">
              <a:spcAft>
                <a:spcPts val="0"/>
              </a:spcAft>
            </a:pPr>
            <a:r>
              <a:rPr sz="1130" b="0" dirty="0" err="1">
                <a:solidFill>
                  <a:srgbClr val="3A3A3A"/>
                </a:solidFill>
                <a:latin typeface="맑은 고딕"/>
                <a:ea typeface="맑은 고딕"/>
                <a:cs typeface="맑은 고딕"/>
              </a:rPr>
              <a:t>episode별</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오차</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RMSE를</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구한</a:t>
            </a:r>
            <a:r>
              <a:rPr sz="1130" b="0" dirty="0">
                <a:solidFill>
                  <a:srgbClr val="3A3A3A"/>
                </a:solidFill>
                <a:latin typeface="맑은 고딕"/>
                <a:ea typeface="맑은 고딕"/>
                <a:cs typeface="맑은 고딕"/>
              </a:rPr>
              <a:t> 뒤 </a:t>
            </a:r>
            <a:r>
              <a:rPr sz="1130" b="0" dirty="0" err="1">
                <a:solidFill>
                  <a:srgbClr val="3A3A3A"/>
                </a:solidFill>
                <a:latin typeface="맑은 고딕"/>
                <a:ea typeface="맑은 고딕"/>
                <a:cs typeface="맑은 고딕"/>
              </a:rPr>
              <a:t>평균</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얼마나</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정확히</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명령을</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따라가는지</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평가</a:t>
            </a:r>
            <a:endParaRPr sz="1130" b="0" dirty="0">
              <a:solidFill>
                <a:srgbClr val="3A3A3A"/>
              </a:solidFill>
              <a:latin typeface="맑은 고딕"/>
              <a:ea typeface="맑은 고딕"/>
              <a:cs typeface="맑은 고딕"/>
            </a:endParaRPr>
          </a:p>
        </p:txBody>
      </p:sp>
      <p:sp>
        <p:nvSpPr>
          <p:cNvPr id="32" name="Rectangle 31"/>
          <p:cNvSpPr/>
          <p:nvPr/>
        </p:nvSpPr>
        <p:spPr>
          <a:xfrm>
            <a:off x="7269480" y="3261664"/>
            <a:ext cx="434340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42631" y="3444376"/>
            <a:ext cx="4197096" cy="192360"/>
          </a:xfrm>
          <a:prstGeom prst="rect">
            <a:avLst/>
          </a:prstGeom>
          <a:noFill/>
        </p:spPr>
        <p:txBody>
          <a:bodyPr wrap="square" lIns="9144" tIns="9144" rIns="9144" bIns="9144" anchor="ctr">
            <a:spAutoFit/>
          </a:bodyPr>
          <a:lstStyle/>
          <a:p>
            <a:pPr algn="ctr">
              <a:spcAft>
                <a:spcPts val="0"/>
              </a:spcAft>
            </a:pPr>
            <a:r>
              <a:rPr sz="1130" b="0" dirty="0">
                <a:solidFill>
                  <a:srgbClr val="3A3A3A"/>
                </a:solidFill>
                <a:latin typeface="맑은 고딕"/>
                <a:ea typeface="맑은 고딕"/>
                <a:cs typeface="맑은 고딕"/>
              </a:rPr>
              <a:t>Saving the Limping</a:t>
            </a:r>
            <a:r>
              <a:rPr lang="en-US" sz="1130" b="0" dirty="0">
                <a:solidFill>
                  <a:srgbClr val="3A3A3A"/>
                </a:solidFill>
                <a:latin typeface="맑은 고딕"/>
                <a:ea typeface="맑은 고딕"/>
                <a:cs typeface="맑은 고딕"/>
              </a:rPr>
              <a:t> the Limping</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고장</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전후</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평균</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전진</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속도</a:t>
            </a:r>
            <a:endParaRPr sz="1130" b="0" dirty="0">
              <a:solidFill>
                <a:srgbClr val="3A3A3A"/>
              </a:solidFill>
              <a:latin typeface="맑은 고딕"/>
              <a:ea typeface="맑은 고딕"/>
              <a:cs typeface="맑은 고딕"/>
            </a:endParaRPr>
          </a:p>
        </p:txBody>
      </p:sp>
      <p:sp>
        <p:nvSpPr>
          <p:cNvPr id="34" name="Rectangle 33"/>
          <p:cNvSpPr/>
          <p:nvPr/>
        </p:nvSpPr>
        <p:spPr>
          <a:xfrm>
            <a:off x="640080" y="3819448"/>
            <a:ext cx="201168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1" y="4002160"/>
            <a:ext cx="1865376" cy="192360"/>
          </a:xfrm>
          <a:prstGeom prst="rect">
            <a:avLst/>
          </a:prstGeom>
          <a:noFill/>
        </p:spPr>
        <p:txBody>
          <a:bodyPr wrap="square" lIns="9144" tIns="9144" rIns="9144" bIns="9144" anchor="ctr">
            <a:spAutoFit/>
          </a:bodyPr>
          <a:lstStyle/>
          <a:p>
            <a:pPr algn="ctr">
              <a:spcAft>
                <a:spcPts val="0"/>
              </a:spcAft>
            </a:pPr>
            <a:r>
              <a:rPr sz="1130" b="1">
                <a:solidFill>
                  <a:srgbClr val="3A3A3A"/>
                </a:solidFill>
                <a:latin typeface="맑은 고딕"/>
                <a:ea typeface="맑은 고딕"/>
                <a:cs typeface="맑은 고딕"/>
              </a:rPr>
              <a:t>안정 회복률</a:t>
            </a:r>
          </a:p>
        </p:txBody>
      </p:sp>
      <p:sp>
        <p:nvSpPr>
          <p:cNvPr id="36" name="Rectangle 35"/>
          <p:cNvSpPr/>
          <p:nvPr/>
        </p:nvSpPr>
        <p:spPr>
          <a:xfrm>
            <a:off x="2651760" y="3819448"/>
            <a:ext cx="461772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24912" y="3856024"/>
            <a:ext cx="4471416" cy="484632"/>
          </a:xfrm>
          <a:prstGeom prst="rect">
            <a:avLst/>
          </a:prstGeom>
          <a:noFill/>
        </p:spPr>
        <p:txBody>
          <a:bodyPr wrap="square" lIns="9144" tIns="9144" rIns="9144" bIns="9144" anchor="ctr">
            <a:spAutoFit/>
          </a:bodyPr>
          <a:lstStyle/>
          <a:p>
            <a:pPr algn="ctr">
              <a:spcAft>
                <a:spcPts val="0"/>
              </a:spcAft>
            </a:pPr>
            <a:r>
              <a:rPr sz="1130" b="0">
                <a:solidFill>
                  <a:srgbClr val="3A3A3A"/>
                </a:solidFill>
                <a:latin typeface="맑은 고딕"/>
                <a:ea typeface="맑은 고딕"/>
                <a:cs typeface="맑은 고딕"/>
              </a:rPr>
              <a:t>속도·yaw 허용 오차를 연속 1초 만족한 비율
이후 끝까지 안정했다는 뜻은 아님</a:t>
            </a:r>
          </a:p>
        </p:txBody>
      </p:sp>
      <p:sp>
        <p:nvSpPr>
          <p:cNvPr id="38" name="Rectangle 37"/>
          <p:cNvSpPr/>
          <p:nvPr/>
        </p:nvSpPr>
        <p:spPr>
          <a:xfrm>
            <a:off x="7269480" y="3819448"/>
            <a:ext cx="434340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42631" y="4002160"/>
            <a:ext cx="4197096" cy="192360"/>
          </a:xfrm>
          <a:prstGeom prst="rect">
            <a:avLst/>
          </a:prstGeom>
          <a:noFill/>
        </p:spPr>
        <p:txBody>
          <a:bodyPr wrap="square" lIns="9144" tIns="9144" rIns="9144" bIns="9144" anchor="ctr">
            <a:spAutoFit/>
          </a:bodyPr>
          <a:lstStyle/>
          <a:p>
            <a:pPr algn="ctr">
              <a:spcAft>
                <a:spcPts val="0"/>
              </a:spcAft>
            </a:pPr>
            <a:r>
              <a:rPr sz="1130" b="0" dirty="0" err="1">
                <a:solidFill>
                  <a:srgbClr val="3A3A3A"/>
                </a:solidFill>
                <a:latin typeface="맑은 고딕"/>
                <a:ea typeface="맑은 고딕"/>
                <a:cs typeface="맑은 고딕"/>
              </a:rPr>
              <a:t>프로젝트에서</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추가한</a:t>
            </a:r>
            <a:r>
              <a:rPr sz="1130" b="0" dirty="0">
                <a:solidFill>
                  <a:srgbClr val="3A3A3A"/>
                </a:solidFill>
                <a:latin typeface="맑은 고딕"/>
                <a:ea typeface="맑은 고딕"/>
                <a:cs typeface="맑은 고딕"/>
              </a:rPr>
              <a:t> </a:t>
            </a:r>
            <a:r>
              <a:rPr sz="1130" b="0" dirty="0" err="1">
                <a:solidFill>
                  <a:srgbClr val="3A3A3A"/>
                </a:solidFill>
                <a:latin typeface="맑은 고딕"/>
                <a:ea typeface="맑은 고딕"/>
                <a:cs typeface="맑은 고딕"/>
              </a:rPr>
              <a:t>지표</a:t>
            </a:r>
            <a:endParaRPr sz="1130" b="0" dirty="0">
              <a:solidFill>
                <a:srgbClr val="3A3A3A"/>
              </a:solidFill>
              <a:latin typeface="맑은 고딕"/>
              <a:ea typeface="맑은 고딕"/>
              <a:cs typeface="맑은 고딕"/>
            </a:endParaRPr>
          </a:p>
        </p:txBody>
      </p:sp>
      <mc:AlternateContent xmlns:mc="http://schemas.openxmlformats.org/markup-compatibility/2006" xmlns:a14="http://schemas.microsoft.com/office/drawing/2010/main">
        <mc:Choice Requires="a14">
          <p:sp>
            <p:nvSpPr>
              <p:cNvPr id="40" name="v10-math-6"/>
              <p:cNvSpPr txBox="1"/>
              <p:nvPr/>
            </p:nvSpPr>
            <p:spPr>
              <a:xfrm>
                <a:off x="731520" y="4526280"/>
                <a:ext cx="5212080" cy="420624"/>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𝑆</m:t>
                          </m:r>
                        </m:e>
                        <m:sub>
                          <m:r>
                            <a:rPr lang="ko-KR" sz="1400" b="0">
                              <a:solidFill>
                                <a:srgbClr val="222222"/>
                              </a:solidFill>
                              <a:latin typeface="Cambria Math" panose="02040503050406030204" pitchFamily="18" charset="0"/>
                              <a:ea typeface="맑은 고딕"/>
                              <a:cs typeface="맑은 고딕"/>
                            </a:rPr>
                            <m:t>𝑐𝑜𝑚𝑝𝑙𝑒𝑡𝑒</m:t>
                          </m:r>
                        </m:sub>
                      </m:sSub>
                      <m:r>
                        <a:rPr lang="ko-KR" sz="1400" b="0">
                          <a:solidFill>
                            <a:srgbClr val="222222"/>
                          </a:solidFill>
                          <a:latin typeface="Cambria Math" panose="02040503050406030204" pitchFamily="18" charset="0"/>
                          <a:ea typeface="맑은 고딕"/>
                          <a:cs typeface="맑은 고딕"/>
                        </a:rPr>
                        <m:t> = </m:t>
                      </m:r>
                      <m:f>
                        <m:fPr>
                          <m:ctrlPr>
                            <a:rPr lang="ko-KR" sz="1400" b="0">
                              <a:solidFill>
                                <a:srgbClr val="222222"/>
                              </a:solidFill>
                              <a:latin typeface="Cambria Math" panose="02040503050406030204" pitchFamily="18" charset="0"/>
                              <a:ea typeface="맑은 고딕"/>
                              <a:cs typeface="맑은 고딕"/>
                            </a:rPr>
                          </m:ctrlPr>
                        </m:fPr>
                        <m:num>
                          <m:r>
                            <a:rPr lang="ko-KR" sz="1400" b="0">
                              <a:solidFill>
                                <a:srgbClr val="222222"/>
                              </a:solidFill>
                              <a:latin typeface="Cambria Math" panose="02040503050406030204" pitchFamily="18" charset="0"/>
                              <a:ea typeface="맑은 고딕"/>
                              <a:cs typeface="맑은 고딕"/>
                            </a:rPr>
                            <m:t>1</m:t>
                          </m:r>
                        </m:num>
                        <m:den>
                          <m:r>
                            <a:rPr lang="ko-KR" sz="1400" b="0">
                              <a:solidFill>
                                <a:srgbClr val="222222"/>
                              </a:solidFill>
                              <a:latin typeface="Cambria Math" panose="02040503050406030204" pitchFamily="18" charset="0"/>
                              <a:ea typeface="맑은 고딕"/>
                              <a:cs typeface="맑은 고딕"/>
                            </a:rPr>
                            <m:t>𝑁</m:t>
                          </m:r>
                        </m:den>
                      </m:f>
                      <m:nary>
                        <m:naryPr>
                          <m:chr m:val="∑"/>
                          <m:limLoc m:val="undOvr"/>
                          <m:ctrlPr>
                            <a:rPr lang="ko-KR" sz="1400" b="0">
                              <a:solidFill>
                                <a:srgbClr val="222222"/>
                              </a:solidFill>
                              <a:latin typeface="Cambria Math" panose="02040503050406030204" pitchFamily="18" charset="0"/>
                              <a:ea typeface="맑은 고딕"/>
                              <a:cs typeface="맑은 고딕"/>
                            </a:rPr>
                          </m:ctrlPr>
                        </m:naryPr>
                        <m:sub>
                          <m:r>
                            <a:rPr lang="ko-KR" sz="1400" b="0">
                              <a:solidFill>
                                <a:srgbClr val="222222"/>
                              </a:solidFill>
                              <a:latin typeface="Cambria Math" panose="02040503050406030204" pitchFamily="18" charset="0"/>
                              <a:ea typeface="맑은 고딕"/>
                              <a:cs typeface="맑은 고딕"/>
                            </a:rPr>
                            <m:t>𝑖</m:t>
                          </m:r>
                          <m:r>
                            <a:rPr lang="ko-KR" sz="1400" b="0">
                              <a:solidFill>
                                <a:srgbClr val="222222"/>
                              </a:solidFill>
                              <a:latin typeface="Cambria Math" panose="02040503050406030204" pitchFamily="18" charset="0"/>
                              <a:ea typeface="맑은 고딕"/>
                              <a:cs typeface="맑은 고딕"/>
                            </a:rPr>
                            <m:t>=1</m:t>
                          </m:r>
                        </m:sub>
                        <m:sup>
                          <m:r>
                            <a:rPr lang="ko-KR" sz="1400" b="0">
                              <a:solidFill>
                                <a:srgbClr val="222222"/>
                              </a:solidFill>
                              <a:latin typeface="Cambria Math" panose="02040503050406030204" pitchFamily="18" charset="0"/>
                              <a:ea typeface="맑은 고딕"/>
                              <a:cs typeface="맑은 고딕"/>
                            </a:rPr>
                            <m:t>𝑁</m:t>
                          </m:r>
                        </m:sup>
                        <m:e>
                          <m:r>
                            <a:rPr lang="ko-KR" sz="1400" b="0">
                              <a:solidFill>
                                <a:srgbClr val="222222"/>
                              </a:solidFill>
                              <a:latin typeface="Cambria Math" panose="02040503050406030204" pitchFamily="18" charset="0"/>
                              <a:ea typeface="맑은 고딕"/>
                              <a:cs typeface="맑은 고딕"/>
                            </a:rPr>
                            <m:t>1[</m:t>
                          </m:r>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𝑇</m:t>
                              </m:r>
                            </m:e>
                            <m:sub>
                              <m:r>
                                <a:rPr lang="ko-KR" sz="1400" b="0">
                                  <a:solidFill>
                                    <a:srgbClr val="222222"/>
                                  </a:solidFill>
                                  <a:latin typeface="Cambria Math" panose="02040503050406030204" pitchFamily="18" charset="0"/>
                                  <a:ea typeface="맑은 고딕"/>
                                  <a:cs typeface="맑은 고딕"/>
                                </a:rPr>
                                <m:t>𝑖</m:t>
                              </m:r>
                            </m:sub>
                          </m:sSub>
                          <m:r>
                            <a:rPr lang="ko-KR" sz="1400" b="0">
                              <a:solidFill>
                                <a:srgbClr val="222222"/>
                              </a:solidFill>
                              <a:latin typeface="Cambria Math" panose="02040503050406030204" pitchFamily="18" charset="0"/>
                              <a:ea typeface="맑은 고딕"/>
                              <a:cs typeface="맑은 고딕"/>
                            </a:rPr>
                            <m:t> = 20 </m:t>
                          </m:r>
                          <m:r>
                            <a:rPr lang="ko-KR" sz="1400" b="0">
                              <a:solidFill>
                                <a:srgbClr val="222222"/>
                              </a:solidFill>
                              <a:latin typeface="Cambria Math" panose="02040503050406030204" pitchFamily="18" charset="0"/>
                              <a:ea typeface="맑은 고딕"/>
                              <a:cs typeface="맑은 고딕"/>
                            </a:rPr>
                            <m:t>𝑠</m:t>
                          </m:r>
                          <m:r>
                            <a:rPr lang="ko-KR" sz="1400" b="0">
                              <a:solidFill>
                                <a:srgbClr val="222222"/>
                              </a:solidFill>
                              <a:latin typeface="Cambria Math" panose="02040503050406030204" pitchFamily="18" charset="0"/>
                              <a:ea typeface="맑은 고딕"/>
                              <a:cs typeface="맑은 고딕"/>
                            </a:rPr>
                            <m:t>]</m:t>
                          </m:r>
                        </m:e>
                      </m:nary>
                    </m:oMath>
                  </m:oMathPara>
                </a14:m>
                <a:endParaRPr/>
              </a:p>
            </p:txBody>
          </p:sp>
        </mc:Choice>
        <mc:Fallback xmlns="">
          <p:sp>
            <p:nvSpPr>
              <p:cNvPr id="40" name="v10-math-6"/>
              <p:cNvSpPr txBox="1">
                <a:spLocks noRot="1" noChangeAspect="1" noMove="1" noResize="1" noEditPoints="1" noAdjustHandles="1" noChangeArrowheads="1" noChangeShapeType="1" noTextEdit="1"/>
              </p:cNvSpPr>
              <p:nvPr/>
            </p:nvSpPr>
            <p:spPr>
              <a:xfrm>
                <a:off x="731520" y="4526280"/>
                <a:ext cx="5212080" cy="420624"/>
              </a:xfrm>
              <a:prstGeom prst="rect">
                <a:avLst/>
              </a:prstGeom>
              <a:blipFill>
                <a:blip r:embed="rId3"/>
                <a:stretch>
                  <a:fillRect t="-15942" b="-217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1" name="v10-math-7"/>
              <p:cNvSpPr txBox="1"/>
              <p:nvPr/>
            </p:nvSpPr>
            <p:spPr>
              <a:xfrm>
                <a:off x="6355080" y="4736592"/>
                <a:ext cx="5120640" cy="420624"/>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𝑆</m:t>
                          </m:r>
                        </m:e>
                        <m:sub>
                          <m:r>
                            <a:rPr lang="ko-KR" sz="1400" b="0">
                              <a:solidFill>
                                <a:srgbClr val="222222"/>
                              </a:solidFill>
                              <a:latin typeface="Cambria Math" panose="02040503050406030204" pitchFamily="18" charset="0"/>
                              <a:ea typeface="맑은 고딕"/>
                              <a:cs typeface="맑은 고딕"/>
                            </a:rPr>
                            <m:t>𝑇𝑇𝐹</m:t>
                          </m:r>
                        </m:sub>
                      </m:sSub>
                      <m:r>
                        <a:rPr lang="ko-KR" sz="1400" b="0">
                          <a:solidFill>
                            <a:srgbClr val="222222"/>
                          </a:solidFill>
                          <a:latin typeface="Cambria Math" panose="02040503050406030204" pitchFamily="18" charset="0"/>
                          <a:ea typeface="맑은 고딕"/>
                          <a:cs typeface="맑은 고딕"/>
                        </a:rPr>
                        <m:t> = </m:t>
                      </m:r>
                      <m:f>
                        <m:fPr>
                          <m:ctrlPr>
                            <a:rPr lang="ko-KR" sz="1400" b="0" i="1">
                              <a:solidFill>
                                <a:srgbClr val="222222"/>
                              </a:solidFill>
                              <a:latin typeface="Cambria Math" panose="02040503050406030204" pitchFamily="18" charset="0"/>
                              <a:ea typeface="맑은 고딕"/>
                              <a:cs typeface="맑은 고딕"/>
                            </a:rPr>
                          </m:ctrlPr>
                        </m:fPr>
                        <m:num>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𝐸</m:t>
                              </m:r>
                            </m:e>
                            <m:sub>
                              <m:r>
                                <a:rPr lang="ko-KR" sz="1400" b="0">
                                  <a:solidFill>
                                    <a:srgbClr val="222222"/>
                                  </a:solidFill>
                                  <a:latin typeface="Cambria Math" panose="02040503050406030204" pitchFamily="18" charset="0"/>
                                  <a:ea typeface="맑은 고딕"/>
                                  <a:cs typeface="맑은 고딕"/>
                                </a:rPr>
                                <m:t>𝑖</m:t>
                              </m:r>
                            </m:sub>
                          </m:sSub>
                          <m:r>
                            <a:rPr lang="ko-KR" sz="1400" b="0">
                              <a:solidFill>
                                <a:srgbClr val="222222"/>
                              </a:solidFill>
                              <a:latin typeface="Cambria Math" panose="02040503050406030204" pitchFamily="18" charset="0"/>
                              <a:ea typeface="맑은 고딕"/>
                              <a:cs typeface="맑은 고딕"/>
                            </a:rPr>
                            <m:t>[</m:t>
                          </m:r>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𝑇</m:t>
                              </m:r>
                            </m:e>
                            <m:sub>
                              <m:r>
                                <a:rPr lang="ko-KR" sz="1400" b="0">
                                  <a:solidFill>
                                    <a:srgbClr val="222222"/>
                                  </a:solidFill>
                                  <a:latin typeface="Cambria Math" panose="02040503050406030204" pitchFamily="18" charset="0"/>
                                  <a:ea typeface="맑은 고딕"/>
                                  <a:cs typeface="맑은 고딕"/>
                                </a:rPr>
                                <m:t>𝑖</m:t>
                              </m:r>
                            </m:sub>
                          </m:sSub>
                          <m:r>
                            <a:rPr lang="ko-KR" sz="1400" b="0">
                              <a:solidFill>
                                <a:srgbClr val="222222"/>
                              </a:solidFill>
                              <a:latin typeface="Cambria Math" panose="02040503050406030204" pitchFamily="18" charset="0"/>
                              <a:ea typeface="맑은 고딕"/>
                              <a:cs typeface="맑은 고딕"/>
                            </a:rPr>
                            <m:t>]</m:t>
                          </m:r>
                        </m:num>
                        <m:den>
                          <m:r>
                            <a:rPr lang="ko-KR" sz="1400" b="0">
                              <a:solidFill>
                                <a:srgbClr val="222222"/>
                              </a:solidFill>
                              <a:latin typeface="Cambria Math" panose="02040503050406030204" pitchFamily="18" charset="0"/>
                              <a:ea typeface="맑은 고딕"/>
                              <a:cs typeface="맑은 고딕"/>
                            </a:rPr>
                            <m:t>20 </m:t>
                          </m:r>
                          <m:r>
                            <a:rPr lang="ko-KR" sz="1400" b="0">
                              <a:solidFill>
                                <a:srgbClr val="222222"/>
                              </a:solidFill>
                              <a:latin typeface="Cambria Math" panose="02040503050406030204" pitchFamily="18" charset="0"/>
                              <a:ea typeface="맑은 고딕"/>
                              <a:cs typeface="맑은 고딕"/>
                            </a:rPr>
                            <m:t>𝑠</m:t>
                          </m:r>
                        </m:den>
                      </m:f>
                    </m:oMath>
                  </m:oMathPara>
                </a14:m>
                <a:endParaRPr/>
              </a:p>
            </p:txBody>
          </p:sp>
        </mc:Choice>
        <mc:Fallback xmlns="">
          <p:sp>
            <p:nvSpPr>
              <p:cNvPr id="41" name="v10-math-7"/>
              <p:cNvSpPr txBox="1">
                <a:spLocks noRot="1" noChangeAspect="1" noMove="1" noResize="1" noEditPoints="1" noAdjustHandles="1" noChangeArrowheads="1" noChangeShapeType="1" noTextEdit="1"/>
              </p:cNvSpPr>
              <p:nvPr/>
            </p:nvSpPr>
            <p:spPr>
              <a:xfrm>
                <a:off x="6355080" y="4736592"/>
                <a:ext cx="5120640" cy="420624"/>
              </a:xfrm>
              <a:prstGeom prst="rect">
                <a:avLst/>
              </a:prstGeom>
              <a:blipFill>
                <a:blip r:embed="rId4"/>
                <a:stretch>
                  <a:fillRect t="-2899" b="-1159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v10-math-8"/>
              <p:cNvSpPr txBox="1"/>
              <p:nvPr/>
            </p:nvSpPr>
            <p:spPr>
              <a:xfrm>
                <a:off x="685800" y="5321808"/>
                <a:ext cx="5486400" cy="502920"/>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𝑅𝑀𝑆𝐸</m:t>
                          </m:r>
                        </m:e>
                        <m:sub>
                          <m:r>
                            <a:rPr lang="ko-KR" sz="1400" b="0">
                              <a:solidFill>
                                <a:srgbClr val="222222"/>
                              </a:solidFill>
                              <a:latin typeface="Cambria Math" panose="02040503050406030204" pitchFamily="18" charset="0"/>
                              <a:ea typeface="맑은 고딕"/>
                              <a:cs typeface="맑은 고딕"/>
                            </a:rPr>
                            <m:t>𝑣𝑥</m:t>
                          </m:r>
                        </m:sub>
                      </m:sSub>
                      <m:r>
                        <a:rPr lang="ko-KR" sz="1400" b="0">
                          <a:solidFill>
                            <a:srgbClr val="222222"/>
                          </a:solidFill>
                          <a:latin typeface="Cambria Math" panose="02040503050406030204" pitchFamily="18" charset="0"/>
                          <a:ea typeface="맑은 고딕"/>
                          <a:cs typeface="맑은 고딕"/>
                        </a:rPr>
                        <m:t> = </m:t>
                      </m:r>
                      <m:rad>
                        <m:radPr>
                          <m:degHide m:val="on"/>
                          <m:ctrlPr>
                            <a:rPr lang="ko-KR" sz="1400" b="0" i="1">
                              <a:solidFill>
                                <a:srgbClr val="222222"/>
                              </a:solidFill>
                              <a:latin typeface="Cambria Math" panose="02040503050406030204" pitchFamily="18" charset="0"/>
                              <a:ea typeface="맑은 고딕"/>
                              <a:cs typeface="맑은 고딕"/>
                            </a:rPr>
                          </m:ctrlPr>
                        </m:radPr>
                        <m:deg/>
                        <m:e>
                          <m:f>
                            <m:fPr>
                              <m:ctrlPr>
                                <a:rPr lang="ko-KR" sz="1400" b="0">
                                  <a:solidFill>
                                    <a:srgbClr val="222222"/>
                                  </a:solidFill>
                                  <a:latin typeface="Cambria Math" panose="02040503050406030204" pitchFamily="18" charset="0"/>
                                  <a:ea typeface="맑은 고딕"/>
                                  <a:cs typeface="맑은 고딕"/>
                                </a:rPr>
                              </m:ctrlPr>
                            </m:fPr>
                            <m:num>
                              <m:r>
                                <a:rPr lang="ko-KR" sz="1400" b="0">
                                  <a:solidFill>
                                    <a:srgbClr val="222222"/>
                                  </a:solidFill>
                                  <a:latin typeface="Cambria Math" panose="02040503050406030204" pitchFamily="18" charset="0"/>
                                  <a:ea typeface="맑은 고딕"/>
                                  <a:cs typeface="맑은 고딕"/>
                                </a:rPr>
                                <m:t>1</m:t>
                              </m:r>
                            </m:num>
                            <m:den>
                              <m:r>
                                <a:rPr lang="ko-KR" sz="1400" b="0">
                                  <a:solidFill>
                                    <a:srgbClr val="222222"/>
                                  </a:solidFill>
                                  <a:latin typeface="Cambria Math" panose="02040503050406030204" pitchFamily="18" charset="0"/>
                                  <a:ea typeface="맑은 고딕"/>
                                  <a:cs typeface="맑은 고딕"/>
                                </a:rPr>
                                <m:t>𝐾</m:t>
                              </m:r>
                            </m:den>
                          </m:f>
                          <m:nary>
                            <m:naryPr>
                              <m:chr m:val="∑"/>
                              <m:limLoc m:val="undOvr"/>
                              <m:ctrlPr>
                                <a:rPr lang="ko-KR" sz="1400" b="0">
                                  <a:solidFill>
                                    <a:srgbClr val="222222"/>
                                  </a:solidFill>
                                  <a:latin typeface="Cambria Math" panose="02040503050406030204" pitchFamily="18" charset="0"/>
                                  <a:ea typeface="맑은 고딕"/>
                                  <a:cs typeface="맑은 고딕"/>
                                </a:rPr>
                              </m:ctrlPr>
                            </m:naryPr>
                            <m:sub>
                              <m:r>
                                <a:rPr lang="ko-KR" sz="1400" b="0">
                                  <a:solidFill>
                                    <a:srgbClr val="222222"/>
                                  </a:solidFill>
                                  <a:latin typeface="Cambria Math" panose="02040503050406030204" pitchFamily="18" charset="0"/>
                                  <a:ea typeface="맑은 고딕"/>
                                  <a:cs typeface="맑은 고딕"/>
                                </a:rPr>
                                <m:t>𝑡</m:t>
                              </m:r>
                              <m:r>
                                <a:rPr lang="ko-KR" sz="1400" b="0">
                                  <a:solidFill>
                                    <a:srgbClr val="222222"/>
                                  </a:solidFill>
                                  <a:latin typeface="Cambria Math" panose="02040503050406030204" pitchFamily="18" charset="0"/>
                                  <a:ea typeface="맑은 고딕"/>
                                  <a:cs typeface="맑은 고딕"/>
                                </a:rPr>
                                <m:t>=1</m:t>
                              </m:r>
                            </m:sub>
                            <m:sup>
                              <m:r>
                                <a:rPr lang="ko-KR" sz="1400" b="0">
                                  <a:solidFill>
                                    <a:srgbClr val="222222"/>
                                  </a:solidFill>
                                  <a:latin typeface="Cambria Math" panose="02040503050406030204" pitchFamily="18" charset="0"/>
                                  <a:ea typeface="맑은 고딕"/>
                                  <a:cs typeface="맑은 고딕"/>
                                </a:rPr>
                                <m:t>𝐾</m:t>
                              </m:r>
                            </m:sup>
                            <m:e>
                              <m:sSup>
                                <m:sSupPr>
                                  <m:ctrlPr>
                                    <a:rPr lang="ko-KR" sz="1400" b="0" i="1">
                                      <a:solidFill>
                                        <a:srgbClr val="222222"/>
                                      </a:solidFill>
                                      <a:latin typeface="Cambria Math" panose="02040503050406030204" pitchFamily="18" charset="0"/>
                                      <a:ea typeface="맑은 고딕"/>
                                      <a:cs typeface="맑은 고딕"/>
                                    </a:rPr>
                                  </m:ctrlPr>
                                </m:sSupPr>
                                <m:e>
                                  <m:box>
                                    <m:boxPr>
                                      <m:ctrlPr>
                                        <a:rPr lang="ko-KR" sz="1400" b="0">
                                          <a:solidFill>
                                            <a:srgbClr val="222222"/>
                                          </a:solidFill>
                                          <a:latin typeface="Cambria Math" panose="02040503050406030204" pitchFamily="18" charset="0"/>
                                          <a:ea typeface="맑은 고딕"/>
                                          <a:cs typeface="맑은 고딕"/>
                                        </a:rPr>
                                      </m:ctrlPr>
                                    </m:boxPr>
                                    <m:e>
                                      <m:r>
                                        <a:rPr lang="ko-KR" sz="1400" b="0">
                                          <a:solidFill>
                                            <a:srgbClr val="222222"/>
                                          </a:solidFill>
                                          <a:latin typeface="Cambria Math" panose="02040503050406030204" pitchFamily="18" charset="0"/>
                                          <a:ea typeface="맑은 고딕"/>
                                          <a:cs typeface="맑은 고딕"/>
                                        </a:rPr>
                                        <m:t>(</m:t>
                                      </m:r>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𝑣</m:t>
                                          </m:r>
                                        </m:e>
                                        <m:sub>
                                          <m:r>
                                            <a:rPr lang="ko-KR" sz="1400" b="0">
                                              <a:solidFill>
                                                <a:srgbClr val="222222"/>
                                              </a:solidFill>
                                              <a:latin typeface="Cambria Math" panose="02040503050406030204" pitchFamily="18" charset="0"/>
                                              <a:ea typeface="맑은 고딕"/>
                                              <a:cs typeface="맑은 고딕"/>
                                            </a:rPr>
                                            <m:t>𝑥</m:t>
                                          </m:r>
                                          <m:r>
                                            <a:rPr lang="ko-KR" sz="1400" b="0">
                                              <a:solidFill>
                                                <a:srgbClr val="222222"/>
                                              </a:solidFill>
                                              <a:latin typeface="Cambria Math" panose="02040503050406030204" pitchFamily="18" charset="0"/>
                                              <a:ea typeface="맑은 고딕"/>
                                              <a:cs typeface="맑은 고딕"/>
                                            </a:rPr>
                                            <m:t>,</m:t>
                                          </m:r>
                                          <m:r>
                                            <a:rPr lang="ko-KR" sz="1400" b="0">
                                              <a:solidFill>
                                                <a:srgbClr val="222222"/>
                                              </a:solidFill>
                                              <a:latin typeface="Cambria Math" panose="02040503050406030204" pitchFamily="18" charset="0"/>
                                              <a:ea typeface="맑은 고딕"/>
                                              <a:cs typeface="맑은 고딕"/>
                                            </a:rPr>
                                            <m:t>𝑡</m:t>
                                          </m:r>
                                        </m:sub>
                                      </m:sSub>
                                      <m:r>
                                        <a:rPr lang="ko-KR" sz="1400" b="0">
                                          <a:solidFill>
                                            <a:srgbClr val="222222"/>
                                          </a:solidFill>
                                          <a:latin typeface="Cambria Math" panose="02040503050406030204" pitchFamily="18" charset="0"/>
                                          <a:ea typeface="맑은 고딕"/>
                                          <a:cs typeface="맑은 고딕"/>
                                        </a:rPr>
                                        <m:t> − </m:t>
                                      </m:r>
                                      <m:sSubSup>
                                        <m:sSubSupPr>
                                          <m:ctrlPr>
                                            <a:rPr lang="ko-KR" sz="1400" b="0">
                                              <a:solidFill>
                                                <a:srgbClr val="222222"/>
                                              </a:solidFill>
                                              <a:latin typeface="Cambria Math" panose="02040503050406030204" pitchFamily="18" charset="0"/>
                                              <a:ea typeface="맑은 고딕"/>
                                              <a:cs typeface="맑은 고딕"/>
                                            </a:rPr>
                                          </m:ctrlPr>
                                        </m:sSubSupPr>
                                        <m:e>
                                          <m:r>
                                            <a:rPr lang="ko-KR" sz="1400" b="0">
                                              <a:solidFill>
                                                <a:srgbClr val="222222"/>
                                              </a:solidFill>
                                              <a:latin typeface="Cambria Math" panose="02040503050406030204" pitchFamily="18" charset="0"/>
                                              <a:ea typeface="맑은 고딕"/>
                                              <a:cs typeface="맑은 고딕"/>
                                            </a:rPr>
                                            <m:t>𝑣</m:t>
                                          </m:r>
                                        </m:e>
                                        <m:sub>
                                          <m:r>
                                            <a:rPr lang="ko-KR" sz="1400" b="0">
                                              <a:solidFill>
                                                <a:srgbClr val="222222"/>
                                              </a:solidFill>
                                              <a:latin typeface="Cambria Math" panose="02040503050406030204" pitchFamily="18" charset="0"/>
                                              <a:ea typeface="맑은 고딕"/>
                                              <a:cs typeface="맑은 고딕"/>
                                            </a:rPr>
                                            <m:t>𝑥</m:t>
                                          </m:r>
                                          <m:r>
                                            <a:rPr lang="ko-KR" sz="1400" b="0">
                                              <a:solidFill>
                                                <a:srgbClr val="222222"/>
                                              </a:solidFill>
                                              <a:latin typeface="Cambria Math" panose="02040503050406030204" pitchFamily="18" charset="0"/>
                                              <a:ea typeface="맑은 고딕"/>
                                              <a:cs typeface="맑은 고딕"/>
                                            </a:rPr>
                                            <m:t>,</m:t>
                                          </m:r>
                                          <m:r>
                                            <a:rPr lang="ko-KR" sz="1400" b="0">
                                              <a:solidFill>
                                                <a:srgbClr val="222222"/>
                                              </a:solidFill>
                                              <a:latin typeface="Cambria Math" panose="02040503050406030204" pitchFamily="18" charset="0"/>
                                              <a:ea typeface="맑은 고딕"/>
                                              <a:cs typeface="맑은 고딕"/>
                                            </a:rPr>
                                            <m:t>𝑡</m:t>
                                          </m:r>
                                        </m:sub>
                                        <m:sup>
                                          <m:r>
                                            <a:rPr lang="ko-KR" sz="1400" b="0">
                                              <a:solidFill>
                                                <a:srgbClr val="222222"/>
                                              </a:solidFill>
                                              <a:latin typeface="Cambria Math" panose="02040503050406030204" pitchFamily="18" charset="0"/>
                                              <a:ea typeface="맑은 고딕"/>
                                              <a:cs typeface="맑은 고딕"/>
                                            </a:rPr>
                                            <m:t>𝑐𝑚𝑑</m:t>
                                          </m:r>
                                        </m:sup>
                                      </m:sSubSup>
                                      <m:r>
                                        <a:rPr lang="ko-KR" sz="1400" b="0">
                                          <a:solidFill>
                                            <a:srgbClr val="222222"/>
                                          </a:solidFill>
                                          <a:latin typeface="Cambria Math" panose="02040503050406030204" pitchFamily="18" charset="0"/>
                                          <a:ea typeface="맑은 고딕"/>
                                          <a:cs typeface="맑은 고딕"/>
                                        </a:rPr>
                                        <m:t>)</m:t>
                                      </m:r>
                                    </m:e>
                                  </m:box>
                                </m:e>
                                <m:sup>
                                  <m:r>
                                    <a:rPr lang="ko-KR" sz="1400" b="0">
                                      <a:solidFill>
                                        <a:srgbClr val="222222"/>
                                      </a:solidFill>
                                      <a:latin typeface="Cambria Math" panose="02040503050406030204" pitchFamily="18" charset="0"/>
                                      <a:ea typeface="맑은 고딕"/>
                                      <a:cs typeface="맑은 고딕"/>
                                    </a:rPr>
                                    <m:t>2</m:t>
                                  </m:r>
                                </m:sup>
                              </m:sSup>
                            </m:e>
                          </m:nary>
                        </m:e>
                      </m:rad>
                    </m:oMath>
                  </m:oMathPara>
                </a14:m>
                <a:endParaRPr dirty="0"/>
              </a:p>
            </p:txBody>
          </p:sp>
        </mc:Choice>
        <mc:Fallback xmlns="">
          <p:sp>
            <p:nvSpPr>
              <p:cNvPr id="42" name="v10-math-8"/>
              <p:cNvSpPr txBox="1">
                <a:spLocks noRot="1" noChangeAspect="1" noMove="1" noResize="1" noEditPoints="1" noAdjustHandles="1" noChangeArrowheads="1" noChangeShapeType="1" noTextEdit="1"/>
              </p:cNvSpPr>
              <p:nvPr/>
            </p:nvSpPr>
            <p:spPr>
              <a:xfrm>
                <a:off x="685800" y="5321808"/>
                <a:ext cx="5486400" cy="502920"/>
              </a:xfrm>
              <a:prstGeom prst="rect">
                <a:avLst/>
              </a:prstGeom>
              <a:blipFill>
                <a:blip r:embed="rId5"/>
                <a:stretch>
                  <a:fillRect t="-24096" b="-3253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3" name="v10-math-9"/>
              <p:cNvSpPr txBox="1"/>
              <p:nvPr/>
            </p:nvSpPr>
            <p:spPr>
              <a:xfrm>
                <a:off x="6355080" y="5321808"/>
                <a:ext cx="5120640" cy="502920"/>
              </a:xfrm>
              <a:prstGeom prst="rect">
                <a:avLst/>
              </a:prstGeom>
              <a:noFill/>
            </p:spPr>
            <p:txBody>
              <a:bodyPr wrap="none" lIns="27432" tIns="27432" rIns="27432" bIns="27432" anchor="ctr">
                <a:spAutoFit/>
              </a:bodyPr>
              <a:lstStyle/>
              <a:p>
                <a:pPr algn="ctr"/>
                <a14:m>
                  <m:oMathPara xmlns:m="http://schemas.openxmlformats.org/officeDocument/2006/math">
                    <m:oMath>
                      <m:r>
                        <a:rPr lang="ko-KR" sz="1400" b="0">
                          <a:solidFill>
                            <a:srgbClr val="222222"/>
                          </a:solidFill>
                          <a:latin typeface="Cambria Math" panose="02040503050406030204" pitchFamily="18" charset="0"/>
                          <a:ea typeface="맑은 고딕"/>
                          <a:cs typeface="맑은 고딕"/>
                        </a:rPr>
                        <m:t>|</m:t>
                      </m:r>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𝑣</m:t>
                          </m:r>
                        </m:e>
                        <m:sub>
                          <m:r>
                            <a:rPr lang="ko-KR" sz="1400" b="0">
                              <a:solidFill>
                                <a:srgbClr val="222222"/>
                              </a:solidFill>
                              <a:latin typeface="Cambria Math" panose="02040503050406030204" pitchFamily="18" charset="0"/>
                              <a:ea typeface="맑은 고딕"/>
                              <a:cs typeface="맑은 고딕"/>
                            </a:rPr>
                            <m:t>𝑥</m:t>
                          </m:r>
                        </m:sub>
                      </m:sSub>
                      <m:r>
                        <a:rPr lang="ko-KR" sz="1400" b="0">
                          <a:solidFill>
                            <a:srgbClr val="222222"/>
                          </a:solidFill>
                          <a:latin typeface="Cambria Math" panose="02040503050406030204" pitchFamily="18" charset="0"/>
                          <a:ea typeface="맑은 고딕"/>
                          <a:cs typeface="맑은 고딕"/>
                        </a:rPr>
                        <m:t> − 0.5| ≤ 0.1 </m:t>
                      </m:r>
                      <m:r>
                        <a:rPr lang="ko-KR" sz="1400" b="0">
                          <a:solidFill>
                            <a:srgbClr val="222222"/>
                          </a:solidFill>
                          <a:latin typeface="Cambria Math" panose="02040503050406030204" pitchFamily="18" charset="0"/>
                          <a:ea typeface="맑은 고딕"/>
                          <a:cs typeface="맑은 고딕"/>
                        </a:rPr>
                        <m:t>𝑚</m:t>
                      </m:r>
                      <m:r>
                        <a:rPr lang="ko-KR" sz="1400" b="0">
                          <a:solidFill>
                            <a:srgbClr val="222222"/>
                          </a:solidFill>
                          <a:latin typeface="Cambria Math" panose="02040503050406030204" pitchFamily="18" charset="0"/>
                          <a:ea typeface="맑은 고딕"/>
                          <a:cs typeface="맑은 고딕"/>
                        </a:rPr>
                        <m:t>/</m:t>
                      </m:r>
                      <m:r>
                        <a:rPr lang="ko-KR" sz="1400" b="0">
                          <a:solidFill>
                            <a:srgbClr val="222222"/>
                          </a:solidFill>
                          <a:latin typeface="Cambria Math" panose="02040503050406030204" pitchFamily="18" charset="0"/>
                          <a:ea typeface="맑은 고딕"/>
                          <a:cs typeface="맑은 고딕"/>
                        </a:rPr>
                        <m:t>𝑠</m:t>
                      </m:r>
                      <m:r>
                        <a:rPr lang="ko-KR" sz="1400" b="0">
                          <a:solidFill>
                            <a:srgbClr val="222222"/>
                          </a:solidFill>
                          <a:latin typeface="Cambria Math" panose="02040503050406030204" pitchFamily="18" charset="0"/>
                          <a:ea typeface="맑은 고딕"/>
                          <a:cs typeface="맑은 고딕"/>
                        </a:rPr>
                        <m:t>;  |</m:t>
                      </m:r>
                      <m:sSub>
                        <m:sSubPr>
                          <m:ctrlPr>
                            <a:rPr lang="ko-KR" sz="1400" b="0">
                              <a:solidFill>
                                <a:srgbClr val="222222"/>
                              </a:solidFill>
                              <a:latin typeface="Cambria Math" panose="02040503050406030204" pitchFamily="18" charset="0"/>
                              <a:ea typeface="맑은 고딕"/>
                              <a:cs typeface="맑은 고딕"/>
                            </a:rPr>
                          </m:ctrlPr>
                        </m:sSubPr>
                        <m:e>
                          <m:r>
                            <a:rPr lang="ko-KR" sz="1400" b="0">
                              <a:solidFill>
                                <a:srgbClr val="222222"/>
                              </a:solidFill>
                              <a:latin typeface="Cambria Math" panose="02040503050406030204" pitchFamily="18" charset="0"/>
                              <a:ea typeface="맑은 고딕"/>
                              <a:cs typeface="맑은 고딕"/>
                            </a:rPr>
                            <m:t>𝜔</m:t>
                          </m:r>
                        </m:e>
                        <m:sub>
                          <m:r>
                            <a:rPr lang="ko-KR" sz="1400" b="0">
                              <a:solidFill>
                                <a:srgbClr val="222222"/>
                              </a:solidFill>
                              <a:latin typeface="Cambria Math" panose="02040503050406030204" pitchFamily="18" charset="0"/>
                              <a:ea typeface="맑은 고딕"/>
                              <a:cs typeface="맑은 고딕"/>
                            </a:rPr>
                            <m:t>𝑧</m:t>
                          </m:r>
                        </m:sub>
                      </m:sSub>
                      <m:r>
                        <a:rPr lang="ko-KR" sz="1400" b="0">
                          <a:solidFill>
                            <a:srgbClr val="222222"/>
                          </a:solidFill>
                          <a:latin typeface="Cambria Math" panose="02040503050406030204" pitchFamily="18" charset="0"/>
                          <a:ea typeface="맑은 고딕"/>
                          <a:cs typeface="맑은 고딕"/>
                        </a:rPr>
                        <m:t>| ≤ 0.2 </m:t>
                      </m:r>
                      <m:r>
                        <a:rPr lang="ko-KR" sz="1400" b="0">
                          <a:solidFill>
                            <a:srgbClr val="222222"/>
                          </a:solidFill>
                          <a:latin typeface="Cambria Math" panose="02040503050406030204" pitchFamily="18" charset="0"/>
                          <a:ea typeface="맑은 고딕"/>
                          <a:cs typeface="맑은 고딕"/>
                        </a:rPr>
                        <m:t>𝑟𝑎𝑑</m:t>
                      </m:r>
                      <m:r>
                        <a:rPr lang="ko-KR" sz="1400" b="0">
                          <a:solidFill>
                            <a:srgbClr val="222222"/>
                          </a:solidFill>
                          <a:latin typeface="Cambria Math" panose="02040503050406030204" pitchFamily="18" charset="0"/>
                          <a:ea typeface="맑은 고딕"/>
                          <a:cs typeface="맑은 고딕"/>
                        </a:rPr>
                        <m:t>/</m:t>
                      </m:r>
                      <m:r>
                        <a:rPr lang="ko-KR" sz="1400" b="0">
                          <a:solidFill>
                            <a:srgbClr val="222222"/>
                          </a:solidFill>
                          <a:latin typeface="Cambria Math" panose="02040503050406030204" pitchFamily="18" charset="0"/>
                          <a:ea typeface="맑은 고딕"/>
                          <a:cs typeface="맑은 고딕"/>
                        </a:rPr>
                        <m:t>𝑠</m:t>
                      </m:r>
                      <m:r>
                        <a:rPr lang="ko-KR" sz="1400" b="0">
                          <a:solidFill>
                            <a:srgbClr val="222222"/>
                          </a:solidFill>
                          <a:latin typeface="Cambria Math" panose="02040503050406030204" pitchFamily="18" charset="0"/>
                          <a:ea typeface="맑은 고딕"/>
                          <a:cs typeface="맑은 고딕"/>
                        </a:rPr>
                        <m:t>;  1 </m:t>
                      </m:r>
                      <m:r>
                        <a:rPr lang="ko-KR" sz="1400" b="0">
                          <a:solidFill>
                            <a:srgbClr val="222222"/>
                          </a:solidFill>
                          <a:latin typeface="Cambria Math" panose="02040503050406030204" pitchFamily="18" charset="0"/>
                          <a:ea typeface="맑은 고딕"/>
                          <a:cs typeface="맑은 고딕"/>
                        </a:rPr>
                        <m:t>𝑠</m:t>
                      </m:r>
                    </m:oMath>
                  </m:oMathPara>
                </a14:m>
                <a:endParaRPr/>
              </a:p>
            </p:txBody>
          </p:sp>
        </mc:Choice>
        <mc:Fallback xmlns="">
          <p:sp>
            <p:nvSpPr>
              <p:cNvPr id="43" name="v10-math-9"/>
              <p:cNvSpPr txBox="1">
                <a:spLocks noRot="1" noChangeAspect="1" noMove="1" noResize="1" noEditPoints="1" noAdjustHandles="1" noChangeArrowheads="1" noChangeShapeType="1" noTextEdit="1"/>
              </p:cNvSpPr>
              <p:nvPr/>
            </p:nvSpPr>
            <p:spPr>
              <a:xfrm>
                <a:off x="6355080" y="5321808"/>
                <a:ext cx="5120640" cy="502920"/>
              </a:xfrm>
              <a:prstGeom prst="rect">
                <a:avLst/>
              </a:prstGeom>
              <a:blipFill>
                <a:blip r:embed="rId6"/>
                <a:stretch>
                  <a:fillRect/>
                </a:stretch>
              </a:blipFill>
            </p:spPr>
            <p:txBody>
              <a:bodyPr/>
              <a:lstStyle/>
              <a:p>
                <a:r>
                  <a:rPr lang="ko-KR" altLang="en-US">
                    <a:noFill/>
                  </a:rPr>
                  <a:t> </a:t>
                </a:r>
              </a:p>
            </p:txBody>
          </p:sp>
        </mc:Fallback>
      </mc:AlternateContent>
      <p:sp>
        <p:nvSpPr>
          <p:cNvPr id="44" name="TextBox 43"/>
          <p:cNvSpPr txBox="1"/>
          <p:nvPr/>
        </p:nvSpPr>
        <p:spPr>
          <a:xfrm>
            <a:off x="731520" y="5925312"/>
            <a:ext cx="10789920" cy="201168"/>
          </a:xfrm>
          <a:prstGeom prst="rect">
            <a:avLst/>
          </a:prstGeom>
          <a:noFill/>
        </p:spPr>
        <p:txBody>
          <a:bodyPr wrap="square" lIns="36576" tIns="36576" rIns="36576" bIns="36576" anchor="t">
            <a:spAutoFit/>
          </a:bodyPr>
          <a:lstStyle/>
          <a:p>
            <a:pPr algn="l">
              <a:spcAft>
                <a:spcPts val="0"/>
              </a:spcAft>
            </a:pPr>
            <a:r>
              <a:rPr sz="1000" b="0" dirty="0">
                <a:solidFill>
                  <a:srgbClr val="3A3A3A"/>
                </a:solidFill>
                <a:latin typeface="맑은 고딕"/>
                <a:ea typeface="맑은 고딕"/>
                <a:cs typeface="맑은 고딕"/>
              </a:rPr>
              <a:t>N: episode 수 · T: </a:t>
            </a:r>
            <a:r>
              <a:rPr sz="1000" b="0" dirty="0" err="1">
                <a:solidFill>
                  <a:srgbClr val="3A3A3A"/>
                </a:solidFill>
                <a:latin typeface="맑은 고딕"/>
                <a:ea typeface="맑은 고딕"/>
                <a:cs typeface="맑은 고딕"/>
              </a:rPr>
              <a:t>고장</a:t>
            </a:r>
            <a:r>
              <a:rPr sz="1000" b="0" dirty="0">
                <a:solidFill>
                  <a:srgbClr val="3A3A3A"/>
                </a:solidFill>
                <a:latin typeface="맑은 고딕"/>
                <a:ea typeface="맑은 고딕"/>
                <a:cs typeface="맑은 고딕"/>
              </a:rPr>
              <a:t> 후 </a:t>
            </a:r>
            <a:r>
              <a:rPr sz="1000" b="0" dirty="0" err="1">
                <a:solidFill>
                  <a:srgbClr val="3A3A3A"/>
                </a:solidFill>
                <a:latin typeface="맑은 고딕"/>
                <a:ea typeface="맑은 고딕"/>
                <a:cs typeface="맑은 고딕"/>
              </a:rPr>
              <a:t>생존</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시간</a:t>
            </a:r>
            <a:r>
              <a:rPr sz="1000" b="0" dirty="0">
                <a:solidFill>
                  <a:srgbClr val="3A3A3A"/>
                </a:solidFill>
                <a:latin typeface="맑은 고딕"/>
                <a:ea typeface="맑은 고딕"/>
                <a:cs typeface="맑은 고딕"/>
              </a:rPr>
              <a:t> · K: episode 내 </a:t>
            </a:r>
            <a:r>
              <a:rPr sz="1000" b="0" dirty="0" err="1">
                <a:solidFill>
                  <a:srgbClr val="3A3A3A"/>
                </a:solidFill>
                <a:latin typeface="맑은 고딕"/>
                <a:ea typeface="맑은 고딕"/>
                <a:cs typeface="맑은 고딕"/>
              </a:rPr>
              <a:t>유효</a:t>
            </a:r>
            <a:r>
              <a:rPr sz="1000" b="0" dirty="0">
                <a:solidFill>
                  <a:srgbClr val="3A3A3A"/>
                </a:solidFill>
                <a:latin typeface="맑은 고딕"/>
                <a:ea typeface="맑은 고딕"/>
                <a:cs typeface="맑은 고딕"/>
              </a:rPr>
              <a:t> step 수. </a:t>
            </a:r>
            <a:r>
              <a:rPr sz="1000" b="0" dirty="0" err="1">
                <a:solidFill>
                  <a:srgbClr val="3A3A3A"/>
                </a:solidFill>
                <a:latin typeface="맑은 고딕"/>
                <a:ea typeface="맑은 고딕"/>
                <a:cs typeface="맑은 고딕"/>
              </a:rPr>
              <a:t>보조</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전진</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속도</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적분</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접촉</a:t>
            </a:r>
            <a:r>
              <a:rPr sz="1000" b="0" dirty="0">
                <a:solidFill>
                  <a:srgbClr val="3A3A3A"/>
                </a:solidFill>
                <a:latin typeface="맑은 고딕"/>
                <a:ea typeface="맑은 고딕"/>
                <a:cs typeface="맑은 고딕"/>
              </a:rPr>
              <a:t> 중 발 </a:t>
            </a:r>
            <a:r>
              <a:rPr sz="1000" b="0" dirty="0" err="1">
                <a:solidFill>
                  <a:srgbClr val="3A3A3A"/>
                </a:solidFill>
                <a:latin typeface="맑은 고딕"/>
                <a:ea typeface="맑은 고딕"/>
                <a:cs typeface="맑은 고딕"/>
              </a:rPr>
              <a:t>미끄럼</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행동</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한계</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근처</a:t>
            </a:r>
            <a:r>
              <a:rPr sz="1000" b="0" dirty="0">
                <a:solidFill>
                  <a:srgbClr val="3A3A3A"/>
                </a:solidFill>
                <a:latin typeface="맑은 고딕"/>
                <a:ea typeface="맑은 고딕"/>
                <a:cs typeface="맑은 고딕"/>
              </a:rPr>
              <a:t> </a:t>
            </a:r>
            <a:r>
              <a:rPr sz="1000" b="0" dirty="0" err="1">
                <a:solidFill>
                  <a:srgbClr val="3A3A3A"/>
                </a:solidFill>
                <a:latin typeface="맑은 고딕"/>
                <a:ea typeface="맑은 고딕"/>
                <a:cs typeface="맑은 고딕"/>
              </a:rPr>
              <a:t>비율</a:t>
            </a:r>
            <a:r>
              <a:rPr sz="1000" b="0" dirty="0">
                <a:solidFill>
                  <a:srgbClr val="3A3A3A"/>
                </a:solidFill>
                <a:latin typeface="맑은 고딕"/>
                <a:ea typeface="맑은 고딕"/>
                <a:cs typeface="맑은 고딕"/>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22 | 평가 프로토콜</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03 평가 설계 · 지표의 의미 / 출처 / 비교 조건</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Local result: docs/results/p5-tf43000-vs-jt71500.md.</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22 / 43</a:t>
            </a:r>
          </a:p>
        </p:txBody>
      </p:sp>
      <p:sp>
        <p:nvSpPr>
          <p:cNvPr id="8" name="Rectangle 7"/>
          <p:cNvSpPr/>
          <p:nvPr/>
        </p:nvSpPr>
        <p:spPr>
          <a:xfrm>
            <a:off x="658368" y="1876165"/>
            <a:ext cx="2011680" cy="503285"/>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9" name="TextBox 8"/>
          <p:cNvSpPr txBox="1"/>
          <p:nvPr/>
        </p:nvSpPr>
        <p:spPr>
          <a:xfrm>
            <a:off x="731519" y="1907621"/>
            <a:ext cx="1865376" cy="440375"/>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FFFFFF"/>
                </a:solidFill>
                <a:latin typeface="맑은 고딕"/>
                <a:ea typeface="맑은 고딕"/>
                <a:cs typeface="맑은 고딕"/>
              </a:rPr>
              <a:t>구분</a:t>
            </a:r>
          </a:p>
        </p:txBody>
      </p:sp>
      <p:sp>
        <p:nvSpPr>
          <p:cNvPr id="10" name="Rectangle 9"/>
          <p:cNvSpPr/>
          <p:nvPr/>
        </p:nvSpPr>
        <p:spPr>
          <a:xfrm>
            <a:off x="2670048" y="1876165"/>
            <a:ext cx="4526280" cy="503285"/>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1" name="TextBox 10"/>
          <p:cNvSpPr txBox="1"/>
          <p:nvPr/>
        </p:nvSpPr>
        <p:spPr>
          <a:xfrm>
            <a:off x="2743200" y="1907621"/>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FFFFFF"/>
                </a:solidFill>
                <a:latin typeface="맑은 고딕"/>
                <a:ea typeface="맑은 고딕"/>
                <a:cs typeface="맑은 고딕"/>
              </a:rPr>
              <a:t>Fixed failure</a:t>
            </a:r>
          </a:p>
        </p:txBody>
      </p:sp>
      <p:sp>
        <p:nvSpPr>
          <p:cNvPr id="12" name="Rectangle 11"/>
          <p:cNvSpPr/>
          <p:nvPr/>
        </p:nvSpPr>
        <p:spPr>
          <a:xfrm>
            <a:off x="7196328" y="1876165"/>
            <a:ext cx="4526280" cy="503285"/>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TextBox 12"/>
          <p:cNvSpPr txBox="1"/>
          <p:nvPr/>
        </p:nvSpPr>
        <p:spPr>
          <a:xfrm>
            <a:off x="7269480" y="1907621"/>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FFFFFF"/>
                </a:solidFill>
                <a:latin typeface="맑은 고딕"/>
                <a:ea typeface="맑은 고딕"/>
                <a:cs typeface="맑은 고딕"/>
              </a:rPr>
              <a:t>Random onset</a:t>
            </a:r>
          </a:p>
        </p:txBody>
      </p:sp>
      <p:sp>
        <p:nvSpPr>
          <p:cNvPr id="14" name="Rectangle 13"/>
          <p:cNvSpPr/>
          <p:nvPr/>
        </p:nvSpPr>
        <p:spPr>
          <a:xfrm>
            <a:off x="658368" y="2379451"/>
            <a:ext cx="20116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5" name="TextBox 14"/>
          <p:cNvSpPr txBox="1"/>
          <p:nvPr/>
        </p:nvSpPr>
        <p:spPr>
          <a:xfrm>
            <a:off x="731519" y="2521834"/>
            <a:ext cx="1865376" cy="218521"/>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3A3A3A"/>
                </a:solidFill>
                <a:latin typeface="맑은 고딕"/>
                <a:ea typeface="맑은 고딕"/>
                <a:cs typeface="맑은 고딕"/>
              </a:rPr>
              <a:t>고장 시점</a:t>
            </a:r>
          </a:p>
        </p:txBody>
      </p:sp>
      <p:sp>
        <p:nvSpPr>
          <p:cNvPr id="16" name="Rectangle 15"/>
          <p:cNvSpPr/>
          <p:nvPr/>
        </p:nvSpPr>
        <p:spPr>
          <a:xfrm>
            <a:off x="2670048" y="2379451"/>
            <a:ext cx="45262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7" name="TextBox 16"/>
          <p:cNvSpPr txBox="1"/>
          <p:nvPr/>
        </p:nvSpPr>
        <p:spPr>
          <a:xfrm>
            <a:off x="2743200" y="2410907"/>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episode 시작</a:t>
            </a:r>
          </a:p>
        </p:txBody>
      </p:sp>
      <p:sp>
        <p:nvSpPr>
          <p:cNvPr id="18" name="Rectangle 17"/>
          <p:cNvSpPr/>
          <p:nvPr/>
        </p:nvSpPr>
        <p:spPr>
          <a:xfrm>
            <a:off x="7196328" y="2379451"/>
            <a:ext cx="45262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9" name="TextBox 18"/>
          <p:cNvSpPr txBox="1"/>
          <p:nvPr/>
        </p:nvSpPr>
        <p:spPr>
          <a:xfrm>
            <a:off x="7269480" y="2410907"/>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2 / 5 / 10 s</a:t>
            </a:r>
          </a:p>
        </p:txBody>
      </p:sp>
      <p:sp>
        <p:nvSpPr>
          <p:cNvPr id="20" name="Rectangle 19"/>
          <p:cNvSpPr/>
          <p:nvPr/>
        </p:nvSpPr>
        <p:spPr>
          <a:xfrm>
            <a:off x="658368" y="2882737"/>
            <a:ext cx="20116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1" name="TextBox 20"/>
          <p:cNvSpPr txBox="1"/>
          <p:nvPr/>
        </p:nvSpPr>
        <p:spPr>
          <a:xfrm>
            <a:off x="731519" y="3025119"/>
            <a:ext cx="1865376" cy="218521"/>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3A3A3A"/>
                </a:solidFill>
                <a:latin typeface="맑은 고딕"/>
                <a:ea typeface="맑은 고딕"/>
                <a:cs typeface="맑은 고딕"/>
              </a:rPr>
              <a:t>열화율</a:t>
            </a:r>
          </a:p>
        </p:txBody>
      </p:sp>
      <p:sp>
        <p:nvSpPr>
          <p:cNvPr id="22" name="Rectangle 21"/>
          <p:cNvSpPr/>
          <p:nvPr/>
        </p:nvSpPr>
        <p:spPr>
          <a:xfrm>
            <a:off x="2670048" y="2882737"/>
            <a:ext cx="45262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3" name="TextBox 22"/>
          <p:cNvSpPr txBox="1"/>
          <p:nvPr/>
        </p:nvSpPr>
        <p:spPr>
          <a:xfrm>
            <a:off x="2743200" y="2914192"/>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0.0–1.0 · 6단계</a:t>
            </a:r>
          </a:p>
        </p:txBody>
      </p:sp>
      <p:sp>
        <p:nvSpPr>
          <p:cNvPr id="24" name="Rectangle 23"/>
          <p:cNvSpPr/>
          <p:nvPr/>
        </p:nvSpPr>
        <p:spPr>
          <a:xfrm>
            <a:off x="7196328" y="2882737"/>
            <a:ext cx="45262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5" name="TextBox 24"/>
          <p:cNvSpPr txBox="1"/>
          <p:nvPr/>
        </p:nvSpPr>
        <p:spPr>
          <a:xfrm>
            <a:off x="7269480" y="2914192"/>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0.2–1.0 · 5단계</a:t>
            </a:r>
          </a:p>
        </p:txBody>
      </p:sp>
      <p:sp>
        <p:nvSpPr>
          <p:cNvPr id="26" name="Rectangle 25"/>
          <p:cNvSpPr/>
          <p:nvPr/>
        </p:nvSpPr>
        <p:spPr>
          <a:xfrm>
            <a:off x="658368" y="3386022"/>
            <a:ext cx="20116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7" name="TextBox 26"/>
          <p:cNvSpPr txBox="1"/>
          <p:nvPr/>
        </p:nvSpPr>
        <p:spPr>
          <a:xfrm>
            <a:off x="731519" y="3528404"/>
            <a:ext cx="1865376" cy="218521"/>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3A3A3A"/>
                </a:solidFill>
                <a:latin typeface="맑은 고딕"/>
                <a:ea typeface="맑은 고딕"/>
                <a:cs typeface="맑은 고딕"/>
              </a:rPr>
              <a:t>관절</a:t>
            </a:r>
          </a:p>
        </p:txBody>
      </p:sp>
      <p:sp>
        <p:nvSpPr>
          <p:cNvPr id="28" name="Rectangle 27"/>
          <p:cNvSpPr/>
          <p:nvPr/>
        </p:nvSpPr>
        <p:spPr>
          <a:xfrm>
            <a:off x="2670048" y="3386022"/>
            <a:ext cx="45262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9" name="TextBox 28"/>
          <p:cNvSpPr txBox="1"/>
          <p:nvPr/>
        </p:nvSpPr>
        <p:spPr>
          <a:xfrm>
            <a:off x="2743200" y="3417477"/>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12</a:t>
            </a:r>
          </a:p>
        </p:txBody>
      </p:sp>
      <p:sp>
        <p:nvSpPr>
          <p:cNvPr id="30" name="Rectangle 29"/>
          <p:cNvSpPr/>
          <p:nvPr/>
        </p:nvSpPr>
        <p:spPr>
          <a:xfrm>
            <a:off x="7196328" y="3386022"/>
            <a:ext cx="45262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1" name="TextBox 30"/>
          <p:cNvSpPr txBox="1"/>
          <p:nvPr/>
        </p:nvSpPr>
        <p:spPr>
          <a:xfrm>
            <a:off x="7269480" y="3417477"/>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12</a:t>
            </a:r>
          </a:p>
        </p:txBody>
      </p:sp>
      <p:sp>
        <p:nvSpPr>
          <p:cNvPr id="32" name="Rectangle 31"/>
          <p:cNvSpPr/>
          <p:nvPr/>
        </p:nvSpPr>
        <p:spPr>
          <a:xfrm>
            <a:off x="658368" y="3889308"/>
            <a:ext cx="20116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3" name="TextBox 32"/>
          <p:cNvSpPr txBox="1"/>
          <p:nvPr/>
        </p:nvSpPr>
        <p:spPr>
          <a:xfrm>
            <a:off x="731519" y="4031691"/>
            <a:ext cx="1865376" cy="218521"/>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3A3A3A"/>
                </a:solidFill>
                <a:latin typeface="맑은 고딕"/>
                <a:ea typeface="맑은 고딕"/>
                <a:cs typeface="맑은 고딕"/>
              </a:rPr>
              <a:t>반복</a:t>
            </a:r>
          </a:p>
        </p:txBody>
      </p:sp>
      <p:sp>
        <p:nvSpPr>
          <p:cNvPr id="34" name="Rectangle 33"/>
          <p:cNvSpPr/>
          <p:nvPr/>
        </p:nvSpPr>
        <p:spPr>
          <a:xfrm>
            <a:off x="2670048" y="3889308"/>
            <a:ext cx="45262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5" name="TextBox 34"/>
          <p:cNvSpPr txBox="1"/>
          <p:nvPr/>
        </p:nvSpPr>
        <p:spPr>
          <a:xfrm>
            <a:off x="2743200" y="3920764"/>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3 seeds × 16</a:t>
            </a:r>
          </a:p>
        </p:txBody>
      </p:sp>
      <p:sp>
        <p:nvSpPr>
          <p:cNvPr id="36" name="Rectangle 35"/>
          <p:cNvSpPr/>
          <p:nvPr/>
        </p:nvSpPr>
        <p:spPr>
          <a:xfrm>
            <a:off x="7196328" y="3889308"/>
            <a:ext cx="45262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7" name="TextBox 36"/>
          <p:cNvSpPr txBox="1"/>
          <p:nvPr/>
        </p:nvSpPr>
        <p:spPr>
          <a:xfrm>
            <a:off x="7269480" y="3920764"/>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3 seeds × 16</a:t>
            </a:r>
          </a:p>
        </p:txBody>
      </p:sp>
      <p:sp>
        <p:nvSpPr>
          <p:cNvPr id="38" name="Rectangle 37"/>
          <p:cNvSpPr/>
          <p:nvPr/>
        </p:nvSpPr>
        <p:spPr>
          <a:xfrm>
            <a:off x="658368" y="4392594"/>
            <a:ext cx="20116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9" name="TextBox 38"/>
          <p:cNvSpPr txBox="1"/>
          <p:nvPr/>
        </p:nvSpPr>
        <p:spPr>
          <a:xfrm>
            <a:off x="731519" y="4534977"/>
            <a:ext cx="1865376" cy="218521"/>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3A3A3A"/>
                </a:solidFill>
                <a:latin typeface="맑은 고딕"/>
                <a:ea typeface="맑은 고딕"/>
                <a:cs typeface="맑은 고딕"/>
              </a:rPr>
              <a:t>episodes/model</a:t>
            </a:r>
          </a:p>
        </p:txBody>
      </p:sp>
      <p:sp>
        <p:nvSpPr>
          <p:cNvPr id="40" name="Rectangle 39"/>
          <p:cNvSpPr/>
          <p:nvPr/>
        </p:nvSpPr>
        <p:spPr>
          <a:xfrm>
            <a:off x="2670048" y="4392594"/>
            <a:ext cx="45262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1" name="TextBox 40"/>
          <p:cNvSpPr txBox="1"/>
          <p:nvPr/>
        </p:nvSpPr>
        <p:spPr>
          <a:xfrm>
            <a:off x="2743200" y="4424050"/>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3,456</a:t>
            </a:r>
          </a:p>
        </p:txBody>
      </p:sp>
      <p:sp>
        <p:nvSpPr>
          <p:cNvPr id="42" name="Rectangle 41"/>
          <p:cNvSpPr/>
          <p:nvPr/>
        </p:nvSpPr>
        <p:spPr>
          <a:xfrm>
            <a:off x="7196328" y="4392594"/>
            <a:ext cx="4526280" cy="503285"/>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3" name="TextBox 42"/>
          <p:cNvSpPr txBox="1"/>
          <p:nvPr/>
        </p:nvSpPr>
        <p:spPr>
          <a:xfrm>
            <a:off x="7269480" y="4424050"/>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8,640</a:t>
            </a:r>
          </a:p>
        </p:txBody>
      </p:sp>
      <p:sp>
        <p:nvSpPr>
          <p:cNvPr id="44" name="Rectangle 43"/>
          <p:cNvSpPr/>
          <p:nvPr/>
        </p:nvSpPr>
        <p:spPr>
          <a:xfrm>
            <a:off x="658368" y="4895880"/>
            <a:ext cx="20116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5" name="TextBox 44"/>
          <p:cNvSpPr txBox="1"/>
          <p:nvPr/>
        </p:nvSpPr>
        <p:spPr>
          <a:xfrm>
            <a:off x="731519" y="5038262"/>
            <a:ext cx="1865376" cy="218521"/>
          </a:xfrm>
          <a:prstGeom prst="rect">
            <a:avLst/>
          </a:prstGeom>
          <a:noFill/>
        </p:spPr>
        <p:txBody>
          <a:bodyPr wrap="square" lIns="9144" tIns="9144" rIns="9144" bIns="9144" anchor="ctr">
            <a:spAutoFit/>
          </a:bodyPr>
          <a:lstStyle/>
          <a:p>
            <a:pPr algn="ctr">
              <a:lnSpc>
                <a:spcPct val="100000"/>
              </a:lnSpc>
              <a:spcAft>
                <a:spcPts val="0"/>
              </a:spcAft>
            </a:pPr>
            <a:r>
              <a:rPr sz="1300" b="1">
                <a:solidFill>
                  <a:srgbClr val="3A3A3A"/>
                </a:solidFill>
                <a:latin typeface="맑은 고딕"/>
                <a:ea typeface="맑은 고딕"/>
                <a:cs typeface="맑은 고딕"/>
              </a:rPr>
              <a:t>horizon</a:t>
            </a:r>
          </a:p>
        </p:txBody>
      </p:sp>
      <p:sp>
        <p:nvSpPr>
          <p:cNvPr id="46" name="Rectangle 45"/>
          <p:cNvSpPr/>
          <p:nvPr/>
        </p:nvSpPr>
        <p:spPr>
          <a:xfrm>
            <a:off x="2670048" y="4895880"/>
            <a:ext cx="45262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7" name="TextBox 46"/>
          <p:cNvSpPr txBox="1"/>
          <p:nvPr/>
        </p:nvSpPr>
        <p:spPr>
          <a:xfrm>
            <a:off x="2743200" y="4927335"/>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20 s</a:t>
            </a:r>
          </a:p>
        </p:txBody>
      </p:sp>
      <p:sp>
        <p:nvSpPr>
          <p:cNvPr id="48" name="Rectangle 47"/>
          <p:cNvSpPr/>
          <p:nvPr/>
        </p:nvSpPr>
        <p:spPr>
          <a:xfrm>
            <a:off x="7196328" y="4895880"/>
            <a:ext cx="4526280" cy="503285"/>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9" name="TextBox 48"/>
          <p:cNvSpPr txBox="1"/>
          <p:nvPr/>
        </p:nvSpPr>
        <p:spPr>
          <a:xfrm>
            <a:off x="7269480" y="4927335"/>
            <a:ext cx="4379976" cy="440375"/>
          </a:xfrm>
          <a:prstGeom prst="rect">
            <a:avLst/>
          </a:prstGeom>
          <a:noFill/>
        </p:spPr>
        <p:txBody>
          <a:bodyPr wrap="square" lIns="9144" tIns="9144" rIns="9144" bIns="9144" anchor="ctr">
            <a:spAutoFit/>
          </a:bodyPr>
          <a:lstStyle/>
          <a:p>
            <a:pPr algn="ctr">
              <a:lnSpc>
                <a:spcPct val="100000"/>
              </a:lnSpc>
              <a:spcAft>
                <a:spcPts val="0"/>
              </a:spcAft>
            </a:pPr>
            <a:r>
              <a:rPr sz="1300" b="0">
                <a:solidFill>
                  <a:srgbClr val="3A3A3A"/>
                </a:solidFill>
                <a:latin typeface="맑은 고딕"/>
                <a:ea typeface="맑은 고딕"/>
                <a:cs typeface="맑은 고딕"/>
              </a:rPr>
              <a:t>고장 후 20 s</a:t>
            </a:r>
          </a:p>
        </p:txBody>
      </p:sp>
      <p:sp>
        <p:nvSpPr>
          <p:cNvPr id="50" name="v5-content-intro"/>
          <p:cNvSpPr txBox="1"/>
          <p:nvPr/>
        </p:nvSpPr>
        <p:spPr>
          <a:xfrm>
            <a:off x="658368" y="1261872"/>
            <a:ext cx="10881360" cy="443198"/>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200" b="0" dirty="0">
                <a:solidFill>
                  <a:srgbClr val="3A3A3A"/>
                </a:solidFill>
                <a:latin typeface="맑은 고딕"/>
                <a:ea typeface="맑은 고딕"/>
                <a:cs typeface="맑은 고딕"/>
              </a:rPr>
              <a:t>Fixed는 시작부터 고장, onset은 보행 중 고장 발생을 뜻한다. 같은 명령·고장 조건에서 Teacher와 Student를 비교한다.
현재 onset </a:t>
            </a:r>
            <a:r>
              <a:rPr sz="1200" b="0" dirty="0" err="1">
                <a:solidFill>
                  <a:srgbClr val="3A3A3A"/>
                </a:solidFill>
                <a:latin typeface="맑은 고딕"/>
                <a:ea typeface="맑은 고딕"/>
                <a:cs typeface="맑은 고딕"/>
              </a:rPr>
              <a:t>평가는</a:t>
            </a:r>
            <a:r>
              <a:rPr lang="en-US" sz="1200" b="0" dirty="0">
                <a:solidFill>
                  <a:srgbClr val="3A3A3A"/>
                </a:solidFill>
                <a:latin typeface="맑은 고딕"/>
                <a:ea typeface="맑은 고딕"/>
                <a:cs typeface="맑은 고딕"/>
              </a:rPr>
              <a:t> </a:t>
            </a:r>
            <a:r>
              <a:rPr sz="1200" b="0" dirty="0">
                <a:solidFill>
                  <a:srgbClr val="3A3A3A"/>
                </a:solidFill>
                <a:latin typeface="맑은 고딕"/>
                <a:ea typeface="맑은 고딕"/>
                <a:cs typeface="맑은 고딕"/>
              </a:rPr>
              <a:t>2 / 5 / 10초에 단일 관절의 출력을 저하시키고 이후20초를 관찰한다.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23 | TF43000 </a:t>
            </a:r>
            <a:r>
              <a:rPr sz="2800" b="1" dirty="0" err="1">
                <a:solidFill>
                  <a:srgbClr val="111111"/>
                </a:solidFill>
                <a:latin typeface="맑은 고딕"/>
                <a:ea typeface="맑은 고딕"/>
                <a:cs typeface="맑은 고딕"/>
              </a:rPr>
              <a:t>학습</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결과</a:t>
            </a:r>
            <a:r>
              <a:rPr sz="800" b="0" baseline="30000" dirty="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TRAINING RESULT</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23 / 43</a:t>
            </a:r>
          </a:p>
        </p:txBody>
      </p:sp>
      <p:pic>
        <p:nvPicPr>
          <p:cNvPr id="20" name="Picture 19" descr="tf43000_training.png"/>
          <p:cNvPicPr>
            <a:picLocks noChangeAspect="1"/>
          </p:cNvPicPr>
          <p:nvPr/>
        </p:nvPicPr>
        <p:blipFill>
          <a:blip r:embed="rId3"/>
          <a:stretch>
            <a:fillRect/>
          </a:stretch>
        </p:blipFill>
        <p:spPr>
          <a:xfrm>
            <a:off x="548640" y="1843907"/>
            <a:ext cx="8458200" cy="3964980"/>
          </a:xfrm>
          <a:prstGeom prst="rect">
            <a:avLst/>
          </a:prstGeom>
        </p:spPr>
      </p:pic>
      <p:sp>
        <p:nvSpPr>
          <p:cNvPr id="9" name="Rectangle 8"/>
          <p:cNvSpPr/>
          <p:nvPr/>
        </p:nvSpPr>
        <p:spPr>
          <a:xfrm>
            <a:off x="9235440" y="1962668"/>
            <a:ext cx="2121408"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9363456" y="2057034"/>
            <a:ext cx="1865376" cy="196596"/>
          </a:xfrm>
          <a:prstGeom prst="rect">
            <a:avLst/>
          </a:prstGeom>
          <a:noFill/>
        </p:spPr>
        <p:txBody>
          <a:bodyPr wrap="square" lIns="36576" tIns="36576" rIns="36576" bIns="36576" anchor="t">
            <a:spAutoFit/>
          </a:bodyPr>
          <a:lstStyle/>
          <a:p>
            <a:pPr algn="l">
              <a:lnSpc>
                <a:spcPct val="100000"/>
              </a:lnSpc>
              <a:spcAft>
                <a:spcPts val="0"/>
              </a:spcAft>
            </a:pPr>
            <a:r>
              <a:rPr sz="900" b="0">
                <a:solidFill>
                  <a:srgbClr val="686868"/>
                </a:solidFill>
                <a:latin typeface="맑은 고딕"/>
                <a:ea typeface="맑은 고딕"/>
                <a:cs typeface="맑은 고딕"/>
              </a:rPr>
              <a:t>Reward · 직전 201회 평균</a:t>
            </a:r>
          </a:p>
        </p:txBody>
      </p:sp>
      <p:sp>
        <p:nvSpPr>
          <p:cNvPr id="11" name="TextBox 10"/>
          <p:cNvSpPr txBox="1"/>
          <p:nvPr/>
        </p:nvSpPr>
        <p:spPr>
          <a:xfrm>
            <a:off x="9363456" y="2277221"/>
            <a:ext cx="1865376"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19.94</a:t>
            </a:r>
          </a:p>
        </p:txBody>
      </p:sp>
      <p:sp>
        <p:nvSpPr>
          <p:cNvPr id="12" name="Rectangle 11"/>
          <p:cNvSpPr/>
          <p:nvPr/>
        </p:nvSpPr>
        <p:spPr>
          <a:xfrm>
            <a:off x="9235440" y="3016422"/>
            <a:ext cx="2121408"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TextBox 12"/>
          <p:cNvSpPr txBox="1"/>
          <p:nvPr/>
        </p:nvSpPr>
        <p:spPr>
          <a:xfrm>
            <a:off x="9363456" y="3110788"/>
            <a:ext cx="1865376" cy="196596"/>
          </a:xfrm>
          <a:prstGeom prst="rect">
            <a:avLst/>
          </a:prstGeom>
          <a:noFill/>
        </p:spPr>
        <p:txBody>
          <a:bodyPr wrap="square" lIns="36576" tIns="36576" rIns="36576" bIns="36576" anchor="t">
            <a:spAutoFit/>
          </a:bodyPr>
          <a:lstStyle/>
          <a:p>
            <a:pPr algn="l">
              <a:lnSpc>
                <a:spcPct val="100000"/>
              </a:lnSpc>
              <a:spcAft>
                <a:spcPts val="0"/>
              </a:spcAft>
            </a:pPr>
            <a:r>
              <a:rPr sz="900" b="0">
                <a:solidFill>
                  <a:srgbClr val="686868"/>
                </a:solidFill>
                <a:latin typeface="맑은 고딕"/>
                <a:ea typeface="맑은 고딕"/>
                <a:cs typeface="맑은 고딕"/>
              </a:rPr>
              <a:t>Episode · 직전 201회 평균</a:t>
            </a:r>
          </a:p>
        </p:txBody>
      </p:sp>
      <p:sp>
        <p:nvSpPr>
          <p:cNvPr id="14" name="TextBox 13"/>
          <p:cNvSpPr txBox="1"/>
          <p:nvPr/>
        </p:nvSpPr>
        <p:spPr>
          <a:xfrm>
            <a:off x="9363456" y="3330976"/>
            <a:ext cx="1865376"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980.6</a:t>
            </a:r>
          </a:p>
        </p:txBody>
      </p:sp>
      <p:sp>
        <p:nvSpPr>
          <p:cNvPr id="15" name="TextBox 14"/>
          <p:cNvSpPr txBox="1"/>
          <p:nvPr/>
        </p:nvSpPr>
        <p:spPr>
          <a:xfrm>
            <a:off x="9363456" y="3645529"/>
            <a:ext cx="1865376" cy="141549"/>
          </a:xfrm>
          <a:prstGeom prst="rect">
            <a:avLst/>
          </a:prstGeom>
          <a:noFill/>
        </p:spPr>
        <p:txBody>
          <a:bodyPr wrap="square" lIns="36576" tIns="36576" rIns="36576" bIns="36576" anchor="t">
            <a:spAutoFit/>
          </a:bodyPr>
          <a:lstStyle/>
          <a:p>
            <a:pPr algn="l">
              <a:lnSpc>
                <a:spcPct val="100000"/>
              </a:lnSpc>
              <a:spcAft>
                <a:spcPts val="0"/>
              </a:spcAft>
            </a:pPr>
            <a:r>
              <a:rPr sz="850" b="0">
                <a:solidFill>
                  <a:srgbClr val="686868"/>
                </a:solidFill>
                <a:latin typeface="맑은 고딕"/>
                <a:ea typeface="맑은 고딕"/>
                <a:cs typeface="맑은 고딕"/>
              </a:rPr>
              <a:t>max ≈ 1,000</a:t>
            </a:r>
          </a:p>
        </p:txBody>
      </p:sp>
      <p:sp>
        <p:nvSpPr>
          <p:cNvPr id="16" name="Rectangle 15"/>
          <p:cNvSpPr/>
          <p:nvPr/>
        </p:nvSpPr>
        <p:spPr>
          <a:xfrm>
            <a:off x="9235440" y="4070177"/>
            <a:ext cx="2121408"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7" name="TextBox 16"/>
          <p:cNvSpPr txBox="1"/>
          <p:nvPr/>
        </p:nvSpPr>
        <p:spPr>
          <a:xfrm>
            <a:off x="9363456" y="4164543"/>
            <a:ext cx="1865376" cy="196596"/>
          </a:xfrm>
          <a:prstGeom prst="rect">
            <a:avLst/>
          </a:prstGeom>
          <a:noFill/>
        </p:spPr>
        <p:txBody>
          <a:bodyPr wrap="square" lIns="36576" tIns="36576" rIns="36576" bIns="36576" anchor="t">
            <a:spAutoFit/>
          </a:bodyPr>
          <a:lstStyle/>
          <a:p>
            <a:pPr algn="l">
              <a:lnSpc>
                <a:spcPct val="100000"/>
              </a:lnSpc>
              <a:spcAft>
                <a:spcPts val="0"/>
              </a:spcAft>
            </a:pPr>
            <a:r>
              <a:rPr sz="1150" b="0">
                <a:solidFill>
                  <a:srgbClr val="686868"/>
                </a:solidFill>
                <a:latin typeface="맑은 고딕"/>
                <a:ea typeface="맑은 고딕"/>
                <a:cs typeface="맑은 고딕"/>
              </a:rPr>
              <a:t>Terrain level</a:t>
            </a:r>
          </a:p>
        </p:txBody>
      </p:sp>
      <p:sp>
        <p:nvSpPr>
          <p:cNvPr id="18" name="TextBox 17"/>
          <p:cNvSpPr txBox="1"/>
          <p:nvPr/>
        </p:nvSpPr>
        <p:spPr>
          <a:xfrm>
            <a:off x="9363456" y="4384730"/>
            <a:ext cx="1865376"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5.94</a:t>
            </a:r>
          </a:p>
        </p:txBody>
      </p:sp>
      <p:sp>
        <p:nvSpPr>
          <p:cNvPr id="19" name="TextBox 18"/>
          <p:cNvSpPr txBox="1"/>
          <p:nvPr/>
        </p:nvSpPr>
        <p:spPr>
          <a:xfrm>
            <a:off x="9162288" y="5218297"/>
            <a:ext cx="2331720" cy="267370"/>
          </a:xfrm>
          <a:prstGeom prst="rect">
            <a:avLst/>
          </a:prstGeom>
          <a:noFill/>
        </p:spPr>
        <p:txBody>
          <a:bodyPr wrap="square" lIns="36576" tIns="36576" rIns="36576" bIns="36576" anchor="t">
            <a:spAutoFit/>
          </a:bodyPr>
          <a:lstStyle/>
          <a:p>
            <a:pPr algn="ctr">
              <a:lnSpc>
                <a:spcPct val="100000"/>
              </a:lnSpc>
              <a:spcAft>
                <a:spcPts val="0"/>
              </a:spcAft>
            </a:pPr>
            <a:r>
              <a:rPr sz="1300" b="1">
                <a:solidFill>
                  <a:srgbClr val="111111"/>
                </a:solidFill>
                <a:latin typeface="맑은 고딕"/>
                <a:ea typeface="맑은 고딕"/>
                <a:cs typeface="맑은 고딕"/>
              </a:rPr>
              <a:t>Selected checkpoint · 43,000</a:t>
            </a:r>
          </a:p>
        </p:txBody>
      </p:sp>
      <p:sp>
        <p:nvSpPr>
          <p:cNvPr id="21" name="v5-content-intro"/>
          <p:cNvSpPr txBox="1"/>
          <p:nvPr/>
        </p:nvSpPr>
        <p:spPr>
          <a:xfrm>
            <a:off x="658368" y="1280160"/>
            <a:ext cx="10881360" cy="289310"/>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400" b="0" dirty="0" err="1">
                <a:solidFill>
                  <a:srgbClr val="3A3A3A"/>
                </a:solidFill>
                <a:latin typeface="맑은 고딕"/>
                <a:ea typeface="맑은 고딕"/>
                <a:cs typeface="맑은 고딕"/>
              </a:rPr>
              <a:t>고장</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환경에서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학습한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Teacher의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reward·episode</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길이·추종</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보상·지형</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난도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추이를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확인한다</a:t>
            </a:r>
            <a:r>
              <a:rPr sz="1400" b="0" dirty="0">
                <a:solidFill>
                  <a:srgbClr val="3A3A3A"/>
                </a:solidFill>
                <a:latin typeface="맑은 고딕"/>
                <a:ea typeface="맑은 고딕"/>
                <a:cs typeface="맑은 고딕"/>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24 | JT71500 학습 결과</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TRAINING RESULT</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24 / 43</a:t>
            </a:r>
          </a:p>
        </p:txBody>
      </p:sp>
      <p:pic>
        <p:nvPicPr>
          <p:cNvPr id="20" name="Picture 19" descr="jt71500_training.png"/>
          <p:cNvPicPr>
            <a:picLocks noChangeAspect="1"/>
          </p:cNvPicPr>
          <p:nvPr/>
        </p:nvPicPr>
        <p:blipFill>
          <a:blip r:embed="rId3"/>
          <a:stretch>
            <a:fillRect/>
          </a:stretch>
        </p:blipFill>
        <p:spPr>
          <a:xfrm>
            <a:off x="548640" y="1633478"/>
            <a:ext cx="8458200" cy="4503973"/>
          </a:xfrm>
          <a:prstGeom prst="rect">
            <a:avLst/>
          </a:prstGeom>
        </p:spPr>
      </p:pic>
      <p:sp>
        <p:nvSpPr>
          <p:cNvPr id="9" name="Rectangle 8"/>
          <p:cNvSpPr/>
          <p:nvPr/>
        </p:nvSpPr>
        <p:spPr>
          <a:xfrm>
            <a:off x="9235440" y="1962668"/>
            <a:ext cx="2121408"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9363456" y="2057034"/>
            <a:ext cx="1865376" cy="196596"/>
          </a:xfrm>
          <a:prstGeom prst="rect">
            <a:avLst/>
          </a:prstGeom>
          <a:noFill/>
        </p:spPr>
        <p:txBody>
          <a:bodyPr wrap="square" lIns="36576" tIns="36576" rIns="36576" bIns="36576" anchor="t">
            <a:spAutoFit/>
          </a:bodyPr>
          <a:lstStyle/>
          <a:p>
            <a:pPr algn="l">
              <a:lnSpc>
                <a:spcPct val="100000"/>
              </a:lnSpc>
              <a:spcAft>
                <a:spcPts val="0"/>
              </a:spcAft>
            </a:pPr>
            <a:r>
              <a:rPr sz="900" b="0">
                <a:solidFill>
                  <a:srgbClr val="686868"/>
                </a:solidFill>
                <a:latin typeface="맑은 고딕"/>
                <a:ea typeface="맑은 고딕"/>
                <a:cs typeface="맑은 고딕"/>
              </a:rPr>
              <a:t>Reward · 직전 201회 평균</a:t>
            </a:r>
          </a:p>
        </p:txBody>
      </p:sp>
      <p:sp>
        <p:nvSpPr>
          <p:cNvPr id="11" name="TextBox 10"/>
          <p:cNvSpPr txBox="1"/>
          <p:nvPr/>
        </p:nvSpPr>
        <p:spPr>
          <a:xfrm>
            <a:off x="9363456" y="2277221"/>
            <a:ext cx="1865376"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19.46</a:t>
            </a:r>
          </a:p>
        </p:txBody>
      </p:sp>
      <p:sp>
        <p:nvSpPr>
          <p:cNvPr id="12" name="Rectangle 11"/>
          <p:cNvSpPr/>
          <p:nvPr/>
        </p:nvSpPr>
        <p:spPr>
          <a:xfrm>
            <a:off x="9235440" y="3016422"/>
            <a:ext cx="2121408"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TextBox 12"/>
          <p:cNvSpPr txBox="1"/>
          <p:nvPr/>
        </p:nvSpPr>
        <p:spPr>
          <a:xfrm>
            <a:off x="9363456" y="3110788"/>
            <a:ext cx="1865376" cy="196596"/>
          </a:xfrm>
          <a:prstGeom prst="rect">
            <a:avLst/>
          </a:prstGeom>
          <a:noFill/>
        </p:spPr>
        <p:txBody>
          <a:bodyPr wrap="square" lIns="36576" tIns="36576" rIns="36576" bIns="36576" anchor="t">
            <a:spAutoFit/>
          </a:bodyPr>
          <a:lstStyle/>
          <a:p>
            <a:pPr algn="l">
              <a:lnSpc>
                <a:spcPct val="100000"/>
              </a:lnSpc>
              <a:spcAft>
                <a:spcPts val="0"/>
              </a:spcAft>
            </a:pPr>
            <a:r>
              <a:rPr sz="900" b="0">
                <a:solidFill>
                  <a:srgbClr val="686868"/>
                </a:solidFill>
                <a:latin typeface="맑은 고딕"/>
                <a:ea typeface="맑은 고딕"/>
                <a:cs typeface="맑은 고딕"/>
              </a:rPr>
              <a:t>Episode · 직전 201회 평균</a:t>
            </a:r>
          </a:p>
        </p:txBody>
      </p:sp>
      <p:sp>
        <p:nvSpPr>
          <p:cNvPr id="14" name="TextBox 13"/>
          <p:cNvSpPr txBox="1"/>
          <p:nvPr/>
        </p:nvSpPr>
        <p:spPr>
          <a:xfrm>
            <a:off x="9363456" y="3330976"/>
            <a:ext cx="1865376"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988.6</a:t>
            </a:r>
          </a:p>
        </p:txBody>
      </p:sp>
      <p:sp>
        <p:nvSpPr>
          <p:cNvPr id="15" name="TextBox 14"/>
          <p:cNvSpPr txBox="1"/>
          <p:nvPr/>
        </p:nvSpPr>
        <p:spPr>
          <a:xfrm>
            <a:off x="9363456" y="3645529"/>
            <a:ext cx="1865376" cy="141549"/>
          </a:xfrm>
          <a:prstGeom prst="rect">
            <a:avLst/>
          </a:prstGeom>
          <a:noFill/>
        </p:spPr>
        <p:txBody>
          <a:bodyPr wrap="square" lIns="36576" tIns="36576" rIns="36576" bIns="36576" anchor="t">
            <a:spAutoFit/>
          </a:bodyPr>
          <a:lstStyle/>
          <a:p>
            <a:pPr algn="l">
              <a:lnSpc>
                <a:spcPct val="100000"/>
              </a:lnSpc>
              <a:spcAft>
                <a:spcPts val="0"/>
              </a:spcAft>
            </a:pPr>
            <a:r>
              <a:rPr sz="850" b="0">
                <a:solidFill>
                  <a:srgbClr val="686868"/>
                </a:solidFill>
                <a:latin typeface="맑은 고딕"/>
                <a:ea typeface="맑은 고딕"/>
                <a:cs typeface="맑은 고딕"/>
              </a:rPr>
              <a:t>Student-only</a:t>
            </a:r>
          </a:p>
        </p:txBody>
      </p:sp>
      <p:sp>
        <p:nvSpPr>
          <p:cNvPr id="16" name="Rectangle 15"/>
          <p:cNvSpPr/>
          <p:nvPr/>
        </p:nvSpPr>
        <p:spPr>
          <a:xfrm>
            <a:off x="9235440" y="4070177"/>
            <a:ext cx="2121408" cy="825703"/>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7" name="TextBox 16"/>
          <p:cNvSpPr txBox="1"/>
          <p:nvPr/>
        </p:nvSpPr>
        <p:spPr>
          <a:xfrm>
            <a:off x="9363456" y="4164543"/>
            <a:ext cx="1865376" cy="196596"/>
          </a:xfrm>
          <a:prstGeom prst="rect">
            <a:avLst/>
          </a:prstGeom>
          <a:noFill/>
        </p:spPr>
        <p:txBody>
          <a:bodyPr wrap="square" lIns="36576" tIns="36576" rIns="36576" bIns="36576" anchor="t">
            <a:spAutoFit/>
          </a:bodyPr>
          <a:lstStyle/>
          <a:p>
            <a:pPr algn="l">
              <a:lnSpc>
                <a:spcPct val="100000"/>
              </a:lnSpc>
              <a:spcAft>
                <a:spcPts val="0"/>
              </a:spcAft>
            </a:pPr>
            <a:r>
              <a:rPr sz="1150" b="0">
                <a:solidFill>
                  <a:srgbClr val="686868"/>
                </a:solidFill>
                <a:latin typeface="맑은 고딕"/>
                <a:ea typeface="맑은 고딕"/>
                <a:cs typeface="맑은 고딕"/>
              </a:rPr>
              <a:t>Fusion α</a:t>
            </a:r>
          </a:p>
        </p:txBody>
      </p:sp>
      <p:sp>
        <p:nvSpPr>
          <p:cNvPr id="18" name="TextBox 17"/>
          <p:cNvSpPr txBox="1"/>
          <p:nvPr/>
        </p:nvSpPr>
        <p:spPr>
          <a:xfrm>
            <a:off x="9363456" y="4384730"/>
            <a:ext cx="1865376" cy="290962"/>
          </a:xfrm>
          <a:prstGeom prst="rect">
            <a:avLst/>
          </a:prstGeom>
          <a:noFill/>
        </p:spPr>
        <p:txBody>
          <a:bodyPr wrap="square" lIns="36576" tIns="36576" rIns="36576" bIns="36576" anchor="t">
            <a:spAutoFit/>
          </a:bodyPr>
          <a:lstStyle/>
          <a:p>
            <a:pPr algn="l">
              <a:lnSpc>
                <a:spcPct val="100000"/>
              </a:lnSpc>
              <a:spcAft>
                <a:spcPts val="0"/>
              </a:spcAft>
            </a:pPr>
            <a:r>
              <a:rPr sz="2200" b="1">
                <a:solidFill>
                  <a:srgbClr val="111111"/>
                </a:solidFill>
                <a:latin typeface="맑은 고딕"/>
                <a:ea typeface="맑은 고딕"/>
                <a:cs typeface="맑은 고딕"/>
              </a:rPr>
              <a:t>1.0</a:t>
            </a:r>
          </a:p>
        </p:txBody>
      </p:sp>
      <p:sp>
        <p:nvSpPr>
          <p:cNvPr id="19" name="TextBox 18"/>
          <p:cNvSpPr txBox="1"/>
          <p:nvPr/>
        </p:nvSpPr>
        <p:spPr>
          <a:xfrm>
            <a:off x="9162288" y="5218297"/>
            <a:ext cx="2331720" cy="267370"/>
          </a:xfrm>
          <a:prstGeom prst="rect">
            <a:avLst/>
          </a:prstGeom>
          <a:noFill/>
        </p:spPr>
        <p:txBody>
          <a:bodyPr wrap="square" lIns="36576" tIns="36576" rIns="36576" bIns="36576" anchor="t">
            <a:spAutoFit/>
          </a:bodyPr>
          <a:lstStyle/>
          <a:p>
            <a:pPr algn="ctr">
              <a:lnSpc>
                <a:spcPct val="100000"/>
              </a:lnSpc>
              <a:spcAft>
                <a:spcPts val="0"/>
              </a:spcAft>
            </a:pPr>
            <a:r>
              <a:rPr sz="1300" b="1">
                <a:solidFill>
                  <a:srgbClr val="111111"/>
                </a:solidFill>
                <a:latin typeface="맑은 고딕"/>
                <a:ea typeface="맑은 고딕"/>
                <a:cs typeface="맑은 고딕"/>
              </a:rPr>
              <a:t>Selected checkpoint · 71,500</a:t>
            </a:r>
          </a:p>
        </p:txBody>
      </p:sp>
      <p:sp>
        <p:nvSpPr>
          <p:cNvPr id="21" name="v5-content-intro"/>
          <p:cNvSpPr txBox="1"/>
          <p:nvPr/>
        </p:nvSpPr>
        <p:spPr>
          <a:xfrm>
            <a:off x="658368" y="1280160"/>
            <a:ext cx="10881360" cy="289310"/>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400" b="0" dirty="0">
                <a:solidFill>
                  <a:srgbClr val="3A3A3A"/>
                </a:solidFill>
                <a:latin typeface="맑은 고딕"/>
                <a:ea typeface="맑은 고딕"/>
                <a:cs typeface="맑은 고딕"/>
              </a:rPr>
              <a:t>43,000에서 </a:t>
            </a:r>
            <a:r>
              <a:rPr sz="1400" b="0" dirty="0" err="1">
                <a:solidFill>
                  <a:srgbClr val="3A3A3A"/>
                </a:solidFill>
                <a:latin typeface="맑은 고딕"/>
                <a:ea typeface="맑은 고딕"/>
                <a:cs typeface="맑은 고딕"/>
              </a:rPr>
              <a:t>Teacher로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초기화하고</a:t>
            </a:r>
            <a:r>
              <a:rPr sz="1400" b="0" dirty="0">
                <a:solidFill>
                  <a:srgbClr val="3A3A3A"/>
                </a:solidFill>
                <a:latin typeface="맑은 고딕"/>
                <a:ea typeface="맑은 고딕"/>
                <a:cs typeface="맑은 고딕"/>
              </a:rPr>
              <a:t>, 53,000부터 Student </a:t>
            </a:r>
            <a:r>
              <a:rPr sz="1400" b="0" dirty="0" err="1">
                <a:solidFill>
                  <a:srgbClr val="3A3A3A"/>
                </a:solidFill>
                <a:latin typeface="맑은 고딕"/>
                <a:ea typeface="맑은 고딕"/>
                <a:cs typeface="맑은 고딕"/>
              </a:rPr>
              <a:t>특징만</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사용한다</a:t>
            </a:r>
            <a:r>
              <a:rPr sz="1400" b="0" dirty="0">
                <a:solidFill>
                  <a:srgbClr val="3A3A3A"/>
                </a:solidFill>
                <a:latin typeface="맑은 고딕"/>
                <a:ea typeface="맑은 고딕"/>
                <a:cs typeface="맑은 고딕"/>
              </a:rPr>
              <a:t>. 71,500은 </a:t>
            </a:r>
            <a:r>
              <a:rPr sz="1400" b="0" dirty="0" err="1">
                <a:solidFill>
                  <a:srgbClr val="3A3A3A"/>
                </a:solidFill>
                <a:latin typeface="맑은 고딕"/>
                <a:ea typeface="맑은 고딕"/>
                <a:cs typeface="맑은 고딕"/>
              </a:rPr>
              <a:t>별도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평가로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선택</a:t>
            </a:r>
            <a:r>
              <a:rPr sz="1400" b="0" dirty="0">
                <a:solidFill>
                  <a:srgbClr val="3A3A3A"/>
                </a:solidFill>
                <a:latin typeface="맑은 고딕"/>
                <a:ea typeface="맑은 고딕"/>
                <a:cs typeface="맑은 고딕"/>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25 | </a:t>
            </a:r>
            <a:r>
              <a:rPr sz="2800" b="1" dirty="0" err="1">
                <a:solidFill>
                  <a:srgbClr val="111111"/>
                </a:solidFill>
                <a:latin typeface="맑은 고딕"/>
                <a:ea typeface="맑은 고딕"/>
                <a:cs typeface="맑은 고딕"/>
              </a:rPr>
              <a:t>공동학습</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초기</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구간</a:t>
            </a:r>
            <a:r>
              <a:rPr sz="800" b="0" baseline="30000" dirty="0">
                <a:solidFill>
                  <a:srgbClr val="686868"/>
                </a:solidFill>
                <a:latin typeface="맑은 고딕"/>
                <a:ea typeface="맑은 고딕"/>
                <a:cs typeface="맑은 고딕"/>
              </a:rPr>
              <a:t>  </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TRAINING RESULT</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1300" b="1">
                <a:solidFill>
                  <a:srgbClr val="686868"/>
                </a:solidFill>
                <a:latin typeface="맑은 고딕"/>
                <a:ea typeface="맑은 고딕"/>
                <a:cs typeface="맑은 고딕"/>
              </a:rPr>
              <a:t>25 / 43</a:t>
            </a:r>
          </a:p>
        </p:txBody>
      </p:sp>
      <p:sp>
        <p:nvSpPr>
          <p:cNvPr id="8" name="v5-content-intro"/>
          <p:cNvSpPr txBox="1"/>
          <p:nvPr/>
        </p:nvSpPr>
        <p:spPr>
          <a:xfrm>
            <a:off x="658368" y="1280160"/>
            <a:ext cx="10881360" cy="289310"/>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400" b="0" dirty="0" err="1">
                <a:solidFill>
                  <a:srgbClr val="3A3A3A"/>
                </a:solidFill>
                <a:latin typeface="맑은 고딕"/>
                <a:ea typeface="맑은 고딕"/>
                <a:cs typeface="맑은 고딕"/>
              </a:rPr>
              <a:t>초기</a:t>
            </a:r>
            <a:r>
              <a:rPr sz="1400" b="0" dirty="0">
                <a:solidFill>
                  <a:srgbClr val="3A3A3A"/>
                </a:solidFill>
                <a:latin typeface="맑은 고딕"/>
                <a:ea typeface="맑은 고딕"/>
                <a:cs typeface="맑은 고딕"/>
              </a:rPr>
              <a:t> reward </a:t>
            </a:r>
            <a:r>
              <a:rPr sz="1400" b="0" dirty="0" err="1">
                <a:solidFill>
                  <a:srgbClr val="3A3A3A"/>
                </a:solidFill>
                <a:latin typeface="맑은 고딕"/>
                <a:ea typeface="맑은 고딕"/>
                <a:cs typeface="맑은 고딕"/>
              </a:rPr>
              <a:t>상승은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Teacher가</a:t>
            </a:r>
            <a:r>
              <a:rPr sz="1400" b="0" dirty="0">
                <a:solidFill>
                  <a:srgbClr val="3A3A3A"/>
                </a:solidFill>
                <a:latin typeface="맑은 고딕"/>
                <a:ea typeface="맑은 고딕"/>
                <a:cs typeface="맑은 고딕"/>
              </a:rPr>
              <a:t> 80–100% </a:t>
            </a:r>
            <a:r>
              <a:rPr sz="1400" b="0" dirty="0" err="1">
                <a:solidFill>
                  <a:srgbClr val="3A3A3A"/>
                </a:solidFill>
                <a:latin typeface="맑은 고딕"/>
                <a:ea typeface="맑은 고딕"/>
                <a:cs typeface="맑은 고딕"/>
              </a:rPr>
              <a:t>혼합된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정책의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결과다</a:t>
            </a:r>
            <a:r>
              <a:rPr sz="1400" b="0" dirty="0">
                <a:solidFill>
                  <a:srgbClr val="3A3A3A"/>
                </a:solidFill>
                <a:latin typeface="맑은 고딕"/>
                <a:ea typeface="맑은 고딕"/>
                <a:cs typeface="맑은 고딕"/>
              </a:rPr>
              <a:t>. Student </a:t>
            </a:r>
            <a:r>
              <a:rPr sz="1400" b="0" dirty="0" err="1">
                <a:solidFill>
                  <a:srgbClr val="3A3A3A"/>
                </a:solidFill>
                <a:latin typeface="맑은 고딕"/>
                <a:ea typeface="맑은 고딕"/>
                <a:cs typeface="맑은 고딕"/>
              </a:rPr>
              <a:t>단독</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성능은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별도</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평가로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확인한다</a:t>
            </a:r>
            <a:r>
              <a:rPr sz="1400" b="0" dirty="0">
                <a:solidFill>
                  <a:srgbClr val="3A3A3A"/>
                </a:solidFill>
                <a:latin typeface="맑은 고딕"/>
                <a:ea typeface="맑은 고딕"/>
                <a:cs typeface="맑은 고딕"/>
              </a:rPr>
              <a:t>.</a:t>
            </a:r>
          </a:p>
        </p:txBody>
      </p:sp>
      <p:pic>
        <p:nvPicPr>
          <p:cNvPr id="9" name="Picture 8" descr="jt43000_45000_zoom_v5.png"/>
          <p:cNvPicPr>
            <a:picLocks noChangeAspect="1"/>
          </p:cNvPicPr>
          <p:nvPr/>
        </p:nvPicPr>
        <p:blipFill>
          <a:blip r:embed="rId3"/>
          <a:stretch>
            <a:fillRect/>
          </a:stretch>
        </p:blipFill>
        <p:spPr>
          <a:xfrm>
            <a:off x="576072" y="1887092"/>
            <a:ext cx="8366760" cy="4043934"/>
          </a:xfrm>
          <a:prstGeom prst="rect">
            <a:avLst/>
          </a:prstGeom>
        </p:spPr>
      </p:pic>
      <p:sp>
        <p:nvSpPr>
          <p:cNvPr id="10" name="Rectangle 9"/>
          <p:cNvSpPr/>
          <p:nvPr/>
        </p:nvSpPr>
        <p:spPr>
          <a:xfrm>
            <a:off x="9107424" y="1901952"/>
            <a:ext cx="2450592" cy="1673352"/>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1" name="TextBox 10"/>
          <p:cNvSpPr txBox="1"/>
          <p:nvPr/>
        </p:nvSpPr>
        <p:spPr>
          <a:xfrm>
            <a:off x="9272016" y="2048256"/>
            <a:ext cx="2121408" cy="347472"/>
          </a:xfrm>
          <a:prstGeom prst="rect">
            <a:avLst/>
          </a:prstGeom>
          <a:noFill/>
        </p:spPr>
        <p:txBody>
          <a:bodyPr wrap="square" lIns="36576" tIns="36576" rIns="36576" bIns="36576" anchor="t">
            <a:spAutoFit/>
          </a:bodyPr>
          <a:lstStyle/>
          <a:p>
            <a:pPr algn="l">
              <a:lnSpc>
                <a:spcPct val="100000"/>
              </a:lnSpc>
              <a:spcAft>
                <a:spcPts val="0"/>
              </a:spcAft>
            </a:pPr>
            <a:r>
              <a:rPr sz="1300" b="1">
                <a:solidFill>
                  <a:srgbClr val="111111"/>
                </a:solidFill>
                <a:latin typeface="맑은 고딕"/>
                <a:ea typeface="맑은 고딕"/>
                <a:cs typeface="맑은 고딕"/>
              </a:rPr>
              <a:t>초기 구간 해석</a:t>
            </a:r>
          </a:p>
        </p:txBody>
      </p:sp>
      <p:sp>
        <p:nvSpPr>
          <p:cNvPr id="12" name="TextBox 11"/>
          <p:cNvSpPr txBox="1"/>
          <p:nvPr/>
        </p:nvSpPr>
        <p:spPr>
          <a:xfrm>
            <a:off x="9272016" y="2505456"/>
            <a:ext cx="2121408" cy="941832"/>
          </a:xfrm>
          <a:prstGeom prst="rect">
            <a:avLst/>
          </a:prstGeom>
          <a:noFill/>
        </p:spPr>
        <p:txBody>
          <a:bodyPr wrap="square" lIns="36576" tIns="36576" rIns="36576" bIns="36576" anchor="t">
            <a:spAutoFit/>
          </a:bodyPr>
          <a:lstStyle/>
          <a:p>
            <a:pPr algn="l">
              <a:lnSpc>
                <a:spcPct val="100000"/>
              </a:lnSpc>
              <a:spcAft>
                <a:spcPts val="0"/>
              </a:spcAft>
            </a:pPr>
            <a:r>
              <a:rPr sz="1300" b="0">
                <a:solidFill>
                  <a:srgbClr val="3A3A3A"/>
                </a:solidFill>
                <a:latin typeface="맑은 고딕"/>
                <a:ea typeface="맑은 고딕"/>
                <a:cs typeface="맑은 고딕"/>
              </a:rPr>
              <a:t>43,000 → 45,000
Student 비중 0 → 0.2
Teacher 비중 1 → 0.8</a:t>
            </a:r>
          </a:p>
        </p:txBody>
      </p:sp>
      <p:sp>
        <p:nvSpPr>
          <p:cNvPr id="13" name="Rectangle 12"/>
          <p:cNvSpPr/>
          <p:nvPr/>
        </p:nvSpPr>
        <p:spPr>
          <a:xfrm>
            <a:off x="9107424" y="3840480"/>
            <a:ext cx="2450592" cy="1682496"/>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9272016" y="3986784"/>
            <a:ext cx="2121408" cy="347472"/>
          </a:xfrm>
          <a:prstGeom prst="rect">
            <a:avLst/>
          </a:prstGeom>
          <a:noFill/>
        </p:spPr>
        <p:txBody>
          <a:bodyPr wrap="square" lIns="36576" tIns="36576" rIns="36576" bIns="36576" anchor="t">
            <a:spAutoFit/>
          </a:bodyPr>
          <a:lstStyle/>
          <a:p>
            <a:pPr algn="l">
              <a:lnSpc>
                <a:spcPct val="100000"/>
              </a:lnSpc>
              <a:spcAft>
                <a:spcPts val="0"/>
              </a:spcAft>
            </a:pPr>
            <a:r>
              <a:rPr sz="1200" b="1">
                <a:solidFill>
                  <a:srgbClr val="111111"/>
                </a:solidFill>
                <a:latin typeface="맑은 고딕"/>
                <a:ea typeface="맑은 고딕"/>
                <a:cs typeface="맑은 고딕"/>
              </a:rPr>
              <a:t>Student 단독 회복률</a:t>
            </a:r>
          </a:p>
        </p:txBody>
      </p:sp>
      <p:sp>
        <p:nvSpPr>
          <p:cNvPr id="15" name="TextBox 14"/>
          <p:cNvSpPr txBox="1"/>
          <p:nvPr/>
        </p:nvSpPr>
        <p:spPr>
          <a:xfrm>
            <a:off x="9272016" y="4443984"/>
            <a:ext cx="2121408" cy="950976"/>
          </a:xfrm>
          <a:prstGeom prst="rect">
            <a:avLst/>
          </a:prstGeom>
          <a:noFill/>
        </p:spPr>
        <p:txBody>
          <a:bodyPr wrap="square" lIns="36576" tIns="36576" rIns="36576" bIns="36576" anchor="t">
            <a:spAutoFit/>
          </a:bodyPr>
          <a:lstStyle/>
          <a:p>
            <a:pPr algn="l">
              <a:lnSpc>
                <a:spcPct val="100000"/>
              </a:lnSpc>
              <a:spcAft>
                <a:spcPts val="0"/>
              </a:spcAft>
            </a:pPr>
            <a:r>
              <a:rPr sz="1300" b="0">
                <a:solidFill>
                  <a:srgbClr val="3A3A3A"/>
                </a:solidFill>
                <a:latin typeface="맑은 고딕"/>
                <a:ea typeface="맑은 고딕"/>
                <a:cs typeface="맑은 고딕"/>
              </a:rPr>
              <a:t>JT45000: 38.82%
JT71500: 81.66%
동일 onset 조건 별도 평가</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26 | 최종 정량 결과</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EVALUATION RESULT</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26 / 43</a:t>
            </a:r>
          </a:p>
        </p:txBody>
      </p:sp>
      <p:sp>
        <p:nvSpPr>
          <p:cNvPr id="8" name="Rectangle 7"/>
          <p:cNvSpPr/>
          <p:nvPr/>
        </p:nvSpPr>
        <p:spPr>
          <a:xfrm>
            <a:off x="502920" y="2135672"/>
            <a:ext cx="2971800" cy="424647"/>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9" name="TextBox 8"/>
          <p:cNvSpPr txBox="1"/>
          <p:nvPr/>
        </p:nvSpPr>
        <p:spPr>
          <a:xfrm>
            <a:off x="576072" y="2167127"/>
            <a:ext cx="2825496" cy="361736"/>
          </a:xfrm>
          <a:prstGeom prst="rect">
            <a:avLst/>
          </a:prstGeom>
          <a:noFill/>
        </p:spPr>
        <p:txBody>
          <a:bodyPr wrap="square" lIns="9144" tIns="9144" rIns="9144" bIns="9144" anchor="ctr">
            <a:spAutoFit/>
          </a:bodyPr>
          <a:lstStyle/>
          <a:p>
            <a:pPr algn="ctr">
              <a:lnSpc>
                <a:spcPct val="100000"/>
              </a:lnSpc>
              <a:spcAft>
                <a:spcPts val="0"/>
              </a:spcAft>
            </a:pPr>
            <a:r>
              <a:rPr sz="1190" b="1">
                <a:solidFill>
                  <a:srgbClr val="FFFFFF"/>
                </a:solidFill>
                <a:latin typeface="맑은 고딕"/>
                <a:ea typeface="맑은 고딕"/>
                <a:cs typeface="맑은 고딕"/>
              </a:rPr>
              <a:t>지표</a:t>
            </a:r>
          </a:p>
        </p:txBody>
      </p:sp>
      <p:sp>
        <p:nvSpPr>
          <p:cNvPr id="10" name="Rectangle 9"/>
          <p:cNvSpPr/>
          <p:nvPr/>
        </p:nvSpPr>
        <p:spPr>
          <a:xfrm>
            <a:off x="3474720" y="2135672"/>
            <a:ext cx="1874519" cy="424647"/>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1" name="TextBox 10"/>
          <p:cNvSpPr txBox="1"/>
          <p:nvPr/>
        </p:nvSpPr>
        <p:spPr>
          <a:xfrm>
            <a:off x="3547872" y="2167127"/>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1">
                <a:solidFill>
                  <a:srgbClr val="FFFFFF"/>
                </a:solidFill>
                <a:latin typeface="맑은 고딕"/>
                <a:ea typeface="맑은 고딕"/>
                <a:cs typeface="맑은 고딕"/>
              </a:rPr>
              <a:t>TF43000</a:t>
            </a:r>
          </a:p>
        </p:txBody>
      </p:sp>
      <p:sp>
        <p:nvSpPr>
          <p:cNvPr id="12" name="Rectangle 11"/>
          <p:cNvSpPr/>
          <p:nvPr/>
        </p:nvSpPr>
        <p:spPr>
          <a:xfrm>
            <a:off x="5349240" y="2135672"/>
            <a:ext cx="1874519" cy="424647"/>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TextBox 12"/>
          <p:cNvSpPr txBox="1"/>
          <p:nvPr/>
        </p:nvSpPr>
        <p:spPr>
          <a:xfrm>
            <a:off x="5422392" y="2167127"/>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1">
                <a:solidFill>
                  <a:srgbClr val="FFFFFF"/>
                </a:solidFill>
                <a:latin typeface="맑은 고딕"/>
                <a:ea typeface="맑은 고딕"/>
                <a:cs typeface="맑은 고딕"/>
              </a:rPr>
              <a:t>JT71500</a:t>
            </a:r>
          </a:p>
        </p:txBody>
      </p:sp>
      <p:sp>
        <p:nvSpPr>
          <p:cNvPr id="14" name="Rectangle 13"/>
          <p:cNvSpPr/>
          <p:nvPr/>
        </p:nvSpPr>
        <p:spPr>
          <a:xfrm>
            <a:off x="7223759" y="2135672"/>
            <a:ext cx="2194560" cy="424647"/>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5" name="TextBox 14"/>
          <p:cNvSpPr txBox="1"/>
          <p:nvPr/>
        </p:nvSpPr>
        <p:spPr>
          <a:xfrm>
            <a:off x="7296912" y="2167127"/>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1">
                <a:solidFill>
                  <a:srgbClr val="FFFFFF"/>
                </a:solidFill>
                <a:latin typeface="맑은 고딕"/>
                <a:ea typeface="맑은 고딕"/>
                <a:cs typeface="맑은 고딕"/>
              </a:rPr>
              <a:t>차이</a:t>
            </a:r>
          </a:p>
        </p:txBody>
      </p:sp>
      <p:sp>
        <p:nvSpPr>
          <p:cNvPr id="16" name="Rectangle 15"/>
          <p:cNvSpPr/>
          <p:nvPr/>
        </p:nvSpPr>
        <p:spPr>
          <a:xfrm>
            <a:off x="502920" y="2560319"/>
            <a:ext cx="297180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7" name="TextBox 16"/>
          <p:cNvSpPr txBox="1"/>
          <p:nvPr/>
        </p:nvSpPr>
        <p:spPr>
          <a:xfrm>
            <a:off x="576072" y="2671846"/>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Fixed survival</a:t>
            </a:r>
            <a:r>
              <a:rPr lang="en-US" altLang="ko-KR" sz="1190" b="1" dirty="0">
                <a:solidFill>
                  <a:srgbClr val="3A3A3A"/>
                </a:solidFill>
                <a:latin typeface="맑은 고딕"/>
                <a:ea typeface="맑은 고딕"/>
                <a:cs typeface="맑은 고딕"/>
              </a:rPr>
              <a:t> ↑</a:t>
            </a:r>
            <a:endParaRPr sz="1190" b="1" dirty="0">
              <a:solidFill>
                <a:srgbClr val="3A3A3A"/>
              </a:solidFill>
              <a:latin typeface="맑은 고딕"/>
              <a:ea typeface="맑은 고딕"/>
              <a:cs typeface="맑은 고딕"/>
            </a:endParaRPr>
          </a:p>
        </p:txBody>
      </p:sp>
      <p:sp>
        <p:nvSpPr>
          <p:cNvPr id="18" name="Rectangle 17"/>
          <p:cNvSpPr/>
          <p:nvPr/>
        </p:nvSpPr>
        <p:spPr>
          <a:xfrm>
            <a:off x="3474720" y="2560319"/>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9" name="TextBox 18"/>
          <p:cNvSpPr txBox="1"/>
          <p:nvPr/>
        </p:nvSpPr>
        <p:spPr>
          <a:xfrm>
            <a:off x="3547872" y="2591775"/>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95.37%</a:t>
            </a:r>
          </a:p>
        </p:txBody>
      </p:sp>
      <p:sp>
        <p:nvSpPr>
          <p:cNvPr id="20" name="Rectangle 19"/>
          <p:cNvSpPr/>
          <p:nvPr/>
        </p:nvSpPr>
        <p:spPr>
          <a:xfrm>
            <a:off x="5349240" y="2560319"/>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1" name="TextBox 20"/>
          <p:cNvSpPr txBox="1"/>
          <p:nvPr/>
        </p:nvSpPr>
        <p:spPr>
          <a:xfrm>
            <a:off x="5422392" y="2671846"/>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95.63%</a:t>
            </a:r>
          </a:p>
        </p:txBody>
      </p:sp>
      <p:sp>
        <p:nvSpPr>
          <p:cNvPr id="22" name="Rectangle 21"/>
          <p:cNvSpPr/>
          <p:nvPr/>
        </p:nvSpPr>
        <p:spPr>
          <a:xfrm>
            <a:off x="7223759" y="2560319"/>
            <a:ext cx="219456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3" name="TextBox 22"/>
          <p:cNvSpPr txBox="1"/>
          <p:nvPr/>
        </p:nvSpPr>
        <p:spPr>
          <a:xfrm>
            <a:off x="7296912" y="2591775"/>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+0.26%p</a:t>
            </a:r>
          </a:p>
        </p:txBody>
      </p:sp>
      <p:sp>
        <p:nvSpPr>
          <p:cNvPr id="24" name="Rectangle 23"/>
          <p:cNvSpPr/>
          <p:nvPr/>
        </p:nvSpPr>
        <p:spPr>
          <a:xfrm>
            <a:off x="502920" y="2984967"/>
            <a:ext cx="297180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5" name="TextBox 24"/>
          <p:cNvSpPr txBox="1"/>
          <p:nvPr/>
        </p:nvSpPr>
        <p:spPr>
          <a:xfrm>
            <a:off x="576072" y="3096493"/>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Fixed </a:t>
            </a:r>
            <a:r>
              <a:rPr sz="1190" b="1" dirty="0" err="1">
                <a:solidFill>
                  <a:srgbClr val="3A3A3A"/>
                </a:solidFill>
                <a:latin typeface="맑은 고딕"/>
                <a:ea typeface="맑은 고딕"/>
                <a:cs typeface="맑은 고딕"/>
              </a:rPr>
              <a:t>완전</a:t>
            </a:r>
            <a:r>
              <a:rPr sz="1190" b="1" dirty="0">
                <a:solidFill>
                  <a:srgbClr val="3A3A3A"/>
                </a:solidFill>
                <a:latin typeface="맑은 고딕"/>
                <a:ea typeface="맑은 고딕"/>
                <a:cs typeface="맑은 고딕"/>
              </a:rPr>
              <a:t> </a:t>
            </a:r>
            <a:r>
              <a:rPr sz="1190" b="1" dirty="0" err="1">
                <a:solidFill>
                  <a:srgbClr val="3A3A3A"/>
                </a:solidFill>
                <a:latin typeface="맑은 고딕"/>
                <a:ea typeface="맑은 고딕"/>
                <a:cs typeface="맑은 고딕"/>
              </a:rPr>
              <a:t>상실</a:t>
            </a:r>
            <a:r>
              <a:rPr sz="1190" b="1" dirty="0">
                <a:solidFill>
                  <a:srgbClr val="3A3A3A"/>
                </a:solidFill>
                <a:latin typeface="맑은 고딕"/>
                <a:ea typeface="맑은 고딕"/>
                <a:cs typeface="맑은 고딕"/>
              </a:rPr>
              <a:t> </a:t>
            </a:r>
            <a:r>
              <a:rPr sz="1190" b="1" dirty="0" err="1">
                <a:solidFill>
                  <a:srgbClr val="3A3A3A"/>
                </a:solidFill>
                <a:latin typeface="맑은 고딕"/>
                <a:ea typeface="맑은 고딕"/>
                <a:cs typeface="맑은 고딕"/>
              </a:rPr>
              <a:t>생존율</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26" name="Rectangle 25"/>
          <p:cNvSpPr/>
          <p:nvPr/>
        </p:nvSpPr>
        <p:spPr>
          <a:xfrm>
            <a:off x="3474720" y="2984967"/>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7" name="TextBox 26"/>
          <p:cNvSpPr txBox="1"/>
          <p:nvPr/>
        </p:nvSpPr>
        <p:spPr>
          <a:xfrm>
            <a:off x="3547872" y="3016422"/>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88.37%</a:t>
            </a:r>
          </a:p>
        </p:txBody>
      </p:sp>
      <p:sp>
        <p:nvSpPr>
          <p:cNvPr id="28" name="Rectangle 27"/>
          <p:cNvSpPr/>
          <p:nvPr/>
        </p:nvSpPr>
        <p:spPr>
          <a:xfrm>
            <a:off x="5349240" y="2984967"/>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9" name="TextBox 28"/>
          <p:cNvSpPr txBox="1"/>
          <p:nvPr/>
        </p:nvSpPr>
        <p:spPr>
          <a:xfrm>
            <a:off x="5422392" y="3096493"/>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90.10%</a:t>
            </a:r>
          </a:p>
        </p:txBody>
      </p:sp>
      <p:sp>
        <p:nvSpPr>
          <p:cNvPr id="30" name="Rectangle 29"/>
          <p:cNvSpPr/>
          <p:nvPr/>
        </p:nvSpPr>
        <p:spPr>
          <a:xfrm>
            <a:off x="7223759" y="2984967"/>
            <a:ext cx="219456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1" name="TextBox 30"/>
          <p:cNvSpPr txBox="1"/>
          <p:nvPr/>
        </p:nvSpPr>
        <p:spPr>
          <a:xfrm>
            <a:off x="7296912" y="3016422"/>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+1.74%p</a:t>
            </a:r>
          </a:p>
        </p:txBody>
      </p:sp>
      <p:sp>
        <p:nvSpPr>
          <p:cNvPr id="32" name="Rectangle 31"/>
          <p:cNvSpPr/>
          <p:nvPr/>
        </p:nvSpPr>
        <p:spPr>
          <a:xfrm>
            <a:off x="502920" y="3409614"/>
            <a:ext cx="297180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3" name="TextBox 32"/>
          <p:cNvSpPr txBox="1"/>
          <p:nvPr/>
        </p:nvSpPr>
        <p:spPr>
          <a:xfrm>
            <a:off x="576072" y="3521140"/>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Onset survival</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34" name="Rectangle 33"/>
          <p:cNvSpPr/>
          <p:nvPr/>
        </p:nvSpPr>
        <p:spPr>
          <a:xfrm>
            <a:off x="3474720" y="3409614"/>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5" name="TextBox 34"/>
          <p:cNvSpPr txBox="1"/>
          <p:nvPr/>
        </p:nvSpPr>
        <p:spPr>
          <a:xfrm>
            <a:off x="3547872" y="3441069"/>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94.20%</a:t>
            </a:r>
          </a:p>
        </p:txBody>
      </p:sp>
      <p:sp>
        <p:nvSpPr>
          <p:cNvPr id="36" name="Rectangle 35"/>
          <p:cNvSpPr/>
          <p:nvPr/>
        </p:nvSpPr>
        <p:spPr>
          <a:xfrm>
            <a:off x="5349240" y="3409614"/>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7" name="TextBox 36"/>
          <p:cNvSpPr txBox="1"/>
          <p:nvPr/>
        </p:nvSpPr>
        <p:spPr>
          <a:xfrm>
            <a:off x="5422392" y="3521140"/>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95.01%</a:t>
            </a:r>
          </a:p>
        </p:txBody>
      </p:sp>
      <p:sp>
        <p:nvSpPr>
          <p:cNvPr id="38" name="Rectangle 37"/>
          <p:cNvSpPr/>
          <p:nvPr/>
        </p:nvSpPr>
        <p:spPr>
          <a:xfrm>
            <a:off x="7223759" y="3409614"/>
            <a:ext cx="219456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9" name="TextBox 38"/>
          <p:cNvSpPr txBox="1"/>
          <p:nvPr/>
        </p:nvSpPr>
        <p:spPr>
          <a:xfrm>
            <a:off x="7296912" y="3441069"/>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+0.81%p</a:t>
            </a:r>
          </a:p>
        </p:txBody>
      </p:sp>
      <p:sp>
        <p:nvSpPr>
          <p:cNvPr id="40" name="Rectangle 39"/>
          <p:cNvSpPr/>
          <p:nvPr/>
        </p:nvSpPr>
        <p:spPr>
          <a:xfrm>
            <a:off x="502920" y="3834261"/>
            <a:ext cx="297180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1" name="TextBox 40"/>
          <p:cNvSpPr txBox="1"/>
          <p:nvPr/>
        </p:nvSpPr>
        <p:spPr>
          <a:xfrm>
            <a:off x="576072" y="3945788"/>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Onset recovery</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42" name="Rectangle 41"/>
          <p:cNvSpPr/>
          <p:nvPr/>
        </p:nvSpPr>
        <p:spPr>
          <a:xfrm>
            <a:off x="3474720" y="3834261"/>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3" name="TextBox 42"/>
          <p:cNvSpPr txBox="1"/>
          <p:nvPr/>
        </p:nvSpPr>
        <p:spPr>
          <a:xfrm>
            <a:off x="3547872" y="3945788"/>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90.09%</a:t>
            </a:r>
          </a:p>
        </p:txBody>
      </p:sp>
      <p:sp>
        <p:nvSpPr>
          <p:cNvPr id="44" name="Rectangle 43"/>
          <p:cNvSpPr/>
          <p:nvPr/>
        </p:nvSpPr>
        <p:spPr>
          <a:xfrm>
            <a:off x="5349240" y="3834261"/>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5" name="TextBox 44"/>
          <p:cNvSpPr txBox="1"/>
          <p:nvPr/>
        </p:nvSpPr>
        <p:spPr>
          <a:xfrm>
            <a:off x="5422392" y="3865717"/>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dirty="0">
                <a:solidFill>
                  <a:srgbClr val="3A3A3A"/>
                </a:solidFill>
                <a:latin typeface="맑은 고딕"/>
                <a:ea typeface="맑은 고딕"/>
                <a:cs typeface="맑은 고딕"/>
              </a:rPr>
              <a:t>81.66%</a:t>
            </a:r>
          </a:p>
        </p:txBody>
      </p:sp>
      <p:sp>
        <p:nvSpPr>
          <p:cNvPr id="46" name="Rectangle 45"/>
          <p:cNvSpPr/>
          <p:nvPr/>
        </p:nvSpPr>
        <p:spPr>
          <a:xfrm>
            <a:off x="7223759" y="3834261"/>
            <a:ext cx="219456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7" name="TextBox 46"/>
          <p:cNvSpPr txBox="1"/>
          <p:nvPr/>
        </p:nvSpPr>
        <p:spPr>
          <a:xfrm>
            <a:off x="7296912" y="3865717"/>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−8.44%p</a:t>
            </a:r>
          </a:p>
        </p:txBody>
      </p:sp>
      <p:sp>
        <p:nvSpPr>
          <p:cNvPr id="48" name="Rectangle 47"/>
          <p:cNvSpPr/>
          <p:nvPr/>
        </p:nvSpPr>
        <p:spPr>
          <a:xfrm>
            <a:off x="502920" y="4258909"/>
            <a:ext cx="297180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9" name="TextBox 48"/>
          <p:cNvSpPr txBox="1"/>
          <p:nvPr/>
        </p:nvSpPr>
        <p:spPr>
          <a:xfrm>
            <a:off x="576072" y="4370435"/>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Onset </a:t>
            </a:r>
            <a:r>
              <a:rPr sz="1190" b="1" dirty="0" err="1">
                <a:solidFill>
                  <a:srgbClr val="3A3A3A"/>
                </a:solidFill>
                <a:latin typeface="맑은 고딕"/>
                <a:ea typeface="맑은 고딕"/>
                <a:cs typeface="맑은 고딕"/>
              </a:rPr>
              <a:t>완전</a:t>
            </a:r>
            <a:r>
              <a:rPr sz="1190" b="1" dirty="0">
                <a:solidFill>
                  <a:srgbClr val="3A3A3A"/>
                </a:solidFill>
                <a:latin typeface="맑은 고딕"/>
                <a:ea typeface="맑은 고딕"/>
                <a:cs typeface="맑은 고딕"/>
              </a:rPr>
              <a:t> </a:t>
            </a:r>
            <a:r>
              <a:rPr sz="1190" b="1" dirty="0" err="1">
                <a:solidFill>
                  <a:srgbClr val="3A3A3A"/>
                </a:solidFill>
                <a:latin typeface="맑은 고딕"/>
                <a:ea typeface="맑은 고딕"/>
                <a:cs typeface="맑은 고딕"/>
              </a:rPr>
              <a:t>상실</a:t>
            </a:r>
            <a:r>
              <a:rPr sz="1190" b="1" dirty="0">
                <a:solidFill>
                  <a:srgbClr val="3A3A3A"/>
                </a:solidFill>
                <a:latin typeface="맑은 고딕"/>
                <a:ea typeface="맑은 고딕"/>
                <a:cs typeface="맑은 고딕"/>
              </a:rPr>
              <a:t> </a:t>
            </a:r>
            <a:r>
              <a:rPr sz="1190" b="1" dirty="0" err="1">
                <a:solidFill>
                  <a:srgbClr val="3A3A3A"/>
                </a:solidFill>
                <a:latin typeface="맑은 고딕"/>
                <a:ea typeface="맑은 고딕"/>
                <a:cs typeface="맑은 고딕"/>
              </a:rPr>
              <a:t>회복률</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50" name="Rectangle 49"/>
          <p:cNvSpPr/>
          <p:nvPr/>
        </p:nvSpPr>
        <p:spPr>
          <a:xfrm>
            <a:off x="3474720" y="4258909"/>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1" name="TextBox 50"/>
          <p:cNvSpPr txBox="1"/>
          <p:nvPr/>
        </p:nvSpPr>
        <p:spPr>
          <a:xfrm>
            <a:off x="3547872" y="4370435"/>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65.28%</a:t>
            </a:r>
          </a:p>
        </p:txBody>
      </p:sp>
      <p:sp>
        <p:nvSpPr>
          <p:cNvPr id="52" name="Rectangle 51"/>
          <p:cNvSpPr/>
          <p:nvPr/>
        </p:nvSpPr>
        <p:spPr>
          <a:xfrm>
            <a:off x="5349240" y="4258909"/>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3" name="TextBox 52"/>
          <p:cNvSpPr txBox="1"/>
          <p:nvPr/>
        </p:nvSpPr>
        <p:spPr>
          <a:xfrm>
            <a:off x="5422392" y="4290364"/>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45.89%</a:t>
            </a:r>
          </a:p>
        </p:txBody>
      </p:sp>
      <p:sp>
        <p:nvSpPr>
          <p:cNvPr id="54" name="Rectangle 53"/>
          <p:cNvSpPr/>
          <p:nvPr/>
        </p:nvSpPr>
        <p:spPr>
          <a:xfrm>
            <a:off x="7223759" y="4258909"/>
            <a:ext cx="219456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5" name="TextBox 54"/>
          <p:cNvSpPr txBox="1"/>
          <p:nvPr/>
        </p:nvSpPr>
        <p:spPr>
          <a:xfrm>
            <a:off x="7296912" y="4290364"/>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−19.39%p</a:t>
            </a:r>
          </a:p>
        </p:txBody>
      </p:sp>
      <p:sp>
        <p:nvSpPr>
          <p:cNvPr id="56" name="Rectangle 55"/>
          <p:cNvSpPr/>
          <p:nvPr/>
        </p:nvSpPr>
        <p:spPr>
          <a:xfrm>
            <a:off x="502920" y="4683556"/>
            <a:ext cx="297180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7" name="TextBox 56"/>
          <p:cNvSpPr txBox="1"/>
          <p:nvPr/>
        </p:nvSpPr>
        <p:spPr>
          <a:xfrm>
            <a:off x="576072" y="4795082"/>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Onset </a:t>
            </a:r>
            <a:r>
              <a:rPr sz="1190" b="1" dirty="0" err="1">
                <a:solidFill>
                  <a:srgbClr val="3A3A3A"/>
                </a:solidFill>
                <a:latin typeface="맑은 고딕"/>
                <a:ea typeface="맑은 고딕"/>
                <a:cs typeface="맑은 고딕"/>
              </a:rPr>
              <a:t>전진</a:t>
            </a:r>
            <a:r>
              <a:rPr sz="1190" b="1" dirty="0">
                <a:solidFill>
                  <a:srgbClr val="3A3A3A"/>
                </a:solidFill>
                <a:latin typeface="맑은 고딕"/>
                <a:ea typeface="맑은 고딕"/>
                <a:cs typeface="맑은 고딕"/>
              </a:rPr>
              <a:t> </a:t>
            </a:r>
            <a:r>
              <a:rPr sz="1190" b="1" dirty="0" err="1">
                <a:solidFill>
                  <a:srgbClr val="3A3A3A"/>
                </a:solidFill>
                <a:latin typeface="맑은 고딕"/>
                <a:ea typeface="맑은 고딕"/>
                <a:cs typeface="맑은 고딕"/>
              </a:rPr>
              <a:t>속도</a:t>
            </a:r>
            <a:r>
              <a:rPr sz="1190" b="1" dirty="0">
                <a:solidFill>
                  <a:srgbClr val="3A3A3A"/>
                </a:solidFill>
                <a:latin typeface="맑은 고딕"/>
                <a:ea typeface="맑은 고딕"/>
                <a:cs typeface="맑은 고딕"/>
              </a:rPr>
              <a:t> RMSE</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58" name="Rectangle 57"/>
          <p:cNvSpPr/>
          <p:nvPr/>
        </p:nvSpPr>
        <p:spPr>
          <a:xfrm>
            <a:off x="3474720" y="4683556"/>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9" name="TextBox 58"/>
          <p:cNvSpPr txBox="1"/>
          <p:nvPr/>
        </p:nvSpPr>
        <p:spPr>
          <a:xfrm>
            <a:off x="3547872" y="4795082"/>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0.0770</a:t>
            </a:r>
          </a:p>
        </p:txBody>
      </p:sp>
      <p:sp>
        <p:nvSpPr>
          <p:cNvPr id="60" name="Rectangle 59"/>
          <p:cNvSpPr/>
          <p:nvPr/>
        </p:nvSpPr>
        <p:spPr>
          <a:xfrm>
            <a:off x="5349240" y="4683556"/>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1" name="TextBox 60"/>
          <p:cNvSpPr txBox="1"/>
          <p:nvPr/>
        </p:nvSpPr>
        <p:spPr>
          <a:xfrm>
            <a:off x="5422392" y="4715011"/>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dirty="0">
                <a:solidFill>
                  <a:srgbClr val="3A3A3A"/>
                </a:solidFill>
                <a:latin typeface="맑은 고딕"/>
                <a:ea typeface="맑은 고딕"/>
                <a:cs typeface="맑은 고딕"/>
              </a:rPr>
              <a:t>0.0961</a:t>
            </a:r>
          </a:p>
        </p:txBody>
      </p:sp>
      <p:sp>
        <p:nvSpPr>
          <p:cNvPr id="62" name="Rectangle 61"/>
          <p:cNvSpPr/>
          <p:nvPr/>
        </p:nvSpPr>
        <p:spPr>
          <a:xfrm>
            <a:off x="7223759" y="4683556"/>
            <a:ext cx="219456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3" name="TextBox 62"/>
          <p:cNvSpPr txBox="1"/>
          <p:nvPr/>
        </p:nvSpPr>
        <p:spPr>
          <a:xfrm>
            <a:off x="7296912" y="4715011"/>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+0.0191 m/s</a:t>
            </a:r>
          </a:p>
        </p:txBody>
      </p:sp>
      <p:sp>
        <p:nvSpPr>
          <p:cNvPr id="64" name="Rectangle 63"/>
          <p:cNvSpPr/>
          <p:nvPr/>
        </p:nvSpPr>
        <p:spPr>
          <a:xfrm>
            <a:off x="502920" y="5108203"/>
            <a:ext cx="297180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5" name="TextBox 64"/>
          <p:cNvSpPr txBox="1"/>
          <p:nvPr/>
        </p:nvSpPr>
        <p:spPr>
          <a:xfrm>
            <a:off x="576072" y="5219730"/>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Onset yaw RMSE</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66" name="Rectangle 65"/>
          <p:cNvSpPr/>
          <p:nvPr/>
        </p:nvSpPr>
        <p:spPr>
          <a:xfrm>
            <a:off x="3474720" y="5108203"/>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7" name="TextBox 66"/>
          <p:cNvSpPr txBox="1"/>
          <p:nvPr/>
        </p:nvSpPr>
        <p:spPr>
          <a:xfrm>
            <a:off x="3547872" y="5219730"/>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0.1044</a:t>
            </a:r>
          </a:p>
        </p:txBody>
      </p:sp>
      <p:sp>
        <p:nvSpPr>
          <p:cNvPr id="68" name="Rectangle 67"/>
          <p:cNvSpPr/>
          <p:nvPr/>
        </p:nvSpPr>
        <p:spPr>
          <a:xfrm>
            <a:off x="5349240" y="5108203"/>
            <a:ext cx="1874519"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9" name="TextBox 68"/>
          <p:cNvSpPr txBox="1"/>
          <p:nvPr/>
        </p:nvSpPr>
        <p:spPr>
          <a:xfrm>
            <a:off x="5422392" y="5139659"/>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dirty="0">
                <a:solidFill>
                  <a:srgbClr val="3A3A3A"/>
                </a:solidFill>
                <a:latin typeface="맑은 고딕"/>
                <a:ea typeface="맑은 고딕"/>
                <a:cs typeface="맑은 고딕"/>
              </a:rPr>
              <a:t>0.1346</a:t>
            </a:r>
          </a:p>
        </p:txBody>
      </p:sp>
      <p:sp>
        <p:nvSpPr>
          <p:cNvPr id="70" name="Rectangle 69"/>
          <p:cNvSpPr/>
          <p:nvPr/>
        </p:nvSpPr>
        <p:spPr>
          <a:xfrm>
            <a:off x="7223759" y="5108203"/>
            <a:ext cx="2194560" cy="424647"/>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1" name="TextBox 70"/>
          <p:cNvSpPr txBox="1"/>
          <p:nvPr/>
        </p:nvSpPr>
        <p:spPr>
          <a:xfrm>
            <a:off x="7296912" y="5139659"/>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+0.0302 rad/s</a:t>
            </a:r>
          </a:p>
        </p:txBody>
      </p:sp>
      <p:sp>
        <p:nvSpPr>
          <p:cNvPr id="72" name="Rectangle 71"/>
          <p:cNvSpPr/>
          <p:nvPr/>
        </p:nvSpPr>
        <p:spPr>
          <a:xfrm>
            <a:off x="502920" y="5532851"/>
            <a:ext cx="297180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3" name="TextBox 72"/>
          <p:cNvSpPr txBox="1"/>
          <p:nvPr/>
        </p:nvSpPr>
        <p:spPr>
          <a:xfrm>
            <a:off x="576072" y="5644377"/>
            <a:ext cx="282549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Onset foot slip</a:t>
            </a:r>
            <a:r>
              <a:rPr lang="en-US" sz="1190" b="1" dirty="0">
                <a:solidFill>
                  <a:srgbClr val="3A3A3A"/>
                </a:solidFill>
                <a:latin typeface="맑은 고딕"/>
                <a:ea typeface="맑은 고딕"/>
                <a:cs typeface="맑은 고딕"/>
              </a:rPr>
              <a:t> </a:t>
            </a:r>
            <a:r>
              <a:rPr lang="en-US" altLang="ko-KR" sz="1190" b="1" dirty="0">
                <a:solidFill>
                  <a:srgbClr val="3A3A3A"/>
                </a:solidFill>
                <a:latin typeface="맑은 고딕"/>
                <a:ea typeface="맑은 고딕"/>
                <a:cs typeface="맑은 고딕"/>
              </a:rPr>
              <a:t>↓</a:t>
            </a:r>
            <a:endParaRPr sz="1190" b="1" dirty="0">
              <a:solidFill>
                <a:srgbClr val="3A3A3A"/>
              </a:solidFill>
              <a:latin typeface="맑은 고딕"/>
              <a:ea typeface="맑은 고딕"/>
              <a:cs typeface="맑은 고딕"/>
            </a:endParaRPr>
          </a:p>
        </p:txBody>
      </p:sp>
      <p:sp>
        <p:nvSpPr>
          <p:cNvPr id="74" name="Rectangle 73"/>
          <p:cNvSpPr/>
          <p:nvPr/>
        </p:nvSpPr>
        <p:spPr>
          <a:xfrm>
            <a:off x="3474720" y="5532851"/>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5" name="TextBox 74"/>
          <p:cNvSpPr txBox="1"/>
          <p:nvPr/>
        </p:nvSpPr>
        <p:spPr>
          <a:xfrm>
            <a:off x="3547872" y="5564306"/>
            <a:ext cx="1728216" cy="361736"/>
          </a:xfrm>
          <a:prstGeom prst="rect">
            <a:avLst/>
          </a:prstGeom>
          <a:noFill/>
        </p:spPr>
        <p:txBody>
          <a:bodyPr wrap="square" lIns="9144" tIns="9144" rIns="9144" bIns="9144" anchor="ctr">
            <a:spAutoFit/>
          </a:bodyPr>
          <a:lstStyle/>
          <a:p>
            <a:pPr algn="ctr">
              <a:lnSpc>
                <a:spcPct val="100000"/>
              </a:lnSpc>
              <a:spcAft>
                <a:spcPts val="0"/>
              </a:spcAft>
            </a:pPr>
            <a:r>
              <a:rPr sz="1190" b="0" dirty="0">
                <a:solidFill>
                  <a:srgbClr val="3A3A3A"/>
                </a:solidFill>
                <a:latin typeface="맑은 고딕"/>
                <a:ea typeface="맑은 고딕"/>
                <a:cs typeface="맑은 고딕"/>
              </a:rPr>
              <a:t>0.0826</a:t>
            </a:r>
          </a:p>
        </p:txBody>
      </p:sp>
      <p:sp>
        <p:nvSpPr>
          <p:cNvPr id="76" name="Rectangle 75"/>
          <p:cNvSpPr/>
          <p:nvPr/>
        </p:nvSpPr>
        <p:spPr>
          <a:xfrm>
            <a:off x="5349240" y="5532851"/>
            <a:ext cx="1874519"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7" name="TextBox 76"/>
          <p:cNvSpPr txBox="1"/>
          <p:nvPr/>
        </p:nvSpPr>
        <p:spPr>
          <a:xfrm>
            <a:off x="5422392" y="5644377"/>
            <a:ext cx="1728216" cy="201594"/>
          </a:xfrm>
          <a:prstGeom prst="rect">
            <a:avLst/>
          </a:prstGeom>
          <a:noFill/>
        </p:spPr>
        <p:txBody>
          <a:bodyPr wrap="square" lIns="9144" tIns="9144" rIns="9144" bIns="9144" anchor="ctr">
            <a:spAutoFit/>
          </a:bodyPr>
          <a:lstStyle/>
          <a:p>
            <a:pPr algn="ctr">
              <a:lnSpc>
                <a:spcPct val="100000"/>
              </a:lnSpc>
              <a:spcAft>
                <a:spcPts val="0"/>
              </a:spcAft>
            </a:pPr>
            <a:r>
              <a:rPr sz="1190" b="1" dirty="0">
                <a:solidFill>
                  <a:srgbClr val="3A3A3A"/>
                </a:solidFill>
                <a:latin typeface="맑은 고딕"/>
                <a:ea typeface="맑은 고딕"/>
                <a:cs typeface="맑은 고딕"/>
              </a:rPr>
              <a:t>0.0720</a:t>
            </a:r>
          </a:p>
        </p:txBody>
      </p:sp>
      <p:sp>
        <p:nvSpPr>
          <p:cNvPr id="78" name="Rectangle 77"/>
          <p:cNvSpPr/>
          <p:nvPr/>
        </p:nvSpPr>
        <p:spPr>
          <a:xfrm>
            <a:off x="7223759" y="5532851"/>
            <a:ext cx="2194560" cy="424647"/>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9" name="TextBox 78"/>
          <p:cNvSpPr txBox="1"/>
          <p:nvPr/>
        </p:nvSpPr>
        <p:spPr>
          <a:xfrm>
            <a:off x="7296912" y="5564306"/>
            <a:ext cx="2048255" cy="361736"/>
          </a:xfrm>
          <a:prstGeom prst="rect">
            <a:avLst/>
          </a:prstGeom>
          <a:noFill/>
        </p:spPr>
        <p:txBody>
          <a:bodyPr wrap="square" lIns="9144" tIns="9144" rIns="9144" bIns="9144" anchor="ctr">
            <a:spAutoFit/>
          </a:bodyPr>
          <a:lstStyle/>
          <a:p>
            <a:pPr algn="ctr">
              <a:lnSpc>
                <a:spcPct val="100000"/>
              </a:lnSpc>
              <a:spcAft>
                <a:spcPts val="0"/>
              </a:spcAft>
            </a:pPr>
            <a:r>
              <a:rPr sz="1190" b="0">
                <a:solidFill>
                  <a:srgbClr val="3A3A3A"/>
                </a:solidFill>
                <a:latin typeface="맑은 고딕"/>
                <a:ea typeface="맑은 고딕"/>
                <a:cs typeface="맑은 고딕"/>
              </a:rPr>
              <a:t>−0.0106 m/s</a:t>
            </a:r>
          </a:p>
        </p:txBody>
      </p:sp>
      <p:sp>
        <p:nvSpPr>
          <p:cNvPr id="80" name="Rectangle 79"/>
          <p:cNvSpPr/>
          <p:nvPr/>
        </p:nvSpPr>
        <p:spPr>
          <a:xfrm>
            <a:off x="9710928" y="2135672"/>
            <a:ext cx="1901952" cy="1848002"/>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81" name="TextBox 80"/>
          <p:cNvSpPr txBox="1"/>
          <p:nvPr/>
        </p:nvSpPr>
        <p:spPr>
          <a:xfrm>
            <a:off x="9875519" y="2261494"/>
            <a:ext cx="1572768" cy="298825"/>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해석</a:t>
            </a:r>
          </a:p>
        </p:txBody>
      </p:sp>
      <p:sp>
        <p:nvSpPr>
          <p:cNvPr id="82" name="TextBox 81"/>
          <p:cNvSpPr txBox="1"/>
          <p:nvPr/>
        </p:nvSpPr>
        <p:spPr>
          <a:xfrm>
            <a:off x="9875519" y="2654686"/>
            <a:ext cx="1572768" cy="1218895"/>
          </a:xfrm>
          <a:prstGeom prst="rect">
            <a:avLst/>
          </a:prstGeom>
          <a:noFill/>
        </p:spPr>
        <p:txBody>
          <a:bodyPr wrap="square" lIns="36576" tIns="36576" rIns="36576" bIns="36576" anchor="ctr">
            <a:spAutoFit/>
          </a:bodyPr>
          <a:lstStyle/>
          <a:p>
            <a:pPr algn="ctr">
              <a:lnSpc>
                <a:spcPct val="100000"/>
              </a:lnSpc>
              <a:spcAft>
                <a:spcPts val="0"/>
              </a:spcAft>
            </a:pPr>
            <a:r>
              <a:rPr sz="1500" b="0" dirty="0" err="1">
                <a:solidFill>
                  <a:srgbClr val="3A3A3A"/>
                </a:solidFill>
                <a:latin typeface="맑은 고딕"/>
                <a:ea typeface="맑은 고딕"/>
                <a:cs typeface="맑은 고딕"/>
              </a:rPr>
              <a:t>완전</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출력</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상실</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회복률</a:t>
            </a:r>
            <a:r>
              <a:rPr sz="1500" b="0" dirty="0">
                <a:solidFill>
                  <a:srgbClr val="3A3A3A"/>
                </a:solidFill>
                <a:latin typeface="맑은 고딕"/>
                <a:ea typeface="맑은 고딕"/>
                <a:cs typeface="맑은 고딕"/>
              </a:rPr>
              <a:t>
Teacher 65.28%
Student 45.89%</a:t>
            </a:r>
          </a:p>
        </p:txBody>
      </p:sp>
      <p:sp>
        <p:nvSpPr>
          <p:cNvPr id="83" name="TextBox 82"/>
          <p:cNvSpPr txBox="1"/>
          <p:nvPr/>
        </p:nvSpPr>
        <p:spPr>
          <a:xfrm>
            <a:off x="9587041" y="4438195"/>
            <a:ext cx="2382749" cy="427809"/>
          </a:xfrm>
          <a:prstGeom prst="rect">
            <a:avLst/>
          </a:prstGeom>
          <a:noFill/>
        </p:spPr>
        <p:txBody>
          <a:bodyPr wrap="square" lIns="36576" tIns="36576" rIns="36576" bIns="36576" anchor="t">
            <a:spAutoFit/>
          </a:bodyPr>
          <a:lstStyle/>
          <a:p>
            <a:pPr algn="ctr">
              <a:lnSpc>
                <a:spcPct val="100000"/>
              </a:lnSpc>
              <a:spcAft>
                <a:spcPts val="0"/>
              </a:spcAft>
            </a:pPr>
            <a:r>
              <a:rPr sz="1150" b="1" dirty="0" err="1">
                <a:solidFill>
                  <a:srgbClr val="3A3A3A"/>
                </a:solidFill>
                <a:latin typeface="맑은 고딕"/>
                <a:ea typeface="맑은 고딕"/>
                <a:cs typeface="맑은 고딕"/>
              </a:rPr>
              <a:t>작은</a:t>
            </a:r>
            <a:r>
              <a:rPr sz="1150" b="1" dirty="0">
                <a:solidFill>
                  <a:srgbClr val="3A3A3A"/>
                </a:solidFill>
                <a:latin typeface="맑은 고딕"/>
                <a:ea typeface="맑은 고딕"/>
                <a:cs typeface="맑은 고딕"/>
              </a:rPr>
              <a:t> </a:t>
            </a:r>
            <a:r>
              <a:rPr sz="1150" b="1" dirty="0" err="1">
                <a:solidFill>
                  <a:srgbClr val="3A3A3A"/>
                </a:solidFill>
                <a:latin typeface="맑은 고딕"/>
                <a:ea typeface="맑은 고딕"/>
                <a:cs typeface="맑은 고딕"/>
              </a:rPr>
              <a:t>생존율</a:t>
            </a:r>
            <a:r>
              <a:rPr sz="1150" b="1" dirty="0">
                <a:solidFill>
                  <a:srgbClr val="3A3A3A"/>
                </a:solidFill>
                <a:latin typeface="맑은 고딕"/>
                <a:ea typeface="맑은 고딕"/>
                <a:cs typeface="맑은 고딕"/>
              </a:rPr>
              <a:t> </a:t>
            </a:r>
            <a:r>
              <a:rPr sz="1150" b="1" dirty="0" err="1">
                <a:solidFill>
                  <a:srgbClr val="3A3A3A"/>
                </a:solidFill>
                <a:latin typeface="맑은 고딕"/>
                <a:ea typeface="맑은 고딕"/>
                <a:cs typeface="맑은 고딕"/>
              </a:rPr>
              <a:t>차이는</a:t>
            </a:r>
            <a:r>
              <a:rPr sz="1150" b="1" dirty="0">
                <a:solidFill>
                  <a:srgbClr val="3A3A3A"/>
                </a:solidFill>
                <a:latin typeface="맑은 고딕"/>
                <a:ea typeface="맑은 고딕"/>
                <a:cs typeface="맑은 고딕"/>
              </a:rPr>
              <a:t>
</a:t>
            </a:r>
            <a:r>
              <a:rPr sz="1150" b="1" dirty="0" err="1">
                <a:solidFill>
                  <a:srgbClr val="3A3A3A"/>
                </a:solidFill>
                <a:latin typeface="맑은 고딕"/>
                <a:ea typeface="맑은 고딕"/>
                <a:cs typeface="맑은 고딕"/>
              </a:rPr>
              <a:t>통계적</a:t>
            </a:r>
            <a:r>
              <a:rPr sz="1150" b="1" dirty="0">
                <a:solidFill>
                  <a:srgbClr val="3A3A3A"/>
                </a:solidFill>
                <a:latin typeface="맑은 고딕"/>
                <a:ea typeface="맑은 고딕"/>
                <a:cs typeface="맑은 고딕"/>
              </a:rPr>
              <a:t> </a:t>
            </a:r>
            <a:r>
              <a:rPr sz="1150" b="1" dirty="0" err="1">
                <a:solidFill>
                  <a:srgbClr val="3A3A3A"/>
                </a:solidFill>
                <a:latin typeface="맑은 고딕"/>
                <a:ea typeface="맑은 고딕"/>
                <a:cs typeface="맑은 고딕"/>
              </a:rPr>
              <a:t>우월성으로</a:t>
            </a:r>
            <a:r>
              <a:rPr sz="1150" b="1" dirty="0">
                <a:solidFill>
                  <a:srgbClr val="3A3A3A"/>
                </a:solidFill>
                <a:latin typeface="맑은 고딕"/>
                <a:ea typeface="맑은 고딕"/>
                <a:cs typeface="맑은 고딕"/>
              </a:rPr>
              <a:t> </a:t>
            </a:r>
            <a:r>
              <a:rPr sz="1150" b="1" dirty="0" err="1">
                <a:solidFill>
                  <a:srgbClr val="3A3A3A"/>
                </a:solidFill>
                <a:latin typeface="맑은 고딕"/>
                <a:ea typeface="맑은 고딕"/>
                <a:cs typeface="맑은 고딕"/>
              </a:rPr>
              <a:t>해석하지</a:t>
            </a:r>
            <a:r>
              <a:rPr sz="1150" b="1" dirty="0">
                <a:solidFill>
                  <a:srgbClr val="3A3A3A"/>
                </a:solidFill>
                <a:latin typeface="맑은 고딕"/>
                <a:ea typeface="맑은 고딕"/>
                <a:cs typeface="맑은 고딕"/>
              </a:rPr>
              <a:t> </a:t>
            </a:r>
            <a:r>
              <a:rPr sz="1150" b="1" dirty="0" err="1">
                <a:solidFill>
                  <a:srgbClr val="3A3A3A"/>
                </a:solidFill>
                <a:latin typeface="맑은 고딕"/>
                <a:ea typeface="맑은 고딕"/>
                <a:cs typeface="맑은 고딕"/>
              </a:rPr>
              <a:t>않음</a:t>
            </a:r>
            <a:endParaRPr sz="1150" b="1" dirty="0">
              <a:solidFill>
                <a:srgbClr val="3A3A3A"/>
              </a:solidFill>
              <a:latin typeface="맑은 고딕"/>
              <a:ea typeface="맑은 고딕"/>
              <a:cs typeface="맑은 고딕"/>
            </a:endParaRPr>
          </a:p>
        </p:txBody>
      </p:sp>
      <p:sp>
        <p:nvSpPr>
          <p:cNvPr id="84" name="v5-content-intro"/>
          <p:cNvSpPr txBox="1"/>
          <p:nvPr/>
        </p:nvSpPr>
        <p:spPr>
          <a:xfrm>
            <a:off x="658368" y="1280160"/>
            <a:ext cx="10881360" cy="504754"/>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400" b="0" dirty="0" err="1">
                <a:solidFill>
                  <a:srgbClr val="3A3A3A"/>
                </a:solidFill>
                <a:latin typeface="맑은 고딕"/>
                <a:ea typeface="맑은 고딕"/>
                <a:cs typeface="맑은 고딕"/>
              </a:rPr>
              <a:t>동일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평가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조건에서</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Student의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생존율은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유사하지만</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회복률과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속도·yaw</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추종</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성능은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Teacher보다</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낮다</a:t>
            </a:r>
            <a:r>
              <a:rPr sz="1400" b="0" dirty="0">
                <a:solidFill>
                  <a:srgbClr val="3A3A3A"/>
                </a:solidFill>
                <a:latin typeface="맑은 고딕"/>
                <a:ea typeface="맑은 고딕"/>
                <a:cs typeface="맑은 고딕"/>
              </a:rPr>
              <a:t>.</a:t>
            </a:r>
            <a:endParaRPr lang="en-US" sz="1400" b="0" dirty="0">
              <a:solidFill>
                <a:srgbClr val="3A3A3A"/>
              </a:solidFill>
              <a:latin typeface="맑은 고딕"/>
              <a:ea typeface="맑은 고딕"/>
              <a:cs typeface="맑은 고딕"/>
            </a:endParaRPr>
          </a:p>
          <a:p>
            <a:pPr marL="285750" indent="-285750" algn="l">
              <a:lnSpc>
                <a:spcPct val="100000"/>
              </a:lnSpc>
              <a:spcAft>
                <a:spcPts val="0"/>
              </a:spcAft>
              <a:buFont typeface="Arial" panose="020B0604020202020204" pitchFamily="34" charset="0"/>
              <a:buChar char="•"/>
            </a:pPr>
            <a:r>
              <a:rPr lang="en-US" sz="1400" dirty="0">
                <a:solidFill>
                  <a:srgbClr val="3A3A3A"/>
                </a:solidFill>
                <a:latin typeface="맑은 고딕"/>
                <a:ea typeface="맑은 고딕"/>
                <a:cs typeface="맑은 고딕"/>
              </a:rPr>
              <a:t>On Set :</a:t>
            </a:r>
            <a:r>
              <a:rPr lang="ko-KR" altLang="en-US" sz="1400" dirty="0">
                <a:solidFill>
                  <a:srgbClr val="3A3A3A"/>
                </a:solidFill>
                <a:latin typeface="맑은 고딕"/>
                <a:ea typeface="맑은 고딕"/>
                <a:cs typeface="맑은 고딕"/>
              </a:rPr>
              <a:t> 고장이 발생하기 시작하는 시점</a:t>
            </a:r>
            <a:r>
              <a:rPr lang="en-US" altLang="ko-KR" sz="1400" dirty="0">
                <a:solidFill>
                  <a:srgbClr val="3A3A3A"/>
                </a:solidFill>
                <a:latin typeface="맑은 고딕"/>
                <a:ea typeface="맑은 고딕"/>
                <a:cs typeface="맑은 고딕"/>
              </a:rPr>
              <a:t>.</a:t>
            </a:r>
            <a:endParaRPr sz="1400" b="0" dirty="0">
              <a:solidFill>
                <a:srgbClr val="3A3A3A"/>
              </a:solidFill>
              <a:latin typeface="맑은 고딕"/>
              <a:ea typeface="맑은 고딕"/>
              <a:cs typeface="맑은 고딕"/>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27 | 선행연구 결과와 비교 범위</a:t>
            </a:r>
            <a:r>
              <a:rPr sz="800" b="0" baseline="30000">
                <a:solidFill>
                  <a:srgbClr val="686868"/>
                </a:solidFill>
                <a:latin typeface="맑은 고딕"/>
                <a:ea typeface="맑은 고딕"/>
                <a:cs typeface="맑은 고딕"/>
              </a:rPr>
              <a:t>  1) 2) 3) 4)</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RESULT · 선행연구 참고치와 동일 조건 비교의 구분</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Liu et al., Saving the Limping, §IV-D, Table I, Fig. 5 (arXiv:2210.00474v3).   2) Kumar et al., RMA, §V, Table II, Supplement S1 (RSS 2021).   3) Wu et al., ADAPT, §5.1, Fig. 3, Appendix B (DAI 2023).   4) P5 canonical onset JSONL; docs/results/p5-tf43000-vs-jt71500.md.</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27 / 43</a:t>
            </a:r>
          </a:p>
        </p:txBody>
      </p:sp>
      <p:sp>
        <p:nvSpPr>
          <p:cNvPr id="8" name="v5-content-intro"/>
          <p:cNvSpPr txBox="1"/>
          <p:nvPr/>
        </p:nvSpPr>
        <p:spPr>
          <a:xfrm>
            <a:off x="658368" y="1261872"/>
            <a:ext cx="10881360" cy="473976"/>
          </a:xfrm>
          <a:prstGeom prst="rect">
            <a:avLst/>
          </a:prstGeom>
          <a:noFill/>
        </p:spPr>
        <p:txBody>
          <a:bodyPr wrap="square" lIns="36576" tIns="36576" rIns="36576" bIns="36576" anchor="t">
            <a:spAutoFit/>
          </a:bodyPr>
          <a:lstStyle/>
          <a:p>
            <a:pPr marL="285750" indent="-285750" algn="l">
              <a:spcAft>
                <a:spcPts val="0"/>
              </a:spcAft>
              <a:buFont typeface="Arial" panose="020B0604020202020204" pitchFamily="34" charset="0"/>
              <a:buChar char="•"/>
            </a:pPr>
            <a:r>
              <a:rPr sz="1300" b="0" dirty="0" err="1">
                <a:solidFill>
                  <a:srgbClr val="3A3A3A"/>
                </a:solidFill>
                <a:latin typeface="맑은 고딕"/>
                <a:ea typeface="맑은 고딕"/>
                <a:cs typeface="맑은 고딕"/>
              </a:rPr>
              <a:t>논문</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수치는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평가의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참고</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기준이다</a:t>
            </a:r>
            <a:r>
              <a:rPr sz="1300" b="0" dirty="0">
                <a:solidFill>
                  <a:srgbClr val="3A3A3A"/>
                </a:solidFill>
                <a:latin typeface="맑은 고딕"/>
                <a:ea typeface="맑은 고딕"/>
                <a:cs typeface="맑은 고딕"/>
              </a:rPr>
              <a:t>.</a:t>
            </a:r>
            <a:endParaRPr lang="en-US" sz="1300" b="0" dirty="0">
              <a:solidFill>
                <a:srgbClr val="3A3A3A"/>
              </a:solidFill>
              <a:latin typeface="맑은 고딕"/>
              <a:ea typeface="맑은 고딕"/>
              <a:cs typeface="맑은 고딕"/>
            </a:endParaRPr>
          </a:p>
          <a:p>
            <a:pPr marL="285750" indent="-285750" algn="l">
              <a:spcAft>
                <a:spcPts val="0"/>
              </a:spcAft>
              <a:buFont typeface="Arial" panose="020B0604020202020204" pitchFamily="34" charset="0"/>
              <a:buChar char="•"/>
            </a:pPr>
            <a:r>
              <a:rPr lang="ko-KR" altLang="en-US" sz="1300" b="0" dirty="0">
                <a:solidFill>
                  <a:srgbClr val="3A3A3A"/>
                </a:solidFill>
                <a:latin typeface="맑은 고딕"/>
                <a:ea typeface="맑은 고딕"/>
                <a:cs typeface="맑은 고딕"/>
              </a:rPr>
              <a:t>미세하게 다른 부분이 존재</a:t>
            </a:r>
            <a:r>
              <a:rPr lang="en-US" altLang="ko-KR" sz="1300" b="0" dirty="0">
                <a:solidFill>
                  <a:srgbClr val="3A3A3A"/>
                </a:solidFill>
                <a:latin typeface="맑은 고딕"/>
                <a:ea typeface="맑은 고딕"/>
                <a:cs typeface="맑은 고딕"/>
              </a:rPr>
              <a:t>(</a:t>
            </a:r>
            <a:r>
              <a:rPr lang="ko-KR" altLang="en-US" sz="1300" b="0" dirty="0">
                <a:solidFill>
                  <a:srgbClr val="3A3A3A"/>
                </a:solidFill>
                <a:latin typeface="맑은 고딕"/>
                <a:ea typeface="맑은 고딕"/>
                <a:cs typeface="맑은 고딕"/>
              </a:rPr>
              <a:t>지형</a:t>
            </a:r>
            <a:r>
              <a:rPr lang="en-US" altLang="ko-KR" sz="1300" b="0" dirty="0">
                <a:solidFill>
                  <a:srgbClr val="3A3A3A"/>
                </a:solidFill>
                <a:latin typeface="맑은 고딕"/>
                <a:ea typeface="맑은 고딕"/>
                <a:cs typeface="맑은 고딕"/>
              </a:rPr>
              <a:t>, </a:t>
            </a:r>
            <a:r>
              <a:rPr lang="ko-KR" altLang="en-US" sz="1300" b="0" dirty="0">
                <a:solidFill>
                  <a:srgbClr val="3A3A3A"/>
                </a:solidFill>
                <a:latin typeface="맑은 고딕"/>
                <a:ea typeface="맑은 고딕"/>
                <a:cs typeface="맑은 고딕"/>
              </a:rPr>
              <a:t>고장 조건 등</a:t>
            </a:r>
            <a:r>
              <a:rPr lang="en-US" altLang="ko-KR" sz="1300" b="0" dirty="0">
                <a:solidFill>
                  <a:srgbClr val="3A3A3A"/>
                </a:solidFill>
                <a:latin typeface="맑은 고딕"/>
                <a:ea typeface="맑은 고딕"/>
                <a:cs typeface="맑은 고딕"/>
              </a:rPr>
              <a:t>), </a:t>
            </a:r>
            <a:r>
              <a:rPr lang="ko-KR" altLang="en-US" sz="1300" b="0" dirty="0">
                <a:solidFill>
                  <a:srgbClr val="3A3A3A"/>
                </a:solidFill>
                <a:latin typeface="맑은 고딕"/>
                <a:ea typeface="맑은 고딕"/>
                <a:cs typeface="맑은 고딕"/>
              </a:rPr>
              <a:t>정량 평가 지표 완전 동일 </a:t>
            </a:r>
            <a:r>
              <a:rPr lang="en-US" altLang="ko-KR" sz="1300" b="0" dirty="0">
                <a:solidFill>
                  <a:srgbClr val="3A3A3A"/>
                </a:solidFill>
                <a:latin typeface="맑은 고딕"/>
                <a:ea typeface="맑은 고딕"/>
                <a:cs typeface="맑은 고딕"/>
              </a:rPr>
              <a:t>X</a:t>
            </a:r>
            <a:endParaRPr sz="1300" b="0" dirty="0">
              <a:solidFill>
                <a:srgbClr val="3A3A3A"/>
              </a:solidFill>
              <a:latin typeface="맑은 고딕"/>
              <a:ea typeface="맑은 고딕"/>
              <a:cs typeface="맑은 고딕"/>
            </a:endParaRPr>
          </a:p>
        </p:txBody>
      </p:sp>
      <p:sp>
        <p:nvSpPr>
          <p:cNvPr id="9" name="Rectangle 8"/>
          <p:cNvSpPr/>
          <p:nvPr/>
        </p:nvSpPr>
        <p:spPr>
          <a:xfrm>
            <a:off x="640080" y="2195473"/>
            <a:ext cx="2743200" cy="79552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713231" y="2460893"/>
            <a:ext cx="2596896" cy="264688"/>
          </a:xfrm>
          <a:prstGeom prst="rect">
            <a:avLst/>
          </a:prstGeom>
          <a:noFill/>
        </p:spPr>
        <p:txBody>
          <a:bodyPr wrap="square" lIns="9144" tIns="9144" rIns="9144" bIns="9144" anchor="ctr">
            <a:spAutoFit/>
          </a:bodyPr>
          <a:lstStyle/>
          <a:p>
            <a:pPr algn="ctr">
              <a:spcAft>
                <a:spcPts val="0"/>
              </a:spcAft>
            </a:pPr>
            <a:r>
              <a:rPr sz="1600" b="1">
                <a:solidFill>
                  <a:srgbClr val="FFFFFF"/>
                </a:solidFill>
                <a:latin typeface="맑은 고딕"/>
                <a:ea typeface="맑은 고딕"/>
                <a:cs typeface="맑은 고딕"/>
              </a:rPr>
              <a:t>연구·조건</a:t>
            </a:r>
          </a:p>
        </p:txBody>
      </p:sp>
      <p:sp>
        <p:nvSpPr>
          <p:cNvPr id="11" name="Rectangle 10"/>
          <p:cNvSpPr/>
          <p:nvPr/>
        </p:nvSpPr>
        <p:spPr>
          <a:xfrm>
            <a:off x="3383280" y="2195473"/>
            <a:ext cx="3794760" cy="79552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3456432" y="2460894"/>
            <a:ext cx="3648456" cy="264688"/>
          </a:xfrm>
          <a:prstGeom prst="rect">
            <a:avLst/>
          </a:prstGeom>
          <a:noFill/>
        </p:spPr>
        <p:txBody>
          <a:bodyPr wrap="square" lIns="9144" tIns="9144" rIns="9144" bIns="9144" anchor="ctr">
            <a:spAutoFit/>
          </a:bodyPr>
          <a:lstStyle/>
          <a:p>
            <a:pPr algn="ctr">
              <a:spcAft>
                <a:spcPts val="0"/>
              </a:spcAft>
            </a:pPr>
            <a:r>
              <a:rPr lang="ko-KR" altLang="en-US" sz="1600" b="1" dirty="0">
                <a:solidFill>
                  <a:srgbClr val="FFFFFF"/>
                </a:solidFill>
                <a:latin typeface="맑은 고딕"/>
                <a:ea typeface="맑은 고딕"/>
                <a:cs typeface="맑은 고딕"/>
              </a:rPr>
              <a:t>해당 </a:t>
            </a:r>
            <a:r>
              <a:rPr sz="1600" b="1" dirty="0" err="1">
                <a:solidFill>
                  <a:srgbClr val="FFFFFF"/>
                </a:solidFill>
                <a:latin typeface="맑은 고딕"/>
                <a:ea typeface="맑은 고딕"/>
                <a:cs typeface="맑은 고딕"/>
              </a:rPr>
              <a:t>논문</a:t>
            </a:r>
            <a:r>
              <a:rPr lang="en-US" sz="1600" b="1" dirty="0">
                <a:solidFill>
                  <a:srgbClr val="FFFFFF"/>
                </a:solidFill>
                <a:latin typeface="맑은 고딕"/>
                <a:ea typeface="맑은 고딕"/>
                <a:cs typeface="맑은 고딕"/>
              </a:rPr>
              <a:t> </a:t>
            </a:r>
            <a:r>
              <a:rPr sz="1600" b="1" dirty="0" err="1">
                <a:solidFill>
                  <a:srgbClr val="FFFFFF"/>
                </a:solidFill>
                <a:latin typeface="맑은 고딕"/>
                <a:ea typeface="맑은 고딕"/>
                <a:cs typeface="맑은 고딕"/>
              </a:rPr>
              <a:t>결과</a:t>
            </a:r>
            <a:endParaRPr sz="1600" b="1" dirty="0">
              <a:solidFill>
                <a:srgbClr val="FFFFFF"/>
              </a:solidFill>
              <a:latin typeface="맑은 고딕"/>
              <a:ea typeface="맑은 고딕"/>
              <a:cs typeface="맑은 고딕"/>
            </a:endParaRPr>
          </a:p>
        </p:txBody>
      </p:sp>
      <p:sp>
        <p:nvSpPr>
          <p:cNvPr id="13" name="Rectangle 12"/>
          <p:cNvSpPr/>
          <p:nvPr/>
        </p:nvSpPr>
        <p:spPr>
          <a:xfrm>
            <a:off x="7178040" y="2195473"/>
            <a:ext cx="4434840" cy="79552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7251192" y="2460893"/>
            <a:ext cx="4288536" cy="264688"/>
          </a:xfrm>
          <a:prstGeom prst="rect">
            <a:avLst/>
          </a:prstGeom>
          <a:noFill/>
        </p:spPr>
        <p:txBody>
          <a:bodyPr wrap="square" lIns="9144" tIns="9144" rIns="9144" bIns="9144" anchor="ctr">
            <a:spAutoFit/>
          </a:bodyPr>
          <a:lstStyle/>
          <a:p>
            <a:pPr algn="ctr">
              <a:spcAft>
                <a:spcPts val="0"/>
              </a:spcAft>
            </a:pPr>
            <a:r>
              <a:rPr lang="en-US" sz="1600" b="1" dirty="0">
                <a:solidFill>
                  <a:srgbClr val="FFFFFF"/>
                </a:solidFill>
                <a:latin typeface="맑은 고딕"/>
                <a:ea typeface="맑은 고딕"/>
                <a:cs typeface="맑은 고딕"/>
              </a:rPr>
              <a:t>Ours </a:t>
            </a:r>
            <a:r>
              <a:rPr lang="ko-KR" altLang="en-US" sz="1600" b="1" dirty="0">
                <a:solidFill>
                  <a:srgbClr val="FFFFFF"/>
                </a:solidFill>
                <a:latin typeface="맑은 고딕"/>
                <a:ea typeface="맑은 고딕"/>
                <a:cs typeface="맑은 고딕"/>
              </a:rPr>
              <a:t>와 비교</a:t>
            </a:r>
            <a:endParaRPr sz="1600" b="1" dirty="0">
              <a:solidFill>
                <a:srgbClr val="FFFFFF"/>
              </a:solidFill>
              <a:latin typeface="맑은 고딕"/>
              <a:ea typeface="맑은 고딕"/>
              <a:cs typeface="맑은 고딕"/>
            </a:endParaRPr>
          </a:p>
        </p:txBody>
      </p:sp>
      <p:sp>
        <p:nvSpPr>
          <p:cNvPr id="15" name="Rectangle 14"/>
          <p:cNvSpPr/>
          <p:nvPr/>
        </p:nvSpPr>
        <p:spPr>
          <a:xfrm>
            <a:off x="640080" y="2991002"/>
            <a:ext cx="2743200" cy="79552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713231" y="3102534"/>
            <a:ext cx="2596896" cy="572464"/>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Saving the Limping · 단일 관절 잠금
전진 명령 0.5 m/s
고장 후 최대 20 s</a:t>
            </a:r>
          </a:p>
        </p:txBody>
      </p:sp>
      <p:sp>
        <p:nvSpPr>
          <p:cNvPr id="17" name="Rectangle 16"/>
          <p:cNvSpPr/>
          <p:nvPr/>
        </p:nvSpPr>
        <p:spPr>
          <a:xfrm>
            <a:off x="3383280" y="2991002"/>
            <a:ext cx="3794760" cy="79552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3456432" y="3102534"/>
            <a:ext cx="3648456" cy="572464"/>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고장 후 평균 전진 속도 0.47 m/s
정규화 평균 생존 시간 56.5%
= 평균 11.30 s (All terrain)</a:t>
            </a:r>
          </a:p>
        </p:txBody>
      </p:sp>
      <p:sp>
        <p:nvSpPr>
          <p:cNvPr id="19" name="Rectangle 18"/>
          <p:cNvSpPr/>
          <p:nvPr/>
        </p:nvSpPr>
        <p:spPr>
          <a:xfrm>
            <a:off x="7178040" y="2991002"/>
            <a:ext cx="4434840" cy="79552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7251192" y="3194867"/>
            <a:ext cx="4288536" cy="387798"/>
          </a:xfrm>
          <a:prstGeom prst="rect">
            <a:avLst/>
          </a:prstGeom>
          <a:noFill/>
        </p:spPr>
        <p:txBody>
          <a:bodyPr wrap="square" lIns="9144" tIns="9144" rIns="9144" bIns="9144" anchor="ctr">
            <a:spAutoFit/>
          </a:bodyPr>
          <a:lstStyle/>
          <a:p>
            <a:pPr algn="ctr">
              <a:spcAft>
                <a:spcPts val="0"/>
              </a:spcAft>
            </a:pPr>
            <a:r>
              <a:rPr sz="1200" b="0" dirty="0" err="1">
                <a:solidFill>
                  <a:srgbClr val="3A3A3A"/>
                </a:solidFill>
                <a:latin typeface="맑은 고딕"/>
                <a:ea typeface="맑은 고딕"/>
                <a:cs typeface="맑은 고딕"/>
              </a:rPr>
              <a:t>출력</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저하</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평가</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평균</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생존</a:t>
            </a:r>
            <a:r>
              <a:rPr sz="1200" b="0" dirty="0">
                <a:solidFill>
                  <a:srgbClr val="3A3A3A"/>
                </a:solidFill>
                <a:latin typeface="맑은 고딕"/>
                <a:ea typeface="맑은 고딕"/>
                <a:cs typeface="맑은 고딕"/>
              </a:rPr>
              <a:t> 19.44 s (97.19%)
20초 </a:t>
            </a:r>
            <a:r>
              <a:rPr sz="1200" b="0" dirty="0" err="1">
                <a:solidFill>
                  <a:srgbClr val="3A3A3A"/>
                </a:solidFill>
                <a:latin typeface="맑은 고딕"/>
                <a:ea typeface="맑은 고딕"/>
                <a:cs typeface="맑은 고딕"/>
              </a:rPr>
              <a:t>완주율</a:t>
            </a:r>
            <a:r>
              <a:rPr sz="1200" b="0" dirty="0">
                <a:solidFill>
                  <a:srgbClr val="3A3A3A"/>
                </a:solidFill>
                <a:latin typeface="맑은 고딕"/>
                <a:ea typeface="맑은 고딕"/>
                <a:cs typeface="맑은 고딕"/>
              </a:rPr>
              <a:t> 95.01%; </a:t>
            </a:r>
            <a:r>
              <a:rPr sz="1200" b="0" dirty="0" err="1">
                <a:solidFill>
                  <a:srgbClr val="3A3A3A"/>
                </a:solidFill>
                <a:latin typeface="맑은 고딕"/>
                <a:ea typeface="맑은 고딕"/>
                <a:cs typeface="맑은 고딕"/>
              </a:rPr>
              <a:t>전진</a:t>
            </a:r>
            <a:r>
              <a:rPr sz="1200" b="0" dirty="0">
                <a:solidFill>
                  <a:srgbClr val="3A3A3A"/>
                </a:solidFill>
                <a:latin typeface="맑은 고딕"/>
                <a:ea typeface="맑은 고딕"/>
                <a:cs typeface="맑은 고딕"/>
              </a:rPr>
              <a:t> RMSE 0.0961 m/s</a:t>
            </a:r>
          </a:p>
        </p:txBody>
      </p:sp>
      <p:sp>
        <p:nvSpPr>
          <p:cNvPr id="21" name="Rectangle 20"/>
          <p:cNvSpPr/>
          <p:nvPr/>
        </p:nvSpPr>
        <p:spPr>
          <a:xfrm>
            <a:off x="640080" y="3786530"/>
            <a:ext cx="2743200" cy="79552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TextBox 21"/>
          <p:cNvSpPr txBox="1"/>
          <p:nvPr/>
        </p:nvSpPr>
        <p:spPr>
          <a:xfrm>
            <a:off x="713231" y="3990395"/>
            <a:ext cx="2596896" cy="387798"/>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RMA · 물리조건 변화
질량·마찰·모터 강도 등</a:t>
            </a:r>
          </a:p>
        </p:txBody>
      </p:sp>
      <p:sp>
        <p:nvSpPr>
          <p:cNvPr id="23" name="Rectangle 22"/>
          <p:cNvSpPr/>
          <p:nvPr/>
        </p:nvSpPr>
        <p:spPr>
          <a:xfrm>
            <a:off x="3383280" y="3786530"/>
            <a:ext cx="3794760" cy="79552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3456432" y="3990395"/>
            <a:ext cx="3648456" cy="387798"/>
          </a:xfrm>
          <a:prstGeom prst="rect">
            <a:avLst/>
          </a:prstGeom>
          <a:noFill/>
        </p:spPr>
        <p:txBody>
          <a:bodyPr wrap="square" lIns="9144" tIns="9144" rIns="9144" bIns="9144" anchor="ctr">
            <a:spAutoFit/>
          </a:bodyPr>
          <a:lstStyle/>
          <a:p>
            <a:pPr algn="ctr">
              <a:spcAft>
                <a:spcPts val="0"/>
              </a:spcAft>
            </a:pPr>
            <a:r>
              <a:rPr sz="1200" b="0" dirty="0" err="1">
                <a:solidFill>
                  <a:srgbClr val="3A3A3A"/>
                </a:solidFill>
                <a:latin typeface="맑은 고딕"/>
                <a:ea typeface="맑은 고딕"/>
                <a:cs typeface="맑은 고딕"/>
              </a:rPr>
              <a:t>성공률</a:t>
            </a:r>
            <a:r>
              <a:rPr sz="1200" b="0" dirty="0">
                <a:solidFill>
                  <a:srgbClr val="3A3A3A"/>
                </a:solidFill>
                <a:latin typeface="맑은 고딕"/>
                <a:ea typeface="맑은 고딕"/>
                <a:cs typeface="맑은 고딕"/>
              </a:rPr>
              <a:t> 73.5%</a:t>
            </a:r>
            <a:r>
              <a:rPr lang="en-US" altLang="ko-KR" sz="1200" b="0" dirty="0">
                <a:solidFill>
                  <a:srgbClr val="3A3A3A"/>
                </a:solidFill>
                <a:latin typeface="맑은 고딕"/>
                <a:ea typeface="맑은 고딕"/>
                <a:cs typeface="맑은 고딕"/>
              </a:rPr>
              <a:t>;</a:t>
            </a:r>
            <a:r>
              <a:rPr lang="ko-KR" altLang="en-US"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정규화</a:t>
            </a:r>
            <a:r>
              <a:rPr sz="1200" b="0" dirty="0">
                <a:solidFill>
                  <a:srgbClr val="3A3A3A"/>
                </a:solidFill>
                <a:latin typeface="맑은 고딕"/>
                <a:ea typeface="맑은 고딕"/>
                <a:cs typeface="맑은 고딕"/>
              </a:rPr>
              <a:t> TTF 0.85
Expert: 76.2%; </a:t>
            </a:r>
            <a:r>
              <a:rPr lang="en-US" sz="1200" b="0" dirty="0">
                <a:solidFill>
                  <a:srgbClr val="3A3A3A"/>
                </a:solidFill>
                <a:latin typeface="맑은 고딕"/>
                <a:ea typeface="맑은 고딕"/>
                <a:cs typeface="맑은 고딕"/>
              </a:rPr>
              <a:t> </a:t>
            </a:r>
            <a:r>
              <a:rPr sz="1200" b="0" dirty="0">
                <a:solidFill>
                  <a:srgbClr val="3A3A3A"/>
                </a:solidFill>
                <a:latin typeface="맑은 고딕"/>
                <a:ea typeface="맑은 고딕"/>
                <a:cs typeface="맑은 고딕"/>
              </a:rPr>
              <a:t>TTF 0.86</a:t>
            </a:r>
          </a:p>
        </p:txBody>
      </p:sp>
      <p:sp>
        <p:nvSpPr>
          <p:cNvPr id="25" name="Rectangle 24"/>
          <p:cNvSpPr/>
          <p:nvPr/>
        </p:nvSpPr>
        <p:spPr>
          <a:xfrm>
            <a:off x="7178040" y="3786530"/>
            <a:ext cx="4434840" cy="79552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7251192" y="3990395"/>
            <a:ext cx="4288536" cy="387798"/>
          </a:xfrm>
          <a:prstGeom prst="rect">
            <a:avLst/>
          </a:prstGeom>
          <a:noFill/>
        </p:spPr>
        <p:txBody>
          <a:bodyPr wrap="square" lIns="9144" tIns="9144" rIns="9144" bIns="9144" anchor="ctr">
            <a:spAutoFit/>
          </a:bodyPr>
          <a:lstStyle/>
          <a:p>
            <a:pPr algn="ctr">
              <a:spcAft>
                <a:spcPts val="0"/>
              </a:spcAft>
            </a:pPr>
            <a:r>
              <a:rPr lang="en-US" sz="1200" b="0" dirty="0">
                <a:solidFill>
                  <a:srgbClr val="3A3A3A"/>
                </a:solidFill>
                <a:latin typeface="맑은 고딕"/>
                <a:ea typeface="맑은 고딕"/>
                <a:cs typeface="맑은 고딕"/>
              </a:rPr>
              <a:t>Ours : </a:t>
            </a:r>
            <a:r>
              <a:rPr sz="1200" b="0" dirty="0">
                <a:solidFill>
                  <a:srgbClr val="3A3A3A"/>
                </a:solidFill>
                <a:latin typeface="맑은 고딕"/>
                <a:ea typeface="맑은 고딕"/>
                <a:cs typeface="맑은 고딕"/>
              </a:rPr>
              <a:t>완주95.01%; </a:t>
            </a:r>
            <a:r>
              <a:rPr sz="1200" b="0" dirty="0" err="1">
                <a:solidFill>
                  <a:srgbClr val="3A3A3A"/>
                </a:solidFill>
                <a:latin typeface="맑은 고딕"/>
                <a:ea typeface="맑은 고딕"/>
                <a:cs typeface="맑은 고딕"/>
              </a:rPr>
              <a:t>정규화</a:t>
            </a:r>
            <a:r>
              <a:rPr sz="1200" b="0" dirty="0">
                <a:solidFill>
                  <a:srgbClr val="3A3A3A"/>
                </a:solidFill>
                <a:latin typeface="맑은 고딕"/>
                <a:ea typeface="맑은 고딕"/>
                <a:cs typeface="맑은 고딕"/>
              </a:rPr>
              <a:t> 생존97.19%
RMA </a:t>
            </a:r>
            <a:r>
              <a:rPr sz="1200" b="0" dirty="0" err="1">
                <a:solidFill>
                  <a:srgbClr val="3A3A3A"/>
                </a:solidFill>
                <a:latin typeface="맑은 고딕"/>
                <a:ea typeface="맑은 고딕"/>
                <a:cs typeface="맑은 고딕"/>
              </a:rPr>
              <a:t>수치보다</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높지만</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과제·고장</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조건이</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다름</a:t>
            </a:r>
            <a:endParaRPr sz="1200" b="0" dirty="0">
              <a:solidFill>
                <a:srgbClr val="3A3A3A"/>
              </a:solidFill>
              <a:latin typeface="맑은 고딕"/>
              <a:ea typeface="맑은 고딕"/>
              <a:cs typeface="맑은 고딕"/>
            </a:endParaRPr>
          </a:p>
        </p:txBody>
      </p:sp>
      <p:sp>
        <p:nvSpPr>
          <p:cNvPr id="27" name="Rectangle 26"/>
          <p:cNvSpPr/>
          <p:nvPr/>
        </p:nvSpPr>
        <p:spPr>
          <a:xfrm>
            <a:off x="640080" y="4582058"/>
            <a:ext cx="2743200" cy="79552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713231" y="4878256"/>
            <a:ext cx="2596896" cy="203133"/>
          </a:xfrm>
          <a:prstGeom prst="rect">
            <a:avLst/>
          </a:prstGeom>
          <a:noFill/>
        </p:spPr>
        <p:txBody>
          <a:bodyPr wrap="square" lIns="9144" tIns="9144" rIns="9144" bIns="9144" anchor="ctr">
            <a:spAutoFit/>
          </a:bodyPr>
          <a:lstStyle/>
          <a:p>
            <a:pPr algn="ctr">
              <a:spcAft>
                <a:spcPts val="0"/>
              </a:spcAft>
            </a:pPr>
            <a:r>
              <a:rPr lang="ko-KR" altLang="en-US" sz="1200" b="1" dirty="0">
                <a:solidFill>
                  <a:srgbClr val="3A3A3A"/>
                </a:solidFill>
                <a:latin typeface="맑은 고딕"/>
                <a:ea typeface="맑은 고딕"/>
                <a:cs typeface="맑은 고딕"/>
              </a:rPr>
              <a:t>동일 조건의 방법 비교</a:t>
            </a:r>
          </a:p>
        </p:txBody>
      </p:sp>
      <p:sp>
        <p:nvSpPr>
          <p:cNvPr id="29" name="Rectangle 28"/>
          <p:cNvSpPr/>
          <p:nvPr/>
        </p:nvSpPr>
        <p:spPr>
          <a:xfrm>
            <a:off x="3383280" y="4582058"/>
            <a:ext cx="3794760" cy="79552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TextBox 29"/>
          <p:cNvSpPr txBox="1"/>
          <p:nvPr/>
        </p:nvSpPr>
        <p:spPr>
          <a:xfrm>
            <a:off x="3456432" y="4785923"/>
            <a:ext cx="3648456" cy="387798"/>
          </a:xfrm>
          <a:prstGeom prst="rect">
            <a:avLst/>
          </a:prstGeom>
          <a:noFill/>
        </p:spPr>
        <p:txBody>
          <a:bodyPr wrap="square" lIns="9144" tIns="9144" rIns="9144" bIns="9144" anchor="ctr">
            <a:spAutoFit/>
          </a:bodyPr>
          <a:lstStyle/>
          <a:p>
            <a:pPr algn="ctr">
              <a:spcAft>
                <a:spcPts val="0"/>
              </a:spcAft>
            </a:pPr>
            <a:r>
              <a:rPr lang="ko-KR" altLang="en-US" sz="1200" dirty="0">
                <a:solidFill>
                  <a:srgbClr val="3A3A3A"/>
                </a:solidFill>
                <a:latin typeface="맑은 고딕"/>
                <a:ea typeface="맑은 고딕"/>
                <a:cs typeface="맑은 고딕"/>
              </a:rPr>
              <a:t>확보</a:t>
            </a:r>
            <a:r>
              <a:rPr lang="en-US" altLang="ko-KR" sz="1200" dirty="0">
                <a:solidFill>
                  <a:srgbClr val="3A3A3A"/>
                </a:solidFill>
                <a:latin typeface="맑은 고딕"/>
                <a:ea typeface="맑은 고딕"/>
                <a:cs typeface="맑은 고딕"/>
              </a:rPr>
              <a:t>: TF43000 ↔ JT71500
</a:t>
            </a:r>
            <a:r>
              <a:rPr lang="ko-KR" altLang="en-US" sz="1200" dirty="0">
                <a:solidFill>
                  <a:srgbClr val="3A3A3A"/>
                </a:solidFill>
                <a:latin typeface="맑은 고딕"/>
                <a:ea typeface="맑은 고딕"/>
                <a:cs typeface="맑은 고딕"/>
              </a:rPr>
              <a:t>미확보</a:t>
            </a:r>
            <a:r>
              <a:rPr lang="en-US" altLang="ko-KR" sz="1200" dirty="0">
                <a:solidFill>
                  <a:srgbClr val="3A3A3A"/>
                </a:solidFill>
                <a:latin typeface="맑은 고딕"/>
                <a:ea typeface="맑은 고딕"/>
                <a:cs typeface="맑은 고딕"/>
              </a:rPr>
              <a:t>: </a:t>
            </a:r>
            <a:r>
              <a:rPr lang="ko-KR" altLang="en-US" sz="1200" dirty="0">
                <a:solidFill>
                  <a:srgbClr val="3A3A3A"/>
                </a:solidFill>
                <a:latin typeface="맑은 고딕"/>
                <a:ea typeface="맑은 고딕"/>
                <a:cs typeface="맑은 고딕"/>
              </a:rPr>
              <a:t>분리학습 </a:t>
            </a:r>
            <a:r>
              <a:rPr lang="en-US" altLang="ko-KR" sz="1200" dirty="0">
                <a:solidFill>
                  <a:srgbClr val="3A3A3A"/>
                </a:solidFill>
                <a:latin typeface="맑은 고딕"/>
                <a:ea typeface="맑은 고딕"/>
                <a:cs typeface="맑은 고딕"/>
              </a:rPr>
              <a:t>Student ↔ </a:t>
            </a:r>
            <a:r>
              <a:rPr lang="ko-KR" altLang="en-US" sz="1200" dirty="0">
                <a:solidFill>
                  <a:srgbClr val="3A3A3A"/>
                </a:solidFill>
                <a:latin typeface="맑은 고딕"/>
                <a:ea typeface="맑은 고딕"/>
                <a:cs typeface="맑은 고딕"/>
              </a:rPr>
              <a:t>공동학습 </a:t>
            </a:r>
            <a:r>
              <a:rPr lang="en-US" altLang="ko-KR" sz="1200" dirty="0">
                <a:solidFill>
                  <a:srgbClr val="3A3A3A"/>
                </a:solidFill>
                <a:latin typeface="맑은 고딕"/>
                <a:ea typeface="맑은 고딕"/>
                <a:cs typeface="맑은 고딕"/>
              </a:rPr>
              <a:t>Student</a:t>
            </a:r>
          </a:p>
        </p:txBody>
      </p:sp>
      <p:sp>
        <p:nvSpPr>
          <p:cNvPr id="31" name="Rectangle 30"/>
          <p:cNvSpPr/>
          <p:nvPr/>
        </p:nvSpPr>
        <p:spPr>
          <a:xfrm>
            <a:off x="7178040" y="4582058"/>
            <a:ext cx="4434840" cy="79552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TextBox 31"/>
          <p:cNvSpPr txBox="1"/>
          <p:nvPr/>
        </p:nvSpPr>
        <p:spPr>
          <a:xfrm>
            <a:off x="7251192" y="4785923"/>
            <a:ext cx="4288536" cy="387798"/>
          </a:xfrm>
          <a:prstGeom prst="rect">
            <a:avLst/>
          </a:prstGeom>
          <a:noFill/>
        </p:spPr>
        <p:txBody>
          <a:bodyPr wrap="square" lIns="9144" tIns="9144" rIns="9144" bIns="9144" anchor="ctr">
            <a:spAutoFit/>
          </a:bodyPr>
          <a:lstStyle/>
          <a:p>
            <a:pPr algn="ctr">
              <a:spcAft>
                <a:spcPts val="0"/>
              </a:spcAft>
            </a:pPr>
            <a:r>
              <a:rPr lang="ko-KR" altLang="en-US" sz="1200" dirty="0">
                <a:solidFill>
                  <a:srgbClr val="3A3A3A"/>
                </a:solidFill>
                <a:latin typeface="맑은 고딕"/>
                <a:ea typeface="맑은 고딕"/>
                <a:cs typeface="맑은 고딕"/>
              </a:rPr>
              <a:t>공동학습 효과를 주장하려면
같은 출력 저하 환경의 분리학습 기준선 필요</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306E-AA54-485C-1378-3D96EEDEBE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C177E6-9E3C-B865-FAD7-5D99C2C42D99}"/>
              </a:ext>
            </a:extLst>
          </p:cNvPr>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28 | </a:t>
            </a:r>
            <a:r>
              <a:rPr lang="ko-KR" altLang="en-US" sz="2800" b="1" dirty="0">
                <a:solidFill>
                  <a:srgbClr val="111111"/>
                </a:solidFill>
                <a:latin typeface="맑은 고딕"/>
                <a:ea typeface="맑은 고딕"/>
                <a:cs typeface="맑은 고딕"/>
              </a:rPr>
              <a:t>결과 영상</a:t>
            </a:r>
            <a:endParaRPr sz="800" b="0" baseline="30000" dirty="0">
              <a:solidFill>
                <a:srgbClr val="686868"/>
              </a:solidFill>
              <a:latin typeface="맑은 고딕"/>
              <a:ea typeface="맑은 고딕"/>
              <a:cs typeface="맑은 고딕"/>
            </a:endParaRPr>
          </a:p>
        </p:txBody>
      </p:sp>
      <p:sp>
        <p:nvSpPr>
          <p:cNvPr id="3" name="Rectangle 2">
            <a:extLst>
              <a:ext uri="{FF2B5EF4-FFF2-40B4-BE49-F238E27FC236}">
                <a16:creationId xmlns:a16="http://schemas.microsoft.com/office/drawing/2014/main" id="{82E25DF4-BF6B-9580-FD5B-B7EBFB2AEF6E}"/>
              </a:ext>
            </a:extLst>
          </p:cNvPr>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a:extLst>
              <a:ext uri="{FF2B5EF4-FFF2-40B4-BE49-F238E27FC236}">
                <a16:creationId xmlns:a16="http://schemas.microsoft.com/office/drawing/2014/main" id="{67C307A5-691E-FE4D-2714-22BFA56EB188}"/>
              </a:ext>
            </a:extLst>
          </p:cNvPr>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EVALUATION RESULT</a:t>
            </a:r>
          </a:p>
        </p:txBody>
      </p:sp>
      <p:sp>
        <p:nvSpPr>
          <p:cNvPr id="5" name="Rectangle 4">
            <a:extLst>
              <a:ext uri="{FF2B5EF4-FFF2-40B4-BE49-F238E27FC236}">
                <a16:creationId xmlns:a16="http://schemas.microsoft.com/office/drawing/2014/main" id="{61A7EF3B-60B4-B14C-17DE-1DEB0F2BC8DD}"/>
              </a:ext>
            </a:extLst>
          </p:cNvPr>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a:extLst>
              <a:ext uri="{FF2B5EF4-FFF2-40B4-BE49-F238E27FC236}">
                <a16:creationId xmlns:a16="http://schemas.microsoft.com/office/drawing/2014/main" id="{01538C77-C1C0-38A9-7AEF-6A8DB1442253}"/>
              </a:ext>
            </a:extLst>
          </p:cNvPr>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28 / 43</a:t>
            </a:r>
          </a:p>
        </p:txBody>
      </p:sp>
      <p:sp>
        <p:nvSpPr>
          <p:cNvPr id="85" name="TextBox 84">
            <a:extLst>
              <a:ext uri="{FF2B5EF4-FFF2-40B4-BE49-F238E27FC236}">
                <a16:creationId xmlns:a16="http://schemas.microsoft.com/office/drawing/2014/main" id="{374FD3E0-6517-70B9-1F7F-6741EB3EDD47}"/>
              </a:ext>
            </a:extLst>
          </p:cNvPr>
          <p:cNvSpPr txBox="1"/>
          <p:nvPr/>
        </p:nvSpPr>
        <p:spPr>
          <a:xfrm>
            <a:off x="560832" y="1241756"/>
            <a:ext cx="3536830" cy="1569660"/>
          </a:xfrm>
          <a:prstGeom prst="rect">
            <a:avLst/>
          </a:prstGeom>
          <a:noFill/>
        </p:spPr>
        <p:txBody>
          <a:bodyPr wrap="square" rtlCol="0">
            <a:spAutoFit/>
          </a:bodyPr>
          <a:lstStyle/>
          <a:p>
            <a:pPr marL="285750" indent="-285750">
              <a:buFont typeface="Arial" panose="020B0604020202020204" pitchFamily="34" charset="0"/>
              <a:buChar char="•"/>
            </a:pPr>
            <a:r>
              <a:rPr lang="en-US" altLang="ko-KR" sz="2400" dirty="0"/>
              <a:t>TF43000 </a:t>
            </a:r>
          </a:p>
          <a:p>
            <a:pPr marL="285750" indent="-285750">
              <a:buFont typeface="Arial" panose="020B0604020202020204" pitchFamily="34" charset="0"/>
              <a:buChar char="•"/>
            </a:pPr>
            <a:r>
              <a:rPr lang="en-US" altLang="ko-KR" sz="2400" dirty="0"/>
              <a:t>JT43000</a:t>
            </a:r>
          </a:p>
          <a:p>
            <a:pPr marL="285750" indent="-285750">
              <a:buFont typeface="Arial" panose="020B0604020202020204" pitchFamily="34" charset="0"/>
              <a:buChar char="•"/>
            </a:pPr>
            <a:r>
              <a:rPr lang="en-US" altLang="ko-KR" sz="2400" dirty="0"/>
              <a:t>JT43500</a:t>
            </a:r>
          </a:p>
          <a:p>
            <a:pPr marL="285750" indent="-285750">
              <a:buFont typeface="Arial" panose="020B0604020202020204" pitchFamily="34" charset="0"/>
              <a:buChar char="•"/>
            </a:pPr>
            <a:r>
              <a:rPr lang="en-US" altLang="ko-KR" sz="2400" dirty="0"/>
              <a:t>JT71500</a:t>
            </a:r>
            <a:endParaRPr lang="ko-KR" altLang="en-US" sz="2400" dirty="0"/>
          </a:p>
        </p:txBody>
      </p:sp>
      <p:pic>
        <p:nvPicPr>
          <p:cNvPr id="20" name="그림 19">
            <a:extLst>
              <a:ext uri="{FF2B5EF4-FFF2-40B4-BE49-F238E27FC236}">
                <a16:creationId xmlns:a16="http://schemas.microsoft.com/office/drawing/2014/main" id="{BB30468F-7934-8CF4-62D5-8CF0FA7AFCE2}"/>
              </a:ext>
            </a:extLst>
          </p:cNvPr>
          <p:cNvPicPr>
            <a:picLocks noChangeAspect="1"/>
          </p:cNvPicPr>
          <p:nvPr/>
        </p:nvPicPr>
        <p:blipFill>
          <a:blip r:embed="rId3"/>
          <a:stretch>
            <a:fillRect/>
          </a:stretch>
        </p:blipFill>
        <p:spPr>
          <a:xfrm>
            <a:off x="2675019" y="1088652"/>
            <a:ext cx="5654870" cy="5009028"/>
          </a:xfrm>
          <a:prstGeom prst="rect">
            <a:avLst/>
          </a:prstGeom>
        </p:spPr>
      </p:pic>
      <p:sp>
        <p:nvSpPr>
          <p:cNvPr id="108" name="TextBox 107">
            <a:extLst>
              <a:ext uri="{FF2B5EF4-FFF2-40B4-BE49-F238E27FC236}">
                <a16:creationId xmlns:a16="http://schemas.microsoft.com/office/drawing/2014/main" id="{51BC8B88-B0EF-A632-B1EB-A4DAD52F360B}"/>
              </a:ext>
            </a:extLst>
          </p:cNvPr>
          <p:cNvSpPr txBox="1"/>
          <p:nvPr/>
        </p:nvSpPr>
        <p:spPr>
          <a:xfrm>
            <a:off x="9739835" y="2259453"/>
            <a:ext cx="184731" cy="369332"/>
          </a:xfrm>
          <a:prstGeom prst="rect">
            <a:avLst/>
          </a:prstGeom>
          <a:noFill/>
        </p:spPr>
        <p:txBody>
          <a:bodyPr wrap="none" rtlCol="0">
            <a:spAutoFit/>
          </a:bodyPr>
          <a:lstStyle/>
          <a:p>
            <a:endParaRPr lang="ko-KR" altLang="en-US" dirty="0"/>
          </a:p>
        </p:txBody>
      </p:sp>
      <p:pic>
        <p:nvPicPr>
          <p:cNvPr id="170" name="그림 169">
            <a:extLst>
              <a:ext uri="{FF2B5EF4-FFF2-40B4-BE49-F238E27FC236}">
                <a16:creationId xmlns:a16="http://schemas.microsoft.com/office/drawing/2014/main" id="{F4964AC6-C8BC-E908-F490-320B53CFA4C7}"/>
              </a:ext>
            </a:extLst>
          </p:cNvPr>
          <p:cNvPicPr>
            <a:picLocks noChangeAspect="1"/>
          </p:cNvPicPr>
          <p:nvPr/>
        </p:nvPicPr>
        <p:blipFill>
          <a:blip r:embed="rId4"/>
          <a:stretch>
            <a:fillRect/>
          </a:stretch>
        </p:blipFill>
        <p:spPr>
          <a:xfrm>
            <a:off x="8582535" y="1088652"/>
            <a:ext cx="3039489" cy="4975207"/>
          </a:xfrm>
          <a:prstGeom prst="rect">
            <a:avLst/>
          </a:prstGeom>
        </p:spPr>
      </p:pic>
    </p:spTree>
    <p:extLst>
      <p:ext uri="{BB962C8B-B14F-4D97-AF65-F5344CB8AC3E}">
        <p14:creationId xmlns:p14="http://schemas.microsoft.com/office/powerpoint/2010/main" val="784332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29 | 정량 결과의 의미</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EVALUATION RESULT</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Local result: docs/results/p5-tf43000-vs-jt71500.md.</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29 / 43</a:t>
            </a:r>
          </a:p>
        </p:txBody>
      </p:sp>
      <p:sp>
        <p:nvSpPr>
          <p:cNvPr id="9" name="Rectangle 8"/>
          <p:cNvSpPr/>
          <p:nvPr/>
        </p:nvSpPr>
        <p:spPr>
          <a:xfrm>
            <a:off x="585216" y="2998902"/>
            <a:ext cx="2633472" cy="1690725"/>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722376" y="3140451"/>
            <a:ext cx="2359152" cy="235915"/>
          </a:xfrm>
          <a:prstGeom prst="rect">
            <a:avLst/>
          </a:prstGeom>
          <a:noFill/>
        </p:spPr>
        <p:txBody>
          <a:bodyPr wrap="square" lIns="36576" tIns="36576" rIns="36576" bIns="36576" anchor="t">
            <a:spAutoFit/>
          </a:bodyPr>
          <a:lstStyle/>
          <a:p>
            <a:pPr algn="ctr">
              <a:lnSpc>
                <a:spcPct val="100000"/>
              </a:lnSpc>
              <a:spcAft>
                <a:spcPts val="0"/>
              </a:spcAft>
            </a:pPr>
            <a:r>
              <a:rPr sz="1200" b="0">
                <a:solidFill>
                  <a:srgbClr val="686868"/>
                </a:solidFill>
                <a:latin typeface="맑은 고딕"/>
                <a:ea typeface="맑은 고딕"/>
                <a:cs typeface="맑은 고딕"/>
              </a:rPr>
              <a:t>Onset survival</a:t>
            </a:r>
          </a:p>
        </p:txBody>
      </p:sp>
      <p:sp>
        <p:nvSpPr>
          <p:cNvPr id="11" name="TextBox 10"/>
          <p:cNvSpPr txBox="1"/>
          <p:nvPr/>
        </p:nvSpPr>
        <p:spPr>
          <a:xfrm>
            <a:off x="722376" y="3462868"/>
            <a:ext cx="2359152" cy="330281"/>
          </a:xfrm>
          <a:prstGeom prst="rect">
            <a:avLst/>
          </a:prstGeom>
          <a:noFill/>
        </p:spPr>
        <p:txBody>
          <a:bodyPr wrap="square" lIns="36576" tIns="36576" rIns="36576" bIns="36576" anchor="t">
            <a:spAutoFit/>
          </a:bodyPr>
          <a:lstStyle/>
          <a:p>
            <a:pPr algn="ctr">
              <a:lnSpc>
                <a:spcPct val="100000"/>
              </a:lnSpc>
              <a:spcAft>
                <a:spcPts val="0"/>
              </a:spcAft>
            </a:pPr>
            <a:r>
              <a:rPr sz="2200" b="1">
                <a:solidFill>
                  <a:srgbClr val="111111"/>
                </a:solidFill>
                <a:latin typeface="맑은 고딕"/>
                <a:ea typeface="맑은 고딕"/>
                <a:cs typeface="맑은 고딕"/>
              </a:rPr>
              <a:t>95.01%</a:t>
            </a:r>
          </a:p>
        </p:txBody>
      </p:sp>
      <p:sp>
        <p:nvSpPr>
          <p:cNvPr id="12" name="TextBox 11"/>
          <p:cNvSpPr txBox="1"/>
          <p:nvPr/>
        </p:nvSpPr>
        <p:spPr>
          <a:xfrm>
            <a:off x="722376" y="3926835"/>
            <a:ext cx="2359152" cy="519013"/>
          </a:xfrm>
          <a:prstGeom prst="rect">
            <a:avLst/>
          </a:prstGeom>
          <a:noFill/>
        </p:spPr>
        <p:txBody>
          <a:bodyPr wrap="square" lIns="36576" tIns="36576" rIns="36576" bIns="36576" anchor="ctr">
            <a:spAutoFit/>
          </a:bodyPr>
          <a:lstStyle/>
          <a:p>
            <a:pPr algn="ctr">
              <a:lnSpc>
                <a:spcPct val="100000"/>
              </a:lnSpc>
              <a:spcAft>
                <a:spcPts val="0"/>
              </a:spcAft>
            </a:pPr>
            <a:r>
              <a:rPr sz="1150" b="0" dirty="0">
                <a:solidFill>
                  <a:srgbClr val="3A3A3A"/>
                </a:solidFill>
                <a:latin typeface="맑은 고딕"/>
                <a:ea typeface="맑은 고딕"/>
                <a:cs typeface="맑은 고딕"/>
              </a:rPr>
              <a:t>100회 중 약 95회가
</a:t>
            </a:r>
            <a:r>
              <a:rPr sz="1150" b="0" dirty="0" err="1">
                <a:solidFill>
                  <a:srgbClr val="3A3A3A"/>
                </a:solidFill>
                <a:latin typeface="맑은 고딕"/>
                <a:ea typeface="맑은 고딕"/>
                <a:cs typeface="맑은 고딕"/>
              </a:rPr>
              <a:t>고장</a:t>
            </a:r>
            <a:r>
              <a:rPr sz="1150" b="0" dirty="0">
                <a:solidFill>
                  <a:srgbClr val="3A3A3A"/>
                </a:solidFill>
                <a:latin typeface="맑은 고딕"/>
                <a:ea typeface="맑은 고딕"/>
                <a:cs typeface="맑은 고딕"/>
              </a:rPr>
              <a:t> 후 20초를 </a:t>
            </a:r>
            <a:r>
              <a:rPr sz="1150" b="0" dirty="0" err="1">
                <a:solidFill>
                  <a:srgbClr val="3A3A3A"/>
                </a:solidFill>
                <a:latin typeface="맑은 고딕"/>
                <a:ea typeface="맑은 고딕"/>
                <a:cs typeface="맑은 고딕"/>
              </a:rPr>
              <a:t>완주</a:t>
            </a:r>
            <a:endParaRPr sz="1150" b="0" dirty="0">
              <a:solidFill>
                <a:srgbClr val="3A3A3A"/>
              </a:solidFill>
              <a:latin typeface="맑은 고딕"/>
              <a:ea typeface="맑은 고딕"/>
              <a:cs typeface="맑은 고딕"/>
            </a:endParaRPr>
          </a:p>
        </p:txBody>
      </p:sp>
      <p:sp>
        <p:nvSpPr>
          <p:cNvPr id="13" name="Rectangle 12"/>
          <p:cNvSpPr/>
          <p:nvPr/>
        </p:nvSpPr>
        <p:spPr>
          <a:xfrm>
            <a:off x="3447288" y="2998902"/>
            <a:ext cx="2633472" cy="1690725"/>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3584448" y="3140451"/>
            <a:ext cx="2359152" cy="235915"/>
          </a:xfrm>
          <a:prstGeom prst="rect">
            <a:avLst/>
          </a:prstGeom>
          <a:noFill/>
        </p:spPr>
        <p:txBody>
          <a:bodyPr wrap="square" lIns="36576" tIns="36576" rIns="36576" bIns="36576" anchor="t">
            <a:spAutoFit/>
          </a:bodyPr>
          <a:lstStyle/>
          <a:p>
            <a:pPr algn="ctr">
              <a:lnSpc>
                <a:spcPct val="100000"/>
              </a:lnSpc>
              <a:spcAft>
                <a:spcPts val="0"/>
              </a:spcAft>
            </a:pPr>
            <a:r>
              <a:rPr sz="1200" b="0">
                <a:solidFill>
                  <a:srgbClr val="686868"/>
                </a:solidFill>
                <a:latin typeface="맑은 고딕"/>
                <a:ea typeface="맑은 고딕"/>
                <a:cs typeface="맑은 고딕"/>
              </a:rPr>
              <a:t>Stable recovery</a:t>
            </a:r>
          </a:p>
        </p:txBody>
      </p:sp>
      <p:sp>
        <p:nvSpPr>
          <p:cNvPr id="15" name="TextBox 14"/>
          <p:cNvSpPr txBox="1"/>
          <p:nvPr/>
        </p:nvSpPr>
        <p:spPr>
          <a:xfrm>
            <a:off x="3584448" y="3462868"/>
            <a:ext cx="2359152" cy="330281"/>
          </a:xfrm>
          <a:prstGeom prst="rect">
            <a:avLst/>
          </a:prstGeom>
          <a:noFill/>
        </p:spPr>
        <p:txBody>
          <a:bodyPr wrap="square" lIns="36576" tIns="36576" rIns="36576" bIns="36576" anchor="t">
            <a:spAutoFit/>
          </a:bodyPr>
          <a:lstStyle/>
          <a:p>
            <a:pPr algn="ctr">
              <a:lnSpc>
                <a:spcPct val="100000"/>
              </a:lnSpc>
              <a:spcAft>
                <a:spcPts val="0"/>
              </a:spcAft>
            </a:pPr>
            <a:r>
              <a:rPr sz="2200" b="1">
                <a:solidFill>
                  <a:srgbClr val="111111"/>
                </a:solidFill>
                <a:latin typeface="맑은 고딕"/>
                <a:ea typeface="맑은 고딕"/>
                <a:cs typeface="맑은 고딕"/>
              </a:rPr>
              <a:t>81.66%</a:t>
            </a:r>
          </a:p>
        </p:txBody>
      </p:sp>
      <p:sp>
        <p:nvSpPr>
          <p:cNvPr id="16" name="TextBox 15"/>
          <p:cNvSpPr txBox="1"/>
          <p:nvPr/>
        </p:nvSpPr>
        <p:spPr>
          <a:xfrm>
            <a:off x="3584448" y="4060922"/>
            <a:ext cx="2359152" cy="250838"/>
          </a:xfrm>
          <a:prstGeom prst="rect">
            <a:avLst/>
          </a:prstGeom>
          <a:noFill/>
        </p:spPr>
        <p:txBody>
          <a:bodyPr wrap="square" lIns="36576" tIns="36576" rIns="36576" bIns="36576" anchor="ctr">
            <a:spAutoFit/>
          </a:bodyPr>
          <a:lstStyle/>
          <a:p>
            <a:pPr algn="ctr">
              <a:lnSpc>
                <a:spcPct val="100000"/>
              </a:lnSpc>
              <a:spcAft>
                <a:spcPts val="0"/>
              </a:spcAft>
            </a:pPr>
            <a:r>
              <a:rPr sz="1150" b="0" dirty="0">
                <a:solidFill>
                  <a:srgbClr val="3A3A3A"/>
                </a:solidFill>
                <a:latin typeface="맑은 고딕"/>
                <a:ea typeface="맑은 고딕"/>
                <a:cs typeface="맑은 고딕"/>
              </a:rPr>
              <a:t>약 82%가 1초 </a:t>
            </a:r>
            <a:r>
              <a:rPr sz="1150" b="0" dirty="0" err="1">
                <a:solidFill>
                  <a:srgbClr val="3A3A3A"/>
                </a:solidFill>
                <a:latin typeface="맑은 고딕"/>
                <a:ea typeface="맑은 고딕"/>
                <a:cs typeface="맑은 고딕"/>
              </a:rPr>
              <a:t>안정</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구간</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달성</a:t>
            </a:r>
            <a:endParaRPr sz="1150" b="0" dirty="0">
              <a:solidFill>
                <a:srgbClr val="3A3A3A"/>
              </a:solidFill>
              <a:latin typeface="맑은 고딕"/>
              <a:ea typeface="맑은 고딕"/>
              <a:cs typeface="맑은 고딕"/>
            </a:endParaRPr>
          </a:p>
        </p:txBody>
      </p:sp>
      <p:sp>
        <p:nvSpPr>
          <p:cNvPr id="17" name="Rectangle 16"/>
          <p:cNvSpPr/>
          <p:nvPr/>
        </p:nvSpPr>
        <p:spPr>
          <a:xfrm>
            <a:off x="6309359" y="2998902"/>
            <a:ext cx="2633472" cy="1690725"/>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6446520" y="3140451"/>
            <a:ext cx="2359152" cy="235915"/>
          </a:xfrm>
          <a:prstGeom prst="rect">
            <a:avLst/>
          </a:prstGeom>
          <a:noFill/>
        </p:spPr>
        <p:txBody>
          <a:bodyPr wrap="square" lIns="36576" tIns="36576" rIns="36576" bIns="36576" anchor="t">
            <a:spAutoFit/>
          </a:bodyPr>
          <a:lstStyle/>
          <a:p>
            <a:pPr algn="ctr">
              <a:lnSpc>
                <a:spcPct val="100000"/>
              </a:lnSpc>
              <a:spcAft>
                <a:spcPts val="0"/>
              </a:spcAft>
            </a:pPr>
            <a:r>
              <a:rPr sz="1200" b="0">
                <a:solidFill>
                  <a:srgbClr val="686868"/>
                </a:solidFill>
                <a:latin typeface="맑은 고딕"/>
                <a:ea typeface="맑은 고딕"/>
                <a:cs typeface="맑은 고딕"/>
              </a:rPr>
              <a:t>Forward RMSE</a:t>
            </a:r>
          </a:p>
        </p:txBody>
      </p:sp>
      <p:sp>
        <p:nvSpPr>
          <p:cNvPr id="19" name="TextBox 18"/>
          <p:cNvSpPr txBox="1"/>
          <p:nvPr/>
        </p:nvSpPr>
        <p:spPr>
          <a:xfrm>
            <a:off x="6446520" y="3462868"/>
            <a:ext cx="2359152" cy="330281"/>
          </a:xfrm>
          <a:prstGeom prst="rect">
            <a:avLst/>
          </a:prstGeom>
          <a:noFill/>
        </p:spPr>
        <p:txBody>
          <a:bodyPr wrap="square" lIns="36576" tIns="36576" rIns="36576" bIns="36576" anchor="t">
            <a:spAutoFit/>
          </a:bodyPr>
          <a:lstStyle/>
          <a:p>
            <a:pPr algn="ctr">
              <a:lnSpc>
                <a:spcPct val="100000"/>
              </a:lnSpc>
              <a:spcAft>
                <a:spcPts val="0"/>
              </a:spcAft>
            </a:pPr>
            <a:r>
              <a:rPr sz="2200" b="1">
                <a:solidFill>
                  <a:srgbClr val="111111"/>
                </a:solidFill>
                <a:latin typeface="맑은 고딕"/>
                <a:ea typeface="맑은 고딕"/>
                <a:cs typeface="맑은 고딕"/>
              </a:rPr>
              <a:t>0.0961 m/s</a:t>
            </a:r>
          </a:p>
        </p:txBody>
      </p:sp>
      <p:sp>
        <p:nvSpPr>
          <p:cNvPr id="20" name="TextBox 19"/>
          <p:cNvSpPr txBox="1"/>
          <p:nvPr/>
        </p:nvSpPr>
        <p:spPr>
          <a:xfrm>
            <a:off x="6446520" y="3926835"/>
            <a:ext cx="2359152" cy="519013"/>
          </a:xfrm>
          <a:prstGeom prst="rect">
            <a:avLst/>
          </a:prstGeom>
          <a:noFill/>
        </p:spPr>
        <p:txBody>
          <a:bodyPr wrap="square" lIns="36576" tIns="36576" rIns="36576" bIns="36576" anchor="ctr">
            <a:spAutoFit/>
          </a:bodyPr>
          <a:lstStyle/>
          <a:p>
            <a:pPr algn="ctr">
              <a:lnSpc>
                <a:spcPct val="100000"/>
              </a:lnSpc>
              <a:spcAft>
                <a:spcPts val="0"/>
              </a:spcAft>
            </a:pPr>
            <a:r>
              <a:rPr sz="1150" b="0" dirty="0" err="1">
                <a:solidFill>
                  <a:srgbClr val="3A3A3A"/>
                </a:solidFill>
                <a:latin typeface="맑은 고딕"/>
                <a:ea typeface="맑은 고딕"/>
                <a:cs typeface="맑은 고딕"/>
              </a:rPr>
              <a:t>에피소드별</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RMSE의</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평균</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명령</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속도</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대비</a:t>
            </a:r>
            <a:r>
              <a:rPr sz="1150" b="0" dirty="0">
                <a:solidFill>
                  <a:srgbClr val="3A3A3A"/>
                </a:solidFill>
                <a:latin typeface="맑은 고딕"/>
                <a:ea typeface="맑은 고딕"/>
                <a:cs typeface="맑은 고딕"/>
              </a:rPr>
              <a:t> 19.2%</a:t>
            </a:r>
          </a:p>
        </p:txBody>
      </p:sp>
      <p:sp>
        <p:nvSpPr>
          <p:cNvPr id="21" name="Rectangle 20"/>
          <p:cNvSpPr/>
          <p:nvPr/>
        </p:nvSpPr>
        <p:spPr>
          <a:xfrm>
            <a:off x="9171432" y="2998902"/>
            <a:ext cx="2633472" cy="1690725"/>
          </a:xfrm>
          <a:prstGeom prst="rect">
            <a:avLst/>
          </a:prstGeom>
          <a:solidFill>
            <a:srgbClr val="FFFFFF"/>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p:cNvSpPr txBox="1"/>
          <p:nvPr/>
        </p:nvSpPr>
        <p:spPr>
          <a:xfrm>
            <a:off x="9308592" y="3140451"/>
            <a:ext cx="2359152" cy="235915"/>
          </a:xfrm>
          <a:prstGeom prst="rect">
            <a:avLst/>
          </a:prstGeom>
          <a:noFill/>
        </p:spPr>
        <p:txBody>
          <a:bodyPr wrap="square" lIns="36576" tIns="36576" rIns="36576" bIns="36576" anchor="t">
            <a:spAutoFit/>
          </a:bodyPr>
          <a:lstStyle/>
          <a:p>
            <a:pPr algn="ctr">
              <a:lnSpc>
                <a:spcPct val="100000"/>
              </a:lnSpc>
              <a:spcAft>
                <a:spcPts val="0"/>
              </a:spcAft>
            </a:pPr>
            <a:r>
              <a:rPr sz="1200" b="0">
                <a:solidFill>
                  <a:srgbClr val="686868"/>
                </a:solidFill>
                <a:latin typeface="맑은 고딕"/>
                <a:ea typeface="맑은 고딕"/>
                <a:cs typeface="맑은 고딕"/>
              </a:rPr>
              <a:t>Forward progress</a:t>
            </a:r>
          </a:p>
        </p:txBody>
      </p:sp>
      <p:sp>
        <p:nvSpPr>
          <p:cNvPr id="23" name="TextBox 22"/>
          <p:cNvSpPr txBox="1"/>
          <p:nvPr/>
        </p:nvSpPr>
        <p:spPr>
          <a:xfrm>
            <a:off x="9308592" y="3462868"/>
            <a:ext cx="2359152" cy="330281"/>
          </a:xfrm>
          <a:prstGeom prst="rect">
            <a:avLst/>
          </a:prstGeom>
          <a:noFill/>
        </p:spPr>
        <p:txBody>
          <a:bodyPr wrap="square" lIns="36576" tIns="36576" rIns="36576" bIns="36576" anchor="t">
            <a:spAutoFit/>
          </a:bodyPr>
          <a:lstStyle/>
          <a:p>
            <a:pPr algn="ctr">
              <a:lnSpc>
                <a:spcPct val="100000"/>
              </a:lnSpc>
              <a:spcAft>
                <a:spcPts val="0"/>
              </a:spcAft>
            </a:pPr>
            <a:r>
              <a:rPr sz="2200" b="1">
                <a:solidFill>
                  <a:srgbClr val="111111"/>
                </a:solidFill>
                <a:latin typeface="맑은 고딕"/>
                <a:ea typeface="맑은 고딕"/>
                <a:cs typeface="맑은 고딕"/>
              </a:rPr>
              <a:t>9.12 / 10 m</a:t>
            </a:r>
          </a:p>
        </p:txBody>
      </p:sp>
      <p:sp>
        <p:nvSpPr>
          <p:cNvPr id="24" name="TextBox 23"/>
          <p:cNvSpPr txBox="1"/>
          <p:nvPr/>
        </p:nvSpPr>
        <p:spPr>
          <a:xfrm>
            <a:off x="9308592" y="3926835"/>
            <a:ext cx="2359152" cy="519013"/>
          </a:xfrm>
          <a:prstGeom prst="rect">
            <a:avLst/>
          </a:prstGeom>
          <a:noFill/>
        </p:spPr>
        <p:txBody>
          <a:bodyPr wrap="square" lIns="36576" tIns="36576" rIns="36576" bIns="36576" anchor="ctr">
            <a:spAutoFit/>
          </a:bodyPr>
          <a:lstStyle/>
          <a:p>
            <a:pPr algn="ctr">
              <a:lnSpc>
                <a:spcPct val="100000"/>
              </a:lnSpc>
              <a:spcAft>
                <a:spcPts val="0"/>
              </a:spcAft>
            </a:pPr>
            <a:r>
              <a:rPr sz="1150" b="0" dirty="0" err="1">
                <a:solidFill>
                  <a:srgbClr val="3A3A3A"/>
                </a:solidFill>
                <a:latin typeface="맑은 고딕"/>
                <a:ea typeface="맑은 고딕"/>
                <a:cs typeface="맑은 고딕"/>
              </a:rPr>
              <a:t>이상적</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거리의</a:t>
            </a:r>
            <a:r>
              <a:rPr sz="1150" b="0" dirty="0">
                <a:solidFill>
                  <a:srgbClr val="3A3A3A"/>
                </a:solidFill>
                <a:latin typeface="맑은 고딕"/>
                <a:ea typeface="맑은 고딕"/>
                <a:cs typeface="맑은 고딕"/>
              </a:rPr>
              <a:t> 91.2%를
</a:t>
            </a:r>
            <a:r>
              <a:rPr sz="1150" b="0" dirty="0" err="1">
                <a:solidFill>
                  <a:srgbClr val="3A3A3A"/>
                </a:solidFill>
                <a:latin typeface="맑은 고딕"/>
                <a:ea typeface="맑은 고딕"/>
                <a:cs typeface="맑은 고딕"/>
              </a:rPr>
              <a:t>고장</a:t>
            </a:r>
            <a:r>
              <a:rPr sz="1150" b="0" dirty="0">
                <a:solidFill>
                  <a:srgbClr val="3A3A3A"/>
                </a:solidFill>
                <a:latin typeface="맑은 고딕"/>
                <a:ea typeface="맑은 고딕"/>
                <a:cs typeface="맑은 고딕"/>
              </a:rPr>
              <a:t> 후 20초 </a:t>
            </a:r>
            <a:r>
              <a:rPr sz="1150" b="0" dirty="0" err="1">
                <a:solidFill>
                  <a:srgbClr val="3A3A3A"/>
                </a:solidFill>
                <a:latin typeface="맑은 고딕"/>
                <a:ea typeface="맑은 고딕"/>
                <a:cs typeface="맑은 고딕"/>
              </a:rPr>
              <a:t>동안</a:t>
            </a:r>
            <a:r>
              <a:rPr sz="1150" b="0" dirty="0">
                <a:solidFill>
                  <a:srgbClr val="3A3A3A"/>
                </a:solidFill>
                <a:latin typeface="맑은 고딕"/>
                <a:ea typeface="맑은 고딕"/>
                <a:cs typeface="맑은 고딕"/>
              </a:rPr>
              <a:t> </a:t>
            </a:r>
            <a:r>
              <a:rPr sz="1150" b="0" dirty="0" err="1">
                <a:solidFill>
                  <a:srgbClr val="3A3A3A"/>
                </a:solidFill>
                <a:latin typeface="맑은 고딕"/>
                <a:ea typeface="맑은 고딕"/>
                <a:cs typeface="맑은 고딕"/>
              </a:rPr>
              <a:t>전진</a:t>
            </a:r>
            <a:endParaRPr sz="1150" b="0" dirty="0">
              <a:solidFill>
                <a:srgbClr val="3A3A3A"/>
              </a:solidFill>
              <a:latin typeface="맑은 고딕"/>
              <a:ea typeface="맑은 고딕"/>
              <a:cs typeface="맑은 고딕"/>
            </a:endParaRPr>
          </a:p>
        </p:txBody>
      </p:sp>
      <p:sp>
        <p:nvSpPr>
          <p:cNvPr id="27" name="v5-content-intro"/>
          <p:cNvSpPr txBox="1"/>
          <p:nvPr/>
        </p:nvSpPr>
        <p:spPr>
          <a:xfrm>
            <a:off x="664267" y="1511512"/>
            <a:ext cx="10881360" cy="1001749"/>
          </a:xfrm>
          <a:prstGeom prst="rect">
            <a:avLst/>
          </a:prstGeom>
          <a:noFill/>
        </p:spPr>
        <p:txBody>
          <a:bodyPr wrap="square" lIns="36576" tIns="36576" rIns="36576" bIns="36576" anchor="t">
            <a:spAutoFit/>
          </a:bodyPr>
          <a:lstStyle/>
          <a:p>
            <a:pPr marL="285750" indent="-285750" algn="l">
              <a:lnSpc>
                <a:spcPct val="150000"/>
              </a:lnSpc>
              <a:spcAft>
                <a:spcPts val="0"/>
              </a:spcAft>
              <a:buFont typeface="Arial" panose="020B0604020202020204" pitchFamily="34" charset="0"/>
              <a:buChar char="•"/>
            </a:pPr>
            <a:r>
              <a:rPr lang="en-US" sz="1400" b="0" dirty="0">
                <a:solidFill>
                  <a:srgbClr val="3A3A3A"/>
                </a:solidFill>
                <a:latin typeface="맑은 고딕"/>
                <a:ea typeface="맑은 고딕"/>
                <a:cs typeface="맑은 고딕"/>
              </a:rPr>
              <a:t>Onset</a:t>
            </a:r>
            <a:r>
              <a:rPr lang="ko-KR" altLang="en-US" sz="1400" dirty="0">
                <a:solidFill>
                  <a:srgbClr val="3A3A3A"/>
                </a:solidFill>
                <a:latin typeface="맑은 고딕"/>
                <a:ea typeface="맑은 고딕"/>
                <a:cs typeface="맑은 고딕"/>
              </a:rPr>
              <a:t> </a:t>
            </a:r>
            <a:r>
              <a:rPr lang="en-US" altLang="ko-KR" sz="1400" dirty="0">
                <a:solidFill>
                  <a:srgbClr val="3A3A3A"/>
                </a:solidFill>
                <a:latin typeface="맑은 고딕"/>
                <a:ea typeface="맑은 고딕"/>
                <a:cs typeface="맑은 고딕"/>
              </a:rPr>
              <a:t>:</a:t>
            </a:r>
            <a:r>
              <a:rPr lang="ko-KR" altLang="en-US" sz="1400" dirty="0">
                <a:solidFill>
                  <a:srgbClr val="3A3A3A"/>
                </a:solidFill>
                <a:latin typeface="맑은 고딕"/>
                <a:ea typeface="맑은 고딕"/>
                <a:cs typeface="맑은 고딕"/>
              </a:rPr>
              <a:t> 고장 시점 랜덤 </a:t>
            </a:r>
            <a:r>
              <a:rPr lang="en-US" altLang="ko-KR" sz="1400" dirty="0">
                <a:solidFill>
                  <a:srgbClr val="3A3A3A"/>
                </a:solidFill>
                <a:latin typeface="맑은 고딕"/>
                <a:ea typeface="맑은 고딕"/>
                <a:cs typeface="맑은 고딕"/>
              </a:rPr>
              <a:t>(0.0~ 10.0</a:t>
            </a:r>
            <a:r>
              <a:rPr lang="ko-KR" altLang="en-US" sz="1400" dirty="0">
                <a:solidFill>
                  <a:srgbClr val="3A3A3A"/>
                </a:solidFill>
                <a:latin typeface="맑은 고딕"/>
                <a:ea typeface="맑은 고딕"/>
                <a:cs typeface="맑은 고딕"/>
              </a:rPr>
              <a:t>초 사이</a:t>
            </a:r>
            <a:r>
              <a:rPr lang="en-US" altLang="ko-KR" sz="1400" dirty="0">
                <a:solidFill>
                  <a:srgbClr val="3A3A3A"/>
                </a:solidFill>
                <a:latin typeface="맑은 고딕"/>
                <a:ea typeface="맑은 고딕"/>
                <a:cs typeface="맑은 고딕"/>
              </a:rPr>
              <a:t>)</a:t>
            </a:r>
          </a:p>
          <a:p>
            <a:pPr marL="285750" indent="-285750">
              <a:lnSpc>
                <a:spcPct val="150000"/>
              </a:lnSpc>
              <a:buFont typeface="Arial" panose="020B0604020202020204" pitchFamily="34" charset="0"/>
              <a:buChar char="•"/>
            </a:pPr>
            <a:r>
              <a:rPr lang="ko-KR" altLang="en-US" sz="1400" dirty="0">
                <a:solidFill>
                  <a:srgbClr val="3A3A3A"/>
                </a:solidFill>
                <a:latin typeface="맑은 고딕"/>
                <a:ea typeface="맑은 고딕"/>
                <a:cs typeface="맑은 고딕"/>
              </a:rPr>
              <a:t>생존율 </a:t>
            </a:r>
            <a:r>
              <a:rPr lang="en-US" altLang="ko-KR" sz="1400" dirty="0">
                <a:solidFill>
                  <a:srgbClr val="3A3A3A"/>
                </a:solidFill>
                <a:latin typeface="맑은 고딕"/>
                <a:ea typeface="맑은 고딕"/>
                <a:cs typeface="맑은 고딕"/>
              </a:rPr>
              <a:t>(survival) : 20</a:t>
            </a:r>
            <a:r>
              <a:rPr lang="ko-KR" altLang="en-US" sz="1400" dirty="0">
                <a:solidFill>
                  <a:srgbClr val="3A3A3A"/>
                </a:solidFill>
                <a:latin typeface="맑은 고딕"/>
                <a:ea typeface="맑은 고딕"/>
                <a:cs typeface="맑은 고딕"/>
              </a:rPr>
              <a:t>초 에피소드 간 몸체 접촉 없음</a:t>
            </a:r>
            <a:r>
              <a:rPr lang="en-US" altLang="ko-KR" sz="1400" dirty="0">
                <a:solidFill>
                  <a:srgbClr val="3A3A3A"/>
                </a:solidFill>
                <a:latin typeface="맑은 고딕"/>
                <a:ea typeface="맑은 고딕"/>
                <a:cs typeface="맑은 고딕"/>
              </a:rPr>
              <a:t>.  </a:t>
            </a:r>
            <a:r>
              <a:rPr lang="ko-KR" altLang="en-US" sz="1400" dirty="0">
                <a:solidFill>
                  <a:srgbClr val="3A3A3A"/>
                </a:solidFill>
                <a:latin typeface="맑은 고딕"/>
                <a:ea typeface="맑은 고딕"/>
                <a:cs typeface="맑은 고딕"/>
              </a:rPr>
              <a:t>몸체 지면 접촉 시 에피소드 종료</a:t>
            </a:r>
            <a:r>
              <a:rPr lang="en-US" altLang="ko-KR" sz="1400" dirty="0">
                <a:solidFill>
                  <a:srgbClr val="3A3A3A"/>
                </a:solidFill>
                <a:latin typeface="맑은 고딕"/>
                <a:ea typeface="맑은 고딕"/>
                <a:cs typeface="맑은 고딕"/>
              </a:rPr>
              <a:t>. </a:t>
            </a:r>
          </a:p>
          <a:p>
            <a:pPr marL="285750" indent="-285750">
              <a:lnSpc>
                <a:spcPct val="150000"/>
              </a:lnSpc>
              <a:buFont typeface="Arial" panose="020B0604020202020204" pitchFamily="34" charset="0"/>
              <a:buChar char="•"/>
            </a:pPr>
            <a:r>
              <a:rPr lang="ko-KR" altLang="en-US" sz="1400" b="0" dirty="0">
                <a:solidFill>
                  <a:srgbClr val="3A3A3A"/>
                </a:solidFill>
                <a:latin typeface="맑은 고딕"/>
                <a:ea typeface="맑은 고딕"/>
                <a:cs typeface="맑은 고딕"/>
              </a:rPr>
              <a:t>회복률</a:t>
            </a:r>
            <a:r>
              <a:rPr lang="en-US" altLang="ko-KR" sz="1400" b="0" dirty="0">
                <a:solidFill>
                  <a:srgbClr val="3A3A3A"/>
                </a:solidFill>
                <a:latin typeface="맑은 고딕"/>
                <a:ea typeface="맑은 고딕"/>
                <a:cs typeface="맑은 고딕"/>
              </a:rPr>
              <a:t>(recovery) : </a:t>
            </a:r>
            <a:r>
              <a:rPr lang="ko-KR" altLang="en-US" sz="1400" dirty="0">
                <a:solidFill>
                  <a:srgbClr val="3A3A3A"/>
                </a:solidFill>
                <a:latin typeface="맑은 고딕"/>
                <a:ea typeface="맑은 고딕"/>
                <a:cs typeface="맑은 고딕"/>
              </a:rPr>
              <a:t>회복률은 고장 발생 후 전진 속도 오차가 </a:t>
            </a:r>
            <a:r>
              <a:rPr lang="en-US" altLang="ko-KR" sz="1400" dirty="0">
                <a:solidFill>
                  <a:srgbClr val="3A3A3A"/>
                </a:solidFill>
                <a:latin typeface="맑은 고딕"/>
                <a:ea typeface="맑은 고딕"/>
                <a:cs typeface="맑은 고딕"/>
              </a:rPr>
              <a:t>±0.1 m/s </a:t>
            </a:r>
            <a:r>
              <a:rPr lang="ko-KR" altLang="en-US" sz="1400" dirty="0">
                <a:solidFill>
                  <a:srgbClr val="3A3A3A"/>
                </a:solidFill>
                <a:latin typeface="맑은 고딕"/>
                <a:ea typeface="맑은 고딕"/>
                <a:cs typeface="맑은 고딕"/>
              </a:rPr>
              <a:t>이내</a:t>
            </a:r>
            <a:r>
              <a:rPr lang="en-US" altLang="ko-KR" sz="1400" dirty="0">
                <a:solidFill>
                  <a:srgbClr val="3A3A3A"/>
                </a:solidFill>
                <a:latin typeface="맑은 고딕"/>
                <a:ea typeface="맑은 고딕"/>
                <a:cs typeface="맑은 고딕"/>
              </a:rPr>
              <a:t>,</a:t>
            </a:r>
            <a:r>
              <a:rPr lang="ko-KR" altLang="en-US" sz="1400" dirty="0">
                <a:solidFill>
                  <a:srgbClr val="3A3A3A"/>
                </a:solidFill>
                <a:latin typeface="맑은 고딕"/>
                <a:ea typeface="맑은 고딕"/>
                <a:cs typeface="맑은 고딕"/>
              </a:rPr>
              <a:t> </a:t>
            </a:r>
            <a:r>
              <a:rPr lang="en-US" altLang="ko-KR" sz="1400" dirty="0">
                <a:solidFill>
                  <a:srgbClr val="3A3A3A"/>
                </a:solidFill>
                <a:latin typeface="맑은 고딕"/>
                <a:ea typeface="맑은 고딕"/>
                <a:cs typeface="맑은 고딕"/>
              </a:rPr>
              <a:t>yaw </a:t>
            </a:r>
            <a:r>
              <a:rPr lang="ko-KR" altLang="en-US" sz="1400" dirty="0">
                <a:solidFill>
                  <a:srgbClr val="3A3A3A"/>
                </a:solidFill>
                <a:latin typeface="맑은 고딕"/>
                <a:ea typeface="맑은 고딕"/>
                <a:cs typeface="맑은 고딕"/>
              </a:rPr>
              <a:t>각속도가 </a:t>
            </a:r>
            <a:r>
              <a:rPr lang="en-US" altLang="ko-KR" sz="1400" dirty="0">
                <a:solidFill>
                  <a:srgbClr val="3A3A3A"/>
                </a:solidFill>
                <a:latin typeface="맑은 고딕"/>
                <a:ea typeface="맑은 고딕"/>
                <a:cs typeface="맑은 고딕"/>
              </a:rPr>
              <a:t>±0.2 rad/s </a:t>
            </a:r>
            <a:r>
              <a:rPr lang="ko-KR" altLang="en-US" sz="1400" dirty="0">
                <a:solidFill>
                  <a:srgbClr val="3A3A3A"/>
                </a:solidFill>
                <a:latin typeface="맑은 고딕"/>
                <a:ea typeface="맑은 고딕"/>
                <a:cs typeface="맑은 고딕"/>
              </a:rPr>
              <a:t>이내인 상태를 </a:t>
            </a:r>
            <a:r>
              <a:rPr lang="en-US" altLang="ko-KR" sz="1400" dirty="0">
                <a:solidFill>
                  <a:srgbClr val="3A3A3A"/>
                </a:solidFill>
                <a:latin typeface="맑은 고딕"/>
                <a:ea typeface="맑은 고딕"/>
                <a:cs typeface="맑은 고딕"/>
              </a:rPr>
              <a:t>1</a:t>
            </a:r>
            <a:r>
              <a:rPr lang="ko-KR" altLang="en-US" sz="1400" dirty="0">
                <a:solidFill>
                  <a:srgbClr val="3A3A3A"/>
                </a:solidFill>
                <a:latin typeface="맑은 고딕"/>
                <a:ea typeface="맑은 고딕"/>
                <a:cs typeface="맑은 고딕"/>
              </a:rPr>
              <a:t>초 연속 유지</a:t>
            </a:r>
            <a:endParaRPr sz="1400" b="0" dirty="0">
              <a:solidFill>
                <a:srgbClr val="3A3A3A"/>
              </a:solidFill>
              <a:latin typeface="맑은 고딕"/>
              <a:ea typeface="맑은 고딕"/>
              <a:cs typeface="맑은 고딕"/>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30 | 고장 조건별 안정 회복의 한계</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RESULT · 평균 성능에서 드러나지 않는 조건별 회복 실패</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00" b="0">
                <a:solidFill>
                  <a:srgbClr val="686868"/>
                </a:solidFill>
                <a:latin typeface="맑은 고딕"/>
                <a:ea typeface="맑은 고딕"/>
                <a:cs typeface="맑은 고딕"/>
              </a:rPr>
              <a:t>1) P5 canonical onset JSONL; docs/results/p5-tf43000-vs-jt71500.md.   2) 각 칸: 3 seeds × 3 onset times × 16 = 144 episodes. 검은 테두리는 상세 분석 대상이며 유의성 표시는 아님.</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30 / 43</a:t>
            </a:r>
          </a:p>
        </p:txBody>
      </p:sp>
      <p:sp>
        <p:nvSpPr>
          <p:cNvPr id="8" name="v5-content-intro"/>
          <p:cNvSpPr txBox="1"/>
          <p:nvPr/>
        </p:nvSpPr>
        <p:spPr>
          <a:xfrm>
            <a:off x="658368" y="1261872"/>
            <a:ext cx="10881360" cy="473976"/>
          </a:xfrm>
          <a:prstGeom prst="rect">
            <a:avLst/>
          </a:prstGeom>
          <a:noFill/>
        </p:spPr>
        <p:txBody>
          <a:bodyPr wrap="square" lIns="36576" tIns="36576" rIns="36576" bIns="36576" anchor="t">
            <a:spAutoFit/>
          </a:bodyPr>
          <a:lstStyle/>
          <a:p>
            <a:pPr marL="285750" indent="-285750" algn="l">
              <a:spcAft>
                <a:spcPts val="0"/>
              </a:spcAft>
              <a:buFont typeface="Arial" panose="020B0604020202020204" pitchFamily="34" charset="0"/>
              <a:buChar char="•"/>
            </a:pPr>
            <a:r>
              <a:rPr lang="en-US" sz="1300" b="0" dirty="0">
                <a:solidFill>
                  <a:srgbClr val="3A3A3A"/>
                </a:solidFill>
                <a:latin typeface="맑은 고딕"/>
                <a:ea typeface="맑은 고딕"/>
                <a:cs typeface="맑은 고딕"/>
              </a:rPr>
              <a:t>Student</a:t>
            </a:r>
            <a:r>
              <a:rPr lang="ko-KR" altLang="en-US" sz="1300" b="0" dirty="0">
                <a:solidFill>
                  <a:srgbClr val="3A3A3A"/>
                </a:solidFill>
                <a:latin typeface="맑은 고딕"/>
                <a:ea typeface="맑은 고딕"/>
                <a:cs typeface="맑은 고딕"/>
              </a:rPr>
              <a:t> </a:t>
            </a:r>
            <a:r>
              <a:rPr lang="en-US" altLang="ko-KR" sz="1300" b="0" dirty="0">
                <a:solidFill>
                  <a:srgbClr val="3A3A3A"/>
                </a:solidFill>
                <a:latin typeface="맑은 고딕"/>
                <a:ea typeface="맑은 고딕"/>
                <a:cs typeface="맑은 고딕"/>
              </a:rPr>
              <a:t>/</a:t>
            </a:r>
            <a:r>
              <a:rPr lang="ko-KR" altLang="en-US" sz="1300" b="0" dirty="0">
                <a:solidFill>
                  <a:srgbClr val="3A3A3A"/>
                </a:solidFill>
                <a:latin typeface="맑은 고딕"/>
                <a:ea typeface="맑은 고딕"/>
                <a:cs typeface="맑은 고딕"/>
              </a:rPr>
              <a:t> </a:t>
            </a:r>
            <a:r>
              <a:rPr lang="en-US" altLang="ko-KR" sz="1300" b="0" dirty="0">
                <a:solidFill>
                  <a:srgbClr val="3A3A3A"/>
                </a:solidFill>
                <a:latin typeface="맑은 고딕"/>
                <a:ea typeface="맑은 고딕"/>
                <a:cs typeface="맑은 고딕"/>
              </a:rPr>
              <a:t>Teacher</a:t>
            </a:r>
            <a:r>
              <a:rPr lang="ko-KR" altLang="en-US" sz="1300" b="0" dirty="0">
                <a:solidFill>
                  <a:srgbClr val="3A3A3A"/>
                </a:solidFill>
                <a:latin typeface="맑은 고딕"/>
                <a:ea typeface="맑은 고딕"/>
                <a:cs typeface="맑은 고딕"/>
              </a:rPr>
              <a:t> 의 회복률 비교</a:t>
            </a:r>
            <a:endParaRPr lang="en-US" altLang="ko-KR" sz="1300" b="0" dirty="0">
              <a:solidFill>
                <a:srgbClr val="3A3A3A"/>
              </a:solidFill>
              <a:latin typeface="맑은 고딕"/>
              <a:ea typeface="맑은 고딕"/>
              <a:cs typeface="맑은 고딕"/>
            </a:endParaRPr>
          </a:p>
          <a:p>
            <a:pPr marL="285750" indent="-285750" algn="l">
              <a:spcAft>
                <a:spcPts val="0"/>
              </a:spcAft>
              <a:buFont typeface="Arial" panose="020B0604020202020204" pitchFamily="34" charset="0"/>
              <a:buChar char="•"/>
            </a:pPr>
            <a:r>
              <a:rPr sz="1300" b="0" dirty="0" err="1">
                <a:solidFill>
                  <a:srgbClr val="3A3A3A"/>
                </a:solidFill>
                <a:latin typeface="맑은 고딕"/>
                <a:ea typeface="맑은 고딕"/>
                <a:cs typeface="맑은 고딕"/>
              </a:rPr>
              <a:t>완전</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출력</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상실</a:t>
            </a:r>
            <a:r>
              <a:rPr lang="en-US" sz="1300" b="0" dirty="0">
                <a:solidFill>
                  <a:srgbClr val="3A3A3A"/>
                </a:solidFill>
                <a:latin typeface="맑은 고딕"/>
                <a:ea typeface="맑은 고딕"/>
                <a:cs typeface="맑은 고딕"/>
              </a:rPr>
              <a:t>(d=1.0) </a:t>
            </a:r>
            <a:r>
              <a:rPr sz="1300" b="0" dirty="0" err="1">
                <a:solidFill>
                  <a:srgbClr val="3A3A3A"/>
                </a:solidFill>
                <a:latin typeface="맑은 고딕"/>
                <a:ea typeface="맑은 고딕"/>
                <a:cs typeface="맑은 고딕"/>
              </a:rPr>
              <a:t>에서는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여러</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관절의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회복률이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낮다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특정</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관절</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하나의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보편적</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취약성보다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생존과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회복의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차이를</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확인한다</a:t>
            </a:r>
            <a:r>
              <a:rPr sz="1300" b="0" dirty="0">
                <a:solidFill>
                  <a:srgbClr val="3A3A3A"/>
                </a:solidFill>
                <a:latin typeface="맑은 고딕"/>
                <a:ea typeface="맑은 고딕"/>
                <a:cs typeface="맑은 고딕"/>
              </a:rPr>
              <a:t>.</a:t>
            </a:r>
          </a:p>
        </p:txBody>
      </p:sp>
      <p:pic>
        <p:nvPicPr>
          <p:cNvPr id="9" name="Picture 8" descr="v10_onset_recovery_heatmaps.png"/>
          <p:cNvPicPr>
            <a:picLocks noChangeAspect="1"/>
          </p:cNvPicPr>
          <p:nvPr/>
        </p:nvPicPr>
        <p:blipFill>
          <a:blip r:embed="rId3"/>
          <a:stretch>
            <a:fillRect/>
          </a:stretch>
        </p:blipFill>
        <p:spPr>
          <a:xfrm>
            <a:off x="594360" y="1879377"/>
            <a:ext cx="7589520" cy="4031932"/>
          </a:xfrm>
          <a:prstGeom prst="rect">
            <a:avLst/>
          </a:prstGeom>
        </p:spPr>
      </p:pic>
      <p:sp>
        <p:nvSpPr>
          <p:cNvPr id="10" name="Rectangle 9"/>
          <p:cNvSpPr/>
          <p:nvPr/>
        </p:nvSpPr>
        <p:spPr>
          <a:xfrm>
            <a:off x="8348472" y="1938528"/>
            <a:ext cx="1508760" cy="57607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21624" y="1975104"/>
            <a:ext cx="1362456" cy="502920"/>
          </a:xfrm>
          <a:prstGeom prst="rect">
            <a:avLst/>
          </a:prstGeom>
          <a:noFill/>
        </p:spPr>
        <p:txBody>
          <a:bodyPr wrap="square" lIns="9144" tIns="9144" rIns="9144" bIns="9144" anchor="ctr">
            <a:spAutoFit/>
          </a:bodyPr>
          <a:lstStyle/>
          <a:p>
            <a:pPr algn="ctr">
              <a:spcAft>
                <a:spcPts val="0"/>
              </a:spcAft>
            </a:pPr>
            <a:r>
              <a:rPr sz="1010" b="1">
                <a:solidFill>
                  <a:srgbClr val="FFFFFF"/>
                </a:solidFill>
                <a:latin typeface="맑은 고딕"/>
                <a:ea typeface="맑은 고딕"/>
                <a:cs typeface="맑은 고딕"/>
              </a:rPr>
              <a:t>조건</a:t>
            </a:r>
          </a:p>
        </p:txBody>
      </p:sp>
      <p:sp>
        <p:nvSpPr>
          <p:cNvPr id="12" name="Rectangle 11"/>
          <p:cNvSpPr/>
          <p:nvPr/>
        </p:nvSpPr>
        <p:spPr>
          <a:xfrm>
            <a:off x="9857232" y="1938528"/>
            <a:ext cx="841248" cy="57607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930384" y="1975104"/>
            <a:ext cx="694944" cy="502920"/>
          </a:xfrm>
          <a:prstGeom prst="rect">
            <a:avLst/>
          </a:prstGeom>
          <a:noFill/>
        </p:spPr>
        <p:txBody>
          <a:bodyPr wrap="square" lIns="9144" tIns="9144" rIns="9144" bIns="9144" anchor="ctr">
            <a:spAutoFit/>
          </a:bodyPr>
          <a:lstStyle/>
          <a:p>
            <a:pPr algn="ctr">
              <a:spcAft>
                <a:spcPts val="0"/>
              </a:spcAft>
            </a:pPr>
            <a:r>
              <a:rPr sz="1010" b="1">
                <a:solidFill>
                  <a:srgbClr val="FFFFFF"/>
                </a:solidFill>
                <a:latin typeface="맑은 고딕"/>
                <a:ea typeface="맑은 고딕"/>
                <a:cs typeface="맑은 고딕"/>
              </a:rPr>
              <a:t>Teacher</a:t>
            </a:r>
          </a:p>
        </p:txBody>
      </p:sp>
      <p:sp>
        <p:nvSpPr>
          <p:cNvPr id="14" name="Rectangle 13"/>
          <p:cNvSpPr/>
          <p:nvPr/>
        </p:nvSpPr>
        <p:spPr>
          <a:xfrm>
            <a:off x="10698480" y="1938528"/>
            <a:ext cx="859536" cy="57607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71632" y="1975104"/>
            <a:ext cx="713231" cy="502920"/>
          </a:xfrm>
          <a:prstGeom prst="rect">
            <a:avLst/>
          </a:prstGeom>
          <a:noFill/>
        </p:spPr>
        <p:txBody>
          <a:bodyPr wrap="square" lIns="9144" tIns="9144" rIns="9144" bIns="9144" anchor="ctr">
            <a:spAutoFit/>
          </a:bodyPr>
          <a:lstStyle/>
          <a:p>
            <a:pPr algn="ctr">
              <a:spcAft>
                <a:spcPts val="0"/>
              </a:spcAft>
            </a:pPr>
            <a:r>
              <a:rPr sz="1010" b="1">
                <a:solidFill>
                  <a:srgbClr val="FFFFFF"/>
                </a:solidFill>
                <a:latin typeface="맑은 고딕"/>
                <a:ea typeface="맑은 고딕"/>
                <a:cs typeface="맑은 고딕"/>
              </a:rPr>
              <a:t>Student</a:t>
            </a:r>
          </a:p>
        </p:txBody>
      </p:sp>
      <p:sp>
        <p:nvSpPr>
          <p:cNvPr id="16" name="Rectangle 15"/>
          <p:cNvSpPr/>
          <p:nvPr/>
        </p:nvSpPr>
        <p:spPr>
          <a:xfrm>
            <a:off x="8348472" y="2514600"/>
            <a:ext cx="1508760" cy="57607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21624" y="2551176"/>
            <a:ext cx="1362456" cy="502920"/>
          </a:xfrm>
          <a:prstGeom prst="rect">
            <a:avLst/>
          </a:prstGeom>
          <a:noFill/>
        </p:spPr>
        <p:txBody>
          <a:bodyPr wrap="square" lIns="9144" tIns="9144" rIns="9144" bIns="9144" anchor="ctr">
            <a:spAutoFit/>
          </a:bodyPr>
          <a:lstStyle/>
          <a:p>
            <a:pPr algn="l">
              <a:spcAft>
                <a:spcPts val="0"/>
              </a:spcAft>
            </a:pPr>
            <a:r>
              <a:rPr sz="1010" b="1">
                <a:solidFill>
                  <a:srgbClr val="3A3A3A"/>
                </a:solidFill>
                <a:latin typeface="맑은 고딕"/>
                <a:ea typeface="맑은 고딕"/>
                <a:cs typeface="맑은 고딕"/>
              </a:rPr>
              <a:t>RL hip · 완전상실</a:t>
            </a:r>
          </a:p>
        </p:txBody>
      </p:sp>
      <p:sp>
        <p:nvSpPr>
          <p:cNvPr id="18" name="Rectangle 17"/>
          <p:cNvSpPr/>
          <p:nvPr/>
        </p:nvSpPr>
        <p:spPr>
          <a:xfrm>
            <a:off x="9857232" y="2514600"/>
            <a:ext cx="841248" cy="57607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30384" y="2551176"/>
            <a:ext cx="694944" cy="502920"/>
          </a:xfrm>
          <a:prstGeom prst="rect">
            <a:avLst/>
          </a:prstGeom>
          <a:noFill/>
        </p:spPr>
        <p:txBody>
          <a:bodyPr wrap="square" lIns="9144" tIns="9144" rIns="9144" bIns="9144" anchor="ctr">
            <a:spAutoFit/>
          </a:bodyPr>
          <a:lstStyle/>
          <a:p>
            <a:pPr algn="ctr">
              <a:spcAft>
                <a:spcPts val="0"/>
              </a:spcAft>
            </a:pPr>
            <a:r>
              <a:rPr sz="1010" b="0">
                <a:solidFill>
                  <a:srgbClr val="3A3A3A"/>
                </a:solidFill>
                <a:latin typeface="맑은 고딕"/>
                <a:ea typeface="맑은 고딕"/>
                <a:cs typeface="맑은 고딕"/>
              </a:rPr>
              <a:t>60.42%</a:t>
            </a:r>
          </a:p>
        </p:txBody>
      </p:sp>
      <p:sp>
        <p:nvSpPr>
          <p:cNvPr id="20" name="Rectangle 19"/>
          <p:cNvSpPr/>
          <p:nvPr/>
        </p:nvSpPr>
        <p:spPr>
          <a:xfrm>
            <a:off x="10698480" y="2514600"/>
            <a:ext cx="859536" cy="57607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771632" y="2551176"/>
            <a:ext cx="713231" cy="502920"/>
          </a:xfrm>
          <a:prstGeom prst="rect">
            <a:avLst/>
          </a:prstGeom>
          <a:noFill/>
        </p:spPr>
        <p:txBody>
          <a:bodyPr wrap="square" lIns="9144" tIns="9144" rIns="9144" bIns="9144" anchor="ctr">
            <a:spAutoFit/>
          </a:bodyPr>
          <a:lstStyle/>
          <a:p>
            <a:pPr algn="ctr">
              <a:spcAft>
                <a:spcPts val="0"/>
              </a:spcAft>
            </a:pPr>
            <a:r>
              <a:rPr sz="1010" b="0">
                <a:solidFill>
                  <a:srgbClr val="3A3A3A"/>
                </a:solidFill>
                <a:latin typeface="맑은 고딕"/>
                <a:ea typeface="맑은 고딕"/>
                <a:cs typeface="맑은 고딕"/>
              </a:rPr>
              <a:t>3.47%</a:t>
            </a:r>
          </a:p>
        </p:txBody>
      </p:sp>
      <p:sp>
        <p:nvSpPr>
          <p:cNvPr id="22" name="Rectangle 21"/>
          <p:cNvSpPr/>
          <p:nvPr/>
        </p:nvSpPr>
        <p:spPr>
          <a:xfrm>
            <a:off x="8348472" y="3090672"/>
            <a:ext cx="1508760" cy="57607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21624" y="3127248"/>
            <a:ext cx="1362456" cy="502920"/>
          </a:xfrm>
          <a:prstGeom prst="rect">
            <a:avLst/>
          </a:prstGeom>
          <a:noFill/>
        </p:spPr>
        <p:txBody>
          <a:bodyPr wrap="square" lIns="9144" tIns="9144" rIns="9144" bIns="9144" anchor="ctr">
            <a:spAutoFit/>
          </a:bodyPr>
          <a:lstStyle/>
          <a:p>
            <a:pPr algn="l">
              <a:spcAft>
                <a:spcPts val="0"/>
              </a:spcAft>
            </a:pPr>
            <a:r>
              <a:rPr sz="1010" b="1">
                <a:solidFill>
                  <a:srgbClr val="3A3A3A"/>
                </a:solidFill>
                <a:latin typeface="맑은 고딕"/>
                <a:ea typeface="맑은 고딕"/>
                <a:cs typeface="맑은 고딕"/>
              </a:rPr>
              <a:t>RL thigh · 80% 저하</a:t>
            </a:r>
          </a:p>
        </p:txBody>
      </p:sp>
      <p:sp>
        <p:nvSpPr>
          <p:cNvPr id="24" name="Rectangle 23"/>
          <p:cNvSpPr/>
          <p:nvPr/>
        </p:nvSpPr>
        <p:spPr>
          <a:xfrm>
            <a:off x="9857232" y="3090672"/>
            <a:ext cx="841248" cy="57607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30384" y="3127248"/>
            <a:ext cx="694944" cy="502920"/>
          </a:xfrm>
          <a:prstGeom prst="rect">
            <a:avLst/>
          </a:prstGeom>
          <a:noFill/>
        </p:spPr>
        <p:txBody>
          <a:bodyPr wrap="square" lIns="9144" tIns="9144" rIns="9144" bIns="9144" anchor="ctr">
            <a:spAutoFit/>
          </a:bodyPr>
          <a:lstStyle/>
          <a:p>
            <a:pPr algn="ctr">
              <a:spcAft>
                <a:spcPts val="0"/>
              </a:spcAft>
            </a:pPr>
            <a:r>
              <a:rPr sz="1010" b="0">
                <a:solidFill>
                  <a:srgbClr val="3A3A3A"/>
                </a:solidFill>
                <a:latin typeface="맑은 고딕"/>
                <a:ea typeface="맑은 고딕"/>
                <a:cs typeface="맑은 고딕"/>
              </a:rPr>
              <a:t>96.53%</a:t>
            </a:r>
          </a:p>
        </p:txBody>
      </p:sp>
      <p:sp>
        <p:nvSpPr>
          <p:cNvPr id="26" name="Rectangle 25"/>
          <p:cNvSpPr/>
          <p:nvPr/>
        </p:nvSpPr>
        <p:spPr>
          <a:xfrm>
            <a:off x="10698480" y="3090672"/>
            <a:ext cx="859536" cy="57607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71632" y="3127248"/>
            <a:ext cx="713231" cy="502920"/>
          </a:xfrm>
          <a:prstGeom prst="rect">
            <a:avLst/>
          </a:prstGeom>
          <a:noFill/>
        </p:spPr>
        <p:txBody>
          <a:bodyPr wrap="square" lIns="9144" tIns="9144" rIns="9144" bIns="9144" anchor="ctr">
            <a:spAutoFit/>
          </a:bodyPr>
          <a:lstStyle/>
          <a:p>
            <a:pPr algn="ctr">
              <a:spcAft>
                <a:spcPts val="0"/>
              </a:spcAft>
            </a:pPr>
            <a:r>
              <a:rPr sz="1010" b="0">
                <a:solidFill>
                  <a:srgbClr val="3A3A3A"/>
                </a:solidFill>
                <a:latin typeface="맑은 고딕"/>
                <a:ea typeface="맑은 고딕"/>
                <a:cs typeface="맑은 고딕"/>
              </a:rPr>
              <a:t>26.39%</a:t>
            </a:r>
          </a:p>
        </p:txBody>
      </p:sp>
      <p:sp>
        <p:nvSpPr>
          <p:cNvPr id="28" name="Rectangle 27"/>
          <p:cNvSpPr/>
          <p:nvPr/>
        </p:nvSpPr>
        <p:spPr>
          <a:xfrm>
            <a:off x="8348472" y="3666744"/>
            <a:ext cx="1508760" cy="57607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21624" y="3703320"/>
            <a:ext cx="1362456" cy="502920"/>
          </a:xfrm>
          <a:prstGeom prst="rect">
            <a:avLst/>
          </a:prstGeom>
          <a:noFill/>
        </p:spPr>
        <p:txBody>
          <a:bodyPr wrap="square" lIns="9144" tIns="9144" rIns="9144" bIns="9144" anchor="ctr">
            <a:spAutoFit/>
          </a:bodyPr>
          <a:lstStyle/>
          <a:p>
            <a:pPr algn="l">
              <a:spcAft>
                <a:spcPts val="0"/>
              </a:spcAft>
            </a:pPr>
            <a:r>
              <a:rPr sz="1010" b="1">
                <a:solidFill>
                  <a:srgbClr val="3A3A3A"/>
                </a:solidFill>
                <a:latin typeface="맑은 고딕"/>
                <a:ea typeface="맑은 고딕"/>
                <a:cs typeface="맑은 고딕"/>
              </a:rPr>
              <a:t>RR calf · 80% 저하</a:t>
            </a:r>
          </a:p>
        </p:txBody>
      </p:sp>
      <p:sp>
        <p:nvSpPr>
          <p:cNvPr id="30" name="Rectangle 29"/>
          <p:cNvSpPr/>
          <p:nvPr/>
        </p:nvSpPr>
        <p:spPr>
          <a:xfrm>
            <a:off x="9857232" y="3666744"/>
            <a:ext cx="841248" cy="57607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30384" y="3703320"/>
            <a:ext cx="694944" cy="502920"/>
          </a:xfrm>
          <a:prstGeom prst="rect">
            <a:avLst/>
          </a:prstGeom>
          <a:noFill/>
        </p:spPr>
        <p:txBody>
          <a:bodyPr wrap="square" lIns="9144" tIns="9144" rIns="9144" bIns="9144" anchor="ctr">
            <a:spAutoFit/>
          </a:bodyPr>
          <a:lstStyle/>
          <a:p>
            <a:pPr algn="ctr">
              <a:spcAft>
                <a:spcPts val="0"/>
              </a:spcAft>
            </a:pPr>
            <a:r>
              <a:rPr sz="1010" b="0">
                <a:solidFill>
                  <a:srgbClr val="3A3A3A"/>
                </a:solidFill>
                <a:latin typeface="맑은 고딕"/>
                <a:ea typeface="맑은 고딕"/>
                <a:cs typeface="맑은 고딕"/>
              </a:rPr>
              <a:t>95.14%</a:t>
            </a:r>
          </a:p>
        </p:txBody>
      </p:sp>
      <p:sp>
        <p:nvSpPr>
          <p:cNvPr id="32" name="Rectangle 31"/>
          <p:cNvSpPr/>
          <p:nvPr/>
        </p:nvSpPr>
        <p:spPr>
          <a:xfrm>
            <a:off x="10698480" y="3666744"/>
            <a:ext cx="859536" cy="57607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71632" y="3703320"/>
            <a:ext cx="713231" cy="502920"/>
          </a:xfrm>
          <a:prstGeom prst="rect">
            <a:avLst/>
          </a:prstGeom>
          <a:noFill/>
        </p:spPr>
        <p:txBody>
          <a:bodyPr wrap="square" lIns="9144" tIns="9144" rIns="9144" bIns="9144" anchor="ctr">
            <a:spAutoFit/>
          </a:bodyPr>
          <a:lstStyle/>
          <a:p>
            <a:pPr algn="ctr">
              <a:spcAft>
                <a:spcPts val="0"/>
              </a:spcAft>
            </a:pPr>
            <a:r>
              <a:rPr sz="1010" b="0" dirty="0">
                <a:solidFill>
                  <a:srgbClr val="3A3A3A"/>
                </a:solidFill>
                <a:latin typeface="맑은 고딕"/>
                <a:ea typeface="맑은 고딕"/>
                <a:cs typeface="맑은 고딕"/>
              </a:rPr>
              <a:t>36.81%</a:t>
            </a:r>
          </a:p>
        </p:txBody>
      </p:sp>
      <p:sp>
        <p:nvSpPr>
          <p:cNvPr id="35" name="TextBox 34"/>
          <p:cNvSpPr txBox="1"/>
          <p:nvPr/>
        </p:nvSpPr>
        <p:spPr>
          <a:xfrm>
            <a:off x="8412480" y="4892040"/>
            <a:ext cx="3063240" cy="969264"/>
          </a:xfrm>
          <a:prstGeom prst="rect">
            <a:avLst/>
          </a:prstGeom>
          <a:noFill/>
        </p:spPr>
        <p:txBody>
          <a:bodyPr wrap="square" lIns="36576" tIns="36576" rIns="36576" bIns="36576" anchor="t">
            <a:spAutoFit/>
          </a:bodyPr>
          <a:lstStyle/>
          <a:p>
            <a:pPr algn="l">
              <a:spcAft>
                <a:spcPts val="0"/>
              </a:spcAft>
            </a:pPr>
            <a:r>
              <a:rPr sz="1100" b="0" dirty="0">
                <a:solidFill>
                  <a:srgbClr val="3A3A3A"/>
                </a:solidFill>
                <a:latin typeface="맑은 고딕"/>
                <a:ea typeface="맑은 고딕"/>
                <a:cs typeface="맑은 고딕"/>
              </a:rPr>
              <a:t>RL hip </a:t>
            </a:r>
            <a:r>
              <a:rPr sz="1100" b="0" dirty="0" err="1">
                <a:solidFill>
                  <a:srgbClr val="3A3A3A"/>
                </a:solidFill>
                <a:latin typeface="맑은 고딕"/>
                <a:ea typeface="맑은 고딕"/>
                <a:cs typeface="맑은 고딕"/>
              </a:rPr>
              <a:t>완전상실</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생존</a:t>
            </a:r>
            <a:r>
              <a:rPr sz="1100" b="0" dirty="0">
                <a:solidFill>
                  <a:srgbClr val="3A3A3A"/>
                </a:solidFill>
                <a:latin typeface="맑은 고딕"/>
                <a:ea typeface="맑은 고딕"/>
                <a:cs typeface="맑은 고딕"/>
              </a:rPr>
              <a:t> 92.36%, </a:t>
            </a:r>
            <a:r>
              <a:rPr sz="1100" b="0" dirty="0" err="1">
                <a:solidFill>
                  <a:srgbClr val="3A3A3A"/>
                </a:solidFill>
                <a:latin typeface="맑은 고딕"/>
                <a:ea typeface="맑은 고딕"/>
                <a:cs typeface="맑은 고딕"/>
              </a:rPr>
              <a:t>회복</a:t>
            </a:r>
            <a:r>
              <a:rPr sz="1100" b="0" dirty="0">
                <a:solidFill>
                  <a:srgbClr val="3A3A3A"/>
                </a:solidFill>
                <a:latin typeface="맑은 고딕"/>
                <a:ea typeface="맑은 고딕"/>
                <a:cs typeface="맑은 고딕"/>
              </a:rPr>
              <a:t> 3.47%.
</a:t>
            </a:r>
            <a:r>
              <a:rPr sz="1100" b="0" dirty="0" err="1">
                <a:solidFill>
                  <a:srgbClr val="3A3A3A"/>
                </a:solidFill>
                <a:latin typeface="맑은 고딕"/>
                <a:ea typeface="맑은 고딕"/>
                <a:cs typeface="맑은 고딕"/>
              </a:rPr>
              <a:t>넘어지지</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않아도</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속도·yaw</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기준을</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회복하지</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못한다</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좌우·열화율별</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차이가</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있어</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calf만의</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문제로</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일반화하지</a:t>
            </a:r>
            <a:r>
              <a:rPr sz="1100" b="0" dirty="0">
                <a:solidFill>
                  <a:srgbClr val="3A3A3A"/>
                </a:solidFill>
                <a:latin typeface="맑은 고딕"/>
                <a:ea typeface="맑은 고딕"/>
                <a:cs typeface="맑은 고딕"/>
              </a:rPr>
              <a:t> </a:t>
            </a:r>
            <a:r>
              <a:rPr sz="1100" b="0" dirty="0" err="1">
                <a:solidFill>
                  <a:srgbClr val="3A3A3A"/>
                </a:solidFill>
                <a:latin typeface="맑은 고딕"/>
                <a:ea typeface="맑은 고딕"/>
                <a:cs typeface="맑은 고딕"/>
              </a:rPr>
              <a:t>않는다</a:t>
            </a:r>
            <a:r>
              <a:rPr sz="1100" b="0" dirty="0">
                <a:solidFill>
                  <a:srgbClr val="3A3A3A"/>
                </a:solidFill>
                <a:latin typeface="맑은 고딕"/>
                <a:ea typeface="맑은 고딕"/>
                <a:cs typeface="맑은 고딕"/>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31 | History 의존성</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ABLATION</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31 / 43</a:t>
            </a:r>
          </a:p>
        </p:txBody>
      </p:sp>
      <p:pic>
        <p:nvPicPr>
          <p:cNvPr id="36" name="Picture 35" descr="severity_history.png"/>
          <p:cNvPicPr>
            <a:picLocks noChangeAspect="1"/>
          </p:cNvPicPr>
          <p:nvPr/>
        </p:nvPicPr>
        <p:blipFill>
          <a:blip r:embed="rId3"/>
          <a:stretch>
            <a:fillRect/>
          </a:stretch>
        </p:blipFill>
        <p:spPr>
          <a:xfrm>
            <a:off x="803365" y="1805391"/>
            <a:ext cx="7400108" cy="4049877"/>
          </a:xfrm>
          <a:prstGeom prst="rect">
            <a:avLst/>
          </a:prstGeom>
        </p:spPr>
      </p:pic>
      <p:sp>
        <p:nvSpPr>
          <p:cNvPr id="9" name="Rectangle 8"/>
          <p:cNvSpPr/>
          <p:nvPr/>
        </p:nvSpPr>
        <p:spPr>
          <a:xfrm>
            <a:off x="8732520" y="2017715"/>
            <a:ext cx="1143000" cy="45610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8805672" y="2049170"/>
            <a:ext cx="996696" cy="393191"/>
          </a:xfrm>
          <a:prstGeom prst="rect">
            <a:avLst/>
          </a:prstGeom>
          <a:noFill/>
        </p:spPr>
        <p:txBody>
          <a:bodyPr wrap="square" lIns="9144" tIns="9144" rIns="9144" bIns="9144" anchor="ctr">
            <a:spAutoFit/>
          </a:bodyPr>
          <a:lstStyle/>
          <a:p>
            <a:pPr algn="ctr">
              <a:lnSpc>
                <a:spcPct val="100000"/>
              </a:lnSpc>
              <a:spcAft>
                <a:spcPts val="0"/>
              </a:spcAft>
            </a:pPr>
            <a:r>
              <a:rPr sz="1140" b="1">
                <a:solidFill>
                  <a:srgbClr val="FFFFFF"/>
                </a:solidFill>
                <a:latin typeface="맑은 고딕"/>
                <a:ea typeface="맑은 고딕"/>
                <a:cs typeface="맑은 고딕"/>
              </a:rPr>
              <a:t>History</a:t>
            </a:r>
          </a:p>
        </p:txBody>
      </p:sp>
      <p:sp>
        <p:nvSpPr>
          <p:cNvPr id="11" name="Rectangle 10"/>
          <p:cNvSpPr/>
          <p:nvPr/>
        </p:nvSpPr>
        <p:spPr>
          <a:xfrm>
            <a:off x="9875520" y="2017715"/>
            <a:ext cx="1005840" cy="45610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2" name="TextBox 11"/>
          <p:cNvSpPr txBox="1"/>
          <p:nvPr/>
        </p:nvSpPr>
        <p:spPr>
          <a:xfrm>
            <a:off x="9948672" y="2049170"/>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1">
                <a:solidFill>
                  <a:srgbClr val="FFFFFF"/>
                </a:solidFill>
                <a:latin typeface="맑은 고딕"/>
                <a:ea typeface="맑은 고딕"/>
                <a:cs typeface="맑은 고딕"/>
              </a:rPr>
              <a:t>생존</a:t>
            </a:r>
          </a:p>
        </p:txBody>
      </p:sp>
      <p:sp>
        <p:nvSpPr>
          <p:cNvPr id="13" name="Rectangle 12"/>
          <p:cNvSpPr/>
          <p:nvPr/>
        </p:nvSpPr>
        <p:spPr>
          <a:xfrm>
            <a:off x="10881360" y="2017715"/>
            <a:ext cx="1005840" cy="45610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10954512" y="2049170"/>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1">
                <a:solidFill>
                  <a:srgbClr val="FFFFFF"/>
                </a:solidFill>
                <a:latin typeface="맑은 고딕"/>
                <a:ea typeface="맑은 고딕"/>
                <a:cs typeface="맑은 고딕"/>
              </a:rPr>
              <a:t>회복</a:t>
            </a:r>
          </a:p>
        </p:txBody>
      </p:sp>
      <p:sp>
        <p:nvSpPr>
          <p:cNvPr id="15" name="Rectangle 14"/>
          <p:cNvSpPr/>
          <p:nvPr/>
        </p:nvSpPr>
        <p:spPr>
          <a:xfrm>
            <a:off x="8732520" y="2473817"/>
            <a:ext cx="1143000" cy="45610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6" name="TextBox 15"/>
          <p:cNvSpPr txBox="1"/>
          <p:nvPr/>
        </p:nvSpPr>
        <p:spPr>
          <a:xfrm>
            <a:off x="8805672" y="2505273"/>
            <a:ext cx="996696" cy="393191"/>
          </a:xfrm>
          <a:prstGeom prst="rect">
            <a:avLst/>
          </a:prstGeom>
          <a:noFill/>
        </p:spPr>
        <p:txBody>
          <a:bodyPr wrap="square" lIns="9144" tIns="9144" rIns="9144" bIns="9144" anchor="ctr">
            <a:spAutoFit/>
          </a:bodyPr>
          <a:lstStyle/>
          <a:p>
            <a:pPr algn="l">
              <a:lnSpc>
                <a:spcPct val="100000"/>
              </a:lnSpc>
              <a:spcAft>
                <a:spcPts val="0"/>
              </a:spcAft>
            </a:pPr>
            <a:r>
              <a:rPr sz="1140" b="1">
                <a:solidFill>
                  <a:srgbClr val="3A3A3A"/>
                </a:solidFill>
                <a:latin typeface="맑은 고딕"/>
                <a:ea typeface="맑은 고딕"/>
                <a:cs typeface="맑은 고딕"/>
              </a:rPr>
              <a:t>Actual</a:t>
            </a:r>
          </a:p>
        </p:txBody>
      </p:sp>
      <p:sp>
        <p:nvSpPr>
          <p:cNvPr id="17" name="Rectangle 16"/>
          <p:cNvSpPr/>
          <p:nvPr/>
        </p:nvSpPr>
        <p:spPr>
          <a:xfrm>
            <a:off x="9875520" y="2473817"/>
            <a:ext cx="1005840" cy="45610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9948672" y="2505273"/>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0">
                <a:solidFill>
                  <a:srgbClr val="3A3A3A"/>
                </a:solidFill>
                <a:latin typeface="맑은 고딕"/>
                <a:ea typeface="맑은 고딕"/>
                <a:cs typeface="맑은 고딕"/>
              </a:rPr>
              <a:t>94.91%</a:t>
            </a:r>
          </a:p>
        </p:txBody>
      </p:sp>
      <p:sp>
        <p:nvSpPr>
          <p:cNvPr id="19" name="Rectangle 18"/>
          <p:cNvSpPr/>
          <p:nvPr/>
        </p:nvSpPr>
        <p:spPr>
          <a:xfrm>
            <a:off x="10881360" y="2473817"/>
            <a:ext cx="1005840" cy="45610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0" name="TextBox 19"/>
          <p:cNvSpPr txBox="1"/>
          <p:nvPr/>
        </p:nvSpPr>
        <p:spPr>
          <a:xfrm>
            <a:off x="10954512" y="2505273"/>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0">
                <a:solidFill>
                  <a:srgbClr val="3A3A3A"/>
                </a:solidFill>
                <a:latin typeface="맑은 고딕"/>
                <a:ea typeface="맑은 고딕"/>
                <a:cs typeface="맑은 고딕"/>
              </a:rPr>
              <a:t>81.53%</a:t>
            </a:r>
          </a:p>
        </p:txBody>
      </p:sp>
      <p:sp>
        <p:nvSpPr>
          <p:cNvPr id="21" name="Rectangle 20"/>
          <p:cNvSpPr/>
          <p:nvPr/>
        </p:nvSpPr>
        <p:spPr>
          <a:xfrm>
            <a:off x="8732520" y="2929919"/>
            <a:ext cx="1143000" cy="45610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p:cNvSpPr txBox="1"/>
          <p:nvPr/>
        </p:nvSpPr>
        <p:spPr>
          <a:xfrm>
            <a:off x="8805672" y="2961374"/>
            <a:ext cx="996696" cy="393191"/>
          </a:xfrm>
          <a:prstGeom prst="rect">
            <a:avLst/>
          </a:prstGeom>
          <a:noFill/>
        </p:spPr>
        <p:txBody>
          <a:bodyPr wrap="square" lIns="9144" tIns="9144" rIns="9144" bIns="9144" anchor="ctr">
            <a:spAutoFit/>
          </a:bodyPr>
          <a:lstStyle/>
          <a:p>
            <a:pPr algn="l">
              <a:lnSpc>
                <a:spcPct val="100000"/>
              </a:lnSpc>
              <a:spcAft>
                <a:spcPts val="0"/>
              </a:spcAft>
            </a:pPr>
            <a:r>
              <a:rPr sz="1140" b="1">
                <a:solidFill>
                  <a:srgbClr val="3A3A3A"/>
                </a:solidFill>
                <a:latin typeface="맑은 고딕"/>
                <a:ea typeface="맑은 고딕"/>
                <a:cs typeface="맑은 고딕"/>
              </a:rPr>
              <a:t>Zero</a:t>
            </a:r>
          </a:p>
        </p:txBody>
      </p:sp>
      <p:sp>
        <p:nvSpPr>
          <p:cNvPr id="23" name="Rectangle 22"/>
          <p:cNvSpPr/>
          <p:nvPr/>
        </p:nvSpPr>
        <p:spPr>
          <a:xfrm>
            <a:off x="9875520" y="2929919"/>
            <a:ext cx="1005840" cy="45610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4" name="TextBox 23"/>
          <p:cNvSpPr txBox="1"/>
          <p:nvPr/>
        </p:nvSpPr>
        <p:spPr>
          <a:xfrm>
            <a:off x="9948672" y="2961374"/>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0">
                <a:solidFill>
                  <a:srgbClr val="3A3A3A"/>
                </a:solidFill>
                <a:latin typeface="맑은 고딕"/>
                <a:ea typeface="맑은 고딕"/>
                <a:cs typeface="맑은 고딕"/>
              </a:rPr>
              <a:t>76.16%</a:t>
            </a:r>
          </a:p>
        </p:txBody>
      </p:sp>
      <p:sp>
        <p:nvSpPr>
          <p:cNvPr id="25" name="Rectangle 24"/>
          <p:cNvSpPr/>
          <p:nvPr/>
        </p:nvSpPr>
        <p:spPr>
          <a:xfrm>
            <a:off x="10881360" y="2929919"/>
            <a:ext cx="1005840" cy="45610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6" name="TextBox 25"/>
          <p:cNvSpPr txBox="1"/>
          <p:nvPr/>
        </p:nvSpPr>
        <p:spPr>
          <a:xfrm>
            <a:off x="10954512" y="2961374"/>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0">
                <a:solidFill>
                  <a:srgbClr val="3A3A3A"/>
                </a:solidFill>
                <a:latin typeface="맑은 고딕"/>
                <a:ea typeface="맑은 고딕"/>
                <a:cs typeface="맑은 고딕"/>
              </a:rPr>
              <a:t>0%</a:t>
            </a:r>
          </a:p>
        </p:txBody>
      </p:sp>
      <p:sp>
        <p:nvSpPr>
          <p:cNvPr id="27" name="Rectangle 26"/>
          <p:cNvSpPr/>
          <p:nvPr/>
        </p:nvSpPr>
        <p:spPr>
          <a:xfrm>
            <a:off x="8732520" y="3386022"/>
            <a:ext cx="1143000" cy="45610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8" name="TextBox 27"/>
          <p:cNvSpPr txBox="1"/>
          <p:nvPr/>
        </p:nvSpPr>
        <p:spPr>
          <a:xfrm>
            <a:off x="8805672" y="3417477"/>
            <a:ext cx="996696" cy="393191"/>
          </a:xfrm>
          <a:prstGeom prst="rect">
            <a:avLst/>
          </a:prstGeom>
          <a:noFill/>
        </p:spPr>
        <p:txBody>
          <a:bodyPr wrap="square" lIns="9144" tIns="9144" rIns="9144" bIns="9144" anchor="ctr">
            <a:spAutoFit/>
          </a:bodyPr>
          <a:lstStyle/>
          <a:p>
            <a:pPr algn="l">
              <a:lnSpc>
                <a:spcPct val="100000"/>
              </a:lnSpc>
              <a:spcAft>
                <a:spcPts val="0"/>
              </a:spcAft>
            </a:pPr>
            <a:r>
              <a:rPr sz="1140" b="1">
                <a:solidFill>
                  <a:srgbClr val="3A3A3A"/>
                </a:solidFill>
                <a:latin typeface="맑은 고딕"/>
                <a:ea typeface="맑은 고딕"/>
                <a:cs typeface="맑은 고딕"/>
              </a:rPr>
              <a:t>Shuffled</a:t>
            </a:r>
          </a:p>
        </p:txBody>
      </p:sp>
      <p:sp>
        <p:nvSpPr>
          <p:cNvPr id="29" name="Rectangle 28"/>
          <p:cNvSpPr/>
          <p:nvPr/>
        </p:nvSpPr>
        <p:spPr>
          <a:xfrm>
            <a:off x="9875520" y="3386022"/>
            <a:ext cx="1005840" cy="45610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0" name="TextBox 29"/>
          <p:cNvSpPr txBox="1"/>
          <p:nvPr/>
        </p:nvSpPr>
        <p:spPr>
          <a:xfrm>
            <a:off x="9948672" y="3417477"/>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0">
                <a:solidFill>
                  <a:srgbClr val="3A3A3A"/>
                </a:solidFill>
                <a:latin typeface="맑은 고딕"/>
                <a:ea typeface="맑은 고딕"/>
                <a:cs typeface="맑은 고딕"/>
              </a:rPr>
              <a:t>3.52%</a:t>
            </a:r>
          </a:p>
        </p:txBody>
      </p:sp>
      <p:sp>
        <p:nvSpPr>
          <p:cNvPr id="31" name="Rectangle 30"/>
          <p:cNvSpPr/>
          <p:nvPr/>
        </p:nvSpPr>
        <p:spPr>
          <a:xfrm>
            <a:off x="10881360" y="3386022"/>
            <a:ext cx="1005840" cy="45610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2" name="TextBox 31"/>
          <p:cNvSpPr txBox="1"/>
          <p:nvPr/>
        </p:nvSpPr>
        <p:spPr>
          <a:xfrm>
            <a:off x="10954512" y="3417477"/>
            <a:ext cx="859536" cy="393191"/>
          </a:xfrm>
          <a:prstGeom prst="rect">
            <a:avLst/>
          </a:prstGeom>
          <a:noFill/>
        </p:spPr>
        <p:txBody>
          <a:bodyPr wrap="square" lIns="9144" tIns="9144" rIns="9144" bIns="9144" anchor="ctr">
            <a:spAutoFit/>
          </a:bodyPr>
          <a:lstStyle/>
          <a:p>
            <a:pPr algn="ctr">
              <a:lnSpc>
                <a:spcPct val="100000"/>
              </a:lnSpc>
              <a:spcAft>
                <a:spcPts val="0"/>
              </a:spcAft>
            </a:pPr>
            <a:r>
              <a:rPr sz="1140" b="0">
                <a:solidFill>
                  <a:srgbClr val="3A3A3A"/>
                </a:solidFill>
                <a:latin typeface="맑은 고딕"/>
                <a:ea typeface="맑은 고딕"/>
                <a:cs typeface="맑은 고딕"/>
              </a:rPr>
              <a:t>2.22%</a:t>
            </a:r>
          </a:p>
        </p:txBody>
      </p:sp>
      <p:sp>
        <p:nvSpPr>
          <p:cNvPr id="33" name="Rectangle 32"/>
          <p:cNvSpPr/>
          <p:nvPr/>
        </p:nvSpPr>
        <p:spPr>
          <a:xfrm>
            <a:off x="8732520" y="4195998"/>
            <a:ext cx="3154680" cy="1463040"/>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4" name="TextBox 33"/>
          <p:cNvSpPr txBox="1"/>
          <p:nvPr/>
        </p:nvSpPr>
        <p:spPr>
          <a:xfrm>
            <a:off x="8897112" y="4343400"/>
            <a:ext cx="2825496" cy="292608"/>
          </a:xfrm>
          <a:prstGeom prst="rect">
            <a:avLst/>
          </a:prstGeom>
          <a:noFill/>
        </p:spPr>
        <p:txBody>
          <a:bodyPr wrap="square" lIns="36576" tIns="36576" rIns="36576" bIns="36576" anchor="t">
            <a:spAutoFit/>
          </a:bodyPr>
          <a:lstStyle/>
          <a:p>
            <a:pPr algn="ctr">
              <a:lnSpc>
                <a:spcPct val="100000"/>
              </a:lnSpc>
              <a:spcAft>
                <a:spcPts val="0"/>
              </a:spcAft>
            </a:pPr>
            <a:r>
              <a:rPr sz="1700" b="1">
                <a:solidFill>
                  <a:srgbClr val="111111"/>
                </a:solidFill>
                <a:latin typeface="맑은 고딕"/>
                <a:ea typeface="맑은 고딕"/>
                <a:cs typeface="맑은 고딕"/>
              </a:rPr>
              <a:t>해석</a:t>
            </a:r>
          </a:p>
        </p:txBody>
      </p:sp>
      <p:sp>
        <p:nvSpPr>
          <p:cNvPr id="35" name="TextBox 34"/>
          <p:cNvSpPr txBox="1"/>
          <p:nvPr/>
        </p:nvSpPr>
        <p:spPr>
          <a:xfrm>
            <a:off x="8771684" y="4689278"/>
            <a:ext cx="3154680" cy="443198"/>
          </a:xfrm>
          <a:prstGeom prst="rect">
            <a:avLst/>
          </a:prstGeom>
          <a:noFill/>
        </p:spPr>
        <p:txBody>
          <a:bodyPr wrap="square" lIns="36576" tIns="36576" rIns="36576" bIns="36576" anchor="t">
            <a:spAutoFit/>
          </a:bodyPr>
          <a:lstStyle/>
          <a:p>
            <a:pPr marL="171450" indent="-171450">
              <a:lnSpc>
                <a:spcPct val="100000"/>
              </a:lnSpc>
              <a:spcAft>
                <a:spcPts val="0"/>
              </a:spcAft>
              <a:buFont typeface="Arial" panose="020B0604020202020204" pitchFamily="34" charset="0"/>
              <a:buChar char="•"/>
            </a:pPr>
            <a:r>
              <a:rPr lang="ko-KR" altLang="en-US" sz="1200" dirty="0">
                <a:solidFill>
                  <a:srgbClr val="3A3A3A"/>
                </a:solidFill>
                <a:latin typeface="맑은 고딕"/>
                <a:ea typeface="맑은 고딕"/>
                <a:cs typeface="맑은 고딕"/>
              </a:rPr>
              <a:t>입</a:t>
            </a:r>
            <a:r>
              <a:rPr sz="1200" b="0" dirty="0" err="1">
                <a:solidFill>
                  <a:srgbClr val="3A3A3A"/>
                </a:solidFill>
                <a:latin typeface="맑은 고딕"/>
                <a:ea typeface="맑은 고딕"/>
                <a:cs typeface="맑은 고딕"/>
              </a:rPr>
              <a:t>력을</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바꾸면</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성능</a:t>
            </a:r>
            <a:r>
              <a:rPr sz="1200" b="0" dirty="0">
                <a:solidFill>
                  <a:srgbClr val="3A3A3A"/>
                </a:solidFill>
                <a:latin typeface="맑은 고딕"/>
                <a:ea typeface="맑은 고딕"/>
                <a:cs typeface="맑은 고딕"/>
              </a:rPr>
              <a:t> </a:t>
            </a:r>
            <a:r>
              <a:rPr sz="1200" b="0" dirty="0" err="1">
                <a:solidFill>
                  <a:srgbClr val="3A3A3A"/>
                </a:solidFill>
                <a:latin typeface="맑은 고딕"/>
                <a:ea typeface="맑은 고딕"/>
                <a:cs typeface="맑은 고딕"/>
              </a:rPr>
              <a:t>저하</a:t>
            </a:r>
            <a:endParaRPr lang="en-US" sz="1200" dirty="0">
              <a:solidFill>
                <a:srgbClr val="3A3A3A"/>
              </a:solidFill>
              <a:latin typeface="맑은 고딕"/>
              <a:ea typeface="맑은 고딕"/>
              <a:cs typeface="맑은 고딕"/>
            </a:endParaRPr>
          </a:p>
          <a:p>
            <a:pPr marL="171450" indent="-171450">
              <a:lnSpc>
                <a:spcPct val="100000"/>
              </a:lnSpc>
              <a:spcAft>
                <a:spcPts val="0"/>
              </a:spcAft>
              <a:buFont typeface="Arial" panose="020B0604020202020204" pitchFamily="34" charset="0"/>
              <a:buChar char="•"/>
            </a:pPr>
            <a:r>
              <a:rPr lang="en-US" sz="1200" dirty="0">
                <a:solidFill>
                  <a:srgbClr val="3A3A3A"/>
                </a:solidFill>
                <a:latin typeface="맑은 고딕"/>
                <a:ea typeface="맑은 고딕"/>
                <a:cs typeface="맑은 고딕"/>
              </a:rPr>
              <a:t>Student </a:t>
            </a:r>
            <a:r>
              <a:rPr lang="ko-KR" altLang="en-US" sz="1200" dirty="0">
                <a:solidFill>
                  <a:srgbClr val="3A3A3A"/>
                </a:solidFill>
                <a:latin typeface="맑은 고딕"/>
                <a:ea typeface="맑은 고딕"/>
                <a:cs typeface="맑은 고딕"/>
              </a:rPr>
              <a:t>가 </a:t>
            </a:r>
            <a:r>
              <a:rPr lang="en-US" altLang="ko-KR" sz="1200" dirty="0">
                <a:solidFill>
                  <a:srgbClr val="3A3A3A"/>
                </a:solidFill>
                <a:latin typeface="맑은 고딕"/>
                <a:ea typeface="맑은 고딕"/>
                <a:cs typeface="맑은 고딕"/>
              </a:rPr>
              <a:t>history </a:t>
            </a:r>
            <a:r>
              <a:rPr lang="ko-KR" altLang="en-US" sz="1200" dirty="0">
                <a:solidFill>
                  <a:srgbClr val="3A3A3A"/>
                </a:solidFill>
                <a:latin typeface="맑은 고딕"/>
                <a:ea typeface="맑은 고딕"/>
                <a:cs typeface="맑은 고딕"/>
              </a:rPr>
              <a:t>를 사용함을 알 수 있다 </a:t>
            </a:r>
            <a:endParaRPr sz="1200" b="0" dirty="0">
              <a:solidFill>
                <a:srgbClr val="3A3A3A"/>
              </a:solidFill>
              <a:latin typeface="맑은 고딕"/>
              <a:ea typeface="맑은 고딕"/>
              <a:cs typeface="맑은 고딕"/>
            </a:endParaRPr>
          </a:p>
        </p:txBody>
      </p:sp>
      <p:sp>
        <p:nvSpPr>
          <p:cNvPr id="37" name="v5-content-intro"/>
          <p:cNvSpPr txBox="1"/>
          <p:nvPr/>
        </p:nvSpPr>
        <p:spPr>
          <a:xfrm>
            <a:off x="658368" y="1280160"/>
            <a:ext cx="10881360" cy="289310"/>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400" b="0" dirty="0" err="1">
                <a:solidFill>
                  <a:srgbClr val="3A3A3A"/>
                </a:solidFill>
                <a:latin typeface="맑은 고딕"/>
                <a:ea typeface="맑은 고딕"/>
                <a:cs typeface="맑은 고딕"/>
              </a:rPr>
              <a:t>고장</a:t>
            </a:r>
            <a:r>
              <a:rPr sz="1400" b="0" dirty="0">
                <a:solidFill>
                  <a:srgbClr val="3A3A3A"/>
                </a:solidFill>
                <a:latin typeface="맑은 고딕"/>
                <a:ea typeface="맑은 고딕"/>
                <a:cs typeface="맑은 고딕"/>
              </a:rPr>
              <a:t> 후 </a:t>
            </a:r>
            <a:r>
              <a:rPr sz="1400" b="0" dirty="0" err="1">
                <a:solidFill>
                  <a:srgbClr val="3A3A3A"/>
                </a:solidFill>
                <a:latin typeface="맑은 고딕"/>
                <a:ea typeface="맑은 고딕"/>
                <a:cs typeface="맑은 고딕"/>
              </a:rPr>
              <a:t>관측</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이력을</a:t>
            </a:r>
            <a:r>
              <a:rPr sz="1400" b="0" dirty="0">
                <a:solidFill>
                  <a:srgbClr val="3A3A3A"/>
                </a:solidFill>
                <a:latin typeface="맑은 고딕"/>
                <a:ea typeface="맑은 고딕"/>
                <a:cs typeface="맑은 고딕"/>
              </a:rPr>
              <a:t> 0으로 </a:t>
            </a:r>
            <a:r>
              <a:rPr sz="1400" b="0" dirty="0" err="1">
                <a:solidFill>
                  <a:srgbClr val="3A3A3A"/>
                </a:solidFill>
                <a:latin typeface="맑은 고딕"/>
                <a:ea typeface="맑은 고딕"/>
                <a:cs typeface="맑은 고딕"/>
              </a:rPr>
              <a:t>만들거나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로봇</a:t>
            </a:r>
            <a:r>
              <a:rPr sz="1400" b="0" dirty="0">
                <a:solidFill>
                  <a:srgbClr val="3A3A3A"/>
                </a:solidFill>
                <a:latin typeface="맑은 고딕"/>
                <a:ea typeface="맑은 고딕"/>
                <a:cs typeface="맑은 고딕"/>
              </a:rPr>
              <a:t> 간 </a:t>
            </a:r>
            <a:r>
              <a:rPr sz="1400" b="0" dirty="0" err="1">
                <a:solidFill>
                  <a:srgbClr val="3A3A3A"/>
                </a:solidFill>
                <a:latin typeface="맑은 고딕"/>
                <a:ea typeface="맑은 고딕"/>
                <a:cs typeface="맑은 고딕"/>
              </a:rPr>
              <a:t>섞어</a:t>
            </a:r>
            <a:r>
              <a:rPr sz="1400" b="0" dirty="0">
                <a:solidFill>
                  <a:srgbClr val="3A3A3A"/>
                </a:solidFill>
                <a:latin typeface="맑은 고딕"/>
                <a:ea typeface="맑은 고딕"/>
                <a:cs typeface="맑은 고딕"/>
              </a:rPr>
              <a:t>, Student </a:t>
            </a:r>
            <a:r>
              <a:rPr sz="1400" b="0" dirty="0" err="1">
                <a:solidFill>
                  <a:srgbClr val="3A3A3A"/>
                </a:solidFill>
                <a:latin typeface="맑은 고딕"/>
                <a:ea typeface="맑은 고딕"/>
                <a:cs typeface="맑은 고딕"/>
              </a:rPr>
              <a:t>성능이</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해당</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입력에</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의존하는지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확인한다</a:t>
            </a:r>
            <a:r>
              <a:rPr sz="1400" b="0" dirty="0">
                <a:solidFill>
                  <a:srgbClr val="3A3A3A"/>
                </a:solidFill>
                <a:latin typeface="맑은 고딕"/>
                <a:ea typeface="맑은 고딕"/>
                <a:cs typeface="맑은 고딕"/>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32 | 진행 현황과 한계</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PROJECT STATUS</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32 / 43</a:t>
            </a:r>
          </a:p>
        </p:txBody>
      </p:sp>
      <p:sp>
        <p:nvSpPr>
          <p:cNvPr id="8" name="Rectangle 7"/>
          <p:cNvSpPr/>
          <p:nvPr/>
        </p:nvSpPr>
        <p:spPr>
          <a:xfrm>
            <a:off x="621792" y="1868302"/>
            <a:ext cx="3429000" cy="3106216"/>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9" name="Rectangle 8"/>
          <p:cNvSpPr/>
          <p:nvPr/>
        </p:nvSpPr>
        <p:spPr>
          <a:xfrm>
            <a:off x="621792" y="1868302"/>
            <a:ext cx="3429000" cy="377464"/>
          </a:xfrm>
          <a:prstGeom prst="rect">
            <a:avLst/>
          </a:prstGeom>
          <a:solidFill>
            <a:srgbClr val="111111"/>
          </a:solidFill>
          <a:ln w="1016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713232" y="1888957"/>
            <a:ext cx="3246120" cy="304699"/>
          </a:xfrm>
          <a:prstGeom prst="rect">
            <a:avLst/>
          </a:prstGeom>
          <a:noFill/>
        </p:spPr>
        <p:txBody>
          <a:bodyPr wrap="square" lIns="36576" tIns="36576" rIns="36576" bIns="36576" anchor="ctr">
            <a:spAutoFit/>
          </a:bodyPr>
          <a:lstStyle/>
          <a:p>
            <a:pPr algn="ctr">
              <a:lnSpc>
                <a:spcPct val="100000"/>
              </a:lnSpc>
              <a:spcAft>
                <a:spcPts val="0"/>
              </a:spcAft>
            </a:pPr>
            <a:r>
              <a:rPr sz="1500" b="1">
                <a:solidFill>
                  <a:srgbClr val="FFFFFF"/>
                </a:solidFill>
                <a:latin typeface="맑은 고딕"/>
                <a:ea typeface="맑은 고딕"/>
                <a:cs typeface="맑은 고딕"/>
              </a:rPr>
              <a:t>완료</a:t>
            </a:r>
          </a:p>
        </p:txBody>
      </p:sp>
      <p:sp>
        <p:nvSpPr>
          <p:cNvPr id="11" name="TextBox 10"/>
          <p:cNvSpPr txBox="1"/>
          <p:nvPr/>
        </p:nvSpPr>
        <p:spPr>
          <a:xfrm>
            <a:off x="786384" y="2355860"/>
            <a:ext cx="3099816" cy="1414233"/>
          </a:xfrm>
          <a:prstGeom prst="rect">
            <a:avLst/>
          </a:prstGeom>
          <a:noFill/>
        </p:spPr>
        <p:txBody>
          <a:bodyPr wrap="square" lIns="36576" tIns="36576" rIns="36576" bIns="36576" anchor="t">
            <a:spAutoFit/>
          </a:bodyPr>
          <a:lstStyle/>
          <a:p>
            <a:pPr marL="285750" indent="-285750" algn="l">
              <a:lnSpc>
                <a:spcPct val="150000"/>
              </a:lnSpc>
              <a:spcAft>
                <a:spcPts val="0"/>
              </a:spcAft>
              <a:buFont typeface="Arial" panose="020B0604020202020204" pitchFamily="34" charset="0"/>
              <a:buChar char="•"/>
            </a:pPr>
            <a:r>
              <a:rPr sz="1500" b="0" dirty="0" err="1">
                <a:solidFill>
                  <a:srgbClr val="3A3A3A"/>
                </a:solidFill>
                <a:latin typeface="맑은 고딕"/>
                <a:ea typeface="맑은 고딕"/>
                <a:cs typeface="맑은 고딕"/>
              </a:rPr>
              <a:t>단일</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관절</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출력</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저하</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환경</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Teacher·Student</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학습</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완료</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고정</a:t>
            </a:r>
            <a:r>
              <a:rPr sz="1500" b="0" dirty="0">
                <a:solidFill>
                  <a:srgbClr val="3A3A3A"/>
                </a:solidFill>
                <a:latin typeface="맑은 고딕"/>
                <a:ea typeface="맑은 고딕"/>
                <a:cs typeface="맑은 고딕"/>
              </a:rPr>
              <a:t>/</a:t>
            </a:r>
            <a:r>
              <a:rPr sz="1500" b="0" dirty="0" err="1">
                <a:solidFill>
                  <a:srgbClr val="3A3A3A"/>
                </a:solidFill>
                <a:latin typeface="맑은 고딕"/>
                <a:ea typeface="맑은 고딕"/>
                <a:cs typeface="맑은 고딕"/>
              </a:rPr>
              <a:t>주행</a:t>
            </a:r>
            <a:r>
              <a:rPr sz="1500" b="0" dirty="0">
                <a:solidFill>
                  <a:srgbClr val="3A3A3A"/>
                </a:solidFill>
                <a:latin typeface="맑은 고딕"/>
                <a:ea typeface="맑은 고딕"/>
                <a:cs typeface="맑은 고딕"/>
              </a:rPr>
              <a:t> 중 </a:t>
            </a:r>
            <a:r>
              <a:rPr sz="1500" b="0" dirty="0" err="1">
                <a:solidFill>
                  <a:srgbClr val="3A3A3A"/>
                </a:solidFill>
                <a:latin typeface="맑은 고딕"/>
                <a:ea typeface="맑은 고딕"/>
                <a:cs typeface="맑은 고딕"/>
              </a:rPr>
              <a:t>고장</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비교</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완료</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관절별·이력</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입력</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분석</a:t>
            </a:r>
            <a:r>
              <a:rPr sz="1500" b="0" dirty="0">
                <a:solidFill>
                  <a:srgbClr val="3A3A3A"/>
                </a:solidFill>
                <a:latin typeface="맑은 고딕"/>
                <a:ea typeface="맑은 고딕"/>
                <a:cs typeface="맑은 고딕"/>
              </a:rPr>
              <a:t> </a:t>
            </a:r>
            <a:r>
              <a:rPr sz="1500" b="0" dirty="0" err="1">
                <a:solidFill>
                  <a:srgbClr val="3A3A3A"/>
                </a:solidFill>
                <a:latin typeface="맑은 고딕"/>
                <a:ea typeface="맑은 고딕"/>
                <a:cs typeface="맑은 고딕"/>
              </a:rPr>
              <a:t>완료</a:t>
            </a:r>
            <a:endParaRPr sz="1500" b="0" dirty="0">
              <a:solidFill>
                <a:srgbClr val="3A3A3A"/>
              </a:solidFill>
              <a:latin typeface="맑은 고딕"/>
              <a:ea typeface="맑은 고딕"/>
              <a:cs typeface="맑은 고딕"/>
            </a:endParaRPr>
          </a:p>
        </p:txBody>
      </p:sp>
      <p:sp>
        <p:nvSpPr>
          <p:cNvPr id="12" name="Rectangle 11"/>
          <p:cNvSpPr/>
          <p:nvPr/>
        </p:nvSpPr>
        <p:spPr>
          <a:xfrm>
            <a:off x="4389120" y="1868302"/>
            <a:ext cx="3429000" cy="3106216"/>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Rectangle 12"/>
          <p:cNvSpPr/>
          <p:nvPr/>
        </p:nvSpPr>
        <p:spPr>
          <a:xfrm>
            <a:off x="4389120" y="1868302"/>
            <a:ext cx="3429000" cy="377464"/>
          </a:xfrm>
          <a:prstGeom prst="rect">
            <a:avLst/>
          </a:prstGeom>
          <a:solidFill>
            <a:srgbClr val="111111"/>
          </a:solidFill>
          <a:ln w="1016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4480559" y="1888957"/>
            <a:ext cx="3246120" cy="304699"/>
          </a:xfrm>
          <a:prstGeom prst="rect">
            <a:avLst/>
          </a:prstGeom>
          <a:noFill/>
        </p:spPr>
        <p:txBody>
          <a:bodyPr wrap="square" lIns="36576" tIns="36576" rIns="36576" bIns="36576" anchor="ctr">
            <a:spAutoFit/>
          </a:bodyPr>
          <a:lstStyle/>
          <a:p>
            <a:pPr algn="ctr">
              <a:lnSpc>
                <a:spcPct val="100000"/>
              </a:lnSpc>
              <a:spcAft>
                <a:spcPts val="0"/>
              </a:spcAft>
            </a:pPr>
            <a:r>
              <a:rPr sz="1500" b="1">
                <a:solidFill>
                  <a:srgbClr val="FFFFFF"/>
                </a:solidFill>
                <a:latin typeface="맑은 고딕"/>
                <a:ea typeface="맑은 고딕"/>
                <a:cs typeface="맑은 고딕"/>
              </a:rPr>
              <a:t>현재 한계</a:t>
            </a:r>
          </a:p>
        </p:txBody>
      </p:sp>
      <p:sp>
        <p:nvSpPr>
          <p:cNvPr id="15" name="TextBox 14"/>
          <p:cNvSpPr txBox="1"/>
          <p:nvPr/>
        </p:nvSpPr>
        <p:spPr>
          <a:xfrm>
            <a:off x="4553712" y="2355860"/>
            <a:ext cx="3099816" cy="1760482"/>
          </a:xfrm>
          <a:prstGeom prst="rect">
            <a:avLst/>
          </a:prstGeom>
          <a:noFill/>
        </p:spPr>
        <p:txBody>
          <a:bodyPr wrap="square" lIns="36576" tIns="36576" rIns="36576" bIns="36576" anchor="t">
            <a:spAutoFit/>
          </a:bodyPr>
          <a:lstStyle/>
          <a:p>
            <a:pPr marL="285750" indent="-285750" algn="l">
              <a:lnSpc>
                <a:spcPct val="150000"/>
              </a:lnSpc>
              <a:spcAft>
                <a:spcPts val="0"/>
              </a:spcAft>
              <a:buFont typeface="Arial" panose="020B0604020202020204" pitchFamily="34" charset="0"/>
              <a:buChar char="•"/>
            </a:pPr>
            <a:r>
              <a:rPr sz="1500" b="0">
                <a:solidFill>
                  <a:srgbClr val="3A3A3A"/>
                </a:solidFill>
                <a:latin typeface="맑은 고딕"/>
                <a:ea typeface="맑은 고딕"/>
                <a:cs typeface="맑은 고딕"/>
              </a:rPr>
              <a:t>고장 모델은 토크 비율 감소
새 명령 속도·지형 미검증
독립 재학습 반복 부족
완전 상실 회복률 45.89%
8차원 특징의 물리 의미 미검증</a:t>
            </a:r>
          </a:p>
        </p:txBody>
      </p:sp>
      <p:sp>
        <p:nvSpPr>
          <p:cNvPr id="16" name="Rectangle 15"/>
          <p:cNvSpPr/>
          <p:nvPr/>
        </p:nvSpPr>
        <p:spPr>
          <a:xfrm>
            <a:off x="8156448" y="1868302"/>
            <a:ext cx="3429000" cy="3106216"/>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7" name="Rectangle 16"/>
          <p:cNvSpPr/>
          <p:nvPr/>
        </p:nvSpPr>
        <p:spPr>
          <a:xfrm>
            <a:off x="8156448" y="1868302"/>
            <a:ext cx="3429000" cy="377464"/>
          </a:xfrm>
          <a:prstGeom prst="rect">
            <a:avLst/>
          </a:prstGeom>
          <a:solidFill>
            <a:srgbClr val="111111"/>
          </a:solidFill>
          <a:ln w="1016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8247888" y="1888957"/>
            <a:ext cx="3246120" cy="304699"/>
          </a:xfrm>
          <a:prstGeom prst="rect">
            <a:avLst/>
          </a:prstGeom>
          <a:noFill/>
        </p:spPr>
        <p:txBody>
          <a:bodyPr wrap="square" lIns="36576" tIns="36576" rIns="36576" bIns="36576" anchor="ctr">
            <a:spAutoFit/>
          </a:bodyPr>
          <a:lstStyle/>
          <a:p>
            <a:pPr algn="ctr">
              <a:lnSpc>
                <a:spcPct val="100000"/>
              </a:lnSpc>
              <a:spcAft>
                <a:spcPts val="0"/>
              </a:spcAft>
            </a:pPr>
            <a:r>
              <a:rPr sz="1500" b="1">
                <a:solidFill>
                  <a:srgbClr val="FFFFFF"/>
                </a:solidFill>
                <a:latin typeface="맑은 고딕"/>
                <a:ea typeface="맑은 고딕"/>
                <a:cs typeface="맑은 고딕"/>
              </a:rPr>
              <a:t>다음 단계</a:t>
            </a:r>
          </a:p>
        </p:txBody>
      </p:sp>
      <p:sp>
        <p:nvSpPr>
          <p:cNvPr id="19" name="TextBox 18"/>
          <p:cNvSpPr txBox="1"/>
          <p:nvPr/>
        </p:nvSpPr>
        <p:spPr>
          <a:xfrm>
            <a:off x="8321040" y="2355860"/>
            <a:ext cx="3099816" cy="1414233"/>
          </a:xfrm>
          <a:prstGeom prst="rect">
            <a:avLst/>
          </a:prstGeom>
          <a:noFill/>
        </p:spPr>
        <p:txBody>
          <a:bodyPr wrap="square" lIns="36576" tIns="36576" rIns="36576" bIns="36576" anchor="t">
            <a:spAutoFit/>
          </a:bodyPr>
          <a:lstStyle/>
          <a:p>
            <a:pPr marL="285750" indent="-285750" algn="l">
              <a:lnSpc>
                <a:spcPct val="150000"/>
              </a:lnSpc>
              <a:spcAft>
                <a:spcPts val="0"/>
              </a:spcAft>
              <a:buFont typeface="Arial" panose="020B0604020202020204" pitchFamily="34" charset="0"/>
              <a:buChar char="•"/>
            </a:pPr>
            <a:r>
              <a:rPr sz="1500" b="0">
                <a:solidFill>
                  <a:srgbClr val="3A3A3A"/>
                </a:solidFill>
                <a:latin typeface="맑은 고딕"/>
                <a:ea typeface="맑은 고딕"/>
                <a:cs typeface="맑은 고딕"/>
              </a:rPr>
              <a:t>취약 관절의 속도·yaw 시간 분석
미평가 명령 속도·지형 평가
다른 seed로 재학습 후 비교
고정 Teacher 방식과 비교 검토</a:t>
            </a:r>
          </a:p>
        </p:txBody>
      </p:sp>
      <p:sp>
        <p:nvSpPr>
          <p:cNvPr id="20" name="v5-content-intro"/>
          <p:cNvSpPr txBox="1"/>
          <p:nvPr/>
        </p:nvSpPr>
        <p:spPr>
          <a:xfrm>
            <a:off x="658368" y="1280160"/>
            <a:ext cx="10881360" cy="504754"/>
          </a:xfrm>
          <a:prstGeom prst="rect">
            <a:avLst/>
          </a:prstGeom>
          <a:noFill/>
        </p:spPr>
        <p:txBody>
          <a:bodyPr wrap="square" lIns="36576" tIns="36576" rIns="36576" bIns="36576" anchor="t">
            <a:spAutoFit/>
          </a:bodyPr>
          <a:lstStyle/>
          <a:p>
            <a:pPr marL="285750" indent="-285750" algn="l">
              <a:lnSpc>
                <a:spcPct val="100000"/>
              </a:lnSpc>
              <a:spcAft>
                <a:spcPts val="0"/>
              </a:spcAft>
              <a:buFont typeface="Arial" panose="020B0604020202020204" pitchFamily="34" charset="0"/>
              <a:buChar char="•"/>
            </a:pPr>
            <a:r>
              <a:rPr sz="1400" b="0" dirty="0" err="1">
                <a:solidFill>
                  <a:srgbClr val="3A3A3A"/>
                </a:solidFill>
                <a:latin typeface="맑은 고딕"/>
                <a:ea typeface="맑은 고딕"/>
                <a:cs typeface="맑은 고딕"/>
              </a:rPr>
              <a:t>학습과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현재</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조건의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비교</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평가는</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완료</a:t>
            </a:r>
            <a:r>
              <a:rPr lang="en-US" sz="1400" b="0" dirty="0">
                <a:solidFill>
                  <a:srgbClr val="3A3A3A"/>
                </a:solidFill>
                <a:latin typeface="맑은 고딕"/>
                <a:ea typeface="맑은 고딕"/>
                <a:cs typeface="맑은 고딕"/>
              </a:rPr>
              <a:t>.</a:t>
            </a:r>
          </a:p>
          <a:p>
            <a:pPr marL="285750" indent="-285750" algn="l">
              <a:lnSpc>
                <a:spcPct val="100000"/>
              </a:lnSpc>
              <a:spcAft>
                <a:spcPts val="0"/>
              </a:spcAft>
              <a:buFont typeface="Arial" panose="020B0604020202020204" pitchFamily="34" charset="0"/>
              <a:buChar char="•"/>
            </a:pPr>
            <a:r>
              <a:rPr sz="1400" b="0" dirty="0" err="1">
                <a:solidFill>
                  <a:srgbClr val="3A3A3A"/>
                </a:solidFill>
                <a:latin typeface="맑은 고딕"/>
                <a:ea typeface="맑은 고딕"/>
                <a:cs typeface="맑은 고딕"/>
              </a:rPr>
              <a:t>취약</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조건의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원인과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새로운</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조건에서의</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성능</a:t>
            </a:r>
            <a:r>
              <a:rPr lang="en-US" sz="1400" b="0" dirty="0">
                <a:solidFill>
                  <a:srgbClr val="3A3A3A"/>
                </a:solidFill>
                <a:latin typeface="맑은 고딕"/>
                <a:ea typeface="맑은 고딕"/>
                <a:cs typeface="맑은 고딕"/>
              </a:rPr>
              <a:t> </a:t>
            </a:r>
            <a:r>
              <a:rPr lang="ko-KR" altLang="en-US" sz="1400" b="0" dirty="0">
                <a:solidFill>
                  <a:srgbClr val="3A3A3A"/>
                </a:solidFill>
                <a:latin typeface="맑은 고딕"/>
                <a:ea typeface="맑은 고딕"/>
                <a:cs typeface="맑은 고딕"/>
              </a:rPr>
              <a:t>검증 필요</a:t>
            </a:r>
            <a:r>
              <a:rPr sz="1400" b="0" dirty="0">
                <a:solidFill>
                  <a:srgbClr val="3A3A3A"/>
                </a:solidFill>
                <a:latin typeface="맑은 고딕"/>
                <a:ea typeface="맑은 고딕"/>
                <a:cs typeface="맑은 고딕"/>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33 | 결론</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CONCLUSION</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33 / 43</a:t>
            </a:r>
          </a:p>
        </p:txBody>
      </p:sp>
      <p:sp>
        <p:nvSpPr>
          <p:cNvPr id="8" name="TextBox 7"/>
          <p:cNvSpPr txBox="1"/>
          <p:nvPr/>
        </p:nvSpPr>
        <p:spPr>
          <a:xfrm>
            <a:off x="749808" y="1860438"/>
            <a:ext cx="594360" cy="353872"/>
          </a:xfrm>
          <a:prstGeom prst="rect">
            <a:avLst/>
          </a:prstGeom>
          <a:noFill/>
        </p:spPr>
        <p:txBody>
          <a:bodyPr wrap="square" lIns="36576" tIns="36576" rIns="36576" bIns="36576" anchor="t">
            <a:spAutoFit/>
          </a:bodyPr>
          <a:lstStyle/>
          <a:p>
            <a:pPr algn="ctr">
              <a:lnSpc>
                <a:spcPct val="100000"/>
              </a:lnSpc>
              <a:spcAft>
                <a:spcPts val="0"/>
              </a:spcAft>
            </a:pPr>
            <a:r>
              <a:rPr sz="1800" b="1">
                <a:solidFill>
                  <a:srgbClr val="111111"/>
                </a:solidFill>
                <a:latin typeface="맑은 고딕"/>
                <a:ea typeface="맑은 고딕"/>
                <a:cs typeface="맑은 고딕"/>
              </a:rPr>
              <a:t>01</a:t>
            </a:r>
          </a:p>
        </p:txBody>
      </p:sp>
      <p:sp>
        <p:nvSpPr>
          <p:cNvPr id="9" name="TextBox 8"/>
          <p:cNvSpPr txBox="1"/>
          <p:nvPr/>
        </p:nvSpPr>
        <p:spPr>
          <a:xfrm>
            <a:off x="1508760" y="1860438"/>
            <a:ext cx="1234440" cy="353872"/>
          </a:xfrm>
          <a:prstGeom prst="rect">
            <a:avLst/>
          </a:prstGeom>
          <a:noFill/>
        </p:spPr>
        <p:txBody>
          <a:bodyPr wrap="square" lIns="36576" tIns="36576" rIns="36576" bIns="36576" anchor="t">
            <a:spAutoFit/>
          </a:bodyPr>
          <a:lstStyle/>
          <a:p>
            <a:pPr algn="l">
              <a:lnSpc>
                <a:spcPct val="100000"/>
              </a:lnSpc>
              <a:spcAft>
                <a:spcPts val="0"/>
              </a:spcAft>
            </a:pPr>
            <a:r>
              <a:rPr sz="1800" b="1">
                <a:solidFill>
                  <a:srgbClr val="111111"/>
                </a:solidFill>
                <a:latin typeface="맑은 고딕"/>
                <a:ea typeface="맑은 고딕"/>
                <a:cs typeface="맑은 고딕"/>
              </a:rPr>
              <a:t>환경</a:t>
            </a:r>
          </a:p>
        </p:txBody>
      </p:sp>
      <p:sp>
        <p:nvSpPr>
          <p:cNvPr id="10" name="Rectangle 9"/>
          <p:cNvSpPr/>
          <p:nvPr/>
        </p:nvSpPr>
        <p:spPr>
          <a:xfrm>
            <a:off x="2880360" y="1805391"/>
            <a:ext cx="8412480" cy="534741"/>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1" name="TextBox 10"/>
          <p:cNvSpPr txBox="1"/>
          <p:nvPr/>
        </p:nvSpPr>
        <p:spPr>
          <a:xfrm>
            <a:off x="3090672" y="1899757"/>
            <a:ext cx="8001000" cy="290962"/>
          </a:xfrm>
          <a:prstGeom prst="rect">
            <a:avLst/>
          </a:prstGeom>
          <a:noFill/>
        </p:spPr>
        <p:txBody>
          <a:bodyPr wrap="square" lIns="36576" tIns="36576" rIns="36576" bIns="36576" anchor="ctr">
            <a:spAutoFit/>
          </a:bodyPr>
          <a:lstStyle/>
          <a:p>
            <a:pPr algn="l">
              <a:lnSpc>
                <a:spcPct val="100000"/>
              </a:lnSpc>
              <a:spcAft>
                <a:spcPts val="0"/>
              </a:spcAft>
            </a:pPr>
            <a:r>
              <a:rPr sz="1550" b="0">
                <a:solidFill>
                  <a:srgbClr val="3A3A3A"/>
                </a:solidFill>
                <a:latin typeface="맑은 고딕"/>
                <a:ea typeface="맑은 고딕"/>
                <a:cs typeface="맑은 고딕"/>
              </a:rPr>
              <a:t>Isaac Gym에 random-onset 단일 관절 출력 저하 환경을 구성</a:t>
            </a:r>
          </a:p>
        </p:txBody>
      </p:sp>
      <p:sp>
        <p:nvSpPr>
          <p:cNvPr id="12" name="TextBox 11"/>
          <p:cNvSpPr txBox="1"/>
          <p:nvPr/>
        </p:nvSpPr>
        <p:spPr>
          <a:xfrm>
            <a:off x="749808" y="2686141"/>
            <a:ext cx="594360" cy="353872"/>
          </a:xfrm>
          <a:prstGeom prst="rect">
            <a:avLst/>
          </a:prstGeom>
          <a:noFill/>
        </p:spPr>
        <p:txBody>
          <a:bodyPr wrap="square" lIns="36576" tIns="36576" rIns="36576" bIns="36576" anchor="t">
            <a:spAutoFit/>
          </a:bodyPr>
          <a:lstStyle/>
          <a:p>
            <a:pPr algn="ctr">
              <a:lnSpc>
                <a:spcPct val="100000"/>
              </a:lnSpc>
              <a:spcAft>
                <a:spcPts val="0"/>
              </a:spcAft>
            </a:pPr>
            <a:r>
              <a:rPr sz="1800" b="1">
                <a:solidFill>
                  <a:srgbClr val="111111"/>
                </a:solidFill>
                <a:latin typeface="맑은 고딕"/>
                <a:ea typeface="맑은 고딕"/>
                <a:cs typeface="맑은 고딕"/>
              </a:rPr>
              <a:t>02</a:t>
            </a:r>
          </a:p>
        </p:txBody>
      </p:sp>
      <p:sp>
        <p:nvSpPr>
          <p:cNvPr id="13" name="TextBox 12"/>
          <p:cNvSpPr txBox="1"/>
          <p:nvPr/>
        </p:nvSpPr>
        <p:spPr>
          <a:xfrm>
            <a:off x="1508760" y="2686141"/>
            <a:ext cx="1234440" cy="353872"/>
          </a:xfrm>
          <a:prstGeom prst="rect">
            <a:avLst/>
          </a:prstGeom>
          <a:noFill/>
        </p:spPr>
        <p:txBody>
          <a:bodyPr wrap="square" lIns="36576" tIns="36576" rIns="36576" bIns="36576" anchor="t">
            <a:spAutoFit/>
          </a:bodyPr>
          <a:lstStyle/>
          <a:p>
            <a:pPr algn="l">
              <a:lnSpc>
                <a:spcPct val="100000"/>
              </a:lnSpc>
              <a:spcAft>
                <a:spcPts val="0"/>
              </a:spcAft>
            </a:pPr>
            <a:r>
              <a:rPr sz="1800" b="1">
                <a:solidFill>
                  <a:srgbClr val="111111"/>
                </a:solidFill>
                <a:latin typeface="맑은 고딕"/>
                <a:ea typeface="맑은 고딕"/>
                <a:cs typeface="맑은 고딕"/>
              </a:rPr>
              <a:t>방법</a:t>
            </a:r>
          </a:p>
        </p:txBody>
      </p:sp>
      <p:sp>
        <p:nvSpPr>
          <p:cNvPr id="14" name="Rectangle 13"/>
          <p:cNvSpPr/>
          <p:nvPr/>
        </p:nvSpPr>
        <p:spPr>
          <a:xfrm>
            <a:off x="2880360" y="2631094"/>
            <a:ext cx="8412480" cy="534741"/>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5" name="TextBox 14"/>
          <p:cNvSpPr txBox="1"/>
          <p:nvPr/>
        </p:nvSpPr>
        <p:spPr>
          <a:xfrm>
            <a:off x="3090672" y="2725460"/>
            <a:ext cx="8001000" cy="290962"/>
          </a:xfrm>
          <a:prstGeom prst="rect">
            <a:avLst/>
          </a:prstGeom>
          <a:noFill/>
        </p:spPr>
        <p:txBody>
          <a:bodyPr wrap="square" lIns="36576" tIns="36576" rIns="36576" bIns="36576" anchor="ctr">
            <a:spAutoFit/>
          </a:bodyPr>
          <a:lstStyle/>
          <a:p>
            <a:pPr algn="l">
              <a:lnSpc>
                <a:spcPct val="100000"/>
              </a:lnSpc>
              <a:spcAft>
                <a:spcPts val="0"/>
              </a:spcAft>
            </a:pPr>
            <a:r>
              <a:rPr sz="1550" b="0">
                <a:solidFill>
                  <a:srgbClr val="3A3A3A"/>
                </a:solidFill>
                <a:latin typeface="맑은 고딕"/>
                <a:ea typeface="맑은 고딕"/>
                <a:cs typeface="맑은 고딕"/>
              </a:rPr>
              <a:t>Privileged Teacher와 history Student를 공동 학습</a:t>
            </a:r>
          </a:p>
        </p:txBody>
      </p:sp>
      <p:sp>
        <p:nvSpPr>
          <p:cNvPr id="16" name="TextBox 15"/>
          <p:cNvSpPr txBox="1"/>
          <p:nvPr/>
        </p:nvSpPr>
        <p:spPr>
          <a:xfrm>
            <a:off x="749808" y="3511844"/>
            <a:ext cx="594360" cy="353872"/>
          </a:xfrm>
          <a:prstGeom prst="rect">
            <a:avLst/>
          </a:prstGeom>
          <a:noFill/>
        </p:spPr>
        <p:txBody>
          <a:bodyPr wrap="square" lIns="36576" tIns="36576" rIns="36576" bIns="36576" anchor="t">
            <a:spAutoFit/>
          </a:bodyPr>
          <a:lstStyle/>
          <a:p>
            <a:pPr algn="ctr">
              <a:lnSpc>
                <a:spcPct val="100000"/>
              </a:lnSpc>
              <a:spcAft>
                <a:spcPts val="0"/>
              </a:spcAft>
            </a:pPr>
            <a:r>
              <a:rPr sz="1800" b="1">
                <a:solidFill>
                  <a:srgbClr val="111111"/>
                </a:solidFill>
                <a:latin typeface="맑은 고딕"/>
                <a:ea typeface="맑은 고딕"/>
                <a:cs typeface="맑은 고딕"/>
              </a:rPr>
              <a:t>03</a:t>
            </a:r>
          </a:p>
        </p:txBody>
      </p:sp>
      <p:sp>
        <p:nvSpPr>
          <p:cNvPr id="17" name="TextBox 16"/>
          <p:cNvSpPr txBox="1"/>
          <p:nvPr/>
        </p:nvSpPr>
        <p:spPr>
          <a:xfrm>
            <a:off x="1508760" y="3511844"/>
            <a:ext cx="1234440" cy="353872"/>
          </a:xfrm>
          <a:prstGeom prst="rect">
            <a:avLst/>
          </a:prstGeom>
          <a:noFill/>
        </p:spPr>
        <p:txBody>
          <a:bodyPr wrap="square" lIns="36576" tIns="36576" rIns="36576" bIns="36576" anchor="t">
            <a:spAutoFit/>
          </a:bodyPr>
          <a:lstStyle/>
          <a:p>
            <a:pPr algn="l">
              <a:lnSpc>
                <a:spcPct val="100000"/>
              </a:lnSpc>
              <a:spcAft>
                <a:spcPts val="0"/>
              </a:spcAft>
            </a:pPr>
            <a:r>
              <a:rPr sz="1800" b="1" dirty="0" err="1">
                <a:solidFill>
                  <a:srgbClr val="111111"/>
                </a:solidFill>
                <a:latin typeface="맑은 고딕"/>
                <a:ea typeface="맑은 고딕"/>
                <a:cs typeface="맑은 고딕"/>
              </a:rPr>
              <a:t>결과</a:t>
            </a:r>
            <a:endParaRPr sz="1800" b="1" dirty="0">
              <a:solidFill>
                <a:srgbClr val="111111"/>
              </a:solidFill>
              <a:latin typeface="맑은 고딕"/>
              <a:ea typeface="맑은 고딕"/>
              <a:cs typeface="맑은 고딕"/>
            </a:endParaRPr>
          </a:p>
        </p:txBody>
      </p:sp>
      <p:sp>
        <p:nvSpPr>
          <p:cNvPr id="18" name="Rectangle 17"/>
          <p:cNvSpPr/>
          <p:nvPr/>
        </p:nvSpPr>
        <p:spPr>
          <a:xfrm>
            <a:off x="2880360" y="3456797"/>
            <a:ext cx="8412480" cy="534741"/>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9" name="TextBox 18"/>
          <p:cNvSpPr txBox="1"/>
          <p:nvPr/>
        </p:nvSpPr>
        <p:spPr>
          <a:xfrm>
            <a:off x="3090672" y="3551162"/>
            <a:ext cx="8001000" cy="290962"/>
          </a:xfrm>
          <a:prstGeom prst="rect">
            <a:avLst/>
          </a:prstGeom>
          <a:noFill/>
        </p:spPr>
        <p:txBody>
          <a:bodyPr wrap="square" lIns="36576" tIns="36576" rIns="36576" bIns="36576" anchor="ctr">
            <a:spAutoFit/>
          </a:bodyPr>
          <a:lstStyle/>
          <a:p>
            <a:pPr algn="l">
              <a:lnSpc>
                <a:spcPct val="100000"/>
              </a:lnSpc>
              <a:spcAft>
                <a:spcPts val="0"/>
              </a:spcAft>
            </a:pPr>
            <a:r>
              <a:rPr sz="1550" b="0" dirty="0">
                <a:solidFill>
                  <a:srgbClr val="3A3A3A"/>
                </a:solidFill>
                <a:latin typeface="맑은 고딕"/>
                <a:ea typeface="맑은 고딕"/>
                <a:cs typeface="맑은 고딕"/>
              </a:rPr>
              <a:t>0.5 m/s </a:t>
            </a:r>
            <a:r>
              <a:rPr sz="1550" b="0" dirty="0" err="1">
                <a:solidFill>
                  <a:srgbClr val="3A3A3A"/>
                </a:solidFill>
                <a:latin typeface="맑은 고딕"/>
                <a:ea typeface="맑은 고딕"/>
                <a:cs typeface="맑은 고딕"/>
              </a:rPr>
              <a:t>명령에서</a:t>
            </a:r>
            <a:r>
              <a:rPr sz="1550" b="0" dirty="0">
                <a:solidFill>
                  <a:srgbClr val="3A3A3A"/>
                </a:solidFill>
                <a:latin typeface="맑은 고딕"/>
                <a:ea typeface="맑은 고딕"/>
                <a:cs typeface="맑은 고딕"/>
              </a:rPr>
              <a:t> 95.01% </a:t>
            </a:r>
            <a:r>
              <a:rPr sz="1550" b="0" dirty="0" err="1">
                <a:solidFill>
                  <a:srgbClr val="3A3A3A"/>
                </a:solidFill>
                <a:latin typeface="맑은 고딕"/>
                <a:ea typeface="맑은 고딕"/>
                <a:cs typeface="맑은 고딕"/>
              </a:rPr>
              <a:t>생존</a:t>
            </a:r>
            <a:r>
              <a:rPr sz="1550" b="0" dirty="0">
                <a:solidFill>
                  <a:srgbClr val="3A3A3A"/>
                </a:solidFill>
                <a:latin typeface="맑은 고딕"/>
                <a:ea typeface="맑은 고딕"/>
                <a:cs typeface="맑은 고딕"/>
              </a:rPr>
              <a:t>, 9.12/10 m </a:t>
            </a:r>
            <a:r>
              <a:rPr sz="1550" b="0" dirty="0" err="1">
                <a:solidFill>
                  <a:srgbClr val="3A3A3A"/>
                </a:solidFill>
                <a:latin typeface="맑은 고딕"/>
                <a:ea typeface="맑은 고딕"/>
                <a:cs typeface="맑은 고딕"/>
              </a:rPr>
              <a:t>전진</a:t>
            </a:r>
            <a:endParaRPr sz="1550" b="0" dirty="0">
              <a:solidFill>
                <a:srgbClr val="3A3A3A"/>
              </a:solidFill>
              <a:latin typeface="맑은 고딕"/>
              <a:ea typeface="맑은 고딕"/>
              <a:cs typeface="맑은 고딕"/>
            </a:endParaRPr>
          </a:p>
        </p:txBody>
      </p:sp>
      <p:sp>
        <p:nvSpPr>
          <p:cNvPr id="20" name="TextBox 19"/>
          <p:cNvSpPr txBox="1"/>
          <p:nvPr/>
        </p:nvSpPr>
        <p:spPr>
          <a:xfrm>
            <a:off x="749808" y="4337547"/>
            <a:ext cx="594360" cy="353872"/>
          </a:xfrm>
          <a:prstGeom prst="rect">
            <a:avLst/>
          </a:prstGeom>
          <a:noFill/>
        </p:spPr>
        <p:txBody>
          <a:bodyPr wrap="square" lIns="36576" tIns="36576" rIns="36576" bIns="36576" anchor="t">
            <a:spAutoFit/>
          </a:bodyPr>
          <a:lstStyle/>
          <a:p>
            <a:pPr algn="ctr">
              <a:lnSpc>
                <a:spcPct val="100000"/>
              </a:lnSpc>
              <a:spcAft>
                <a:spcPts val="0"/>
              </a:spcAft>
            </a:pPr>
            <a:r>
              <a:rPr sz="1800" b="1">
                <a:solidFill>
                  <a:srgbClr val="111111"/>
                </a:solidFill>
                <a:latin typeface="맑은 고딕"/>
                <a:ea typeface="맑은 고딕"/>
                <a:cs typeface="맑은 고딕"/>
              </a:rPr>
              <a:t>04</a:t>
            </a:r>
          </a:p>
        </p:txBody>
      </p:sp>
      <p:sp>
        <p:nvSpPr>
          <p:cNvPr id="21" name="TextBox 20"/>
          <p:cNvSpPr txBox="1"/>
          <p:nvPr/>
        </p:nvSpPr>
        <p:spPr>
          <a:xfrm>
            <a:off x="1508760" y="4337547"/>
            <a:ext cx="1234440" cy="353872"/>
          </a:xfrm>
          <a:prstGeom prst="rect">
            <a:avLst/>
          </a:prstGeom>
          <a:noFill/>
        </p:spPr>
        <p:txBody>
          <a:bodyPr wrap="square" lIns="36576" tIns="36576" rIns="36576" bIns="36576" anchor="t">
            <a:spAutoFit/>
          </a:bodyPr>
          <a:lstStyle/>
          <a:p>
            <a:pPr algn="l">
              <a:lnSpc>
                <a:spcPct val="100000"/>
              </a:lnSpc>
              <a:spcAft>
                <a:spcPts val="0"/>
              </a:spcAft>
            </a:pPr>
            <a:r>
              <a:rPr lang="ko-KR" altLang="en-US" sz="1800" b="1" dirty="0">
                <a:solidFill>
                  <a:srgbClr val="111111"/>
                </a:solidFill>
                <a:latin typeface="맑은 고딕"/>
                <a:ea typeface="맑은 고딕"/>
                <a:cs typeface="맑은 고딕"/>
              </a:rPr>
              <a:t>개선 사항</a:t>
            </a:r>
            <a:endParaRPr sz="1800" b="1" dirty="0">
              <a:solidFill>
                <a:srgbClr val="111111"/>
              </a:solidFill>
              <a:latin typeface="맑은 고딕"/>
              <a:ea typeface="맑은 고딕"/>
              <a:cs typeface="맑은 고딕"/>
            </a:endParaRPr>
          </a:p>
        </p:txBody>
      </p:sp>
      <p:sp>
        <p:nvSpPr>
          <p:cNvPr id="22" name="Rectangle 21"/>
          <p:cNvSpPr/>
          <p:nvPr/>
        </p:nvSpPr>
        <p:spPr>
          <a:xfrm>
            <a:off x="2880360" y="4282500"/>
            <a:ext cx="8412480" cy="534741"/>
          </a:xfrm>
          <a:prstGeom prst="rect">
            <a:avLst/>
          </a:prstGeom>
          <a:solidFill>
            <a:srgbClr val="F7F7F7"/>
          </a:solidFill>
          <a:ln w="1016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3" name="TextBox 22"/>
          <p:cNvSpPr txBox="1"/>
          <p:nvPr/>
        </p:nvSpPr>
        <p:spPr>
          <a:xfrm>
            <a:off x="3090672" y="4376867"/>
            <a:ext cx="8001000" cy="290962"/>
          </a:xfrm>
          <a:prstGeom prst="rect">
            <a:avLst/>
          </a:prstGeom>
          <a:noFill/>
        </p:spPr>
        <p:txBody>
          <a:bodyPr wrap="square" lIns="36576" tIns="36576" rIns="36576" bIns="36576" anchor="ctr">
            <a:spAutoFit/>
          </a:bodyPr>
          <a:lstStyle/>
          <a:p>
            <a:pPr algn="l">
              <a:lnSpc>
                <a:spcPct val="100000"/>
              </a:lnSpc>
              <a:spcAft>
                <a:spcPts val="0"/>
              </a:spcAft>
            </a:pPr>
            <a:r>
              <a:rPr sz="1550" b="0" dirty="0" err="1">
                <a:solidFill>
                  <a:srgbClr val="3A3A3A"/>
                </a:solidFill>
                <a:latin typeface="맑은 고딕"/>
                <a:ea typeface="맑은 고딕"/>
                <a:cs typeface="맑은 고딕"/>
              </a:rPr>
              <a:t>완전</a:t>
            </a:r>
            <a:r>
              <a:rPr sz="1550" b="0" dirty="0">
                <a:solidFill>
                  <a:srgbClr val="3A3A3A"/>
                </a:solidFill>
                <a:latin typeface="맑은 고딕"/>
                <a:ea typeface="맑은 고딕"/>
                <a:cs typeface="맑은 고딕"/>
              </a:rPr>
              <a:t> </a:t>
            </a:r>
            <a:r>
              <a:rPr sz="1550" b="0" dirty="0" err="1">
                <a:solidFill>
                  <a:srgbClr val="3A3A3A"/>
                </a:solidFill>
                <a:latin typeface="맑은 고딕"/>
                <a:ea typeface="맑은 고딕"/>
                <a:cs typeface="맑은 고딕"/>
              </a:rPr>
              <a:t>출력</a:t>
            </a:r>
            <a:r>
              <a:rPr sz="1550" b="0" dirty="0">
                <a:solidFill>
                  <a:srgbClr val="3A3A3A"/>
                </a:solidFill>
                <a:latin typeface="맑은 고딕"/>
                <a:ea typeface="맑은 고딕"/>
                <a:cs typeface="맑은 고딕"/>
              </a:rPr>
              <a:t> </a:t>
            </a:r>
            <a:r>
              <a:rPr sz="1550" b="0" dirty="0" err="1">
                <a:solidFill>
                  <a:srgbClr val="3A3A3A"/>
                </a:solidFill>
                <a:latin typeface="맑은 고딕"/>
                <a:ea typeface="맑은 고딕"/>
                <a:cs typeface="맑은 고딕"/>
              </a:rPr>
              <a:t>상실</a:t>
            </a:r>
            <a:r>
              <a:rPr sz="1550" b="0" dirty="0">
                <a:solidFill>
                  <a:srgbClr val="3A3A3A"/>
                </a:solidFill>
                <a:latin typeface="맑은 고딕"/>
                <a:ea typeface="맑은 고딕"/>
                <a:cs typeface="맑은 고딕"/>
              </a:rPr>
              <a:t> onset </a:t>
            </a:r>
            <a:r>
              <a:rPr sz="1550" b="0" dirty="0" err="1">
                <a:solidFill>
                  <a:srgbClr val="3A3A3A"/>
                </a:solidFill>
                <a:latin typeface="맑은 고딕"/>
                <a:ea typeface="맑은 고딕"/>
                <a:cs typeface="맑은 고딕"/>
              </a:rPr>
              <a:t>회복률은</a:t>
            </a:r>
            <a:r>
              <a:rPr sz="1550" b="0" dirty="0">
                <a:solidFill>
                  <a:srgbClr val="3A3A3A"/>
                </a:solidFill>
                <a:latin typeface="맑은 고딕"/>
                <a:ea typeface="맑은 고딕"/>
                <a:cs typeface="맑은 고딕"/>
              </a:rPr>
              <a:t> 45.89%로 </a:t>
            </a:r>
            <a:r>
              <a:rPr sz="1550" b="0" dirty="0" err="1">
                <a:solidFill>
                  <a:srgbClr val="3A3A3A"/>
                </a:solidFill>
                <a:latin typeface="맑은 고딕"/>
                <a:ea typeface="맑은 고딕"/>
                <a:cs typeface="맑은 고딕"/>
              </a:rPr>
              <a:t>추가</a:t>
            </a:r>
            <a:r>
              <a:rPr sz="1550" b="0" dirty="0">
                <a:solidFill>
                  <a:srgbClr val="3A3A3A"/>
                </a:solidFill>
                <a:latin typeface="맑은 고딕"/>
                <a:ea typeface="맑은 고딕"/>
                <a:cs typeface="맑은 고딕"/>
              </a:rPr>
              <a:t> </a:t>
            </a:r>
            <a:r>
              <a:rPr sz="1550" b="0" dirty="0" err="1">
                <a:solidFill>
                  <a:srgbClr val="3A3A3A"/>
                </a:solidFill>
                <a:latin typeface="맑은 고딕"/>
                <a:ea typeface="맑은 고딕"/>
                <a:cs typeface="맑은 고딕"/>
              </a:rPr>
              <a:t>개선</a:t>
            </a:r>
            <a:r>
              <a:rPr sz="1550" b="0" dirty="0">
                <a:solidFill>
                  <a:srgbClr val="3A3A3A"/>
                </a:solidFill>
                <a:latin typeface="맑은 고딕"/>
                <a:ea typeface="맑은 고딕"/>
                <a:cs typeface="맑은 고딕"/>
              </a:rPr>
              <a:t> </a:t>
            </a:r>
            <a:r>
              <a:rPr sz="1550" b="0" dirty="0" err="1">
                <a:solidFill>
                  <a:srgbClr val="3A3A3A"/>
                </a:solidFill>
                <a:latin typeface="맑은 고딕"/>
                <a:ea typeface="맑은 고딕"/>
                <a:cs typeface="맑은 고딕"/>
              </a:rPr>
              <a:t>필요</a:t>
            </a:r>
            <a:endParaRPr sz="1550" b="0" dirty="0">
              <a:solidFill>
                <a:srgbClr val="3A3A3A"/>
              </a:solidFill>
              <a:latin typeface="맑은 고딕"/>
              <a:ea typeface="맑은 고딕"/>
              <a:cs typeface="맑은 고딕"/>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34 | Appendix A1 · PPO </a:t>
            </a:r>
            <a:r>
              <a:rPr sz="2800" b="1" dirty="0" err="1">
                <a:solidFill>
                  <a:srgbClr val="111111"/>
                </a:solidFill>
                <a:latin typeface="맑은 고딕"/>
                <a:ea typeface="맑은 고딕"/>
                <a:cs typeface="맑은 고딕"/>
              </a:rPr>
              <a:t>설정</a:t>
            </a:r>
            <a:r>
              <a:rPr sz="800" b="0" baseline="30000" dirty="0">
                <a:solidFill>
                  <a:srgbClr val="686868"/>
                </a:solidFill>
                <a:latin typeface="맑은 고딕"/>
                <a:ea typeface="맑은 고딕"/>
                <a:cs typeface="맑은 고딕"/>
              </a:rPr>
              <a:t>  </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34 / 43</a:t>
            </a:r>
          </a:p>
        </p:txBody>
      </p:sp>
      <p:sp>
        <p:nvSpPr>
          <p:cNvPr id="8" name="Rectangle 7"/>
          <p:cNvSpPr/>
          <p:nvPr/>
        </p:nvSpPr>
        <p:spPr>
          <a:xfrm>
            <a:off x="932688" y="1860438"/>
            <a:ext cx="2331720" cy="47183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9" name="TextBox 8"/>
          <p:cNvSpPr txBox="1"/>
          <p:nvPr/>
        </p:nvSpPr>
        <p:spPr>
          <a:xfrm>
            <a:off x="1005840" y="1891893"/>
            <a:ext cx="2185415" cy="408919"/>
          </a:xfrm>
          <a:prstGeom prst="rect">
            <a:avLst/>
          </a:prstGeom>
          <a:noFill/>
        </p:spPr>
        <p:txBody>
          <a:bodyPr wrap="square" lIns="9144" tIns="9144" rIns="9144" bIns="9144" anchor="ctr">
            <a:spAutoFit/>
          </a:bodyPr>
          <a:lstStyle/>
          <a:p>
            <a:pPr algn="ctr">
              <a:lnSpc>
                <a:spcPct val="100000"/>
              </a:lnSpc>
              <a:spcAft>
                <a:spcPts val="0"/>
              </a:spcAft>
            </a:pPr>
            <a:r>
              <a:rPr sz="1330" b="1">
                <a:solidFill>
                  <a:srgbClr val="FFFFFF"/>
                </a:solidFill>
                <a:latin typeface="맑은 고딕"/>
                <a:ea typeface="맑은 고딕"/>
                <a:cs typeface="맑은 고딕"/>
              </a:rPr>
              <a:t>파라미터</a:t>
            </a:r>
          </a:p>
        </p:txBody>
      </p:sp>
      <p:sp>
        <p:nvSpPr>
          <p:cNvPr id="10" name="Rectangle 9"/>
          <p:cNvSpPr/>
          <p:nvPr/>
        </p:nvSpPr>
        <p:spPr>
          <a:xfrm>
            <a:off x="3264408" y="1860438"/>
            <a:ext cx="2103120" cy="47183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1" name="TextBox 10"/>
          <p:cNvSpPr txBox="1"/>
          <p:nvPr/>
        </p:nvSpPr>
        <p:spPr>
          <a:xfrm>
            <a:off x="3337560" y="1891893"/>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1">
                <a:solidFill>
                  <a:srgbClr val="FFFFFF"/>
                </a:solidFill>
                <a:latin typeface="맑은 고딕"/>
                <a:ea typeface="맑은 고딕"/>
                <a:cs typeface="맑은 고딕"/>
              </a:rPr>
              <a:t>값</a:t>
            </a:r>
          </a:p>
        </p:txBody>
      </p:sp>
      <p:sp>
        <p:nvSpPr>
          <p:cNvPr id="12" name="Rectangle 11"/>
          <p:cNvSpPr/>
          <p:nvPr/>
        </p:nvSpPr>
        <p:spPr>
          <a:xfrm>
            <a:off x="5367527" y="1860438"/>
            <a:ext cx="2331720" cy="47183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3" name="TextBox 12"/>
          <p:cNvSpPr txBox="1"/>
          <p:nvPr/>
        </p:nvSpPr>
        <p:spPr>
          <a:xfrm>
            <a:off x="5440679" y="1891893"/>
            <a:ext cx="2185415" cy="408919"/>
          </a:xfrm>
          <a:prstGeom prst="rect">
            <a:avLst/>
          </a:prstGeom>
          <a:noFill/>
        </p:spPr>
        <p:txBody>
          <a:bodyPr wrap="square" lIns="9144" tIns="9144" rIns="9144" bIns="9144" anchor="ctr">
            <a:spAutoFit/>
          </a:bodyPr>
          <a:lstStyle/>
          <a:p>
            <a:pPr algn="ctr">
              <a:lnSpc>
                <a:spcPct val="100000"/>
              </a:lnSpc>
              <a:spcAft>
                <a:spcPts val="0"/>
              </a:spcAft>
            </a:pPr>
            <a:r>
              <a:rPr sz="1330" b="1">
                <a:solidFill>
                  <a:srgbClr val="FFFFFF"/>
                </a:solidFill>
                <a:latin typeface="맑은 고딕"/>
                <a:ea typeface="맑은 고딕"/>
                <a:cs typeface="맑은 고딕"/>
              </a:rPr>
              <a:t>파라미터</a:t>
            </a:r>
          </a:p>
        </p:txBody>
      </p:sp>
      <p:sp>
        <p:nvSpPr>
          <p:cNvPr id="14" name="Rectangle 13"/>
          <p:cNvSpPr/>
          <p:nvPr/>
        </p:nvSpPr>
        <p:spPr>
          <a:xfrm>
            <a:off x="7699247" y="1860438"/>
            <a:ext cx="2103120" cy="47183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5" name="TextBox 14"/>
          <p:cNvSpPr txBox="1"/>
          <p:nvPr/>
        </p:nvSpPr>
        <p:spPr>
          <a:xfrm>
            <a:off x="7772399" y="1891893"/>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1">
                <a:solidFill>
                  <a:srgbClr val="FFFFFF"/>
                </a:solidFill>
                <a:latin typeface="맑은 고딕"/>
                <a:ea typeface="맑은 고딕"/>
                <a:cs typeface="맑은 고딕"/>
              </a:rPr>
              <a:t>값</a:t>
            </a:r>
          </a:p>
        </p:txBody>
      </p:sp>
      <p:sp>
        <p:nvSpPr>
          <p:cNvPr id="16" name="Rectangle 15"/>
          <p:cNvSpPr/>
          <p:nvPr/>
        </p:nvSpPr>
        <p:spPr>
          <a:xfrm>
            <a:off x="932688" y="2332267"/>
            <a:ext cx="23317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17" name="TextBox 16"/>
              <p:cNvSpPr txBox="1"/>
              <p:nvPr/>
            </p:nvSpPr>
            <p:spPr>
              <a:xfrm>
                <a:off x="1005840" y="2363723"/>
                <a:ext cx="2185415" cy="408919"/>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a:rPr lang="ko-KR" sz="1300" b="0">
                          <a:solidFill>
                            <a:srgbClr val="3A3A3A"/>
                          </a:solidFill>
                          <a:latin typeface="Cambria Math" panose="02040503050406030204" pitchFamily="18" charset="0"/>
                          <a:ea typeface="맑은 고딕"/>
                          <a:cs typeface="맑은 고딕"/>
                        </a:rPr>
                        <m:t>𝛾</m:t>
                      </m:r>
                    </m:oMath>
                  </m:oMathPara>
                </a14:m>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005840" y="2363723"/>
                <a:ext cx="2185415" cy="408919"/>
              </a:xfrm>
              <a:prstGeom prst="rect">
                <a:avLst/>
              </a:prstGeom>
              <a:blipFill>
                <a:blip r:embed="rId3"/>
                <a:stretch>
                  <a:fillRect/>
                </a:stretch>
              </a:blipFill>
            </p:spPr>
            <p:txBody>
              <a:bodyPr/>
              <a:lstStyle/>
              <a:p>
                <a:r>
                  <a:rPr lang="ko-KR" altLang="en-US">
                    <a:noFill/>
                  </a:rPr>
                  <a:t> </a:t>
                </a:r>
              </a:p>
            </p:txBody>
          </p:sp>
        </mc:Fallback>
      </mc:AlternateContent>
      <p:sp>
        <p:nvSpPr>
          <p:cNvPr id="18" name="Rectangle 17"/>
          <p:cNvSpPr/>
          <p:nvPr/>
        </p:nvSpPr>
        <p:spPr>
          <a:xfrm>
            <a:off x="3264408" y="2332267"/>
            <a:ext cx="21031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9" name="TextBox 18"/>
          <p:cNvSpPr txBox="1"/>
          <p:nvPr/>
        </p:nvSpPr>
        <p:spPr>
          <a:xfrm>
            <a:off x="3337560" y="2363723"/>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0.99</a:t>
            </a:r>
          </a:p>
        </p:txBody>
      </p:sp>
      <p:sp>
        <p:nvSpPr>
          <p:cNvPr id="20" name="Rectangle 19"/>
          <p:cNvSpPr/>
          <p:nvPr/>
        </p:nvSpPr>
        <p:spPr>
          <a:xfrm>
            <a:off x="5367527" y="2332267"/>
            <a:ext cx="23317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21" name="TextBox 20"/>
              <p:cNvSpPr txBox="1"/>
              <p:nvPr/>
            </p:nvSpPr>
            <p:spPr>
              <a:xfrm>
                <a:off x="5440679" y="2363723"/>
                <a:ext cx="2185415" cy="408919"/>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sSub>
                        <m:sSubPr>
                          <m:ctrlPr>
                            <a:rPr lang="ko-KR" sz="1300" b="0">
                              <a:solidFill>
                                <a:srgbClr val="3A3A3A"/>
                              </a:solidFill>
                              <a:latin typeface="Cambria Math" panose="02040503050406030204" pitchFamily="18" charset="0"/>
                              <a:ea typeface="맑은 고딕"/>
                              <a:cs typeface="맑은 고딕"/>
                            </a:rPr>
                          </m:ctrlPr>
                        </m:sSubPr>
                        <m:e>
                          <m:r>
                            <a:rPr lang="ko-KR" sz="1300" b="0">
                              <a:solidFill>
                                <a:srgbClr val="3A3A3A"/>
                              </a:solidFill>
                              <a:latin typeface="Cambria Math" panose="02040503050406030204" pitchFamily="18" charset="0"/>
                              <a:ea typeface="맑은 고딕"/>
                              <a:cs typeface="맑은 고딕"/>
                            </a:rPr>
                            <m:t>𝜆</m:t>
                          </m:r>
                        </m:e>
                        <m:sub>
                          <m:r>
                            <m:rPr>
                              <m:nor/>
                            </m:rPr>
                            <a:rPr lang="ko-KR" sz="1300" b="0" i="0">
                              <a:solidFill>
                                <a:srgbClr val="3A3A3A"/>
                              </a:solidFill>
                              <a:latin typeface="맑은 고딕"/>
                              <a:ea typeface="맑은 고딕"/>
                              <a:cs typeface="맑은 고딕"/>
                            </a:rPr>
                            <m:t>GAE</m:t>
                          </m:r>
                        </m:sub>
                      </m:sSub>
                    </m:oMath>
                  </m:oMathPara>
                </a14:m>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5440679" y="2363723"/>
                <a:ext cx="2185415" cy="408919"/>
              </a:xfrm>
              <a:prstGeom prst="rect">
                <a:avLst/>
              </a:prstGeom>
              <a:blipFill>
                <a:blip r:embed="rId4"/>
                <a:stretch>
                  <a:fillRect/>
                </a:stretch>
              </a:blipFill>
            </p:spPr>
            <p:txBody>
              <a:bodyPr/>
              <a:lstStyle/>
              <a:p>
                <a:r>
                  <a:rPr lang="ko-KR" altLang="en-US">
                    <a:noFill/>
                  </a:rPr>
                  <a:t> </a:t>
                </a:r>
              </a:p>
            </p:txBody>
          </p:sp>
        </mc:Fallback>
      </mc:AlternateContent>
      <p:sp>
        <p:nvSpPr>
          <p:cNvPr id="22" name="Rectangle 21"/>
          <p:cNvSpPr/>
          <p:nvPr/>
        </p:nvSpPr>
        <p:spPr>
          <a:xfrm>
            <a:off x="7699247" y="2332267"/>
            <a:ext cx="21031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3" name="TextBox 22"/>
          <p:cNvSpPr txBox="1"/>
          <p:nvPr/>
        </p:nvSpPr>
        <p:spPr>
          <a:xfrm>
            <a:off x="7772399" y="2363723"/>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0.95</a:t>
            </a:r>
          </a:p>
        </p:txBody>
      </p:sp>
      <p:sp>
        <p:nvSpPr>
          <p:cNvPr id="24" name="Rectangle 23"/>
          <p:cNvSpPr/>
          <p:nvPr/>
        </p:nvSpPr>
        <p:spPr>
          <a:xfrm>
            <a:off x="932688" y="2804099"/>
            <a:ext cx="23317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5" name="TextBox 24"/>
          <p:cNvSpPr txBox="1"/>
          <p:nvPr/>
        </p:nvSpPr>
        <p:spPr>
          <a:xfrm>
            <a:off x="1005840" y="2835554"/>
            <a:ext cx="2185415" cy="408919"/>
          </a:xfrm>
          <a:prstGeom prst="rect">
            <a:avLst/>
          </a:prstGeom>
          <a:noFill/>
        </p:spPr>
        <p:txBody>
          <a:bodyPr wrap="square" lIns="9144" tIns="9144" rIns="9144" bIns="9144" anchor="ctr">
            <a:spAutoFit/>
          </a:bodyPr>
          <a:lstStyle/>
          <a:p>
            <a:pPr algn="l">
              <a:lnSpc>
                <a:spcPct val="100000"/>
              </a:lnSpc>
              <a:spcAft>
                <a:spcPts val="0"/>
              </a:spcAft>
            </a:pPr>
            <a:r>
              <a:rPr sz="1330" b="1">
                <a:solidFill>
                  <a:srgbClr val="3A3A3A"/>
                </a:solidFill>
                <a:latin typeface="맑은 고딕"/>
                <a:ea typeface="맑은 고딕"/>
                <a:cs typeface="맑은 고딕"/>
              </a:rPr>
              <a:t>PPO clip</a:t>
            </a:r>
          </a:p>
        </p:txBody>
      </p:sp>
      <p:sp>
        <p:nvSpPr>
          <p:cNvPr id="26" name="Rectangle 25"/>
          <p:cNvSpPr/>
          <p:nvPr/>
        </p:nvSpPr>
        <p:spPr>
          <a:xfrm>
            <a:off x="3264408" y="2804099"/>
            <a:ext cx="21031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7" name="TextBox 26"/>
          <p:cNvSpPr txBox="1"/>
          <p:nvPr/>
        </p:nvSpPr>
        <p:spPr>
          <a:xfrm>
            <a:off x="3337560" y="2835554"/>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0.2</a:t>
            </a:r>
          </a:p>
        </p:txBody>
      </p:sp>
      <p:sp>
        <p:nvSpPr>
          <p:cNvPr id="28" name="Rectangle 27"/>
          <p:cNvSpPr/>
          <p:nvPr/>
        </p:nvSpPr>
        <p:spPr>
          <a:xfrm>
            <a:off x="5367527" y="2804099"/>
            <a:ext cx="23317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9" name="TextBox 28"/>
          <p:cNvSpPr txBox="1"/>
          <p:nvPr/>
        </p:nvSpPr>
        <p:spPr>
          <a:xfrm>
            <a:off x="5440679" y="2835554"/>
            <a:ext cx="21854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Entropy coef.</a:t>
            </a:r>
          </a:p>
        </p:txBody>
      </p:sp>
      <p:sp>
        <p:nvSpPr>
          <p:cNvPr id="30" name="Rectangle 29"/>
          <p:cNvSpPr/>
          <p:nvPr/>
        </p:nvSpPr>
        <p:spPr>
          <a:xfrm>
            <a:off x="7699247" y="2804099"/>
            <a:ext cx="21031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1" name="TextBox 30"/>
          <p:cNvSpPr txBox="1"/>
          <p:nvPr/>
        </p:nvSpPr>
        <p:spPr>
          <a:xfrm>
            <a:off x="7772399" y="2835554"/>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0.01</a:t>
            </a:r>
          </a:p>
        </p:txBody>
      </p:sp>
      <p:sp>
        <p:nvSpPr>
          <p:cNvPr id="32" name="Rectangle 31"/>
          <p:cNvSpPr/>
          <p:nvPr/>
        </p:nvSpPr>
        <p:spPr>
          <a:xfrm>
            <a:off x="932688" y="3275929"/>
            <a:ext cx="23317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3" name="TextBox 32"/>
          <p:cNvSpPr txBox="1"/>
          <p:nvPr/>
        </p:nvSpPr>
        <p:spPr>
          <a:xfrm>
            <a:off x="1005840" y="3307384"/>
            <a:ext cx="2185415" cy="408919"/>
          </a:xfrm>
          <a:prstGeom prst="rect">
            <a:avLst/>
          </a:prstGeom>
          <a:noFill/>
        </p:spPr>
        <p:txBody>
          <a:bodyPr wrap="square" lIns="9144" tIns="9144" rIns="9144" bIns="9144" anchor="ctr">
            <a:spAutoFit/>
          </a:bodyPr>
          <a:lstStyle/>
          <a:p>
            <a:pPr algn="l">
              <a:lnSpc>
                <a:spcPct val="100000"/>
              </a:lnSpc>
              <a:spcAft>
                <a:spcPts val="0"/>
              </a:spcAft>
            </a:pPr>
            <a:r>
              <a:rPr sz="1200" b="1">
                <a:solidFill>
                  <a:srgbClr val="3A3A3A"/>
                </a:solidFill>
                <a:latin typeface="맑은 고딕"/>
                <a:ea typeface="맑은 고딕"/>
                <a:cs typeface="맑은 고딕"/>
              </a:rPr>
              <a:t>Epochs / rollout</a:t>
            </a:r>
          </a:p>
        </p:txBody>
      </p:sp>
      <p:sp>
        <p:nvSpPr>
          <p:cNvPr id="34" name="Rectangle 33"/>
          <p:cNvSpPr/>
          <p:nvPr/>
        </p:nvSpPr>
        <p:spPr>
          <a:xfrm>
            <a:off x="3264408" y="3275929"/>
            <a:ext cx="21031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5" name="TextBox 34"/>
          <p:cNvSpPr txBox="1"/>
          <p:nvPr/>
        </p:nvSpPr>
        <p:spPr>
          <a:xfrm>
            <a:off x="3337560" y="3307384"/>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5</a:t>
            </a:r>
          </a:p>
        </p:txBody>
      </p:sp>
      <p:sp>
        <p:nvSpPr>
          <p:cNvPr id="36" name="Rectangle 35"/>
          <p:cNvSpPr/>
          <p:nvPr/>
        </p:nvSpPr>
        <p:spPr>
          <a:xfrm>
            <a:off x="5367527" y="3275929"/>
            <a:ext cx="23317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7" name="TextBox 36"/>
          <p:cNvSpPr txBox="1"/>
          <p:nvPr/>
        </p:nvSpPr>
        <p:spPr>
          <a:xfrm>
            <a:off x="5440679" y="3307384"/>
            <a:ext cx="2185415" cy="408919"/>
          </a:xfrm>
          <a:prstGeom prst="rect">
            <a:avLst/>
          </a:prstGeom>
          <a:noFill/>
        </p:spPr>
        <p:txBody>
          <a:bodyPr wrap="square" lIns="9144" tIns="9144" rIns="9144" bIns="9144" anchor="ctr">
            <a:spAutoFit/>
          </a:bodyPr>
          <a:lstStyle/>
          <a:p>
            <a:pPr algn="ctr">
              <a:lnSpc>
                <a:spcPct val="100000"/>
              </a:lnSpc>
              <a:spcAft>
                <a:spcPts val="0"/>
              </a:spcAft>
            </a:pPr>
            <a:r>
              <a:rPr sz="1200" b="0">
                <a:solidFill>
                  <a:srgbClr val="3A3A3A"/>
                </a:solidFill>
                <a:latin typeface="맑은 고딕"/>
                <a:ea typeface="맑은 고딕"/>
                <a:cs typeface="맑은 고딕"/>
              </a:rPr>
              <a:t>Minibatches / epoch</a:t>
            </a:r>
          </a:p>
        </p:txBody>
      </p:sp>
      <p:sp>
        <p:nvSpPr>
          <p:cNvPr id="38" name="Rectangle 37"/>
          <p:cNvSpPr/>
          <p:nvPr/>
        </p:nvSpPr>
        <p:spPr>
          <a:xfrm>
            <a:off x="7699247" y="3275929"/>
            <a:ext cx="21031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9" name="TextBox 38"/>
          <p:cNvSpPr txBox="1"/>
          <p:nvPr/>
        </p:nvSpPr>
        <p:spPr>
          <a:xfrm>
            <a:off x="7772399" y="3307384"/>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4</a:t>
            </a:r>
          </a:p>
        </p:txBody>
      </p:sp>
      <p:sp>
        <p:nvSpPr>
          <p:cNvPr id="40" name="Rectangle 39"/>
          <p:cNvSpPr/>
          <p:nvPr/>
        </p:nvSpPr>
        <p:spPr>
          <a:xfrm>
            <a:off x="932688" y="3747758"/>
            <a:ext cx="23317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1" name="TextBox 40"/>
          <p:cNvSpPr txBox="1"/>
          <p:nvPr/>
        </p:nvSpPr>
        <p:spPr>
          <a:xfrm>
            <a:off x="1005840" y="3779214"/>
            <a:ext cx="2185415" cy="408919"/>
          </a:xfrm>
          <a:prstGeom prst="rect">
            <a:avLst/>
          </a:prstGeom>
          <a:noFill/>
        </p:spPr>
        <p:txBody>
          <a:bodyPr wrap="square" lIns="9144" tIns="9144" rIns="9144" bIns="9144" anchor="ctr">
            <a:spAutoFit/>
          </a:bodyPr>
          <a:lstStyle/>
          <a:p>
            <a:pPr algn="l">
              <a:lnSpc>
                <a:spcPct val="100000"/>
              </a:lnSpc>
              <a:spcAft>
                <a:spcPts val="0"/>
              </a:spcAft>
            </a:pPr>
            <a:r>
              <a:rPr sz="1330" b="1">
                <a:solidFill>
                  <a:srgbClr val="3A3A3A"/>
                </a:solidFill>
                <a:latin typeface="맑은 고딕"/>
                <a:ea typeface="맑은 고딕"/>
                <a:cs typeface="맑은 고딕"/>
              </a:rPr>
              <a:t>Steps/env</a:t>
            </a:r>
          </a:p>
        </p:txBody>
      </p:sp>
      <p:sp>
        <p:nvSpPr>
          <p:cNvPr id="42" name="Rectangle 41"/>
          <p:cNvSpPr/>
          <p:nvPr/>
        </p:nvSpPr>
        <p:spPr>
          <a:xfrm>
            <a:off x="3264408" y="3747758"/>
            <a:ext cx="21031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3" name="TextBox 42"/>
          <p:cNvSpPr txBox="1"/>
          <p:nvPr/>
        </p:nvSpPr>
        <p:spPr>
          <a:xfrm>
            <a:off x="3337560" y="3779214"/>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24</a:t>
            </a:r>
          </a:p>
        </p:txBody>
      </p:sp>
      <p:sp>
        <p:nvSpPr>
          <p:cNvPr id="44" name="Rectangle 43"/>
          <p:cNvSpPr/>
          <p:nvPr/>
        </p:nvSpPr>
        <p:spPr>
          <a:xfrm>
            <a:off x="5367527" y="3747758"/>
            <a:ext cx="23317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5" name="TextBox 44"/>
          <p:cNvSpPr txBox="1"/>
          <p:nvPr/>
        </p:nvSpPr>
        <p:spPr>
          <a:xfrm>
            <a:off x="5440679" y="3779214"/>
            <a:ext cx="21854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Desired KL</a:t>
            </a:r>
          </a:p>
        </p:txBody>
      </p:sp>
      <p:sp>
        <p:nvSpPr>
          <p:cNvPr id="46" name="Rectangle 45"/>
          <p:cNvSpPr/>
          <p:nvPr/>
        </p:nvSpPr>
        <p:spPr>
          <a:xfrm>
            <a:off x="7699247" y="3747758"/>
            <a:ext cx="21031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7" name="TextBox 46"/>
          <p:cNvSpPr txBox="1"/>
          <p:nvPr/>
        </p:nvSpPr>
        <p:spPr>
          <a:xfrm>
            <a:off x="7772399" y="3779214"/>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0.01</a:t>
            </a:r>
          </a:p>
        </p:txBody>
      </p:sp>
      <p:sp>
        <p:nvSpPr>
          <p:cNvPr id="48" name="Rectangle 47"/>
          <p:cNvSpPr/>
          <p:nvPr/>
        </p:nvSpPr>
        <p:spPr>
          <a:xfrm>
            <a:off x="932688" y="4219590"/>
            <a:ext cx="23317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9" name="TextBox 48"/>
          <p:cNvSpPr txBox="1"/>
          <p:nvPr/>
        </p:nvSpPr>
        <p:spPr>
          <a:xfrm>
            <a:off x="1005840" y="4251045"/>
            <a:ext cx="2185415" cy="408919"/>
          </a:xfrm>
          <a:prstGeom prst="rect">
            <a:avLst/>
          </a:prstGeom>
          <a:noFill/>
        </p:spPr>
        <p:txBody>
          <a:bodyPr wrap="square" lIns="9144" tIns="9144" rIns="9144" bIns="9144" anchor="ctr">
            <a:spAutoFit/>
          </a:bodyPr>
          <a:lstStyle/>
          <a:p>
            <a:pPr algn="l">
              <a:lnSpc>
                <a:spcPct val="100000"/>
              </a:lnSpc>
              <a:spcAft>
                <a:spcPts val="0"/>
              </a:spcAft>
            </a:pPr>
            <a:r>
              <a:rPr sz="1330" b="1">
                <a:solidFill>
                  <a:srgbClr val="3A3A3A"/>
                </a:solidFill>
                <a:latin typeface="맑은 고딕"/>
                <a:ea typeface="맑은 고딕"/>
                <a:cs typeface="맑은 고딕"/>
              </a:rPr>
              <a:t>Learning rate</a:t>
            </a:r>
          </a:p>
        </p:txBody>
      </p:sp>
      <p:sp>
        <p:nvSpPr>
          <p:cNvPr id="50" name="Rectangle 49"/>
          <p:cNvSpPr/>
          <p:nvPr/>
        </p:nvSpPr>
        <p:spPr>
          <a:xfrm>
            <a:off x="3264408" y="4219590"/>
            <a:ext cx="21031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1" name="TextBox 50"/>
          <p:cNvSpPr txBox="1"/>
          <p:nvPr/>
        </p:nvSpPr>
        <p:spPr>
          <a:xfrm>
            <a:off x="3337560" y="4251045"/>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Adaptive</a:t>
            </a:r>
          </a:p>
        </p:txBody>
      </p:sp>
      <p:sp>
        <p:nvSpPr>
          <p:cNvPr id="52" name="Rectangle 51"/>
          <p:cNvSpPr/>
          <p:nvPr/>
        </p:nvSpPr>
        <p:spPr>
          <a:xfrm>
            <a:off x="5367527" y="4219590"/>
            <a:ext cx="23317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3" name="TextBox 52"/>
          <p:cNvSpPr txBox="1"/>
          <p:nvPr/>
        </p:nvSpPr>
        <p:spPr>
          <a:xfrm>
            <a:off x="5440679" y="4251045"/>
            <a:ext cx="21854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Max grad norm</a:t>
            </a:r>
          </a:p>
        </p:txBody>
      </p:sp>
      <p:sp>
        <p:nvSpPr>
          <p:cNvPr id="54" name="Rectangle 53"/>
          <p:cNvSpPr/>
          <p:nvPr/>
        </p:nvSpPr>
        <p:spPr>
          <a:xfrm>
            <a:off x="7699247" y="4219590"/>
            <a:ext cx="2103120" cy="47183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5" name="TextBox 54"/>
          <p:cNvSpPr txBox="1"/>
          <p:nvPr/>
        </p:nvSpPr>
        <p:spPr>
          <a:xfrm>
            <a:off x="7772399" y="4251045"/>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1.0</a:t>
            </a:r>
          </a:p>
        </p:txBody>
      </p:sp>
      <p:sp>
        <p:nvSpPr>
          <p:cNvPr id="56" name="Rectangle 55"/>
          <p:cNvSpPr/>
          <p:nvPr/>
        </p:nvSpPr>
        <p:spPr>
          <a:xfrm>
            <a:off x="932688" y="4691420"/>
            <a:ext cx="23317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7" name="TextBox 56"/>
          <p:cNvSpPr txBox="1"/>
          <p:nvPr/>
        </p:nvSpPr>
        <p:spPr>
          <a:xfrm>
            <a:off x="1005840" y="4722876"/>
            <a:ext cx="2185415" cy="408919"/>
          </a:xfrm>
          <a:prstGeom prst="rect">
            <a:avLst/>
          </a:prstGeom>
          <a:noFill/>
        </p:spPr>
        <p:txBody>
          <a:bodyPr wrap="square" lIns="9144" tIns="9144" rIns="9144" bIns="9144" anchor="ctr">
            <a:spAutoFit/>
          </a:bodyPr>
          <a:lstStyle/>
          <a:p>
            <a:pPr algn="l">
              <a:lnSpc>
                <a:spcPct val="100000"/>
              </a:lnSpc>
              <a:spcAft>
                <a:spcPts val="0"/>
              </a:spcAft>
            </a:pPr>
            <a:r>
              <a:rPr sz="1330" b="1">
                <a:solidFill>
                  <a:srgbClr val="3A3A3A"/>
                </a:solidFill>
                <a:latin typeface="맑은 고딕"/>
                <a:ea typeface="맑은 고딕"/>
                <a:cs typeface="맑은 고딕"/>
              </a:rPr>
              <a:t>Actor hidden</a:t>
            </a:r>
          </a:p>
        </p:txBody>
      </p:sp>
      <p:sp>
        <p:nvSpPr>
          <p:cNvPr id="58" name="Rectangle 57"/>
          <p:cNvSpPr/>
          <p:nvPr/>
        </p:nvSpPr>
        <p:spPr>
          <a:xfrm>
            <a:off x="3264408" y="4691420"/>
            <a:ext cx="21031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9" name="TextBox 58"/>
          <p:cNvSpPr txBox="1"/>
          <p:nvPr/>
        </p:nvSpPr>
        <p:spPr>
          <a:xfrm>
            <a:off x="3337560" y="4722876"/>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512–256–128</a:t>
            </a:r>
          </a:p>
        </p:txBody>
      </p:sp>
      <p:sp>
        <p:nvSpPr>
          <p:cNvPr id="60" name="Rectangle 59"/>
          <p:cNvSpPr/>
          <p:nvPr/>
        </p:nvSpPr>
        <p:spPr>
          <a:xfrm>
            <a:off x="5367527" y="4691420"/>
            <a:ext cx="23317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1" name="TextBox 60"/>
          <p:cNvSpPr txBox="1"/>
          <p:nvPr/>
        </p:nvSpPr>
        <p:spPr>
          <a:xfrm>
            <a:off x="5440679" y="4722876"/>
            <a:ext cx="21854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Latent</a:t>
            </a:r>
          </a:p>
        </p:txBody>
      </p:sp>
      <p:sp>
        <p:nvSpPr>
          <p:cNvPr id="62" name="Rectangle 61"/>
          <p:cNvSpPr/>
          <p:nvPr/>
        </p:nvSpPr>
        <p:spPr>
          <a:xfrm>
            <a:off x="7699247" y="4691420"/>
            <a:ext cx="2103120" cy="47183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3" name="TextBox 62"/>
          <p:cNvSpPr txBox="1"/>
          <p:nvPr/>
        </p:nvSpPr>
        <p:spPr>
          <a:xfrm>
            <a:off x="7772399" y="4722876"/>
            <a:ext cx="1956815" cy="408919"/>
          </a:xfrm>
          <a:prstGeom prst="rect">
            <a:avLst/>
          </a:prstGeom>
          <a:noFill/>
        </p:spPr>
        <p:txBody>
          <a:bodyPr wrap="square" lIns="9144" tIns="9144" rIns="9144" bIns="9144" anchor="ctr">
            <a:spAutoFit/>
          </a:bodyPr>
          <a:lstStyle/>
          <a:p>
            <a:pPr algn="ctr">
              <a:lnSpc>
                <a:spcPct val="100000"/>
              </a:lnSpc>
              <a:spcAft>
                <a:spcPts val="0"/>
              </a:spcAft>
            </a:pPr>
            <a:r>
              <a:rPr sz="1330" b="0">
                <a:solidFill>
                  <a:srgbClr val="3A3A3A"/>
                </a:solidFill>
                <a:latin typeface="맑은 고딕"/>
                <a:ea typeface="맑은 고딕"/>
                <a:cs typeface="맑은 고딕"/>
              </a:rPr>
              <a:t>8D</a:t>
            </a:r>
          </a:p>
        </p:txBody>
      </p:sp>
      <mc:AlternateContent xmlns:mc="http://schemas.openxmlformats.org/markup-compatibility/2006" xmlns:a14="http://schemas.microsoft.com/office/drawing/2010/main">
        <mc:Choice Requires="a14">
          <p:sp>
            <p:nvSpPr>
              <p:cNvPr id="64" name="TextBox 63"/>
              <p:cNvSpPr txBox="1"/>
              <p:nvPr/>
            </p:nvSpPr>
            <p:spPr>
              <a:xfrm>
                <a:off x="1097280" y="5249753"/>
                <a:ext cx="9966960" cy="471830"/>
              </a:xfrm>
              <a:prstGeom prst="rect">
                <a:avLst/>
              </a:prstGeom>
              <a:noFill/>
            </p:spPr>
            <p:txBody>
              <a:bodyPr wrap="none" lIns="27432" tIns="27432" rIns="27432" bIns="27432" anchor="ctr">
                <a:spAutoFit/>
              </a:bodyPr>
              <a:lstStyle/>
              <a:p>
                <a:pPr algn="ctr">
                  <a:lnSpc>
                    <a:spcPct val="100000"/>
                  </a:lnSpc>
                </a:pPr>
                <a14:m>
                  <m:oMathPara xmlns:m="http://schemas.openxmlformats.org/officeDocument/2006/math">
                    <m:oMath>
                      <m:sSub>
                        <m:sSubPr>
                          <m:ctrlPr>
                            <a:rPr lang="ko-KR" sz="1500" b="0" i="0">
                              <a:solidFill>
                                <a:srgbClr val="222222"/>
                              </a:solidFill>
                              <a:latin typeface="맑은 고딕"/>
                              <a:ea typeface="맑은 고딕"/>
                              <a:cs typeface="맑은 고딕"/>
                            </a:rPr>
                          </m:ctrlPr>
                        </m:sSubPr>
                        <m:e>
                          <m:r>
                            <m:rPr>
                              <m:nor/>
                            </m:rPr>
                            <a:rPr lang="ko-KR" sz="1500" b="0" i="0">
                              <a:solidFill>
                                <a:srgbClr val="222222"/>
                              </a:solidFill>
                              <a:latin typeface="맑은 고딕"/>
                              <a:ea typeface="맑은 고딕"/>
                              <a:cs typeface="맑은 고딕"/>
                            </a:rPr>
                            <m:t>L</m:t>
                          </m:r>
                        </m:e>
                        <m:sub>
                          <m:r>
                            <m:rPr>
                              <m:nor/>
                            </m:rPr>
                            <a:rPr lang="ko-KR" sz="1500" b="0" i="0">
                              <a:solidFill>
                                <a:srgbClr val="222222"/>
                              </a:solidFill>
                              <a:latin typeface="맑은 고딕"/>
                              <a:ea typeface="맑은 고딕"/>
                              <a:cs typeface="맑은 고딕"/>
                            </a:rPr>
                            <m:t>PPO</m:t>
                          </m:r>
                        </m:sub>
                      </m:sSub>
                      <m:r>
                        <a:rPr lang="ko-KR" sz="1500" b="0">
                          <a:solidFill>
                            <a:srgbClr val="222222"/>
                          </a:solidFill>
                          <a:latin typeface="Cambria Math" panose="02040503050406030204" pitchFamily="18" charset="0"/>
                          <a:ea typeface="맑은 고딕"/>
                          <a:cs typeface="맑은 고딕"/>
                        </a:rPr>
                        <m:t>(</m:t>
                      </m:r>
                      <m:r>
                        <a:rPr lang="ko-KR" sz="1500" b="0">
                          <a:solidFill>
                            <a:srgbClr val="222222"/>
                          </a:solidFill>
                          <a:latin typeface="Cambria Math" panose="02040503050406030204" pitchFamily="18" charset="0"/>
                          <a:ea typeface="맑은 고딕"/>
                          <a:cs typeface="맑은 고딕"/>
                        </a:rPr>
                        <m:t>𝜃</m:t>
                      </m:r>
                      <m:r>
                        <a:rPr lang="ko-KR" sz="1500" b="0">
                          <a:solidFill>
                            <a:srgbClr val="222222"/>
                          </a:solidFill>
                          <a:latin typeface="Cambria Math" panose="02040503050406030204" pitchFamily="18" charset="0"/>
                          <a:ea typeface="맑은 고딕"/>
                          <a:cs typeface="맑은 고딕"/>
                        </a:rPr>
                        <m:t>) = </m:t>
                      </m:r>
                      <m:sSub>
                        <m:sSubPr>
                          <m:ctrlPr>
                            <a:rPr lang="ko-KR" sz="1500" b="0" i="0">
                              <a:solidFill>
                                <a:srgbClr val="222222"/>
                              </a:solidFill>
                              <a:latin typeface="맑은 고딕"/>
                              <a:ea typeface="맑은 고딕"/>
                              <a:cs typeface="맑은 고딕"/>
                            </a:rPr>
                          </m:ctrlPr>
                        </m:sSubPr>
                        <m:e>
                          <m:r>
                            <m:rPr>
                              <m:nor/>
                            </m:rPr>
                            <a:rPr lang="ko-KR" sz="1500" b="0" i="0">
                              <a:solidFill>
                                <a:srgbClr val="222222"/>
                              </a:solidFill>
                              <a:latin typeface="맑은 고딕"/>
                              <a:ea typeface="맑은 고딕"/>
                              <a:cs typeface="맑은 고딕"/>
                            </a:rPr>
                            <m:t>𝔼</m:t>
                          </m:r>
                        </m:e>
                        <m:sub>
                          <m:r>
                            <a:rPr lang="ko-KR" sz="1500" b="0">
                              <a:solidFill>
                                <a:srgbClr val="222222"/>
                              </a:solidFill>
                              <a:latin typeface="Cambria Math" panose="02040503050406030204" pitchFamily="18" charset="0"/>
                              <a:ea typeface="맑은 고딕"/>
                              <a:cs typeface="맑은 고딕"/>
                            </a:rPr>
                            <m:t>𝑡</m:t>
                          </m:r>
                        </m:sub>
                      </m:sSub>
                      <m:r>
                        <a:rPr lang="ko-KR" sz="1500" b="0">
                          <a:solidFill>
                            <a:srgbClr val="222222"/>
                          </a:solidFill>
                          <a:latin typeface="Cambria Math" panose="02040503050406030204" pitchFamily="18" charset="0"/>
                          <a:ea typeface="맑은 고딕"/>
                          <a:cs typeface="맑은 고딕"/>
                        </a:rPr>
                        <m:t>[ </m:t>
                      </m:r>
                      <m:r>
                        <a:rPr lang="ko-KR" sz="1500" b="0">
                          <a:solidFill>
                            <a:srgbClr val="222222"/>
                          </a:solidFill>
                          <a:latin typeface="Cambria Math" panose="02040503050406030204" pitchFamily="18" charset="0"/>
                          <a:ea typeface="맑은 고딕"/>
                          <a:cs typeface="맑은 고딕"/>
                        </a:rPr>
                        <m:t>𝑚𝑖𝑛</m:t>
                      </m:r>
                      <m:r>
                        <a:rPr lang="ko-KR" sz="1500" b="0">
                          <a:solidFill>
                            <a:srgbClr val="222222"/>
                          </a:solidFill>
                          <a:latin typeface="Cambria Math" panose="02040503050406030204" pitchFamily="18" charset="0"/>
                          <a:ea typeface="맑은 고딕"/>
                          <a:cs typeface="맑은 고딕"/>
                        </a:rPr>
                        <m:t>(</m:t>
                      </m:r>
                      <m:sSub>
                        <m:sSubPr>
                          <m:ctrlPr>
                            <a:rPr lang="ko-KR" sz="1500" b="0">
                              <a:solidFill>
                                <a:srgbClr val="222222"/>
                              </a:solidFill>
                              <a:latin typeface="Cambria Math" panose="02040503050406030204" pitchFamily="18" charset="0"/>
                              <a:ea typeface="맑은 고딕"/>
                              <a:cs typeface="맑은 고딕"/>
                            </a:rPr>
                          </m:ctrlPr>
                        </m:sSubPr>
                        <m:e>
                          <m:r>
                            <a:rPr lang="ko-KR" sz="1500" b="0">
                              <a:solidFill>
                                <a:srgbClr val="222222"/>
                              </a:solidFill>
                              <a:latin typeface="Cambria Math" panose="02040503050406030204" pitchFamily="18" charset="0"/>
                              <a:ea typeface="맑은 고딕"/>
                              <a:cs typeface="맑은 고딕"/>
                            </a:rPr>
                            <m:t>𝑟</m:t>
                          </m:r>
                        </m:e>
                        <m:sub>
                          <m:r>
                            <a:rPr lang="ko-KR" sz="1500" b="0">
                              <a:solidFill>
                                <a:srgbClr val="222222"/>
                              </a:solidFill>
                              <a:latin typeface="Cambria Math" panose="02040503050406030204" pitchFamily="18" charset="0"/>
                              <a:ea typeface="맑은 고딕"/>
                              <a:cs typeface="맑은 고딕"/>
                            </a:rPr>
                            <m:t>𝑡</m:t>
                          </m:r>
                        </m:sub>
                      </m:sSub>
                      <m:r>
                        <a:rPr lang="ko-KR" sz="1500" b="0">
                          <a:solidFill>
                            <a:srgbClr val="222222"/>
                          </a:solidFill>
                          <a:latin typeface="Cambria Math" panose="02040503050406030204" pitchFamily="18" charset="0"/>
                          <a:ea typeface="맑은 고딕"/>
                          <a:cs typeface="맑은 고딕"/>
                        </a:rPr>
                        <m:t>(</m:t>
                      </m:r>
                      <m:r>
                        <a:rPr lang="ko-KR" sz="1500" b="0">
                          <a:solidFill>
                            <a:srgbClr val="222222"/>
                          </a:solidFill>
                          <a:latin typeface="Cambria Math" panose="02040503050406030204" pitchFamily="18" charset="0"/>
                          <a:ea typeface="맑은 고딕"/>
                          <a:cs typeface="맑은 고딕"/>
                        </a:rPr>
                        <m:t>𝜃</m:t>
                      </m:r>
                      <m:r>
                        <a:rPr lang="ko-KR" sz="1500" b="0">
                          <a:solidFill>
                            <a:srgbClr val="222222"/>
                          </a:solidFill>
                          <a:latin typeface="Cambria Math" panose="02040503050406030204" pitchFamily="18" charset="0"/>
                          <a:ea typeface="맑은 고딕"/>
                          <a:cs typeface="맑은 고딕"/>
                        </a:rPr>
                        <m:t>) Â</m:t>
                      </m:r>
                      <m:sSub>
                        <m:sSubPr>
                          <m:ctrlPr>
                            <a:rPr lang="ko-KR" sz="1500" b="0">
                              <a:solidFill>
                                <a:srgbClr val="222222"/>
                              </a:solidFill>
                              <a:latin typeface="Cambria Math" panose="02040503050406030204" pitchFamily="18" charset="0"/>
                              <a:ea typeface="맑은 고딕"/>
                              <a:cs typeface="맑은 고딕"/>
                            </a:rPr>
                          </m:ctrlPr>
                        </m:sSubPr>
                        <m:e>
                          <m:r>
                            <a:rPr lang="ko-KR" sz="1500" b="0">
                              <a:solidFill>
                                <a:srgbClr val="222222"/>
                              </a:solidFill>
                              <a:latin typeface="Cambria Math" panose="02040503050406030204" pitchFamily="18" charset="0"/>
                              <a:ea typeface="맑은 고딕"/>
                              <a:cs typeface="맑은 고딕"/>
                            </a:rPr>
                            <m:t> </m:t>
                          </m:r>
                        </m:e>
                        <m:sub>
                          <m:r>
                            <a:rPr lang="ko-KR" sz="1500" b="0">
                              <a:solidFill>
                                <a:srgbClr val="222222"/>
                              </a:solidFill>
                              <a:latin typeface="Cambria Math" panose="02040503050406030204" pitchFamily="18" charset="0"/>
                              <a:ea typeface="맑은 고딕"/>
                              <a:cs typeface="맑은 고딕"/>
                            </a:rPr>
                            <m:t>𝑡</m:t>
                          </m:r>
                        </m:sub>
                      </m:sSub>
                      <m:r>
                        <a:rPr lang="ko-KR" sz="1500" b="0">
                          <a:solidFill>
                            <a:srgbClr val="222222"/>
                          </a:solidFill>
                          <a:latin typeface="Cambria Math" panose="02040503050406030204" pitchFamily="18" charset="0"/>
                          <a:ea typeface="맑은 고딕"/>
                          <a:cs typeface="맑은 고딕"/>
                        </a:rPr>
                        <m:t>, </m:t>
                      </m:r>
                      <m:r>
                        <a:rPr lang="ko-KR" sz="1500" b="0">
                          <a:solidFill>
                            <a:srgbClr val="222222"/>
                          </a:solidFill>
                          <a:latin typeface="Cambria Math" panose="02040503050406030204" pitchFamily="18" charset="0"/>
                          <a:ea typeface="맑은 고딕"/>
                          <a:cs typeface="맑은 고딕"/>
                        </a:rPr>
                        <m:t>𝑐𝑙𝑖𝑝</m:t>
                      </m:r>
                      <m:r>
                        <a:rPr lang="ko-KR" sz="1500" b="0">
                          <a:solidFill>
                            <a:srgbClr val="222222"/>
                          </a:solidFill>
                          <a:latin typeface="Cambria Math" panose="02040503050406030204" pitchFamily="18" charset="0"/>
                          <a:ea typeface="맑은 고딕"/>
                          <a:cs typeface="맑은 고딕"/>
                        </a:rPr>
                        <m:t>(</m:t>
                      </m:r>
                      <m:sSub>
                        <m:sSubPr>
                          <m:ctrlPr>
                            <a:rPr lang="ko-KR" sz="1500" b="0">
                              <a:solidFill>
                                <a:srgbClr val="222222"/>
                              </a:solidFill>
                              <a:latin typeface="Cambria Math" panose="02040503050406030204" pitchFamily="18" charset="0"/>
                              <a:ea typeface="맑은 고딕"/>
                              <a:cs typeface="맑은 고딕"/>
                            </a:rPr>
                          </m:ctrlPr>
                        </m:sSubPr>
                        <m:e>
                          <m:r>
                            <a:rPr lang="ko-KR" sz="1500" b="0">
                              <a:solidFill>
                                <a:srgbClr val="222222"/>
                              </a:solidFill>
                              <a:latin typeface="Cambria Math" panose="02040503050406030204" pitchFamily="18" charset="0"/>
                              <a:ea typeface="맑은 고딕"/>
                              <a:cs typeface="맑은 고딕"/>
                            </a:rPr>
                            <m:t>𝑟</m:t>
                          </m:r>
                        </m:e>
                        <m:sub>
                          <m:r>
                            <a:rPr lang="ko-KR" sz="1500" b="0">
                              <a:solidFill>
                                <a:srgbClr val="222222"/>
                              </a:solidFill>
                              <a:latin typeface="Cambria Math" panose="02040503050406030204" pitchFamily="18" charset="0"/>
                              <a:ea typeface="맑은 고딕"/>
                              <a:cs typeface="맑은 고딕"/>
                            </a:rPr>
                            <m:t>𝑡</m:t>
                          </m:r>
                        </m:sub>
                      </m:sSub>
                      <m:r>
                        <a:rPr lang="ko-KR" sz="1500" b="0">
                          <a:solidFill>
                            <a:srgbClr val="222222"/>
                          </a:solidFill>
                          <a:latin typeface="Cambria Math" panose="02040503050406030204" pitchFamily="18" charset="0"/>
                          <a:ea typeface="맑은 고딕"/>
                          <a:cs typeface="맑은 고딕"/>
                        </a:rPr>
                        <m:t>(</m:t>
                      </m:r>
                      <m:r>
                        <a:rPr lang="ko-KR" sz="1500" b="0">
                          <a:solidFill>
                            <a:srgbClr val="222222"/>
                          </a:solidFill>
                          <a:latin typeface="Cambria Math" panose="02040503050406030204" pitchFamily="18" charset="0"/>
                          <a:ea typeface="맑은 고딕"/>
                          <a:cs typeface="맑은 고딕"/>
                        </a:rPr>
                        <m:t>𝜃</m:t>
                      </m:r>
                      <m:r>
                        <a:rPr lang="ko-KR" sz="1500" b="0">
                          <a:solidFill>
                            <a:srgbClr val="222222"/>
                          </a:solidFill>
                          <a:latin typeface="Cambria Math" panose="02040503050406030204" pitchFamily="18" charset="0"/>
                          <a:ea typeface="맑은 고딕"/>
                          <a:cs typeface="맑은 고딕"/>
                        </a:rPr>
                        <m:t>),1−</m:t>
                      </m:r>
                      <m:r>
                        <a:rPr lang="ko-KR" sz="1500" b="0">
                          <a:solidFill>
                            <a:srgbClr val="222222"/>
                          </a:solidFill>
                          <a:latin typeface="Cambria Math" panose="02040503050406030204" pitchFamily="18" charset="0"/>
                          <a:ea typeface="맑은 고딕"/>
                          <a:cs typeface="맑은 고딕"/>
                        </a:rPr>
                        <m:t>𝜀</m:t>
                      </m:r>
                      <m:r>
                        <a:rPr lang="ko-KR" sz="1500" b="0">
                          <a:solidFill>
                            <a:srgbClr val="222222"/>
                          </a:solidFill>
                          <a:latin typeface="Cambria Math" panose="02040503050406030204" pitchFamily="18" charset="0"/>
                          <a:ea typeface="맑은 고딕"/>
                          <a:cs typeface="맑은 고딕"/>
                        </a:rPr>
                        <m:t>,1+</m:t>
                      </m:r>
                      <m:r>
                        <a:rPr lang="ko-KR" sz="1500" b="0">
                          <a:solidFill>
                            <a:srgbClr val="222222"/>
                          </a:solidFill>
                          <a:latin typeface="Cambria Math" panose="02040503050406030204" pitchFamily="18" charset="0"/>
                          <a:ea typeface="맑은 고딕"/>
                          <a:cs typeface="맑은 고딕"/>
                        </a:rPr>
                        <m:t>𝜀</m:t>
                      </m:r>
                      <m:r>
                        <a:rPr lang="ko-KR" sz="1500" b="0">
                          <a:solidFill>
                            <a:srgbClr val="222222"/>
                          </a:solidFill>
                          <a:latin typeface="Cambria Math" panose="02040503050406030204" pitchFamily="18" charset="0"/>
                          <a:ea typeface="맑은 고딕"/>
                          <a:cs typeface="맑은 고딕"/>
                        </a:rPr>
                        <m:t>) Â</m:t>
                      </m:r>
                      <m:sSub>
                        <m:sSubPr>
                          <m:ctrlPr>
                            <a:rPr lang="ko-KR" sz="1500" b="0">
                              <a:solidFill>
                                <a:srgbClr val="222222"/>
                              </a:solidFill>
                              <a:latin typeface="Cambria Math" panose="02040503050406030204" pitchFamily="18" charset="0"/>
                              <a:ea typeface="맑은 고딕"/>
                              <a:cs typeface="맑은 고딕"/>
                            </a:rPr>
                          </m:ctrlPr>
                        </m:sSubPr>
                        <m:e>
                          <m:r>
                            <a:rPr lang="ko-KR" sz="1500" b="0">
                              <a:solidFill>
                                <a:srgbClr val="222222"/>
                              </a:solidFill>
                              <a:latin typeface="Cambria Math" panose="02040503050406030204" pitchFamily="18" charset="0"/>
                              <a:ea typeface="맑은 고딕"/>
                              <a:cs typeface="맑은 고딕"/>
                            </a:rPr>
                            <m:t> </m:t>
                          </m:r>
                        </m:e>
                        <m:sub>
                          <m:r>
                            <a:rPr lang="ko-KR" sz="1500" b="0">
                              <a:solidFill>
                                <a:srgbClr val="222222"/>
                              </a:solidFill>
                              <a:latin typeface="Cambria Math" panose="02040503050406030204" pitchFamily="18" charset="0"/>
                              <a:ea typeface="맑은 고딕"/>
                              <a:cs typeface="맑은 고딕"/>
                            </a:rPr>
                            <m:t>𝑡</m:t>
                          </m:r>
                        </m:sub>
                      </m:sSub>
                      <m:r>
                        <a:rPr lang="ko-KR" sz="1500" b="0">
                          <a:solidFill>
                            <a:srgbClr val="222222"/>
                          </a:solidFill>
                          <a:latin typeface="Cambria Math" panose="02040503050406030204" pitchFamily="18" charset="0"/>
                          <a:ea typeface="맑은 고딕"/>
                          <a:cs typeface="맑은 고딕"/>
                        </a:rPr>
                        <m:t>) ]</m:t>
                      </m:r>
                    </m:oMath>
                  </m:oMathPara>
                </a14:m>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1097280" y="5249753"/>
                <a:ext cx="9966960" cy="471830"/>
              </a:xfrm>
              <a:prstGeom prst="rect">
                <a:avLst/>
              </a:prstGeom>
              <a:blipFill>
                <a:blip r:embed="rId5"/>
                <a:stretch>
                  <a:fillRect/>
                </a:stretch>
              </a:blipFill>
            </p:spPr>
            <p:txBody>
              <a:bodyPr/>
              <a:lstStyle/>
              <a:p>
                <a:r>
                  <a:rPr lang="ko-KR" altLang="en-US">
                    <a:noFill/>
                  </a:rPr>
                  <a:t> </a:t>
                </a:r>
              </a:p>
            </p:txBody>
          </p:sp>
        </mc:Fallback>
      </mc:AlternateContent>
      <p:sp>
        <p:nvSpPr>
          <p:cNvPr id="65"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a:solidFill>
                  <a:srgbClr val="3A3A3A"/>
                </a:solidFill>
                <a:latin typeface="맑은 고딕"/>
                <a:ea typeface="맑은 고딕"/>
                <a:cs typeface="맑은 고딕"/>
              </a:rPr>
              <a:t>매 iteration 새 rollout을 수집하고 PPO로 갱신한다. 아래는 해당 학습에서 사용한 설정이다.</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dirty="0">
                <a:solidFill>
                  <a:srgbClr val="111111"/>
                </a:solidFill>
                <a:latin typeface="맑은 고딕"/>
                <a:ea typeface="맑은 고딕"/>
                <a:cs typeface="맑은 고딕"/>
              </a:rPr>
              <a:t>35 | Appendix A2 · PPO </a:t>
            </a:r>
            <a:r>
              <a:rPr sz="2800" b="1" dirty="0" err="1">
                <a:solidFill>
                  <a:srgbClr val="111111"/>
                </a:solidFill>
                <a:latin typeface="맑은 고딕"/>
                <a:ea typeface="맑은 고딕"/>
                <a:cs typeface="맑은 고딕"/>
              </a:rPr>
              <a:t>학습</a:t>
            </a:r>
            <a:r>
              <a:rPr sz="2800" b="1" dirty="0">
                <a:solidFill>
                  <a:srgbClr val="111111"/>
                </a:solidFill>
                <a:latin typeface="맑은 고딕"/>
                <a:ea typeface="맑은 고딕"/>
                <a:cs typeface="맑은 고딕"/>
              </a:rPr>
              <a:t> </a:t>
            </a:r>
            <a:r>
              <a:rPr sz="2800" b="1" dirty="0" err="1">
                <a:solidFill>
                  <a:srgbClr val="111111"/>
                </a:solidFill>
                <a:latin typeface="맑은 고딕"/>
                <a:ea typeface="맑은 고딕"/>
                <a:cs typeface="맑은 고딕"/>
              </a:rPr>
              <a:t>단위</a:t>
            </a:r>
            <a:r>
              <a:rPr sz="800" b="0" baseline="30000" dirty="0">
                <a:solidFill>
                  <a:srgbClr val="686868"/>
                </a:solidFill>
                <a:latin typeface="맑은 고딕"/>
                <a:ea typeface="맑은 고딕"/>
                <a:cs typeface="맑은 고딕"/>
              </a:rPr>
              <a:t>  </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35 / 43</a:t>
            </a:r>
          </a:p>
        </p:txBody>
      </p:sp>
      <p:sp>
        <p:nvSpPr>
          <p:cNvPr id="8"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a:solidFill>
                  <a:srgbClr val="3A3A3A"/>
                </a:solidFill>
                <a:latin typeface="맑은 고딕"/>
                <a:ea typeface="맑은 고딕"/>
                <a:cs typeface="맑은 고딕"/>
              </a:rPr>
              <a:t>새 데이터를 수집하는 단계와 같은 데이터를 반복 사용하는 단계를 구분하면 학습량을 계산할 수 있다.</a:t>
            </a:r>
          </a:p>
        </p:txBody>
      </p:sp>
      <p:sp>
        <p:nvSpPr>
          <p:cNvPr id="9" name="Rectangle 8"/>
          <p:cNvSpPr/>
          <p:nvPr/>
        </p:nvSpPr>
        <p:spPr>
          <a:xfrm>
            <a:off x="640080" y="1819656"/>
            <a:ext cx="658368" cy="50292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713231" y="1856231"/>
            <a:ext cx="512063" cy="429768"/>
          </a:xfrm>
          <a:prstGeom prst="rect">
            <a:avLst/>
          </a:prstGeom>
          <a:noFill/>
        </p:spPr>
        <p:txBody>
          <a:bodyPr wrap="square" lIns="9144" tIns="9144" rIns="9144" bIns="9144" anchor="ctr">
            <a:spAutoFit/>
          </a:bodyPr>
          <a:lstStyle/>
          <a:p>
            <a:pPr algn="ctr">
              <a:lnSpc>
                <a:spcPct val="100000"/>
              </a:lnSpc>
              <a:spcAft>
                <a:spcPts val="0"/>
              </a:spcAft>
            </a:pPr>
            <a:r>
              <a:rPr sz="1250" b="1">
                <a:solidFill>
                  <a:srgbClr val="FFFFFF"/>
                </a:solidFill>
                <a:latin typeface="맑은 고딕"/>
                <a:ea typeface="맑은 고딕"/>
                <a:cs typeface="맑은 고딕"/>
              </a:rPr>
              <a:t>순서</a:t>
            </a:r>
          </a:p>
        </p:txBody>
      </p:sp>
      <p:sp>
        <p:nvSpPr>
          <p:cNvPr id="11" name="Rectangle 10"/>
          <p:cNvSpPr/>
          <p:nvPr/>
        </p:nvSpPr>
        <p:spPr>
          <a:xfrm>
            <a:off x="1298448" y="1819656"/>
            <a:ext cx="1993392" cy="50292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2" name="TextBox 11"/>
          <p:cNvSpPr txBox="1"/>
          <p:nvPr/>
        </p:nvSpPr>
        <p:spPr>
          <a:xfrm>
            <a:off x="1371600" y="1856231"/>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1">
                <a:solidFill>
                  <a:srgbClr val="FFFFFF"/>
                </a:solidFill>
                <a:latin typeface="맑은 고딕"/>
                <a:ea typeface="맑은 고딕"/>
                <a:cs typeface="맑은 고딕"/>
              </a:rPr>
              <a:t>단위</a:t>
            </a:r>
          </a:p>
        </p:txBody>
      </p:sp>
      <p:sp>
        <p:nvSpPr>
          <p:cNvPr id="13" name="Rectangle 12"/>
          <p:cNvSpPr/>
          <p:nvPr/>
        </p:nvSpPr>
        <p:spPr>
          <a:xfrm>
            <a:off x="3291840" y="1819656"/>
            <a:ext cx="8183879" cy="50292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3364992" y="1856231"/>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1">
                <a:solidFill>
                  <a:srgbClr val="FFFFFF"/>
                </a:solidFill>
                <a:latin typeface="맑은 고딕"/>
                <a:ea typeface="맑은 고딕"/>
                <a:cs typeface="맑은 고딕"/>
              </a:rPr>
              <a:t>이 학습에서의 의미</a:t>
            </a:r>
          </a:p>
        </p:txBody>
      </p:sp>
      <p:sp>
        <p:nvSpPr>
          <p:cNvPr id="15" name="Rectangle 14"/>
          <p:cNvSpPr/>
          <p:nvPr/>
        </p:nvSpPr>
        <p:spPr>
          <a:xfrm>
            <a:off x="640080" y="2322576"/>
            <a:ext cx="658368"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6" name="TextBox 15"/>
          <p:cNvSpPr txBox="1"/>
          <p:nvPr/>
        </p:nvSpPr>
        <p:spPr>
          <a:xfrm>
            <a:off x="713231" y="2359152"/>
            <a:ext cx="512063" cy="429768"/>
          </a:xfrm>
          <a:prstGeom prst="rect">
            <a:avLst/>
          </a:prstGeom>
          <a:noFill/>
        </p:spPr>
        <p:txBody>
          <a:bodyPr wrap="square" lIns="9144" tIns="9144" rIns="9144" bIns="9144" anchor="ctr">
            <a:spAutoFit/>
          </a:bodyPr>
          <a:lstStyle/>
          <a:p>
            <a:pPr algn="l">
              <a:lnSpc>
                <a:spcPct val="100000"/>
              </a:lnSpc>
              <a:spcAft>
                <a:spcPts val="0"/>
              </a:spcAft>
            </a:pPr>
            <a:r>
              <a:rPr sz="1250" b="1">
                <a:solidFill>
                  <a:srgbClr val="3A3A3A"/>
                </a:solidFill>
                <a:latin typeface="맑은 고딕"/>
                <a:ea typeface="맑은 고딕"/>
                <a:cs typeface="맑은 고딕"/>
              </a:rPr>
              <a:t>1</a:t>
            </a:r>
          </a:p>
        </p:txBody>
      </p:sp>
      <p:sp>
        <p:nvSpPr>
          <p:cNvPr id="17" name="Rectangle 16"/>
          <p:cNvSpPr/>
          <p:nvPr/>
        </p:nvSpPr>
        <p:spPr>
          <a:xfrm>
            <a:off x="1298448" y="2322576"/>
            <a:ext cx="1993392"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1371600" y="2359152"/>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Transition</a:t>
            </a:r>
          </a:p>
        </p:txBody>
      </p:sp>
      <p:sp>
        <p:nvSpPr>
          <p:cNvPr id="19" name="Rectangle 18"/>
          <p:cNvSpPr/>
          <p:nvPr/>
        </p:nvSpPr>
        <p:spPr>
          <a:xfrm>
            <a:off x="3291840" y="2322576"/>
            <a:ext cx="8183879"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0" name="TextBox 19"/>
          <p:cNvSpPr txBox="1"/>
          <p:nvPr/>
        </p:nvSpPr>
        <p:spPr>
          <a:xfrm>
            <a:off x="3364992" y="2359152"/>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환경 하나에서 행동 1회 → 다음 상태·보상·종료 신호를 얻은 기록</a:t>
            </a:r>
          </a:p>
        </p:txBody>
      </p:sp>
      <p:sp>
        <p:nvSpPr>
          <p:cNvPr id="21" name="Rectangle 20"/>
          <p:cNvSpPr/>
          <p:nvPr/>
        </p:nvSpPr>
        <p:spPr>
          <a:xfrm>
            <a:off x="640080" y="2825496"/>
            <a:ext cx="658368"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p:cNvSpPr txBox="1"/>
          <p:nvPr/>
        </p:nvSpPr>
        <p:spPr>
          <a:xfrm>
            <a:off x="713231" y="2862072"/>
            <a:ext cx="512063" cy="429768"/>
          </a:xfrm>
          <a:prstGeom prst="rect">
            <a:avLst/>
          </a:prstGeom>
          <a:noFill/>
        </p:spPr>
        <p:txBody>
          <a:bodyPr wrap="square" lIns="9144" tIns="9144" rIns="9144" bIns="9144" anchor="ctr">
            <a:spAutoFit/>
          </a:bodyPr>
          <a:lstStyle/>
          <a:p>
            <a:pPr algn="l">
              <a:lnSpc>
                <a:spcPct val="100000"/>
              </a:lnSpc>
              <a:spcAft>
                <a:spcPts val="0"/>
              </a:spcAft>
            </a:pPr>
            <a:r>
              <a:rPr sz="1250" b="1">
                <a:solidFill>
                  <a:srgbClr val="3A3A3A"/>
                </a:solidFill>
                <a:latin typeface="맑은 고딕"/>
                <a:ea typeface="맑은 고딕"/>
                <a:cs typeface="맑은 고딕"/>
              </a:rPr>
              <a:t>2</a:t>
            </a:r>
          </a:p>
        </p:txBody>
      </p:sp>
      <p:sp>
        <p:nvSpPr>
          <p:cNvPr id="23" name="Rectangle 22"/>
          <p:cNvSpPr/>
          <p:nvPr/>
        </p:nvSpPr>
        <p:spPr>
          <a:xfrm>
            <a:off x="1298448" y="2825496"/>
            <a:ext cx="1993392"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4" name="TextBox 23"/>
          <p:cNvSpPr txBox="1"/>
          <p:nvPr/>
        </p:nvSpPr>
        <p:spPr>
          <a:xfrm>
            <a:off x="1371600" y="2862072"/>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Rollout batch</a:t>
            </a:r>
          </a:p>
        </p:txBody>
      </p:sp>
      <p:sp>
        <p:nvSpPr>
          <p:cNvPr id="25" name="Rectangle 24"/>
          <p:cNvSpPr/>
          <p:nvPr/>
        </p:nvSpPr>
        <p:spPr>
          <a:xfrm>
            <a:off x="3291840" y="2825496"/>
            <a:ext cx="8183879"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6" name="TextBox 25"/>
          <p:cNvSpPr txBox="1"/>
          <p:nvPr/>
        </p:nvSpPr>
        <p:spPr>
          <a:xfrm>
            <a:off x="3364992" y="2862072"/>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4,096개 환경 × 24 policy steps = 새 transition 98,304개</a:t>
            </a:r>
          </a:p>
        </p:txBody>
      </p:sp>
      <p:sp>
        <p:nvSpPr>
          <p:cNvPr id="27" name="Rectangle 26"/>
          <p:cNvSpPr/>
          <p:nvPr/>
        </p:nvSpPr>
        <p:spPr>
          <a:xfrm>
            <a:off x="640080" y="3328416"/>
            <a:ext cx="658368"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8" name="TextBox 27"/>
          <p:cNvSpPr txBox="1"/>
          <p:nvPr/>
        </p:nvSpPr>
        <p:spPr>
          <a:xfrm>
            <a:off x="713231" y="3364992"/>
            <a:ext cx="512063" cy="429768"/>
          </a:xfrm>
          <a:prstGeom prst="rect">
            <a:avLst/>
          </a:prstGeom>
          <a:noFill/>
        </p:spPr>
        <p:txBody>
          <a:bodyPr wrap="square" lIns="9144" tIns="9144" rIns="9144" bIns="9144" anchor="ctr">
            <a:spAutoFit/>
          </a:bodyPr>
          <a:lstStyle/>
          <a:p>
            <a:pPr algn="l">
              <a:lnSpc>
                <a:spcPct val="100000"/>
              </a:lnSpc>
              <a:spcAft>
                <a:spcPts val="0"/>
              </a:spcAft>
            </a:pPr>
            <a:r>
              <a:rPr sz="1250" b="1">
                <a:solidFill>
                  <a:srgbClr val="3A3A3A"/>
                </a:solidFill>
                <a:latin typeface="맑은 고딕"/>
                <a:ea typeface="맑은 고딕"/>
                <a:cs typeface="맑은 고딕"/>
              </a:rPr>
              <a:t>3</a:t>
            </a:r>
          </a:p>
        </p:txBody>
      </p:sp>
      <p:sp>
        <p:nvSpPr>
          <p:cNvPr id="29" name="Rectangle 28"/>
          <p:cNvSpPr/>
          <p:nvPr/>
        </p:nvSpPr>
        <p:spPr>
          <a:xfrm>
            <a:off x="1298448" y="3328416"/>
            <a:ext cx="1993392"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0" name="TextBox 29"/>
          <p:cNvSpPr txBox="1"/>
          <p:nvPr/>
        </p:nvSpPr>
        <p:spPr>
          <a:xfrm>
            <a:off x="1371600" y="3364992"/>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Minibatch</a:t>
            </a:r>
          </a:p>
        </p:txBody>
      </p:sp>
      <p:sp>
        <p:nvSpPr>
          <p:cNvPr id="31" name="Rectangle 30"/>
          <p:cNvSpPr/>
          <p:nvPr/>
        </p:nvSpPr>
        <p:spPr>
          <a:xfrm>
            <a:off x="3291840" y="3328416"/>
            <a:ext cx="8183879"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2" name="TextBox 31"/>
          <p:cNvSpPr txBox="1"/>
          <p:nvPr/>
        </p:nvSpPr>
        <p:spPr>
          <a:xfrm>
            <a:off x="3364992" y="3364992"/>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rollout batch를 4묶음으로 분할 → 한 묶음 24,576개</a:t>
            </a:r>
          </a:p>
        </p:txBody>
      </p:sp>
      <p:sp>
        <p:nvSpPr>
          <p:cNvPr id="33" name="Rectangle 32"/>
          <p:cNvSpPr/>
          <p:nvPr/>
        </p:nvSpPr>
        <p:spPr>
          <a:xfrm>
            <a:off x="640080" y="3831336"/>
            <a:ext cx="658368"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4" name="TextBox 33"/>
          <p:cNvSpPr txBox="1"/>
          <p:nvPr/>
        </p:nvSpPr>
        <p:spPr>
          <a:xfrm>
            <a:off x="713231" y="3867912"/>
            <a:ext cx="512063" cy="429768"/>
          </a:xfrm>
          <a:prstGeom prst="rect">
            <a:avLst/>
          </a:prstGeom>
          <a:noFill/>
        </p:spPr>
        <p:txBody>
          <a:bodyPr wrap="square" lIns="9144" tIns="9144" rIns="9144" bIns="9144" anchor="ctr">
            <a:spAutoFit/>
          </a:bodyPr>
          <a:lstStyle/>
          <a:p>
            <a:pPr algn="l">
              <a:lnSpc>
                <a:spcPct val="100000"/>
              </a:lnSpc>
              <a:spcAft>
                <a:spcPts val="0"/>
              </a:spcAft>
            </a:pPr>
            <a:r>
              <a:rPr sz="1250" b="1">
                <a:solidFill>
                  <a:srgbClr val="3A3A3A"/>
                </a:solidFill>
                <a:latin typeface="맑은 고딕"/>
                <a:ea typeface="맑은 고딕"/>
                <a:cs typeface="맑은 고딕"/>
              </a:rPr>
              <a:t>4</a:t>
            </a:r>
          </a:p>
        </p:txBody>
      </p:sp>
      <p:sp>
        <p:nvSpPr>
          <p:cNvPr id="35" name="Rectangle 34"/>
          <p:cNvSpPr/>
          <p:nvPr/>
        </p:nvSpPr>
        <p:spPr>
          <a:xfrm>
            <a:off x="1298448" y="3831336"/>
            <a:ext cx="1993392"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6" name="TextBox 35"/>
          <p:cNvSpPr txBox="1"/>
          <p:nvPr/>
        </p:nvSpPr>
        <p:spPr>
          <a:xfrm>
            <a:off x="1371600" y="3867912"/>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Optimizer update</a:t>
            </a:r>
          </a:p>
        </p:txBody>
      </p:sp>
      <p:sp>
        <p:nvSpPr>
          <p:cNvPr id="37" name="Rectangle 36"/>
          <p:cNvSpPr/>
          <p:nvPr/>
        </p:nvSpPr>
        <p:spPr>
          <a:xfrm>
            <a:off x="3291840" y="3831336"/>
            <a:ext cx="8183879"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8" name="TextBox 37"/>
          <p:cNvSpPr txBox="1"/>
          <p:nvPr/>
        </p:nvSpPr>
        <p:spPr>
          <a:xfrm>
            <a:off x="3364992" y="3867912"/>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minibatch 하나로 손실·gradient를 계산하고 파라미터 1회 갱신</a:t>
            </a:r>
          </a:p>
        </p:txBody>
      </p:sp>
      <p:sp>
        <p:nvSpPr>
          <p:cNvPr id="39" name="Rectangle 38"/>
          <p:cNvSpPr/>
          <p:nvPr/>
        </p:nvSpPr>
        <p:spPr>
          <a:xfrm>
            <a:off x="640080" y="4334256"/>
            <a:ext cx="658368"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0" name="TextBox 39"/>
          <p:cNvSpPr txBox="1"/>
          <p:nvPr/>
        </p:nvSpPr>
        <p:spPr>
          <a:xfrm>
            <a:off x="713231" y="4370832"/>
            <a:ext cx="512063" cy="429768"/>
          </a:xfrm>
          <a:prstGeom prst="rect">
            <a:avLst/>
          </a:prstGeom>
          <a:noFill/>
        </p:spPr>
        <p:txBody>
          <a:bodyPr wrap="square" lIns="9144" tIns="9144" rIns="9144" bIns="9144" anchor="ctr">
            <a:spAutoFit/>
          </a:bodyPr>
          <a:lstStyle/>
          <a:p>
            <a:pPr algn="l">
              <a:lnSpc>
                <a:spcPct val="100000"/>
              </a:lnSpc>
              <a:spcAft>
                <a:spcPts val="0"/>
              </a:spcAft>
            </a:pPr>
            <a:r>
              <a:rPr sz="1250" b="1">
                <a:solidFill>
                  <a:srgbClr val="3A3A3A"/>
                </a:solidFill>
                <a:latin typeface="맑은 고딕"/>
                <a:ea typeface="맑은 고딕"/>
                <a:cs typeface="맑은 고딕"/>
              </a:rPr>
              <a:t>5</a:t>
            </a:r>
          </a:p>
        </p:txBody>
      </p:sp>
      <p:sp>
        <p:nvSpPr>
          <p:cNvPr id="41" name="Rectangle 40"/>
          <p:cNvSpPr/>
          <p:nvPr/>
        </p:nvSpPr>
        <p:spPr>
          <a:xfrm>
            <a:off x="1298448" y="4334256"/>
            <a:ext cx="1993392"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2" name="TextBox 41"/>
          <p:cNvSpPr txBox="1"/>
          <p:nvPr/>
        </p:nvSpPr>
        <p:spPr>
          <a:xfrm>
            <a:off x="1371600" y="4370832"/>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Epoch</a:t>
            </a:r>
          </a:p>
        </p:txBody>
      </p:sp>
      <p:sp>
        <p:nvSpPr>
          <p:cNvPr id="43" name="Rectangle 42"/>
          <p:cNvSpPr/>
          <p:nvPr/>
        </p:nvSpPr>
        <p:spPr>
          <a:xfrm>
            <a:off x="3291840" y="4334256"/>
            <a:ext cx="8183879" cy="50292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4" name="TextBox 43"/>
          <p:cNvSpPr txBox="1"/>
          <p:nvPr/>
        </p:nvSpPr>
        <p:spPr>
          <a:xfrm>
            <a:off x="3364992" y="4370832"/>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현재 rollout batch의 4개 minibatch를 모두 학습 → update 4회</a:t>
            </a:r>
          </a:p>
        </p:txBody>
      </p:sp>
      <p:sp>
        <p:nvSpPr>
          <p:cNvPr id="45" name="Rectangle 44"/>
          <p:cNvSpPr/>
          <p:nvPr/>
        </p:nvSpPr>
        <p:spPr>
          <a:xfrm>
            <a:off x="640080" y="4837176"/>
            <a:ext cx="658368"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6" name="TextBox 45"/>
          <p:cNvSpPr txBox="1"/>
          <p:nvPr/>
        </p:nvSpPr>
        <p:spPr>
          <a:xfrm>
            <a:off x="713231" y="4873752"/>
            <a:ext cx="512063" cy="429768"/>
          </a:xfrm>
          <a:prstGeom prst="rect">
            <a:avLst/>
          </a:prstGeom>
          <a:noFill/>
        </p:spPr>
        <p:txBody>
          <a:bodyPr wrap="square" lIns="9144" tIns="9144" rIns="9144" bIns="9144" anchor="ctr">
            <a:spAutoFit/>
          </a:bodyPr>
          <a:lstStyle/>
          <a:p>
            <a:pPr algn="l">
              <a:lnSpc>
                <a:spcPct val="100000"/>
              </a:lnSpc>
              <a:spcAft>
                <a:spcPts val="0"/>
              </a:spcAft>
            </a:pPr>
            <a:r>
              <a:rPr sz="1250" b="1">
                <a:solidFill>
                  <a:srgbClr val="3A3A3A"/>
                </a:solidFill>
                <a:latin typeface="맑은 고딕"/>
                <a:ea typeface="맑은 고딕"/>
                <a:cs typeface="맑은 고딕"/>
              </a:rPr>
              <a:t>6</a:t>
            </a:r>
          </a:p>
        </p:txBody>
      </p:sp>
      <p:sp>
        <p:nvSpPr>
          <p:cNvPr id="47" name="Rectangle 46"/>
          <p:cNvSpPr/>
          <p:nvPr/>
        </p:nvSpPr>
        <p:spPr>
          <a:xfrm>
            <a:off x="1298448" y="4837176"/>
            <a:ext cx="1993392"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8" name="TextBox 47"/>
          <p:cNvSpPr txBox="1"/>
          <p:nvPr/>
        </p:nvSpPr>
        <p:spPr>
          <a:xfrm>
            <a:off x="1371600" y="4873752"/>
            <a:ext cx="1847088"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Iteration</a:t>
            </a:r>
          </a:p>
        </p:txBody>
      </p:sp>
      <p:sp>
        <p:nvSpPr>
          <p:cNvPr id="49" name="Rectangle 48"/>
          <p:cNvSpPr/>
          <p:nvPr/>
        </p:nvSpPr>
        <p:spPr>
          <a:xfrm>
            <a:off x="3291840" y="4837176"/>
            <a:ext cx="8183879" cy="50292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50" name="TextBox 49"/>
          <p:cNvSpPr txBox="1"/>
          <p:nvPr/>
        </p:nvSpPr>
        <p:spPr>
          <a:xfrm>
            <a:off x="3364992" y="4873752"/>
            <a:ext cx="8037575" cy="429768"/>
          </a:xfrm>
          <a:prstGeom prst="rect">
            <a:avLst/>
          </a:prstGeom>
          <a:noFill/>
        </p:spPr>
        <p:txBody>
          <a:bodyPr wrap="square" lIns="9144" tIns="9144" rIns="9144" bIns="9144" anchor="ctr">
            <a:spAutoFit/>
          </a:bodyPr>
          <a:lstStyle/>
          <a:p>
            <a:pPr algn="ctr">
              <a:lnSpc>
                <a:spcPct val="100000"/>
              </a:lnSpc>
              <a:spcAft>
                <a:spcPts val="0"/>
              </a:spcAft>
            </a:pPr>
            <a:r>
              <a:rPr sz="1250" b="0">
                <a:solidFill>
                  <a:srgbClr val="3A3A3A"/>
                </a:solidFill>
                <a:latin typeface="맑은 고딕"/>
                <a:ea typeface="맑은 고딕"/>
                <a:cs typeface="맑은 고딕"/>
              </a:rPr>
              <a:t>새 rollout 수집 + 같은 batch를 5 epochs 학습 → update 20회</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lnSpc>
                <a:spcPct val="100000"/>
              </a:lnSpc>
              <a:spcAft>
                <a:spcPts val="0"/>
              </a:spcAft>
            </a:pPr>
            <a:r>
              <a:rPr sz="2800" b="1">
                <a:solidFill>
                  <a:srgbClr val="111111"/>
                </a:solidFill>
                <a:latin typeface="맑은 고딕"/>
                <a:ea typeface="맑은 고딕"/>
                <a:cs typeface="맑은 고딕"/>
              </a:rPr>
              <a:t>36 | Appendix A3 · 71500의 학습량</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lnSpc>
                <a:spcPct val="100000"/>
              </a:lnSpc>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lnSpc>
                <a:spcPct val="100000"/>
              </a:lnSpc>
              <a:spcAft>
                <a:spcPts val="0"/>
              </a:spcAft>
            </a:pPr>
            <a:r>
              <a:rPr sz="720" b="0">
                <a:solidFill>
                  <a:srgbClr val="686868"/>
                </a:solidFill>
                <a:latin typeface="맑은 고딕"/>
                <a:ea typeface="맑은 고딕"/>
                <a:cs typeface="맑은 고딕"/>
              </a:rPr>
              <a:t>1) JT metrics.jsonl: iterations 43000–71500 inclusive; teacher_runner.py checkpoint timing.</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lnSpc>
                <a:spcPct val="100000"/>
              </a:lnSpc>
              <a:spcAft>
                <a:spcPts val="0"/>
              </a:spcAft>
            </a:pPr>
            <a:r>
              <a:rPr sz="900" b="1">
                <a:solidFill>
                  <a:srgbClr val="686868"/>
                </a:solidFill>
                <a:latin typeface="맑은 고딕"/>
                <a:ea typeface="맑은 고딕"/>
                <a:cs typeface="맑은 고딕"/>
              </a:rPr>
              <a:t>36 / 43</a:t>
            </a:r>
          </a:p>
        </p:txBody>
      </p:sp>
      <p:sp>
        <p:nvSpPr>
          <p:cNvPr id="8"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lnSpc>
                <a:spcPct val="100000"/>
              </a:lnSpc>
              <a:spcAft>
                <a:spcPts val="0"/>
              </a:spcAft>
            </a:pPr>
            <a:r>
              <a:rPr sz="1400" b="0" dirty="0">
                <a:solidFill>
                  <a:srgbClr val="3A3A3A"/>
                </a:solidFill>
                <a:latin typeface="맑은 고딕"/>
                <a:ea typeface="맑은 고딕"/>
                <a:cs typeface="맑은 고딕"/>
              </a:rPr>
              <a:t>71500은 </a:t>
            </a:r>
            <a:r>
              <a:rPr sz="1400" b="0" dirty="0" err="1">
                <a:solidFill>
                  <a:srgbClr val="3A3A3A"/>
                </a:solidFill>
                <a:latin typeface="맑은 고딕"/>
                <a:ea typeface="맑은 고딕"/>
                <a:cs typeface="맑은 고딕"/>
              </a:rPr>
              <a:t>checkpoint의</a:t>
            </a:r>
            <a:r>
              <a:rPr sz="1400" b="0" dirty="0">
                <a:solidFill>
                  <a:srgbClr val="3A3A3A"/>
                </a:solidFill>
                <a:latin typeface="맑은 고딕"/>
                <a:ea typeface="맑은 고딕"/>
                <a:cs typeface="맑은 고딕"/>
              </a:rPr>
              <a:t> global iteration </a:t>
            </a:r>
            <a:r>
              <a:rPr sz="1400" b="0" dirty="0" err="1">
                <a:solidFill>
                  <a:srgbClr val="3A3A3A"/>
                </a:solidFill>
                <a:latin typeface="맑은 고딕"/>
                <a:ea typeface="맑은 고딕"/>
                <a:cs typeface="맑은 고딕"/>
              </a:rPr>
              <a:t>번호다</a:t>
            </a:r>
            <a:r>
              <a:rPr sz="1400" b="0" dirty="0">
                <a:solidFill>
                  <a:srgbClr val="3A3A3A"/>
                </a:solidFill>
                <a:latin typeface="맑은 고딕"/>
                <a:ea typeface="맑은 고딕"/>
                <a:cs typeface="맑은 고딕"/>
              </a:rPr>
              <a:t>. Transition </a:t>
            </a:r>
            <a:r>
              <a:rPr sz="1400" b="0" dirty="0" err="1">
                <a:solidFill>
                  <a:srgbClr val="3A3A3A"/>
                </a:solidFill>
                <a:latin typeface="맑은 고딕"/>
                <a:ea typeface="맑은 고딕"/>
                <a:cs typeface="맑은 고딕"/>
              </a:rPr>
              <a:t>수나</a:t>
            </a:r>
            <a:r>
              <a:rPr sz="1400" b="0" dirty="0">
                <a:solidFill>
                  <a:srgbClr val="3A3A3A"/>
                </a:solidFill>
                <a:latin typeface="맑은 고딕"/>
                <a:ea typeface="맑은 고딕"/>
                <a:cs typeface="맑은 고딕"/>
              </a:rPr>
              <a:t> epoch </a:t>
            </a:r>
            <a:r>
              <a:rPr sz="1400" b="0" dirty="0" err="1">
                <a:solidFill>
                  <a:srgbClr val="3A3A3A"/>
                </a:solidFill>
                <a:latin typeface="맑은 고딕"/>
                <a:ea typeface="맑은 고딕"/>
                <a:cs typeface="맑은 고딕"/>
              </a:rPr>
              <a:t>수를</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뜻하지</a:t>
            </a:r>
            <a:r>
              <a:rPr sz="1400" b="0" dirty="0">
                <a:solidFill>
                  <a:srgbClr val="3A3A3A"/>
                </a:solidFill>
                <a:latin typeface="맑은 고딕"/>
                <a:ea typeface="맑은 고딕"/>
                <a:cs typeface="맑은 고딕"/>
              </a:rPr>
              <a:t> </a:t>
            </a:r>
            <a:r>
              <a:rPr sz="1400" b="0" dirty="0" err="1">
                <a:solidFill>
                  <a:srgbClr val="3A3A3A"/>
                </a:solidFill>
                <a:latin typeface="맑은 고딕"/>
                <a:ea typeface="맑은 고딕"/>
                <a:cs typeface="맑은 고딕"/>
              </a:rPr>
              <a:t>않는다</a:t>
            </a:r>
            <a:r>
              <a:rPr sz="1400" b="0" dirty="0">
                <a:solidFill>
                  <a:srgbClr val="3A3A3A"/>
                </a:solidFill>
                <a:latin typeface="맑은 고딕"/>
                <a:ea typeface="맑은 고딕"/>
                <a:cs typeface="맑은 고딕"/>
              </a:rPr>
              <a:t>.</a:t>
            </a:r>
          </a:p>
        </p:txBody>
      </p:sp>
      <p:sp>
        <p:nvSpPr>
          <p:cNvPr id="9" name="Rectangle 8"/>
          <p:cNvSpPr/>
          <p:nvPr/>
        </p:nvSpPr>
        <p:spPr>
          <a:xfrm>
            <a:off x="658368" y="1847088"/>
            <a:ext cx="2029968" cy="48463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0" name="TextBox 9"/>
          <p:cNvSpPr txBox="1"/>
          <p:nvPr/>
        </p:nvSpPr>
        <p:spPr>
          <a:xfrm>
            <a:off x="731519" y="1883664"/>
            <a:ext cx="1883664" cy="411480"/>
          </a:xfrm>
          <a:prstGeom prst="rect">
            <a:avLst/>
          </a:prstGeom>
          <a:noFill/>
        </p:spPr>
        <p:txBody>
          <a:bodyPr wrap="square" lIns="9144" tIns="9144" rIns="9144" bIns="9144" anchor="ctr">
            <a:spAutoFit/>
          </a:bodyPr>
          <a:lstStyle/>
          <a:p>
            <a:pPr algn="ctr">
              <a:lnSpc>
                <a:spcPct val="100000"/>
              </a:lnSpc>
              <a:spcAft>
                <a:spcPts val="0"/>
              </a:spcAft>
            </a:pPr>
            <a:r>
              <a:rPr sz="1260" b="1">
                <a:solidFill>
                  <a:srgbClr val="FFFFFF"/>
                </a:solidFill>
                <a:latin typeface="맑은 고딕"/>
                <a:ea typeface="맑은 고딕"/>
                <a:cs typeface="맑은 고딕"/>
              </a:rPr>
              <a:t>항목</a:t>
            </a:r>
          </a:p>
        </p:txBody>
      </p:sp>
      <p:sp>
        <p:nvSpPr>
          <p:cNvPr id="11" name="Rectangle 10"/>
          <p:cNvSpPr/>
          <p:nvPr/>
        </p:nvSpPr>
        <p:spPr>
          <a:xfrm>
            <a:off x="2688336" y="1847088"/>
            <a:ext cx="8887968" cy="48463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2" name="TextBox 11"/>
          <p:cNvSpPr txBox="1"/>
          <p:nvPr/>
        </p:nvSpPr>
        <p:spPr>
          <a:xfrm>
            <a:off x="2761488" y="1883664"/>
            <a:ext cx="8741664" cy="411480"/>
          </a:xfrm>
          <a:prstGeom prst="rect">
            <a:avLst/>
          </a:prstGeom>
          <a:noFill/>
        </p:spPr>
        <p:txBody>
          <a:bodyPr wrap="square" lIns="9144" tIns="9144" rIns="9144" bIns="9144" anchor="ctr">
            <a:spAutoFit/>
          </a:bodyPr>
          <a:lstStyle/>
          <a:p>
            <a:pPr algn="ctr">
              <a:lnSpc>
                <a:spcPct val="100000"/>
              </a:lnSpc>
              <a:spcAft>
                <a:spcPts val="0"/>
              </a:spcAft>
            </a:pPr>
            <a:r>
              <a:rPr sz="1260" b="1">
                <a:solidFill>
                  <a:srgbClr val="FFFFFF"/>
                </a:solidFill>
                <a:latin typeface="맑은 고딕"/>
                <a:ea typeface="맑은 고딕"/>
                <a:cs typeface="맑은 고딕"/>
              </a:rPr>
              <a:t>계산 및 의미</a:t>
            </a:r>
          </a:p>
        </p:txBody>
      </p:sp>
      <p:sp>
        <p:nvSpPr>
          <p:cNvPr id="13" name="Rectangle 12"/>
          <p:cNvSpPr/>
          <p:nvPr/>
        </p:nvSpPr>
        <p:spPr>
          <a:xfrm>
            <a:off x="658368" y="2331720"/>
            <a:ext cx="2029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4" name="TextBox 13"/>
          <p:cNvSpPr txBox="1"/>
          <p:nvPr/>
        </p:nvSpPr>
        <p:spPr>
          <a:xfrm>
            <a:off x="731519" y="2368296"/>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초기화</a:t>
            </a:r>
          </a:p>
        </p:txBody>
      </p:sp>
      <p:sp>
        <p:nvSpPr>
          <p:cNvPr id="15" name="Rectangle 14"/>
          <p:cNvSpPr/>
          <p:nvPr/>
        </p:nvSpPr>
        <p:spPr>
          <a:xfrm>
            <a:off x="2688336" y="2331720"/>
            <a:ext cx="8887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6" name="TextBox 15"/>
          <p:cNvSpPr txBox="1"/>
          <p:nvPr/>
        </p:nvSpPr>
        <p:spPr>
          <a:xfrm>
            <a:off x="2761488" y="2368296"/>
            <a:ext cx="8741664" cy="411480"/>
          </a:xfrm>
          <a:prstGeom prst="rect">
            <a:avLst/>
          </a:prstGeom>
          <a:noFill/>
        </p:spPr>
        <p:txBody>
          <a:bodyPr wrap="square" lIns="9144" tIns="9144" rIns="9144" bIns="9144" anchor="ctr">
            <a:spAutoFit/>
          </a:bodyPr>
          <a:lstStyle/>
          <a:p>
            <a:pPr algn="ctr">
              <a:lnSpc>
                <a:spcPct val="100000"/>
              </a:lnSpc>
              <a:spcAft>
                <a:spcPts val="0"/>
              </a:spcAft>
            </a:pPr>
            <a:r>
              <a:rPr sz="1260" b="0">
                <a:solidFill>
                  <a:srgbClr val="3A3A3A"/>
                </a:solidFill>
                <a:latin typeface="맑은 고딕"/>
                <a:ea typeface="맑은 고딕"/>
                <a:cs typeface="맑은 고딕"/>
              </a:rPr>
              <a:t>TF43000의 네트워크로 시작 · Student 신규 초기화 · optimizer 재설정</a:t>
            </a:r>
          </a:p>
        </p:txBody>
      </p:sp>
      <p:sp>
        <p:nvSpPr>
          <p:cNvPr id="17" name="Rectangle 16"/>
          <p:cNvSpPr/>
          <p:nvPr/>
        </p:nvSpPr>
        <p:spPr>
          <a:xfrm>
            <a:off x="658368" y="2816352"/>
            <a:ext cx="2029968" cy="48463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18" name="TextBox 17"/>
          <p:cNvSpPr txBox="1"/>
          <p:nvPr/>
        </p:nvSpPr>
        <p:spPr>
          <a:xfrm>
            <a:off x="731519" y="2852928"/>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번호 차이</a:t>
            </a:r>
          </a:p>
        </p:txBody>
      </p:sp>
      <p:sp>
        <p:nvSpPr>
          <p:cNvPr id="19" name="Rectangle 18"/>
          <p:cNvSpPr/>
          <p:nvPr/>
        </p:nvSpPr>
        <p:spPr>
          <a:xfrm>
            <a:off x="2688336" y="2816352"/>
            <a:ext cx="8887968" cy="48463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20" name="TextBox 19"/>
              <p:cNvSpPr txBox="1"/>
              <p:nvPr/>
            </p:nvSpPr>
            <p:spPr>
              <a:xfrm>
                <a:off x="2761488" y="2852928"/>
                <a:ext cx="8741664" cy="411480"/>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m:rPr>
                          <m:nor/>
                        </m:rPr>
                        <a:rPr lang="ko-KR" sz="1400" b="0" i="0">
                          <a:solidFill>
                            <a:srgbClr val="222222"/>
                          </a:solidFill>
                          <a:latin typeface="맑은 고딕"/>
                          <a:ea typeface="맑은 고딕"/>
                          <a:cs typeface="맑은 고딕"/>
                        </a:rPr>
                        <m:t>71,500 − 43,000 = 28,500</m:t>
                      </m:r>
                    </m:oMath>
                  </m:oMathPara>
                </a14:m>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2761488" y="2852928"/>
                <a:ext cx="8741664" cy="411480"/>
              </a:xfrm>
              <a:prstGeom prst="rect">
                <a:avLst/>
              </a:prstGeom>
              <a:blipFill>
                <a:blip r:embed="rId3"/>
                <a:stretch>
                  <a:fillRect/>
                </a:stretch>
              </a:blipFill>
            </p:spPr>
            <p:txBody>
              <a:bodyPr/>
              <a:lstStyle/>
              <a:p>
                <a:r>
                  <a:rPr lang="ko-KR" altLang="en-US">
                    <a:noFill/>
                  </a:rPr>
                  <a:t> </a:t>
                </a:r>
              </a:p>
            </p:txBody>
          </p:sp>
        </mc:Fallback>
      </mc:AlternateContent>
      <p:sp>
        <p:nvSpPr>
          <p:cNvPr id="21" name="Rectangle 20"/>
          <p:cNvSpPr/>
          <p:nvPr/>
        </p:nvSpPr>
        <p:spPr>
          <a:xfrm>
            <a:off x="658368" y="3300984"/>
            <a:ext cx="2029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2" name="TextBox 21"/>
          <p:cNvSpPr txBox="1"/>
          <p:nvPr/>
        </p:nvSpPr>
        <p:spPr>
          <a:xfrm>
            <a:off x="731519" y="3337560"/>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실제 완료 횟수</a:t>
            </a:r>
          </a:p>
        </p:txBody>
      </p:sp>
      <p:sp>
        <p:nvSpPr>
          <p:cNvPr id="23" name="Rectangle 22"/>
          <p:cNvSpPr/>
          <p:nvPr/>
        </p:nvSpPr>
        <p:spPr>
          <a:xfrm>
            <a:off x="2688336" y="3300984"/>
            <a:ext cx="8887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4" name="TextBox 23"/>
          <p:cNvSpPr txBox="1"/>
          <p:nvPr/>
        </p:nvSpPr>
        <p:spPr>
          <a:xfrm>
            <a:off x="2761488" y="3337560"/>
            <a:ext cx="8741664" cy="411480"/>
          </a:xfrm>
          <a:prstGeom prst="rect">
            <a:avLst/>
          </a:prstGeom>
          <a:noFill/>
        </p:spPr>
        <p:txBody>
          <a:bodyPr wrap="square" lIns="9144" tIns="9144" rIns="9144" bIns="9144" anchor="ctr">
            <a:spAutoFit/>
          </a:bodyPr>
          <a:lstStyle/>
          <a:p>
            <a:pPr algn="ctr">
              <a:lnSpc>
                <a:spcPct val="100000"/>
              </a:lnSpc>
              <a:spcAft>
                <a:spcPts val="0"/>
              </a:spcAft>
            </a:pPr>
            <a:r>
              <a:rPr sz="1260" b="0">
                <a:solidFill>
                  <a:srgbClr val="3A3A3A"/>
                </a:solidFill>
                <a:latin typeface="맑은 고딕"/>
                <a:ea typeface="맑은 고딕"/>
                <a:cs typeface="맑은 고딕"/>
              </a:rPr>
              <a:t>43,000번 반복 직후에도 저장 → 43,000~71,500 포함 28,501회</a:t>
            </a:r>
          </a:p>
        </p:txBody>
      </p:sp>
      <p:sp>
        <p:nvSpPr>
          <p:cNvPr id="25" name="Rectangle 24"/>
          <p:cNvSpPr/>
          <p:nvPr/>
        </p:nvSpPr>
        <p:spPr>
          <a:xfrm>
            <a:off x="658368" y="3785616"/>
            <a:ext cx="2029968" cy="48463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26" name="TextBox 25"/>
          <p:cNvSpPr txBox="1"/>
          <p:nvPr/>
        </p:nvSpPr>
        <p:spPr>
          <a:xfrm>
            <a:off x="731519" y="3822192"/>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새 transitions</a:t>
            </a:r>
          </a:p>
        </p:txBody>
      </p:sp>
      <p:sp>
        <p:nvSpPr>
          <p:cNvPr id="27" name="Rectangle 26"/>
          <p:cNvSpPr/>
          <p:nvPr/>
        </p:nvSpPr>
        <p:spPr>
          <a:xfrm>
            <a:off x="2688336" y="3785616"/>
            <a:ext cx="8887968" cy="48463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28" name="TextBox 27"/>
              <p:cNvSpPr txBox="1"/>
              <p:nvPr/>
            </p:nvSpPr>
            <p:spPr>
              <a:xfrm>
                <a:off x="2761488" y="3822192"/>
                <a:ext cx="8741664" cy="411480"/>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m:rPr>
                          <m:nor/>
                        </m:rPr>
                        <a:rPr lang="ko-KR" sz="1400" b="0" i="0">
                          <a:solidFill>
                            <a:srgbClr val="222222"/>
                          </a:solidFill>
                          <a:latin typeface="맑은 고딕"/>
                          <a:ea typeface="맑은 고딕"/>
                          <a:cs typeface="맑은 고딕"/>
                        </a:rPr>
                        <m:t>28,501 × 98,304 = 2,801,762,304</m:t>
                      </m:r>
                    </m:oMath>
                  </m:oMathPara>
                </a14:m>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2761488" y="3822192"/>
                <a:ext cx="8741664" cy="411480"/>
              </a:xfrm>
              <a:prstGeom prst="rect">
                <a:avLst/>
              </a:prstGeom>
              <a:blipFill>
                <a:blip r:embed="rId4"/>
                <a:stretch>
                  <a:fillRect/>
                </a:stretch>
              </a:blipFill>
            </p:spPr>
            <p:txBody>
              <a:bodyPr/>
              <a:lstStyle/>
              <a:p>
                <a:r>
                  <a:rPr lang="ko-KR" altLang="en-US">
                    <a:noFill/>
                  </a:rPr>
                  <a:t> </a:t>
                </a:r>
              </a:p>
            </p:txBody>
          </p:sp>
        </mc:Fallback>
      </mc:AlternateContent>
      <p:sp>
        <p:nvSpPr>
          <p:cNvPr id="29" name="Rectangle 28"/>
          <p:cNvSpPr/>
          <p:nvPr/>
        </p:nvSpPr>
        <p:spPr>
          <a:xfrm>
            <a:off x="658368" y="4270248"/>
            <a:ext cx="2029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0" name="TextBox 29"/>
          <p:cNvSpPr txBox="1"/>
          <p:nvPr/>
        </p:nvSpPr>
        <p:spPr>
          <a:xfrm>
            <a:off x="731519" y="4306824"/>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PPO epochs 합계</a:t>
            </a:r>
          </a:p>
        </p:txBody>
      </p:sp>
      <p:sp>
        <p:nvSpPr>
          <p:cNvPr id="31" name="Rectangle 30"/>
          <p:cNvSpPr/>
          <p:nvPr/>
        </p:nvSpPr>
        <p:spPr>
          <a:xfrm>
            <a:off x="2688336" y="4270248"/>
            <a:ext cx="8887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32" name="TextBox 31"/>
              <p:cNvSpPr txBox="1"/>
              <p:nvPr/>
            </p:nvSpPr>
            <p:spPr>
              <a:xfrm>
                <a:off x="2761488" y="4306824"/>
                <a:ext cx="8741664" cy="411480"/>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m:rPr>
                          <m:nor/>
                        </m:rPr>
                        <a:rPr lang="ko-KR" sz="1400" b="0" i="0">
                          <a:solidFill>
                            <a:srgbClr val="222222"/>
                          </a:solidFill>
                          <a:latin typeface="맑은 고딕"/>
                          <a:ea typeface="맑은 고딕"/>
                          <a:cs typeface="맑은 고딕"/>
                        </a:rPr>
                        <m:t>28,501 × 5 = 142,505</m:t>
                      </m:r>
                    </m:oMath>
                  </m:oMathPara>
                </a14:m>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2761488" y="4306824"/>
                <a:ext cx="8741664" cy="411480"/>
              </a:xfrm>
              <a:prstGeom prst="rect">
                <a:avLst/>
              </a:prstGeom>
              <a:blipFill>
                <a:blip r:embed="rId5"/>
                <a:stretch>
                  <a:fillRect/>
                </a:stretch>
              </a:blipFill>
            </p:spPr>
            <p:txBody>
              <a:bodyPr/>
              <a:lstStyle/>
              <a:p>
                <a:r>
                  <a:rPr lang="ko-KR" altLang="en-US">
                    <a:noFill/>
                  </a:rPr>
                  <a:t> </a:t>
                </a:r>
              </a:p>
            </p:txBody>
          </p:sp>
        </mc:Fallback>
      </mc:AlternateContent>
      <p:sp>
        <p:nvSpPr>
          <p:cNvPr id="33" name="Rectangle 32"/>
          <p:cNvSpPr/>
          <p:nvPr/>
        </p:nvSpPr>
        <p:spPr>
          <a:xfrm>
            <a:off x="658368" y="4754880"/>
            <a:ext cx="2029968" cy="48463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4" name="TextBox 33"/>
          <p:cNvSpPr txBox="1"/>
          <p:nvPr/>
        </p:nvSpPr>
        <p:spPr>
          <a:xfrm>
            <a:off x="731519" y="4791456"/>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Optimizer updates</a:t>
            </a:r>
          </a:p>
        </p:txBody>
      </p:sp>
      <p:sp>
        <p:nvSpPr>
          <p:cNvPr id="35" name="Rectangle 34"/>
          <p:cNvSpPr/>
          <p:nvPr/>
        </p:nvSpPr>
        <p:spPr>
          <a:xfrm>
            <a:off x="2688336" y="4754880"/>
            <a:ext cx="8887968" cy="48463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mc:AlternateContent xmlns:mc="http://schemas.openxmlformats.org/markup-compatibility/2006" xmlns:a14="http://schemas.microsoft.com/office/drawing/2010/main">
        <mc:Choice Requires="a14">
          <p:sp>
            <p:nvSpPr>
              <p:cNvPr id="36" name="TextBox 35"/>
              <p:cNvSpPr txBox="1"/>
              <p:nvPr/>
            </p:nvSpPr>
            <p:spPr>
              <a:xfrm>
                <a:off x="2761488" y="4791456"/>
                <a:ext cx="8741664" cy="411480"/>
              </a:xfrm>
              <a:prstGeom prst="rect">
                <a:avLst/>
              </a:prstGeom>
              <a:noFill/>
            </p:spPr>
            <p:txBody>
              <a:bodyPr wrap="none" lIns="18288" tIns="9144" rIns="18288" bIns="9144" anchor="ctr">
                <a:spAutoFit/>
              </a:bodyPr>
              <a:lstStyle/>
              <a:p>
                <a:pPr algn="ctr">
                  <a:lnSpc>
                    <a:spcPct val="100000"/>
                  </a:lnSpc>
                  <a:spcAft>
                    <a:spcPts val="0"/>
                  </a:spcAft>
                </a:pPr>
                <a14:m>
                  <m:oMathPara xmlns:m="http://schemas.openxmlformats.org/officeDocument/2006/math">
                    <m:oMath>
                      <m:r>
                        <m:rPr>
                          <m:nor/>
                        </m:rPr>
                        <a:rPr lang="ko-KR" sz="1400" b="0" i="0">
                          <a:solidFill>
                            <a:srgbClr val="222222"/>
                          </a:solidFill>
                          <a:latin typeface="맑은 고딕"/>
                          <a:ea typeface="맑은 고딕"/>
                          <a:cs typeface="맑은 고딕"/>
                        </a:rPr>
                        <m:t>28,501 × 5 × 4 = 570,020</m:t>
                      </m:r>
                    </m:oMath>
                  </m:oMathPara>
                </a14:m>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2761488" y="4791456"/>
                <a:ext cx="8741664" cy="411480"/>
              </a:xfrm>
              <a:prstGeom prst="rect">
                <a:avLst/>
              </a:prstGeom>
              <a:blipFill>
                <a:blip r:embed="rId6"/>
                <a:stretch>
                  <a:fillRect/>
                </a:stretch>
              </a:blipFill>
            </p:spPr>
            <p:txBody>
              <a:bodyPr/>
              <a:lstStyle/>
              <a:p>
                <a:r>
                  <a:rPr lang="ko-KR" altLang="en-US">
                    <a:noFill/>
                  </a:rPr>
                  <a:t> </a:t>
                </a:r>
              </a:p>
            </p:txBody>
          </p:sp>
        </mc:Fallback>
      </mc:AlternateContent>
      <p:sp>
        <p:nvSpPr>
          <p:cNvPr id="37" name="Rectangle 36"/>
          <p:cNvSpPr/>
          <p:nvPr/>
        </p:nvSpPr>
        <p:spPr>
          <a:xfrm>
            <a:off x="658368" y="5239512"/>
            <a:ext cx="2029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38" name="TextBox 37"/>
          <p:cNvSpPr txBox="1"/>
          <p:nvPr/>
        </p:nvSpPr>
        <p:spPr>
          <a:xfrm>
            <a:off x="731519" y="5276088"/>
            <a:ext cx="1883664" cy="411480"/>
          </a:xfrm>
          <a:prstGeom prst="rect">
            <a:avLst/>
          </a:prstGeom>
          <a:noFill/>
        </p:spPr>
        <p:txBody>
          <a:bodyPr wrap="square" lIns="9144" tIns="9144" rIns="9144" bIns="9144" anchor="ctr">
            <a:spAutoFit/>
          </a:bodyPr>
          <a:lstStyle/>
          <a:p>
            <a:pPr algn="l">
              <a:lnSpc>
                <a:spcPct val="100000"/>
              </a:lnSpc>
              <a:spcAft>
                <a:spcPts val="0"/>
              </a:spcAft>
            </a:pPr>
            <a:r>
              <a:rPr sz="1260" b="1">
                <a:solidFill>
                  <a:srgbClr val="3A3A3A"/>
                </a:solidFill>
                <a:latin typeface="맑은 고딕"/>
                <a:ea typeface="맑은 고딕"/>
                <a:cs typeface="맑은 고딕"/>
              </a:rPr>
              <a:t>선택 기준</a:t>
            </a:r>
          </a:p>
        </p:txBody>
      </p:sp>
      <p:sp>
        <p:nvSpPr>
          <p:cNvPr id="39" name="Rectangle 38"/>
          <p:cNvSpPr/>
          <p:nvPr/>
        </p:nvSpPr>
        <p:spPr>
          <a:xfrm>
            <a:off x="2688336" y="5239512"/>
            <a:ext cx="8887968" cy="48463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endParaRPr/>
          </a:p>
        </p:txBody>
      </p:sp>
      <p:sp>
        <p:nvSpPr>
          <p:cNvPr id="40" name="TextBox 39"/>
          <p:cNvSpPr txBox="1"/>
          <p:nvPr/>
        </p:nvSpPr>
        <p:spPr>
          <a:xfrm>
            <a:off x="2761488" y="5276088"/>
            <a:ext cx="8741664" cy="411480"/>
          </a:xfrm>
          <a:prstGeom prst="rect">
            <a:avLst/>
          </a:prstGeom>
          <a:noFill/>
        </p:spPr>
        <p:txBody>
          <a:bodyPr wrap="square" lIns="9144" tIns="9144" rIns="9144" bIns="9144" anchor="ctr">
            <a:spAutoFit/>
          </a:bodyPr>
          <a:lstStyle/>
          <a:p>
            <a:pPr algn="ctr">
              <a:lnSpc>
                <a:spcPct val="100000"/>
              </a:lnSpc>
              <a:spcAft>
                <a:spcPts val="0"/>
              </a:spcAft>
            </a:pPr>
            <a:r>
              <a:rPr sz="1260" b="0">
                <a:solidFill>
                  <a:srgbClr val="3A3A3A"/>
                </a:solidFill>
                <a:latin typeface="맑은 고딕"/>
                <a:ea typeface="맑은 고딕"/>
                <a:cs typeface="맑은 고딕"/>
              </a:rPr>
              <a:t>fixed/onset 생존·회복·추종의 균형 · 최종 번호나 학습 reward만으로 선택하지 않음</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37 | Appendix A4 · 학습 시간과 반복 횟수</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JT metrics.jsonl: 43000–71500; 28,501 unique iterations.   2) Perf/iteration_time 합계와 wall_time_unix 차이. Teacher 사전학습·평가 시간 제외.</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37 / 43</a:t>
            </a:r>
          </a:p>
        </p:txBody>
      </p:sp>
      <p:sp>
        <p:nvSpPr>
          <p:cNvPr id="8"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spcAft>
                <a:spcPts val="0"/>
              </a:spcAft>
            </a:pPr>
            <a:r>
              <a:rPr sz="1300" b="0" dirty="0">
                <a:solidFill>
                  <a:srgbClr val="3A3A3A"/>
                </a:solidFill>
                <a:latin typeface="맑은 고딕"/>
                <a:ea typeface="맑은 고딕"/>
                <a:cs typeface="맑은 고딕"/>
              </a:rPr>
              <a:t>5 </a:t>
            </a:r>
            <a:r>
              <a:rPr sz="1300" b="0" dirty="0" err="1">
                <a:solidFill>
                  <a:srgbClr val="3A3A3A"/>
                </a:solidFill>
                <a:latin typeface="맑은 고딕"/>
                <a:ea typeface="맑은 고딕"/>
                <a:cs typeface="맑은 고딕"/>
              </a:rPr>
              <a:t>epochs는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전체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학습이</a:t>
            </a:r>
            <a:r>
              <a:rPr sz="1300" b="0" dirty="0">
                <a:solidFill>
                  <a:srgbClr val="3A3A3A"/>
                </a:solidFill>
                <a:latin typeface="맑은 고딕"/>
                <a:ea typeface="맑은 고딕"/>
                <a:cs typeface="맑은 고딕"/>
              </a:rPr>
              <a:t> 5번이라는 </a:t>
            </a:r>
            <a:r>
              <a:rPr sz="1300" b="0" dirty="0" err="1">
                <a:solidFill>
                  <a:srgbClr val="3A3A3A"/>
                </a:solidFill>
                <a:latin typeface="맑은 고딕"/>
                <a:ea typeface="맑은 고딕"/>
                <a:cs typeface="맑은 고딕"/>
              </a:rPr>
              <a:t>뜻이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아니다</a:t>
            </a:r>
            <a:r>
              <a:rPr sz="1300" b="0" dirty="0">
                <a:solidFill>
                  <a:srgbClr val="3A3A3A"/>
                </a:solidFill>
                <a:latin typeface="맑은 고딕"/>
                <a:ea typeface="맑은 고딕"/>
                <a:cs typeface="맑은 고딕"/>
              </a:rPr>
              <a:t>. 매 iteration </a:t>
            </a:r>
            <a:r>
              <a:rPr sz="1300" b="0" dirty="0" err="1">
                <a:solidFill>
                  <a:srgbClr val="3A3A3A"/>
                </a:solidFill>
                <a:latin typeface="맑은 고딕"/>
                <a:ea typeface="맑은 고딕"/>
                <a:cs typeface="맑은 고딕"/>
              </a:rPr>
              <a:t>새로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수집한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데이터</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묶음을</a:t>
            </a:r>
            <a:r>
              <a:rPr sz="1300" b="0" dirty="0">
                <a:solidFill>
                  <a:srgbClr val="3A3A3A"/>
                </a:solidFill>
                <a:latin typeface="맑은 고딕"/>
                <a:ea typeface="맑은 고딕"/>
                <a:cs typeface="맑은 고딕"/>
              </a:rPr>
              <a:t> 5회 </a:t>
            </a:r>
            <a:r>
              <a:rPr sz="1300" b="0" dirty="0" err="1">
                <a:solidFill>
                  <a:srgbClr val="3A3A3A"/>
                </a:solidFill>
                <a:latin typeface="맑은 고딕"/>
                <a:ea typeface="맑은 고딕"/>
                <a:cs typeface="맑은 고딕"/>
              </a:rPr>
              <a:t>반복</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학습한다</a:t>
            </a:r>
            <a:r>
              <a:rPr sz="1300" b="0" dirty="0">
                <a:solidFill>
                  <a:srgbClr val="3A3A3A"/>
                </a:solidFill>
                <a:latin typeface="맑은 고딕"/>
                <a:ea typeface="맑은 고딕"/>
                <a:cs typeface="맑은 고딕"/>
              </a:rPr>
              <a:t>.</a:t>
            </a:r>
          </a:p>
        </p:txBody>
      </p:sp>
      <p:sp>
        <p:nvSpPr>
          <p:cNvPr id="9" name="Rectangle 8"/>
          <p:cNvSpPr/>
          <p:nvPr/>
        </p:nvSpPr>
        <p:spPr>
          <a:xfrm>
            <a:off x="640080" y="1874519"/>
            <a:ext cx="2240280" cy="54864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1911095"/>
            <a:ext cx="2093976" cy="475488"/>
          </a:xfrm>
          <a:prstGeom prst="rect">
            <a:avLst/>
          </a:prstGeom>
          <a:noFill/>
        </p:spPr>
        <p:txBody>
          <a:bodyPr wrap="square" lIns="9144" tIns="9144" rIns="9144" bIns="9144" anchor="ctr">
            <a:spAutoFit/>
          </a:bodyPr>
          <a:lstStyle/>
          <a:p>
            <a:pPr algn="ctr">
              <a:spcAft>
                <a:spcPts val="0"/>
              </a:spcAft>
            </a:pPr>
            <a:r>
              <a:rPr sz="1170" b="1">
                <a:solidFill>
                  <a:srgbClr val="FFFFFF"/>
                </a:solidFill>
                <a:latin typeface="맑은 고딕"/>
                <a:ea typeface="맑은 고딕"/>
                <a:cs typeface="맑은 고딕"/>
              </a:rPr>
              <a:t>구분</a:t>
            </a:r>
          </a:p>
        </p:txBody>
      </p:sp>
      <p:sp>
        <p:nvSpPr>
          <p:cNvPr id="11" name="Rectangle 10"/>
          <p:cNvSpPr/>
          <p:nvPr/>
        </p:nvSpPr>
        <p:spPr>
          <a:xfrm>
            <a:off x="2880360" y="1874519"/>
            <a:ext cx="3886200" cy="54864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53512" y="1911095"/>
            <a:ext cx="3739896" cy="475488"/>
          </a:xfrm>
          <a:prstGeom prst="rect">
            <a:avLst/>
          </a:prstGeom>
          <a:noFill/>
        </p:spPr>
        <p:txBody>
          <a:bodyPr wrap="square" lIns="9144" tIns="9144" rIns="9144" bIns="9144" anchor="ctr">
            <a:spAutoFit/>
          </a:bodyPr>
          <a:lstStyle/>
          <a:p>
            <a:pPr algn="ctr">
              <a:spcAft>
                <a:spcPts val="0"/>
              </a:spcAft>
            </a:pPr>
            <a:r>
              <a:rPr sz="1170" b="1">
                <a:solidFill>
                  <a:srgbClr val="FFFFFF"/>
                </a:solidFill>
                <a:latin typeface="맑은 고딕"/>
                <a:ea typeface="맑은 고딕"/>
                <a:cs typeface="맑은 고딕"/>
              </a:rPr>
              <a:t>확인된 값</a:t>
            </a:r>
          </a:p>
        </p:txBody>
      </p:sp>
      <p:sp>
        <p:nvSpPr>
          <p:cNvPr id="13" name="Rectangle 12"/>
          <p:cNvSpPr/>
          <p:nvPr/>
        </p:nvSpPr>
        <p:spPr>
          <a:xfrm>
            <a:off x="6766560" y="1874519"/>
            <a:ext cx="4846320" cy="54864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9712" y="1911095"/>
            <a:ext cx="4700016" cy="475488"/>
          </a:xfrm>
          <a:prstGeom prst="rect">
            <a:avLst/>
          </a:prstGeom>
          <a:noFill/>
        </p:spPr>
        <p:txBody>
          <a:bodyPr wrap="square" lIns="9144" tIns="9144" rIns="9144" bIns="9144" anchor="ctr">
            <a:spAutoFit/>
          </a:bodyPr>
          <a:lstStyle/>
          <a:p>
            <a:pPr algn="ctr">
              <a:spcAft>
                <a:spcPts val="0"/>
              </a:spcAft>
            </a:pPr>
            <a:r>
              <a:rPr sz="1170" b="1">
                <a:solidFill>
                  <a:srgbClr val="FFFFFF"/>
                </a:solidFill>
                <a:latin typeface="맑은 고딕"/>
                <a:ea typeface="맑은 고딕"/>
                <a:cs typeface="맑은 고딕"/>
              </a:rPr>
              <a:t>의미</a:t>
            </a:r>
          </a:p>
        </p:txBody>
      </p:sp>
      <p:sp>
        <p:nvSpPr>
          <p:cNvPr id="15" name="Rectangle 14"/>
          <p:cNvSpPr/>
          <p:nvPr/>
        </p:nvSpPr>
        <p:spPr>
          <a:xfrm>
            <a:off x="640080" y="2423160"/>
            <a:ext cx="224028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1" y="2598222"/>
            <a:ext cx="2093976" cy="198516"/>
          </a:xfrm>
          <a:prstGeom prst="rect">
            <a:avLst/>
          </a:prstGeom>
          <a:noFill/>
        </p:spPr>
        <p:txBody>
          <a:bodyPr wrap="square" lIns="9144" tIns="9144" rIns="9144" bIns="9144" anchor="ctr">
            <a:spAutoFit/>
          </a:bodyPr>
          <a:lstStyle/>
          <a:p>
            <a:pPr algn="ctr">
              <a:spcAft>
                <a:spcPts val="0"/>
              </a:spcAft>
            </a:pPr>
            <a:r>
              <a:rPr sz="1170" b="1">
                <a:solidFill>
                  <a:srgbClr val="3A3A3A"/>
                </a:solidFill>
                <a:latin typeface="맑은 고딕"/>
                <a:ea typeface="맑은 고딕"/>
                <a:cs typeface="맑은 고딕"/>
              </a:rPr>
              <a:t>현재 rollout 재사용</a:t>
            </a:r>
          </a:p>
        </p:txBody>
      </p:sp>
      <p:sp>
        <p:nvSpPr>
          <p:cNvPr id="17" name="Rectangle 16"/>
          <p:cNvSpPr/>
          <p:nvPr/>
        </p:nvSpPr>
        <p:spPr>
          <a:xfrm>
            <a:off x="2880360" y="2423160"/>
            <a:ext cx="388620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8" name="v10-math-12"/>
              <p:cNvSpPr txBox="1"/>
              <p:nvPr/>
            </p:nvSpPr>
            <p:spPr>
              <a:xfrm>
                <a:off x="2953512" y="2459736"/>
                <a:ext cx="3739896" cy="475488"/>
              </a:xfrm>
              <a:prstGeom prst="rect">
                <a:avLst/>
              </a:prstGeom>
              <a:noFill/>
            </p:spPr>
            <p:txBody>
              <a:bodyPr wrap="none" lIns="18288" tIns="9144" rIns="18288" bIns="9144" anchor="ctr">
                <a:spAutoFit/>
              </a:bodyPr>
              <a:lstStyle/>
              <a:p>
                <a:pPr algn="ctr">
                  <a:spcAft>
                    <a:spcPts val="0"/>
                  </a:spcAft>
                </a:pPr>
                <a14:m>
                  <m:oMathPara xmlns:m="http://schemas.openxmlformats.org/officeDocument/2006/math">
                    <m:oMath>
                      <m:r>
                        <a:rPr lang="ko-KR" sz="1150" b="0">
                          <a:solidFill>
                            <a:srgbClr val="222222"/>
                          </a:solidFill>
                          <a:latin typeface="Cambria Math" panose="02040503050406030204" pitchFamily="18" charset="0"/>
                          <a:ea typeface="맑은 고딕"/>
                          <a:cs typeface="맑은 고딕"/>
                        </a:rPr>
                        <m:t>5 </m:t>
                      </m:r>
                      <m:r>
                        <a:rPr lang="ko-KR" sz="1150" b="0">
                          <a:solidFill>
                            <a:srgbClr val="222222"/>
                          </a:solidFill>
                          <a:latin typeface="Cambria Math" panose="02040503050406030204" pitchFamily="18" charset="0"/>
                          <a:ea typeface="맑은 고딕"/>
                          <a:cs typeface="맑은 고딕"/>
                        </a:rPr>
                        <m:t>𝑒𝑝𝑜𝑐ℎ𝑠</m:t>
                      </m:r>
                      <m:r>
                        <a:rPr lang="ko-KR" sz="1150" b="0">
                          <a:solidFill>
                            <a:srgbClr val="222222"/>
                          </a:solidFill>
                          <a:latin typeface="Cambria Math" panose="02040503050406030204" pitchFamily="18" charset="0"/>
                          <a:ea typeface="맑은 고딕"/>
                          <a:cs typeface="맑은 고딕"/>
                        </a:rPr>
                        <m:t> × 4 </m:t>
                      </m:r>
                      <m:r>
                        <a:rPr lang="ko-KR" sz="1150" b="0">
                          <a:solidFill>
                            <a:srgbClr val="222222"/>
                          </a:solidFill>
                          <a:latin typeface="Cambria Math" panose="02040503050406030204" pitchFamily="18" charset="0"/>
                          <a:ea typeface="맑은 고딕"/>
                          <a:cs typeface="맑은 고딕"/>
                        </a:rPr>
                        <m:t>𝑚𝑖𝑛𝑖𝑏𝑎𝑡𝑐ℎ𝑒𝑠</m:t>
                      </m:r>
                      <m:r>
                        <a:rPr lang="ko-KR" sz="1150" b="0">
                          <a:solidFill>
                            <a:srgbClr val="222222"/>
                          </a:solidFill>
                          <a:latin typeface="Cambria Math" panose="02040503050406030204" pitchFamily="18" charset="0"/>
                          <a:ea typeface="맑은 고딕"/>
                          <a:cs typeface="맑은 고딕"/>
                        </a:rPr>
                        <m:t> = 20 </m:t>
                      </m:r>
                      <m:r>
                        <a:rPr lang="ko-KR" sz="1150" b="0">
                          <a:solidFill>
                            <a:srgbClr val="222222"/>
                          </a:solidFill>
                          <a:latin typeface="Cambria Math" panose="02040503050406030204" pitchFamily="18" charset="0"/>
                          <a:ea typeface="맑은 고딕"/>
                          <a:cs typeface="맑은 고딕"/>
                        </a:rPr>
                        <m:t>𝑢𝑝𝑑𝑎𝑡𝑒𝑠</m:t>
                      </m:r>
                    </m:oMath>
                  </m:oMathPara>
                </a14:m>
                <a:endParaRPr/>
              </a:p>
            </p:txBody>
          </p:sp>
        </mc:Choice>
        <mc:Fallback xmlns="">
          <p:sp>
            <p:nvSpPr>
              <p:cNvPr id="18" name="v10-math-12"/>
              <p:cNvSpPr txBox="1">
                <a:spLocks noRot="1" noChangeAspect="1" noMove="1" noResize="1" noEditPoints="1" noAdjustHandles="1" noChangeArrowheads="1" noChangeShapeType="1" noTextEdit="1"/>
              </p:cNvSpPr>
              <p:nvPr/>
            </p:nvSpPr>
            <p:spPr>
              <a:xfrm>
                <a:off x="2953512" y="2459736"/>
                <a:ext cx="3739896" cy="475488"/>
              </a:xfrm>
              <a:prstGeom prst="rect">
                <a:avLst/>
              </a:prstGeom>
              <a:blipFill>
                <a:blip r:embed="rId3"/>
                <a:stretch>
                  <a:fillRect/>
                </a:stretch>
              </a:blipFill>
            </p:spPr>
            <p:txBody>
              <a:bodyPr/>
              <a:lstStyle/>
              <a:p>
                <a:r>
                  <a:rPr lang="ko-KR" altLang="en-US">
                    <a:noFill/>
                  </a:rPr>
                  <a:t> </a:t>
                </a:r>
              </a:p>
            </p:txBody>
          </p:sp>
        </mc:Fallback>
      </mc:AlternateContent>
      <p:sp>
        <p:nvSpPr>
          <p:cNvPr id="19" name="Rectangle 18"/>
          <p:cNvSpPr/>
          <p:nvPr/>
        </p:nvSpPr>
        <p:spPr>
          <a:xfrm>
            <a:off x="6766560" y="2423160"/>
            <a:ext cx="484632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39712" y="2459736"/>
            <a:ext cx="470001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같은 데이터 98,304개를 5회 사용한 뒤 새로 수집</a:t>
            </a:r>
          </a:p>
        </p:txBody>
      </p:sp>
      <p:sp>
        <p:nvSpPr>
          <p:cNvPr id="21" name="Rectangle 20"/>
          <p:cNvSpPr/>
          <p:nvPr/>
        </p:nvSpPr>
        <p:spPr>
          <a:xfrm>
            <a:off x="640080" y="2971800"/>
            <a:ext cx="224028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1" y="3146862"/>
            <a:ext cx="2093976" cy="198516"/>
          </a:xfrm>
          <a:prstGeom prst="rect">
            <a:avLst/>
          </a:prstGeom>
          <a:noFill/>
        </p:spPr>
        <p:txBody>
          <a:bodyPr wrap="square" lIns="9144" tIns="9144" rIns="9144" bIns="9144" anchor="ctr">
            <a:spAutoFit/>
          </a:bodyPr>
          <a:lstStyle/>
          <a:p>
            <a:pPr algn="ctr">
              <a:spcAft>
                <a:spcPts val="0"/>
              </a:spcAft>
            </a:pPr>
            <a:r>
              <a:rPr sz="1170" b="1">
                <a:solidFill>
                  <a:srgbClr val="3A3A3A"/>
                </a:solidFill>
                <a:latin typeface="맑은 고딕"/>
                <a:ea typeface="맑은 고딕"/>
                <a:cs typeface="맑은 고딕"/>
              </a:rPr>
              <a:t>JT 구간 누적</a:t>
            </a:r>
          </a:p>
        </p:txBody>
      </p:sp>
      <p:sp>
        <p:nvSpPr>
          <p:cNvPr id="23" name="Rectangle 22"/>
          <p:cNvSpPr/>
          <p:nvPr/>
        </p:nvSpPr>
        <p:spPr>
          <a:xfrm>
            <a:off x="2880360" y="2971800"/>
            <a:ext cx="388620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53512" y="3008376"/>
            <a:ext cx="373989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28,501 iterations / 142,505 batch epochs</a:t>
            </a:r>
          </a:p>
        </p:txBody>
      </p:sp>
      <p:sp>
        <p:nvSpPr>
          <p:cNvPr id="25" name="Rectangle 24"/>
          <p:cNvSpPr/>
          <p:nvPr/>
        </p:nvSpPr>
        <p:spPr>
          <a:xfrm>
            <a:off x="6766560" y="2971800"/>
            <a:ext cx="484632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39712" y="3008376"/>
            <a:ext cx="470001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같은 고정 데이터셋의 142,505 epochs는 아님</a:t>
            </a:r>
          </a:p>
        </p:txBody>
      </p:sp>
      <p:sp>
        <p:nvSpPr>
          <p:cNvPr id="27" name="Rectangle 26"/>
          <p:cNvSpPr/>
          <p:nvPr/>
        </p:nvSpPr>
        <p:spPr>
          <a:xfrm>
            <a:off x="640080" y="3520439"/>
            <a:ext cx="224028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1" y="3695501"/>
            <a:ext cx="2093976" cy="198516"/>
          </a:xfrm>
          <a:prstGeom prst="rect">
            <a:avLst/>
          </a:prstGeom>
          <a:noFill/>
        </p:spPr>
        <p:txBody>
          <a:bodyPr wrap="square" lIns="9144" tIns="9144" rIns="9144" bIns="9144" anchor="ctr">
            <a:spAutoFit/>
          </a:bodyPr>
          <a:lstStyle/>
          <a:p>
            <a:pPr algn="ctr">
              <a:spcAft>
                <a:spcPts val="0"/>
              </a:spcAft>
            </a:pPr>
            <a:r>
              <a:rPr sz="1170" b="1">
                <a:solidFill>
                  <a:srgbClr val="3A3A3A"/>
                </a:solidFill>
                <a:latin typeface="맑은 고딕"/>
                <a:ea typeface="맑은 고딕"/>
                <a:cs typeface="맑은 고딕"/>
              </a:rPr>
              <a:t>파라미터 갱신</a:t>
            </a:r>
          </a:p>
        </p:txBody>
      </p:sp>
      <p:sp>
        <p:nvSpPr>
          <p:cNvPr id="29" name="Rectangle 28"/>
          <p:cNvSpPr/>
          <p:nvPr/>
        </p:nvSpPr>
        <p:spPr>
          <a:xfrm>
            <a:off x="2880360" y="3520439"/>
            <a:ext cx="388620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53512" y="3557015"/>
            <a:ext cx="3739896" cy="475488"/>
          </a:xfrm>
          <a:prstGeom prst="rect">
            <a:avLst/>
          </a:prstGeom>
          <a:noFill/>
        </p:spPr>
        <p:txBody>
          <a:bodyPr wrap="square" lIns="9144" tIns="9144" rIns="9144" bIns="9144" anchor="ctr">
            <a:spAutoFit/>
          </a:bodyPr>
          <a:lstStyle/>
          <a:p>
            <a:pPr algn="ctr">
              <a:spcAft>
                <a:spcPts val="0"/>
              </a:spcAft>
            </a:pPr>
            <a:r>
              <a:rPr sz="1170" b="0" dirty="0">
                <a:solidFill>
                  <a:srgbClr val="3A3A3A"/>
                </a:solidFill>
                <a:latin typeface="맑은 고딕"/>
                <a:ea typeface="맑은 고딕"/>
                <a:cs typeface="맑은 고딕"/>
              </a:rPr>
              <a:t>570,020 optimizer updates</a:t>
            </a:r>
          </a:p>
        </p:txBody>
      </p:sp>
      <p:sp>
        <p:nvSpPr>
          <p:cNvPr id="31" name="Rectangle 30"/>
          <p:cNvSpPr/>
          <p:nvPr/>
        </p:nvSpPr>
        <p:spPr>
          <a:xfrm>
            <a:off x="6766560" y="3520439"/>
            <a:ext cx="484632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39712" y="3557015"/>
            <a:ext cx="470001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로그의 completed_updates를 합산한 값</a:t>
            </a:r>
          </a:p>
        </p:txBody>
      </p:sp>
      <p:sp>
        <p:nvSpPr>
          <p:cNvPr id="33" name="Rectangle 32"/>
          <p:cNvSpPr/>
          <p:nvPr/>
        </p:nvSpPr>
        <p:spPr>
          <a:xfrm>
            <a:off x="640080" y="4069079"/>
            <a:ext cx="224028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3231" y="4244141"/>
            <a:ext cx="2093976" cy="198516"/>
          </a:xfrm>
          <a:prstGeom prst="rect">
            <a:avLst/>
          </a:prstGeom>
          <a:noFill/>
        </p:spPr>
        <p:txBody>
          <a:bodyPr wrap="square" lIns="9144" tIns="9144" rIns="9144" bIns="9144" anchor="ctr">
            <a:spAutoFit/>
          </a:bodyPr>
          <a:lstStyle/>
          <a:p>
            <a:pPr algn="ctr">
              <a:spcAft>
                <a:spcPts val="0"/>
              </a:spcAft>
            </a:pPr>
            <a:r>
              <a:rPr sz="1170" b="1">
                <a:solidFill>
                  <a:srgbClr val="3A3A3A"/>
                </a:solidFill>
                <a:latin typeface="맑은 고딕"/>
                <a:ea typeface="맑은 고딕"/>
                <a:cs typeface="맑은 고딕"/>
              </a:rPr>
              <a:t>실제 경과 시간</a:t>
            </a:r>
          </a:p>
        </p:txBody>
      </p:sp>
      <p:sp>
        <p:nvSpPr>
          <p:cNvPr id="35" name="Rectangle 34"/>
          <p:cNvSpPr/>
          <p:nvPr/>
        </p:nvSpPr>
        <p:spPr>
          <a:xfrm>
            <a:off x="2880360" y="4069079"/>
            <a:ext cx="388620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53512" y="4105655"/>
            <a:ext cx="373989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49,999.59 s ≈ 13시간 53분</a:t>
            </a:r>
          </a:p>
        </p:txBody>
      </p:sp>
      <p:sp>
        <p:nvSpPr>
          <p:cNvPr id="37" name="Rectangle 36"/>
          <p:cNvSpPr/>
          <p:nvPr/>
        </p:nvSpPr>
        <p:spPr>
          <a:xfrm>
            <a:off x="6766560" y="4069079"/>
            <a:ext cx="484632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39712" y="4105655"/>
            <a:ext cx="470001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첫 iteration 완료 로그 → 71500 완료 로그</a:t>
            </a:r>
          </a:p>
        </p:txBody>
      </p:sp>
      <p:sp>
        <p:nvSpPr>
          <p:cNvPr id="39" name="Rectangle 38"/>
          <p:cNvSpPr/>
          <p:nvPr/>
        </p:nvSpPr>
        <p:spPr>
          <a:xfrm>
            <a:off x="640080" y="4617720"/>
            <a:ext cx="224028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13231" y="4792782"/>
            <a:ext cx="2093976" cy="198516"/>
          </a:xfrm>
          <a:prstGeom prst="rect">
            <a:avLst/>
          </a:prstGeom>
          <a:noFill/>
        </p:spPr>
        <p:txBody>
          <a:bodyPr wrap="square" lIns="9144" tIns="9144" rIns="9144" bIns="9144" anchor="ctr">
            <a:spAutoFit/>
          </a:bodyPr>
          <a:lstStyle/>
          <a:p>
            <a:pPr algn="ctr">
              <a:spcAft>
                <a:spcPts val="0"/>
              </a:spcAft>
            </a:pPr>
            <a:r>
              <a:rPr sz="1170" b="1">
                <a:solidFill>
                  <a:srgbClr val="3A3A3A"/>
                </a:solidFill>
                <a:latin typeface="맑은 고딕"/>
                <a:ea typeface="맑은 고딕"/>
                <a:cs typeface="맑은 고딕"/>
              </a:rPr>
              <a:t>수집·학습 실행 시간</a:t>
            </a:r>
          </a:p>
        </p:txBody>
      </p:sp>
      <p:sp>
        <p:nvSpPr>
          <p:cNvPr id="41" name="Rectangle 40"/>
          <p:cNvSpPr/>
          <p:nvPr/>
        </p:nvSpPr>
        <p:spPr>
          <a:xfrm>
            <a:off x="2880360" y="4617720"/>
            <a:ext cx="388620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53512" y="4654296"/>
            <a:ext cx="3739896" cy="475488"/>
          </a:xfrm>
          <a:prstGeom prst="rect">
            <a:avLst/>
          </a:prstGeom>
          <a:noFill/>
        </p:spPr>
        <p:txBody>
          <a:bodyPr wrap="square" lIns="9144" tIns="9144" rIns="9144" bIns="9144" anchor="ctr">
            <a:spAutoFit/>
          </a:bodyPr>
          <a:lstStyle/>
          <a:p>
            <a:pPr algn="ctr">
              <a:spcAft>
                <a:spcPts val="0"/>
              </a:spcAft>
            </a:pPr>
            <a:r>
              <a:rPr sz="1170" b="0" dirty="0">
                <a:solidFill>
                  <a:srgbClr val="3A3A3A"/>
                </a:solidFill>
                <a:latin typeface="맑은 고딕"/>
                <a:ea typeface="맑은 고딕"/>
                <a:cs typeface="맑은 고딕"/>
              </a:rPr>
              <a:t>49,741.70 s ≈ 13시간 49분</a:t>
            </a:r>
          </a:p>
        </p:txBody>
      </p:sp>
      <p:sp>
        <p:nvSpPr>
          <p:cNvPr id="43" name="Rectangle 42"/>
          <p:cNvSpPr/>
          <p:nvPr/>
        </p:nvSpPr>
        <p:spPr>
          <a:xfrm>
            <a:off x="6766560" y="4617720"/>
            <a:ext cx="4846320" cy="54864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39712" y="4654296"/>
            <a:ext cx="4700016" cy="475488"/>
          </a:xfrm>
          <a:prstGeom prst="rect">
            <a:avLst/>
          </a:prstGeom>
          <a:noFill/>
        </p:spPr>
        <p:txBody>
          <a:bodyPr wrap="square" lIns="9144" tIns="9144" rIns="9144" bIns="9144" anchor="ctr">
            <a:spAutoFit/>
          </a:bodyPr>
          <a:lstStyle/>
          <a:p>
            <a:pPr algn="ctr">
              <a:spcAft>
                <a:spcPts val="0"/>
              </a:spcAft>
            </a:pPr>
            <a:r>
              <a:rPr sz="1170" b="0" dirty="0" err="1">
                <a:solidFill>
                  <a:srgbClr val="3A3A3A"/>
                </a:solidFill>
                <a:latin typeface="맑은 고딕"/>
                <a:ea typeface="맑은 고딕"/>
                <a:cs typeface="맑은 고딕"/>
              </a:rPr>
              <a:t>iteration_time</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합계</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경과</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시간과</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구분</a:t>
            </a:r>
            <a:endParaRPr sz="1170" b="0" dirty="0">
              <a:solidFill>
                <a:srgbClr val="3A3A3A"/>
              </a:solidFill>
              <a:latin typeface="맑은 고딕"/>
              <a:ea typeface="맑은 고딕"/>
              <a:cs typeface="맑은 고딕"/>
            </a:endParaRPr>
          </a:p>
        </p:txBody>
      </p:sp>
      <p:sp>
        <p:nvSpPr>
          <p:cNvPr id="45" name="Rectangle 44"/>
          <p:cNvSpPr/>
          <p:nvPr/>
        </p:nvSpPr>
        <p:spPr>
          <a:xfrm>
            <a:off x="640080" y="5166359"/>
            <a:ext cx="224028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13231" y="5341422"/>
            <a:ext cx="2093976" cy="198516"/>
          </a:xfrm>
          <a:prstGeom prst="rect">
            <a:avLst/>
          </a:prstGeom>
          <a:noFill/>
        </p:spPr>
        <p:txBody>
          <a:bodyPr wrap="square" lIns="9144" tIns="9144" rIns="9144" bIns="9144" anchor="ctr">
            <a:spAutoFit/>
          </a:bodyPr>
          <a:lstStyle/>
          <a:p>
            <a:pPr algn="ctr">
              <a:spcAft>
                <a:spcPts val="0"/>
              </a:spcAft>
            </a:pPr>
            <a:r>
              <a:rPr sz="1170" b="1">
                <a:solidFill>
                  <a:srgbClr val="3A3A3A"/>
                </a:solidFill>
                <a:latin typeface="맑은 고딕"/>
                <a:ea typeface="맑은 고딕"/>
                <a:cs typeface="맑은 고딕"/>
              </a:rPr>
              <a:t>5회 재사용의 이유</a:t>
            </a:r>
          </a:p>
        </p:txBody>
      </p:sp>
      <p:sp>
        <p:nvSpPr>
          <p:cNvPr id="47" name="Rectangle 46"/>
          <p:cNvSpPr/>
          <p:nvPr/>
        </p:nvSpPr>
        <p:spPr>
          <a:xfrm>
            <a:off x="2880360" y="5166359"/>
            <a:ext cx="388620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953512" y="5202936"/>
            <a:ext cx="3739896" cy="475488"/>
          </a:xfrm>
          <a:prstGeom prst="rect">
            <a:avLst/>
          </a:prstGeom>
          <a:noFill/>
        </p:spPr>
        <p:txBody>
          <a:bodyPr wrap="square" lIns="9144" tIns="9144" rIns="9144" bIns="9144" anchor="ctr">
            <a:spAutoFit/>
          </a:bodyPr>
          <a:lstStyle/>
          <a:p>
            <a:pPr algn="ctr">
              <a:spcAft>
                <a:spcPts val="0"/>
              </a:spcAft>
            </a:pPr>
            <a:r>
              <a:rPr sz="1170" b="0">
                <a:solidFill>
                  <a:srgbClr val="3A3A3A"/>
                </a:solidFill>
                <a:latin typeface="맑은 고딕"/>
                <a:ea typeface="맑은 고딕"/>
                <a:cs typeface="맑은 고딕"/>
              </a:rPr>
              <a:t>PPO는 현재 정책에서 얻은 데이터로 갱신</a:t>
            </a:r>
          </a:p>
        </p:txBody>
      </p:sp>
      <p:sp>
        <p:nvSpPr>
          <p:cNvPr id="49" name="Rectangle 48"/>
          <p:cNvSpPr/>
          <p:nvPr/>
        </p:nvSpPr>
        <p:spPr>
          <a:xfrm>
            <a:off x="6766560" y="5166359"/>
            <a:ext cx="4846320" cy="54864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39712" y="5202936"/>
            <a:ext cx="4700016" cy="475488"/>
          </a:xfrm>
          <a:prstGeom prst="rect">
            <a:avLst/>
          </a:prstGeom>
          <a:noFill/>
        </p:spPr>
        <p:txBody>
          <a:bodyPr wrap="square" lIns="9144" tIns="9144" rIns="9144" bIns="9144" anchor="ctr">
            <a:spAutoFit/>
          </a:bodyPr>
          <a:lstStyle/>
          <a:p>
            <a:pPr algn="ctr">
              <a:spcAft>
                <a:spcPts val="0"/>
              </a:spcAft>
            </a:pPr>
            <a:r>
              <a:rPr sz="1170" b="0" dirty="0" err="1">
                <a:solidFill>
                  <a:srgbClr val="3A3A3A"/>
                </a:solidFill>
                <a:latin typeface="맑은 고딕"/>
                <a:ea typeface="맑은 고딕"/>
                <a:cs typeface="맑은 고딕"/>
              </a:rPr>
              <a:t>오래된</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rollout을</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과도하게</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반복하면</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정책</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분포가</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달라짐</a:t>
            </a:r>
            <a:r>
              <a:rPr sz="1170" b="0" dirty="0">
                <a:solidFill>
                  <a:srgbClr val="3A3A3A"/>
                </a:solidFill>
                <a:latin typeface="맑은 고딕"/>
                <a:ea typeface="맑은 고딕"/>
                <a:cs typeface="맑은 고딕"/>
              </a:rPr>
              <a:t>
5는 </a:t>
            </a:r>
            <a:r>
              <a:rPr sz="1170" b="0" dirty="0" err="1">
                <a:solidFill>
                  <a:srgbClr val="3A3A3A"/>
                </a:solidFill>
                <a:latin typeface="맑은 고딕"/>
                <a:ea typeface="맑은 고딕"/>
                <a:cs typeface="맑은 고딕"/>
              </a:rPr>
              <a:t>이번</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학습</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설정이며</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최적</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횟수라는</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주장은</a:t>
            </a:r>
            <a:r>
              <a:rPr sz="1170" b="0" dirty="0">
                <a:solidFill>
                  <a:srgbClr val="3A3A3A"/>
                </a:solidFill>
                <a:latin typeface="맑은 고딕"/>
                <a:ea typeface="맑은 고딕"/>
                <a:cs typeface="맑은 고딕"/>
              </a:rPr>
              <a:t> </a:t>
            </a:r>
            <a:r>
              <a:rPr sz="1170" b="0" dirty="0" err="1">
                <a:solidFill>
                  <a:srgbClr val="3A3A3A"/>
                </a:solidFill>
                <a:latin typeface="맑은 고딕"/>
                <a:ea typeface="맑은 고딕"/>
                <a:cs typeface="맑은 고딕"/>
              </a:rPr>
              <a:t>아님</a:t>
            </a:r>
            <a:endParaRPr sz="1170" b="0" dirty="0">
              <a:solidFill>
                <a:srgbClr val="3A3A3A"/>
              </a:solidFill>
              <a:latin typeface="맑은 고딕"/>
              <a:ea typeface="맑은 고딕"/>
              <a:cs typeface="맑은 고딕"/>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38 | Appendix A5 · 보상 구현과 해석</a:t>
            </a:r>
            <a:r>
              <a:rPr sz="800" b="0" baseline="30000">
                <a:solidFill>
                  <a:srgbClr val="686868"/>
                </a:solidFill>
                <a:latin typeface="맑은 고딕"/>
                <a:ea typeface="맑은 고딕"/>
                <a:cs typeface="맑은 고딕"/>
              </a:rPr>
              <a:t>  1)</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Local code: legged_robot.py:816–893; JT resolved_config.json.</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38 / 43</a:t>
            </a:r>
          </a:p>
        </p:txBody>
      </p:sp>
      <p:sp>
        <p:nvSpPr>
          <p:cNvPr id="8" name="v5-content-intro"/>
          <p:cNvSpPr txBox="1"/>
          <p:nvPr/>
        </p:nvSpPr>
        <p:spPr>
          <a:xfrm>
            <a:off x="658368" y="1280160"/>
            <a:ext cx="10881360" cy="356616"/>
          </a:xfrm>
          <a:prstGeom prst="rect">
            <a:avLst/>
          </a:prstGeom>
          <a:noFill/>
        </p:spPr>
        <p:txBody>
          <a:bodyPr wrap="square" lIns="36576" tIns="36576" rIns="36576" bIns="36576" anchor="t">
            <a:spAutoFit/>
          </a:bodyPr>
          <a:lstStyle/>
          <a:p>
            <a:pPr algn="l">
              <a:spcAft>
                <a:spcPts val="0"/>
              </a:spcAft>
            </a:pPr>
            <a:r>
              <a:rPr sz="1400" b="0">
                <a:solidFill>
                  <a:srgbClr val="3A3A3A"/>
                </a:solidFill>
                <a:latin typeface="맑은 고딕"/>
                <a:ea typeface="맑은 고딕"/>
                <a:cs typeface="맑은 고딕"/>
              </a:rPr>
              <a:t>계수뿐 아니라 각 항의 원시 함수, clipping 순서, 종료 처리를 확인해야 학습 목적을 재현할 수 있다.</a:t>
            </a:r>
          </a:p>
        </p:txBody>
      </p:sp>
      <p:sp>
        <p:nvSpPr>
          <p:cNvPr id="9" name="Rectangle 8"/>
          <p:cNvSpPr/>
          <p:nvPr/>
        </p:nvSpPr>
        <p:spPr>
          <a:xfrm>
            <a:off x="640080" y="1883664"/>
            <a:ext cx="2057400" cy="47548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1920240"/>
            <a:ext cx="1911095" cy="402336"/>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항목</a:t>
            </a:r>
          </a:p>
        </p:txBody>
      </p:sp>
      <p:sp>
        <p:nvSpPr>
          <p:cNvPr id="11" name="Rectangle 10"/>
          <p:cNvSpPr/>
          <p:nvPr/>
        </p:nvSpPr>
        <p:spPr>
          <a:xfrm>
            <a:off x="2697480" y="1883664"/>
            <a:ext cx="8915400" cy="47548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70632" y="1920240"/>
            <a:ext cx="8769096" cy="402336"/>
          </a:xfrm>
          <a:prstGeom prst="rect">
            <a:avLst/>
          </a:prstGeom>
          <a:noFill/>
        </p:spPr>
        <p:txBody>
          <a:bodyPr wrap="square" lIns="9144" tIns="9144" rIns="9144" bIns="9144" anchor="ctr">
            <a:spAutoFit/>
          </a:bodyPr>
          <a:lstStyle/>
          <a:p>
            <a:pPr algn="ctr">
              <a:spcAft>
                <a:spcPts val="0"/>
              </a:spcAft>
            </a:pPr>
            <a:r>
              <a:rPr sz="1200" b="1">
                <a:solidFill>
                  <a:srgbClr val="FFFFFF"/>
                </a:solidFill>
                <a:latin typeface="맑은 고딕"/>
                <a:ea typeface="맑은 고딕"/>
                <a:cs typeface="맑은 고딕"/>
              </a:rPr>
              <a:t>구현 기준과 해석</a:t>
            </a:r>
          </a:p>
        </p:txBody>
      </p:sp>
      <p:sp>
        <p:nvSpPr>
          <p:cNvPr id="13" name="Rectangle 12"/>
          <p:cNvSpPr/>
          <p:nvPr/>
        </p:nvSpPr>
        <p:spPr>
          <a:xfrm>
            <a:off x="640080" y="2359152"/>
            <a:ext cx="2057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1" y="2495329"/>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안정·제어 항</a:t>
            </a:r>
          </a:p>
        </p:txBody>
      </p:sp>
      <p:sp>
        <p:nvSpPr>
          <p:cNvPr id="15" name="Rectangle 14"/>
          <p:cNvSpPr/>
          <p:nvPr/>
        </p:nvSpPr>
        <p:spPr>
          <a:xfrm>
            <a:off x="2697480" y="2359152"/>
            <a:ext cx="8915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70632" y="2395728"/>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수직속도 제곱, roll·pitch 각속도 제곱합, 적용 토크 제곱합, 관절 가속도 제곱합</a:t>
            </a:r>
          </a:p>
        </p:txBody>
      </p:sp>
      <p:sp>
        <p:nvSpPr>
          <p:cNvPr id="17" name="Rectangle 16"/>
          <p:cNvSpPr/>
          <p:nvPr/>
        </p:nvSpPr>
        <p:spPr>
          <a:xfrm>
            <a:off x="640080" y="2834640"/>
            <a:ext cx="2057400" cy="47548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1" y="2970817"/>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행동 변화</a:t>
            </a:r>
          </a:p>
        </p:txBody>
      </p:sp>
      <p:sp>
        <p:nvSpPr>
          <p:cNvPr id="19" name="Rectangle 18"/>
          <p:cNvSpPr/>
          <p:nvPr/>
        </p:nvSpPr>
        <p:spPr>
          <a:xfrm>
            <a:off x="2697480" y="2834640"/>
            <a:ext cx="8915400" cy="47548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70632" y="2871216"/>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현재 행동과 직전 행동의 차이 제곱합; 이 항은 dt로 나눈 시간 미분이 아님</a:t>
            </a:r>
          </a:p>
        </p:txBody>
      </p:sp>
      <p:sp>
        <p:nvSpPr>
          <p:cNvPr id="21" name="Rectangle 20"/>
          <p:cNvSpPr/>
          <p:nvPr/>
        </p:nvSpPr>
        <p:spPr>
          <a:xfrm>
            <a:off x="640080" y="3310128"/>
            <a:ext cx="2057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1" y="3446305"/>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충돌</a:t>
            </a:r>
          </a:p>
        </p:txBody>
      </p:sp>
      <p:sp>
        <p:nvSpPr>
          <p:cNvPr id="23" name="Rectangle 22"/>
          <p:cNvSpPr/>
          <p:nvPr/>
        </p:nvSpPr>
        <p:spPr>
          <a:xfrm>
            <a:off x="2697480" y="3310128"/>
            <a:ext cx="8915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70632" y="3346704"/>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thigh·calf 접촉력 norm이 0.1 N을 넘는 body 개수; 몸체 접촉 종료와 별도</a:t>
            </a:r>
          </a:p>
        </p:txBody>
      </p:sp>
      <p:sp>
        <p:nvSpPr>
          <p:cNvPr id="25" name="Rectangle 24"/>
          <p:cNvSpPr/>
          <p:nvPr/>
        </p:nvSpPr>
        <p:spPr>
          <a:xfrm>
            <a:off x="640080" y="3785616"/>
            <a:ext cx="2057400" cy="47548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1" y="3921793"/>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관절 위치 한계</a:t>
            </a:r>
          </a:p>
        </p:txBody>
      </p:sp>
      <p:sp>
        <p:nvSpPr>
          <p:cNvPr id="27" name="Rectangle 26"/>
          <p:cNvSpPr/>
          <p:nvPr/>
        </p:nvSpPr>
        <p:spPr>
          <a:xfrm>
            <a:off x="2697480" y="3785616"/>
            <a:ext cx="8915400" cy="47548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70632" y="3822192"/>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허용 범위의 90%로 좁힌 soft limit 밖의 각도량 합; 제곱 벌점이 아님</a:t>
            </a:r>
          </a:p>
        </p:txBody>
      </p:sp>
      <p:sp>
        <p:nvSpPr>
          <p:cNvPr id="29" name="Rectangle 28"/>
          <p:cNvSpPr/>
          <p:nvPr/>
        </p:nvSpPr>
        <p:spPr>
          <a:xfrm>
            <a:off x="640080" y="4261104"/>
            <a:ext cx="2057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4397281"/>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체공 시간</a:t>
            </a:r>
          </a:p>
        </p:txBody>
      </p:sp>
      <p:sp>
        <p:nvSpPr>
          <p:cNvPr id="31" name="Rectangle 30"/>
          <p:cNvSpPr/>
          <p:nvPr/>
        </p:nvSpPr>
        <p:spPr>
          <a:xfrm>
            <a:off x="2697480" y="4261104"/>
            <a:ext cx="8915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70632" y="4297680"/>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필터링한 첫 착지에서 체공 시간 − 0.5 s; 평면 명령 크기 0.1 m/s 초과일 때만 적용</a:t>
            </a:r>
          </a:p>
        </p:txBody>
      </p:sp>
      <p:sp>
        <p:nvSpPr>
          <p:cNvPr id="33" name="Rectangle 32"/>
          <p:cNvSpPr/>
          <p:nvPr/>
        </p:nvSpPr>
        <p:spPr>
          <a:xfrm>
            <a:off x="640080" y="4736592"/>
            <a:ext cx="2057400" cy="47548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3231" y="4872769"/>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합산·종료</a:t>
            </a:r>
          </a:p>
        </p:txBody>
      </p:sp>
      <p:sp>
        <p:nvSpPr>
          <p:cNvPr id="35" name="Rectangle 34"/>
          <p:cNvSpPr/>
          <p:nvPr/>
        </p:nvSpPr>
        <p:spPr>
          <a:xfrm>
            <a:off x="2697480" y="4736592"/>
            <a:ext cx="8915400" cy="47548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70632" y="4773168"/>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각 계수 × 0.02 s → 10개 항 합산 → 0 이상 clip; 종료 reward 계수는 0</a:t>
            </a:r>
          </a:p>
        </p:txBody>
      </p:sp>
      <p:sp>
        <p:nvSpPr>
          <p:cNvPr id="37" name="Rectangle 36"/>
          <p:cNvSpPr/>
          <p:nvPr/>
        </p:nvSpPr>
        <p:spPr>
          <a:xfrm>
            <a:off x="640080" y="5212080"/>
            <a:ext cx="2057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1" y="5348257"/>
            <a:ext cx="1911095" cy="203133"/>
          </a:xfrm>
          <a:prstGeom prst="rect">
            <a:avLst/>
          </a:prstGeom>
          <a:noFill/>
        </p:spPr>
        <p:txBody>
          <a:bodyPr wrap="square" lIns="9144" tIns="9144" rIns="9144" bIns="9144" anchor="ctr">
            <a:spAutoFit/>
          </a:bodyPr>
          <a:lstStyle/>
          <a:p>
            <a:pPr algn="ctr">
              <a:spcAft>
                <a:spcPts val="0"/>
              </a:spcAft>
            </a:pPr>
            <a:r>
              <a:rPr sz="1200" b="1">
                <a:solidFill>
                  <a:srgbClr val="3A3A3A"/>
                </a:solidFill>
                <a:latin typeface="맑은 고딕"/>
                <a:ea typeface="맑은 고딕"/>
                <a:cs typeface="맑은 고딕"/>
              </a:rPr>
              <a:t>평가와의 관계</a:t>
            </a:r>
          </a:p>
        </p:txBody>
      </p:sp>
      <p:sp>
        <p:nvSpPr>
          <p:cNvPr id="39" name="Rectangle 38"/>
          <p:cNvSpPr/>
          <p:nvPr/>
        </p:nvSpPr>
        <p:spPr>
          <a:xfrm>
            <a:off x="2697480" y="5212080"/>
            <a:ext cx="8915400" cy="47548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70632" y="5248656"/>
            <a:ext cx="8769096" cy="402336"/>
          </a:xfrm>
          <a:prstGeom prst="rect">
            <a:avLst/>
          </a:prstGeom>
          <a:noFill/>
        </p:spPr>
        <p:txBody>
          <a:bodyPr wrap="square" lIns="9144" tIns="9144" rIns="9144" bIns="9144" anchor="ctr">
            <a:spAutoFit/>
          </a:bodyPr>
          <a:lstStyle/>
          <a:p>
            <a:pPr algn="ctr">
              <a:spcAft>
                <a:spcPts val="0"/>
              </a:spcAft>
            </a:pPr>
            <a:r>
              <a:rPr sz="1200" b="0">
                <a:solidFill>
                  <a:srgbClr val="3A3A3A"/>
                </a:solidFill>
                <a:latin typeface="맑은 고딕"/>
                <a:ea typeface="맑은 고딕"/>
                <a:cs typeface="맑은 고딕"/>
              </a:rPr>
              <a:t>20초 생존·1초 안정 회복·RMSE는 별도 평가 지표; latent 모방은 optimizer 손실</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dirty="0">
                <a:solidFill>
                  <a:srgbClr val="111111"/>
                </a:solidFill>
                <a:latin typeface="맑은 고딕"/>
                <a:ea typeface="맑은 고딕"/>
                <a:cs typeface="맑은 고딕"/>
              </a:rPr>
              <a:t>39 | Appendix A6 · Saving the Limping 결과</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 · 논문이 보고한 성능과 직관적 의미</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00" b="0">
                <a:solidFill>
                  <a:srgbClr val="686868"/>
                </a:solidFill>
                <a:latin typeface="맑은 고딕"/>
                <a:ea typeface="맑은 고딕"/>
                <a:cs typeface="맑은 고딕"/>
              </a:rPr>
              <a:t>1) Liu et al., Saving the Limping, Table I (All terrain), arXiv:2210.00474v3.   2) 속도/목표 비율과 생존 시간의 초 단위는 원문 값으로 환산.</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39 / 43</a:t>
            </a:r>
          </a:p>
        </p:txBody>
      </p:sp>
      <p:sp>
        <p:nvSpPr>
          <p:cNvPr id="8" name="v5-content-intro"/>
          <p:cNvSpPr txBox="1"/>
          <p:nvPr/>
        </p:nvSpPr>
        <p:spPr>
          <a:xfrm>
            <a:off x="658368" y="1261872"/>
            <a:ext cx="10881360" cy="484632"/>
          </a:xfrm>
          <a:prstGeom prst="rect">
            <a:avLst/>
          </a:prstGeom>
          <a:noFill/>
        </p:spPr>
        <p:txBody>
          <a:bodyPr wrap="square" lIns="36576" tIns="36576" rIns="36576" bIns="36576" anchor="t">
            <a:spAutoFit/>
          </a:bodyPr>
          <a:lstStyle/>
          <a:p>
            <a:pPr algn="l">
              <a:spcAft>
                <a:spcPts val="0"/>
              </a:spcAft>
            </a:pPr>
            <a:r>
              <a:rPr sz="1250" b="0">
                <a:solidFill>
                  <a:srgbClr val="3A3A3A"/>
                </a:solidFill>
                <a:latin typeface="맑은 고딕"/>
                <a:ea typeface="맑은 고딕"/>
                <a:cs typeface="맑은 고딕"/>
              </a:rPr>
              <a:t>목표 0.5 m/s에서 고장 대응 정책은 관절 잠금 후 속도를 더 잘 유지하고 더 오래 버텼다.
아래 생존 값은 평균 생존 시간이며, 20초를 완주한 비율과는 다르다.</a:t>
            </a:r>
          </a:p>
        </p:txBody>
      </p:sp>
      <p:sp>
        <p:nvSpPr>
          <p:cNvPr id="9" name="Rectangle 8"/>
          <p:cNvSpPr/>
          <p:nvPr/>
        </p:nvSpPr>
        <p:spPr>
          <a:xfrm>
            <a:off x="640080" y="2011680"/>
            <a:ext cx="246888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2048256"/>
            <a:ext cx="2322576" cy="841248"/>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결과</a:t>
            </a:r>
          </a:p>
        </p:txBody>
      </p:sp>
      <p:sp>
        <p:nvSpPr>
          <p:cNvPr id="11" name="Rectangle 10"/>
          <p:cNvSpPr/>
          <p:nvPr/>
        </p:nvSpPr>
        <p:spPr>
          <a:xfrm>
            <a:off x="3108960" y="2011680"/>
            <a:ext cx="233172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82112" y="2048256"/>
            <a:ext cx="2185415" cy="841248"/>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일반 정책
BaseEnv</a:t>
            </a:r>
          </a:p>
        </p:txBody>
      </p:sp>
      <p:sp>
        <p:nvSpPr>
          <p:cNvPr id="13" name="Rectangle 12"/>
          <p:cNvSpPr/>
          <p:nvPr/>
        </p:nvSpPr>
        <p:spPr>
          <a:xfrm>
            <a:off x="5440680" y="2011680"/>
            <a:ext cx="233172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13832" y="2048256"/>
            <a:ext cx="2185415" cy="841248"/>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고장 대응 정책
FailureEnv</a:t>
            </a:r>
          </a:p>
        </p:txBody>
      </p:sp>
      <p:sp>
        <p:nvSpPr>
          <p:cNvPr id="15" name="Rectangle 14"/>
          <p:cNvSpPr/>
          <p:nvPr/>
        </p:nvSpPr>
        <p:spPr>
          <a:xfrm>
            <a:off x="7772400" y="2011680"/>
            <a:ext cx="384048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45552" y="2048256"/>
            <a:ext cx="3694176" cy="841248"/>
          </a:xfrm>
          <a:prstGeom prst="rect">
            <a:avLst/>
          </a:prstGeom>
          <a:noFill/>
        </p:spPr>
        <p:txBody>
          <a:bodyPr wrap="square" lIns="9144" tIns="9144" rIns="9144" bIns="9144" anchor="ctr">
            <a:spAutoFit/>
          </a:bodyPr>
          <a:lstStyle/>
          <a:p>
            <a:pPr algn="ctr">
              <a:spcAft>
                <a:spcPts val="0"/>
              </a:spcAft>
            </a:pPr>
            <a:r>
              <a:rPr sz="1300" b="1">
                <a:solidFill>
                  <a:srgbClr val="FFFFFF"/>
                </a:solidFill>
                <a:latin typeface="맑은 고딕"/>
                <a:ea typeface="맑은 고딕"/>
                <a:cs typeface="맑은 고딕"/>
              </a:rPr>
              <a:t>숫자의 의미</a:t>
            </a:r>
          </a:p>
        </p:txBody>
      </p:sp>
      <p:sp>
        <p:nvSpPr>
          <p:cNvPr id="17" name="Rectangle 16"/>
          <p:cNvSpPr/>
          <p:nvPr/>
        </p:nvSpPr>
        <p:spPr>
          <a:xfrm>
            <a:off x="640080" y="2926080"/>
            <a:ext cx="246888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1" y="2962656"/>
            <a:ext cx="2322576" cy="841248"/>
          </a:xfrm>
          <a:prstGeom prst="rect">
            <a:avLst/>
          </a:prstGeom>
          <a:noFill/>
        </p:spPr>
        <p:txBody>
          <a:bodyPr wrap="square" lIns="9144" tIns="9144" rIns="9144" bIns="9144" anchor="ctr">
            <a:spAutoFit/>
          </a:bodyPr>
          <a:lstStyle/>
          <a:p>
            <a:pPr algn="l">
              <a:spcAft>
                <a:spcPts val="0"/>
              </a:spcAft>
            </a:pPr>
            <a:r>
              <a:rPr sz="1300" b="1">
                <a:solidFill>
                  <a:srgbClr val="3A3A3A"/>
                </a:solidFill>
                <a:latin typeface="맑은 고딕"/>
                <a:ea typeface="맑은 고딕"/>
                <a:cs typeface="맑은 고딕"/>
              </a:rPr>
              <a:t>고장 후 평균 전진 속도</a:t>
            </a:r>
          </a:p>
        </p:txBody>
      </p:sp>
      <p:sp>
        <p:nvSpPr>
          <p:cNvPr id="19" name="Rectangle 18"/>
          <p:cNvSpPr/>
          <p:nvPr/>
        </p:nvSpPr>
        <p:spPr>
          <a:xfrm>
            <a:off x="3108960" y="2926080"/>
            <a:ext cx="233172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182112" y="2962656"/>
            <a:ext cx="2185415"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0.42 m/s</a:t>
            </a:r>
          </a:p>
        </p:txBody>
      </p:sp>
      <p:sp>
        <p:nvSpPr>
          <p:cNvPr id="21" name="Rectangle 20"/>
          <p:cNvSpPr/>
          <p:nvPr/>
        </p:nvSpPr>
        <p:spPr>
          <a:xfrm>
            <a:off x="5440680" y="2926080"/>
            <a:ext cx="233172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13832" y="2962656"/>
            <a:ext cx="2185415"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0.47 m/s</a:t>
            </a:r>
          </a:p>
        </p:txBody>
      </p:sp>
      <p:sp>
        <p:nvSpPr>
          <p:cNvPr id="23" name="Rectangle 22"/>
          <p:cNvSpPr/>
          <p:nvPr/>
        </p:nvSpPr>
        <p:spPr>
          <a:xfrm>
            <a:off x="7772400" y="2926080"/>
            <a:ext cx="384048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45552" y="2962656"/>
            <a:ext cx="3694176"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0.05 m/s 개선
목표 속도 0.5 m/s에 더 가까움</a:t>
            </a:r>
          </a:p>
        </p:txBody>
      </p:sp>
      <p:sp>
        <p:nvSpPr>
          <p:cNvPr id="25" name="Rectangle 24"/>
          <p:cNvSpPr/>
          <p:nvPr/>
        </p:nvSpPr>
        <p:spPr>
          <a:xfrm>
            <a:off x="640080" y="3840480"/>
            <a:ext cx="246888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1" y="3877056"/>
            <a:ext cx="2322576" cy="841248"/>
          </a:xfrm>
          <a:prstGeom prst="rect">
            <a:avLst/>
          </a:prstGeom>
          <a:noFill/>
        </p:spPr>
        <p:txBody>
          <a:bodyPr wrap="square" lIns="9144" tIns="9144" rIns="9144" bIns="9144" anchor="ctr">
            <a:spAutoFit/>
          </a:bodyPr>
          <a:lstStyle/>
          <a:p>
            <a:pPr algn="l">
              <a:spcAft>
                <a:spcPts val="0"/>
              </a:spcAft>
            </a:pPr>
            <a:r>
              <a:rPr sz="1300" b="1">
                <a:solidFill>
                  <a:srgbClr val="3A3A3A"/>
                </a:solidFill>
                <a:latin typeface="맑은 고딕"/>
                <a:ea typeface="맑은 고딕"/>
                <a:cs typeface="맑은 고딕"/>
              </a:rPr>
              <a:t>목표 속도 대비 평균 속도</a:t>
            </a:r>
          </a:p>
        </p:txBody>
      </p:sp>
      <p:sp>
        <p:nvSpPr>
          <p:cNvPr id="27" name="Rectangle 26"/>
          <p:cNvSpPr/>
          <p:nvPr/>
        </p:nvSpPr>
        <p:spPr>
          <a:xfrm>
            <a:off x="3108960" y="3840480"/>
            <a:ext cx="233172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182112" y="3877056"/>
            <a:ext cx="2185415"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84%</a:t>
            </a:r>
          </a:p>
        </p:txBody>
      </p:sp>
      <p:sp>
        <p:nvSpPr>
          <p:cNvPr id="29" name="Rectangle 28"/>
          <p:cNvSpPr/>
          <p:nvPr/>
        </p:nvSpPr>
        <p:spPr>
          <a:xfrm>
            <a:off x="5440680" y="3840480"/>
            <a:ext cx="233172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13832" y="3877056"/>
            <a:ext cx="2185415"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94%</a:t>
            </a:r>
          </a:p>
        </p:txBody>
      </p:sp>
      <p:sp>
        <p:nvSpPr>
          <p:cNvPr id="31" name="Rectangle 30"/>
          <p:cNvSpPr/>
          <p:nvPr/>
        </p:nvSpPr>
        <p:spPr>
          <a:xfrm>
            <a:off x="7772400" y="3840480"/>
            <a:ext cx="384048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45552" y="3877056"/>
            <a:ext cx="3694176"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속도 평균으로 보면
목표의 약94%를 유지</a:t>
            </a:r>
          </a:p>
        </p:txBody>
      </p:sp>
      <p:sp>
        <p:nvSpPr>
          <p:cNvPr id="33" name="Rectangle 32"/>
          <p:cNvSpPr/>
          <p:nvPr/>
        </p:nvSpPr>
        <p:spPr>
          <a:xfrm>
            <a:off x="640080" y="4754880"/>
            <a:ext cx="246888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3231" y="4791456"/>
            <a:ext cx="2322576" cy="841248"/>
          </a:xfrm>
          <a:prstGeom prst="rect">
            <a:avLst/>
          </a:prstGeom>
          <a:noFill/>
        </p:spPr>
        <p:txBody>
          <a:bodyPr wrap="square" lIns="9144" tIns="9144" rIns="9144" bIns="9144" anchor="ctr">
            <a:spAutoFit/>
          </a:bodyPr>
          <a:lstStyle/>
          <a:p>
            <a:pPr algn="l">
              <a:spcAft>
                <a:spcPts val="0"/>
              </a:spcAft>
            </a:pPr>
            <a:r>
              <a:rPr sz="1300" b="1">
                <a:solidFill>
                  <a:srgbClr val="3A3A3A"/>
                </a:solidFill>
                <a:latin typeface="맑은 고딕"/>
                <a:ea typeface="맑은 고딕"/>
                <a:cs typeface="맑은 고딕"/>
              </a:rPr>
              <a:t>고장 후 평균 생존 시간</a:t>
            </a:r>
          </a:p>
        </p:txBody>
      </p:sp>
      <p:sp>
        <p:nvSpPr>
          <p:cNvPr id="35" name="Rectangle 34"/>
          <p:cNvSpPr/>
          <p:nvPr/>
        </p:nvSpPr>
        <p:spPr>
          <a:xfrm>
            <a:off x="3108960" y="4754880"/>
            <a:ext cx="233172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82112" y="4791456"/>
            <a:ext cx="2185415"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8.94 s
(최대20초의44.7%)</a:t>
            </a:r>
          </a:p>
        </p:txBody>
      </p:sp>
      <p:sp>
        <p:nvSpPr>
          <p:cNvPr id="37" name="Rectangle 36"/>
          <p:cNvSpPr/>
          <p:nvPr/>
        </p:nvSpPr>
        <p:spPr>
          <a:xfrm>
            <a:off x="5440680" y="4754880"/>
            <a:ext cx="233172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513832" y="4791456"/>
            <a:ext cx="2185415"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11.30 s
(최대20초의56.5%)</a:t>
            </a:r>
          </a:p>
        </p:txBody>
      </p:sp>
      <p:sp>
        <p:nvSpPr>
          <p:cNvPr id="39" name="Rectangle 38"/>
          <p:cNvSpPr/>
          <p:nvPr/>
        </p:nvSpPr>
        <p:spPr>
          <a:xfrm>
            <a:off x="7772400" y="4754880"/>
            <a:ext cx="384048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45552" y="4791456"/>
            <a:ext cx="3694176" cy="841248"/>
          </a:xfrm>
          <a:prstGeom prst="rect">
            <a:avLst/>
          </a:prstGeom>
          <a:noFill/>
        </p:spPr>
        <p:txBody>
          <a:bodyPr wrap="square" lIns="9144" tIns="9144" rIns="9144" bIns="9144" anchor="ctr">
            <a:spAutoFit/>
          </a:bodyPr>
          <a:lstStyle/>
          <a:p>
            <a:pPr algn="ctr">
              <a:spcAft>
                <a:spcPts val="0"/>
              </a:spcAft>
            </a:pPr>
            <a:r>
              <a:rPr sz="1300" b="0">
                <a:solidFill>
                  <a:srgbClr val="3A3A3A"/>
                </a:solidFill>
                <a:latin typeface="맑은 고딕"/>
                <a:ea typeface="맑은 고딕"/>
                <a:cs typeface="맑은 고딕"/>
              </a:rPr>
              <a:t>평균 2.36초 더 생존
완주율이56.5%라는 뜻은 아님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40 | Appendix A7 · RMA 결과</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545"/>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 · 논문이 보고한 성능과 직관적 의미</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00" b="0">
                <a:solidFill>
                  <a:srgbClr val="686868"/>
                </a:solidFill>
                <a:latin typeface="맑은 고딕"/>
                <a:ea typeface="맑은 고딕"/>
                <a:cs typeface="맑은 고딕"/>
              </a:rPr>
              <a:t>1) Kumar et al., RMA, Table II: simulation testing results; §V / Supplement S1.   2) 성공률 차이는 percentage points. 정규화 생존은 원문의 TTF를 백분율로 표현.</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40 / 43</a:t>
            </a:r>
          </a:p>
        </p:txBody>
      </p:sp>
      <p:sp>
        <p:nvSpPr>
          <p:cNvPr id="8" name="v5-content-intro"/>
          <p:cNvSpPr txBox="1"/>
          <p:nvPr/>
        </p:nvSpPr>
        <p:spPr>
          <a:xfrm>
            <a:off x="658367" y="1279570"/>
            <a:ext cx="10881360" cy="273921"/>
          </a:xfrm>
          <a:prstGeom prst="rect">
            <a:avLst/>
          </a:prstGeom>
          <a:noFill/>
        </p:spPr>
        <p:txBody>
          <a:bodyPr wrap="square" lIns="36576" tIns="36576" rIns="36576" bIns="36576" anchor="t">
            <a:spAutoFit/>
          </a:bodyPr>
          <a:lstStyle/>
          <a:p>
            <a:pPr algn="l">
              <a:spcAft>
                <a:spcPts val="0"/>
              </a:spcAft>
            </a:pPr>
            <a:r>
              <a:rPr sz="1300" b="0" dirty="0" err="1">
                <a:solidFill>
                  <a:srgbClr val="3A3A3A"/>
                </a:solidFill>
                <a:latin typeface="맑은 고딕"/>
                <a:ea typeface="맑은 고딕"/>
                <a:cs typeface="맑은 고딕"/>
              </a:rPr>
              <a:t>RMA는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일반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강건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정책보다</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성공률이</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높고</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실제</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물리정보</a:t>
            </a:r>
            <a:r>
              <a:rPr lang="en-US" sz="1300" b="0" dirty="0">
                <a:solidFill>
                  <a:srgbClr val="3A3A3A"/>
                </a:solidFill>
                <a:latin typeface="맑은 고딕"/>
                <a:ea typeface="맑은 고딕"/>
                <a:cs typeface="맑은 고딕"/>
              </a:rPr>
              <a:t>(GT)</a:t>
            </a:r>
            <a:r>
              <a:rPr sz="1300" b="0" dirty="0">
                <a:solidFill>
                  <a:srgbClr val="3A3A3A"/>
                </a:solidFill>
                <a:latin typeface="맑은 고딕"/>
                <a:ea typeface="맑은 고딕"/>
                <a:cs typeface="맑은 고딕"/>
              </a:rPr>
              <a:t>를 </a:t>
            </a:r>
            <a:r>
              <a:rPr sz="1300" b="0" dirty="0" err="1">
                <a:solidFill>
                  <a:srgbClr val="3A3A3A"/>
                </a:solidFill>
                <a:latin typeface="맑은 고딕"/>
                <a:ea typeface="맑은 고딕"/>
                <a:cs typeface="맑은 고딕"/>
              </a:rPr>
              <a:t>제공받는</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Expert의</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성능에</a:t>
            </a:r>
            <a:r>
              <a:rPr sz="1300" b="0" dirty="0">
                <a:solidFill>
                  <a:srgbClr val="3A3A3A"/>
                </a:solidFill>
                <a:latin typeface="맑은 고딕"/>
                <a:ea typeface="맑은 고딕"/>
                <a:cs typeface="맑은 고딕"/>
              </a:rPr>
              <a:t> </a:t>
            </a:r>
            <a:r>
              <a:rPr sz="1300" b="0" dirty="0" err="1">
                <a:solidFill>
                  <a:srgbClr val="3A3A3A"/>
                </a:solidFill>
                <a:latin typeface="맑은 고딕"/>
                <a:ea typeface="맑은 고딕"/>
                <a:cs typeface="맑은 고딕"/>
              </a:rPr>
              <a:t>가까웠다</a:t>
            </a:r>
            <a:r>
              <a:rPr sz="1300" b="0" dirty="0">
                <a:solidFill>
                  <a:srgbClr val="3A3A3A"/>
                </a:solidFill>
                <a:latin typeface="맑은 고딕"/>
                <a:ea typeface="맑은 고딕"/>
                <a:cs typeface="맑은 고딕"/>
              </a:rPr>
              <a:t>.</a:t>
            </a:r>
          </a:p>
        </p:txBody>
      </p:sp>
      <p:sp>
        <p:nvSpPr>
          <p:cNvPr id="9" name="Rectangle 8"/>
          <p:cNvSpPr/>
          <p:nvPr/>
        </p:nvSpPr>
        <p:spPr>
          <a:xfrm>
            <a:off x="640080" y="2011680"/>
            <a:ext cx="205740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2048256"/>
            <a:ext cx="1911095" cy="841248"/>
          </a:xfrm>
          <a:prstGeom prst="rect">
            <a:avLst/>
          </a:prstGeom>
          <a:noFill/>
        </p:spPr>
        <p:txBody>
          <a:bodyPr wrap="square" lIns="9144" tIns="9144" rIns="9144" bIns="9144" anchor="ctr">
            <a:spAutoFit/>
          </a:bodyPr>
          <a:lstStyle/>
          <a:p>
            <a:pPr algn="ctr">
              <a:spcAft>
                <a:spcPts val="0"/>
              </a:spcAft>
            </a:pPr>
            <a:r>
              <a:rPr sz="1270" b="1">
                <a:solidFill>
                  <a:srgbClr val="FFFFFF"/>
                </a:solidFill>
                <a:latin typeface="맑은 고딕"/>
                <a:ea typeface="맑은 고딕"/>
                <a:cs typeface="맑은 고딕"/>
              </a:rPr>
              <a:t>결과</a:t>
            </a:r>
          </a:p>
        </p:txBody>
      </p:sp>
      <p:sp>
        <p:nvSpPr>
          <p:cNvPr id="11" name="Rectangle 10"/>
          <p:cNvSpPr/>
          <p:nvPr/>
        </p:nvSpPr>
        <p:spPr>
          <a:xfrm>
            <a:off x="2697480" y="2011680"/>
            <a:ext cx="196596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70632" y="2048256"/>
            <a:ext cx="1819656" cy="841248"/>
          </a:xfrm>
          <a:prstGeom prst="rect">
            <a:avLst/>
          </a:prstGeom>
          <a:noFill/>
        </p:spPr>
        <p:txBody>
          <a:bodyPr wrap="square" lIns="9144" tIns="9144" rIns="9144" bIns="9144" anchor="ctr">
            <a:spAutoFit/>
          </a:bodyPr>
          <a:lstStyle/>
          <a:p>
            <a:pPr algn="ctr">
              <a:spcAft>
                <a:spcPts val="0"/>
              </a:spcAft>
            </a:pPr>
            <a:r>
              <a:rPr sz="1270" b="1">
                <a:solidFill>
                  <a:srgbClr val="FFFFFF"/>
                </a:solidFill>
                <a:latin typeface="맑은 고딕"/>
                <a:ea typeface="맑은 고딕"/>
                <a:cs typeface="맑은 고딕"/>
              </a:rPr>
              <a:t>일반 강건 정책
Robust</a:t>
            </a:r>
          </a:p>
        </p:txBody>
      </p:sp>
      <p:sp>
        <p:nvSpPr>
          <p:cNvPr id="13" name="Rectangle 12"/>
          <p:cNvSpPr/>
          <p:nvPr/>
        </p:nvSpPr>
        <p:spPr>
          <a:xfrm>
            <a:off x="4663440" y="2011680"/>
            <a:ext cx="132588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36592" y="2048256"/>
            <a:ext cx="1179576" cy="841248"/>
          </a:xfrm>
          <a:prstGeom prst="rect">
            <a:avLst/>
          </a:prstGeom>
          <a:noFill/>
        </p:spPr>
        <p:txBody>
          <a:bodyPr wrap="square" lIns="9144" tIns="9144" rIns="9144" bIns="9144" anchor="ctr">
            <a:spAutoFit/>
          </a:bodyPr>
          <a:lstStyle/>
          <a:p>
            <a:pPr algn="ctr">
              <a:spcAft>
                <a:spcPts val="0"/>
              </a:spcAft>
            </a:pPr>
            <a:r>
              <a:rPr sz="1270" b="1">
                <a:solidFill>
                  <a:srgbClr val="FFFFFF"/>
                </a:solidFill>
                <a:latin typeface="맑은 고딕"/>
                <a:ea typeface="맑은 고딕"/>
                <a:cs typeface="맑은 고딕"/>
              </a:rPr>
              <a:t>RMA</a:t>
            </a:r>
          </a:p>
        </p:txBody>
      </p:sp>
      <p:sp>
        <p:nvSpPr>
          <p:cNvPr id="15" name="Rectangle 14"/>
          <p:cNvSpPr/>
          <p:nvPr/>
        </p:nvSpPr>
        <p:spPr>
          <a:xfrm>
            <a:off x="5989320" y="2011680"/>
            <a:ext cx="192024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62472" y="2048256"/>
            <a:ext cx="1773936" cy="841248"/>
          </a:xfrm>
          <a:prstGeom prst="rect">
            <a:avLst/>
          </a:prstGeom>
          <a:noFill/>
        </p:spPr>
        <p:txBody>
          <a:bodyPr wrap="square" lIns="9144" tIns="9144" rIns="9144" bIns="9144" anchor="ctr">
            <a:spAutoFit/>
          </a:bodyPr>
          <a:lstStyle/>
          <a:p>
            <a:pPr algn="ctr">
              <a:spcAft>
                <a:spcPts val="0"/>
              </a:spcAft>
            </a:pPr>
            <a:r>
              <a:rPr sz="1270" b="1">
                <a:solidFill>
                  <a:srgbClr val="FFFFFF"/>
                </a:solidFill>
                <a:latin typeface="맑은 고딕"/>
                <a:ea typeface="맑은 고딕"/>
                <a:cs typeface="맑은 고딕"/>
              </a:rPr>
              <a:t>물리정보 기준
Expert</a:t>
            </a:r>
          </a:p>
        </p:txBody>
      </p:sp>
      <p:sp>
        <p:nvSpPr>
          <p:cNvPr id="17" name="Rectangle 16"/>
          <p:cNvSpPr/>
          <p:nvPr/>
        </p:nvSpPr>
        <p:spPr>
          <a:xfrm>
            <a:off x="7909560" y="2011680"/>
            <a:ext cx="3703320" cy="914400"/>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82712" y="2048256"/>
            <a:ext cx="3557015" cy="841248"/>
          </a:xfrm>
          <a:prstGeom prst="rect">
            <a:avLst/>
          </a:prstGeom>
          <a:noFill/>
        </p:spPr>
        <p:txBody>
          <a:bodyPr wrap="square" lIns="9144" tIns="9144" rIns="9144" bIns="9144" anchor="ctr">
            <a:spAutoFit/>
          </a:bodyPr>
          <a:lstStyle/>
          <a:p>
            <a:pPr algn="ctr">
              <a:spcAft>
                <a:spcPts val="0"/>
              </a:spcAft>
            </a:pPr>
            <a:r>
              <a:rPr sz="1270" b="1">
                <a:solidFill>
                  <a:srgbClr val="FFFFFF"/>
                </a:solidFill>
                <a:latin typeface="맑은 고딕"/>
                <a:ea typeface="맑은 고딕"/>
                <a:cs typeface="맑은 고딕"/>
              </a:rPr>
              <a:t>숫자의 의미</a:t>
            </a:r>
          </a:p>
        </p:txBody>
      </p:sp>
      <p:sp>
        <p:nvSpPr>
          <p:cNvPr id="19" name="Rectangle 18"/>
          <p:cNvSpPr/>
          <p:nvPr/>
        </p:nvSpPr>
        <p:spPr>
          <a:xfrm>
            <a:off x="640080" y="2926080"/>
            <a:ext cx="205740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1" y="2962656"/>
            <a:ext cx="1911095" cy="841248"/>
          </a:xfrm>
          <a:prstGeom prst="rect">
            <a:avLst/>
          </a:prstGeom>
          <a:noFill/>
        </p:spPr>
        <p:txBody>
          <a:bodyPr wrap="square" lIns="9144" tIns="9144" rIns="9144" bIns="9144" anchor="ctr">
            <a:spAutoFit/>
          </a:bodyPr>
          <a:lstStyle/>
          <a:p>
            <a:pPr algn="l">
              <a:spcAft>
                <a:spcPts val="0"/>
              </a:spcAft>
            </a:pPr>
            <a:r>
              <a:rPr sz="1270" b="1">
                <a:solidFill>
                  <a:srgbClr val="3A3A3A"/>
                </a:solidFill>
                <a:latin typeface="맑은 고딕"/>
                <a:ea typeface="맑은 고딕"/>
                <a:cs typeface="맑은 고딕"/>
              </a:rPr>
              <a:t>과제 성공률</a:t>
            </a:r>
          </a:p>
        </p:txBody>
      </p:sp>
      <p:sp>
        <p:nvSpPr>
          <p:cNvPr id="21" name="Rectangle 20"/>
          <p:cNvSpPr/>
          <p:nvPr/>
        </p:nvSpPr>
        <p:spPr>
          <a:xfrm>
            <a:off x="2697480" y="2926080"/>
            <a:ext cx="196596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70632" y="2962656"/>
            <a:ext cx="181965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62.4%</a:t>
            </a:r>
          </a:p>
        </p:txBody>
      </p:sp>
      <p:sp>
        <p:nvSpPr>
          <p:cNvPr id="23" name="Rectangle 22"/>
          <p:cNvSpPr/>
          <p:nvPr/>
        </p:nvSpPr>
        <p:spPr>
          <a:xfrm>
            <a:off x="4663440" y="2926080"/>
            <a:ext cx="132588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36592" y="2962656"/>
            <a:ext cx="117957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73.5%</a:t>
            </a:r>
          </a:p>
        </p:txBody>
      </p:sp>
      <p:sp>
        <p:nvSpPr>
          <p:cNvPr id="25" name="Rectangle 24"/>
          <p:cNvSpPr/>
          <p:nvPr/>
        </p:nvSpPr>
        <p:spPr>
          <a:xfrm>
            <a:off x="5989320" y="2926080"/>
            <a:ext cx="192024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62472" y="2962656"/>
            <a:ext cx="177393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76.2%</a:t>
            </a:r>
          </a:p>
        </p:txBody>
      </p:sp>
      <p:sp>
        <p:nvSpPr>
          <p:cNvPr id="27" name="Rectangle 26"/>
          <p:cNvSpPr/>
          <p:nvPr/>
        </p:nvSpPr>
        <p:spPr>
          <a:xfrm>
            <a:off x="7909560" y="2926080"/>
            <a:ext cx="370332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82712" y="2962656"/>
            <a:ext cx="3557015"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Robust보다11.1%p 높음
Expert와는2.7%p 차이</a:t>
            </a:r>
          </a:p>
        </p:txBody>
      </p:sp>
      <p:sp>
        <p:nvSpPr>
          <p:cNvPr id="29" name="Rectangle 28"/>
          <p:cNvSpPr/>
          <p:nvPr/>
        </p:nvSpPr>
        <p:spPr>
          <a:xfrm>
            <a:off x="640080" y="3840480"/>
            <a:ext cx="205740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3877056"/>
            <a:ext cx="1911095" cy="841248"/>
          </a:xfrm>
          <a:prstGeom prst="rect">
            <a:avLst/>
          </a:prstGeom>
          <a:noFill/>
        </p:spPr>
        <p:txBody>
          <a:bodyPr wrap="square" lIns="9144" tIns="9144" rIns="9144" bIns="9144" anchor="ctr">
            <a:spAutoFit/>
          </a:bodyPr>
          <a:lstStyle/>
          <a:p>
            <a:pPr algn="l">
              <a:spcAft>
                <a:spcPts val="0"/>
              </a:spcAft>
            </a:pPr>
            <a:r>
              <a:rPr sz="1270" b="1">
                <a:solidFill>
                  <a:srgbClr val="3A3A3A"/>
                </a:solidFill>
                <a:latin typeface="맑은 고딕"/>
                <a:ea typeface="맑은 고딕"/>
                <a:cs typeface="맑은 고딕"/>
              </a:rPr>
              <a:t>평균 생존 시간
최대시간 대비</a:t>
            </a:r>
          </a:p>
        </p:txBody>
      </p:sp>
      <p:sp>
        <p:nvSpPr>
          <p:cNvPr id="31" name="Rectangle 30"/>
          <p:cNvSpPr/>
          <p:nvPr/>
        </p:nvSpPr>
        <p:spPr>
          <a:xfrm>
            <a:off x="2697480" y="3840480"/>
            <a:ext cx="196596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70632" y="3877056"/>
            <a:ext cx="181965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80%</a:t>
            </a:r>
          </a:p>
        </p:txBody>
      </p:sp>
      <p:sp>
        <p:nvSpPr>
          <p:cNvPr id="33" name="Rectangle 32"/>
          <p:cNvSpPr/>
          <p:nvPr/>
        </p:nvSpPr>
        <p:spPr>
          <a:xfrm>
            <a:off x="4663440" y="3840480"/>
            <a:ext cx="132588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3877056"/>
            <a:ext cx="117957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85%</a:t>
            </a:r>
          </a:p>
        </p:txBody>
      </p:sp>
      <p:sp>
        <p:nvSpPr>
          <p:cNvPr id="35" name="Rectangle 34"/>
          <p:cNvSpPr/>
          <p:nvPr/>
        </p:nvSpPr>
        <p:spPr>
          <a:xfrm>
            <a:off x="5989320" y="3840480"/>
            <a:ext cx="192024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62472" y="3877056"/>
            <a:ext cx="177393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86%</a:t>
            </a:r>
          </a:p>
        </p:txBody>
      </p:sp>
      <p:sp>
        <p:nvSpPr>
          <p:cNvPr id="37" name="Rectangle 36"/>
          <p:cNvSpPr/>
          <p:nvPr/>
        </p:nvSpPr>
        <p:spPr>
          <a:xfrm>
            <a:off x="7909560" y="3840480"/>
            <a:ext cx="3703320" cy="914400"/>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982712" y="4093008"/>
            <a:ext cx="3557015" cy="409343"/>
          </a:xfrm>
          <a:prstGeom prst="rect">
            <a:avLst/>
          </a:prstGeom>
          <a:noFill/>
        </p:spPr>
        <p:txBody>
          <a:bodyPr wrap="square" lIns="9144" tIns="9144" rIns="9144" bIns="9144" anchor="ctr">
            <a:spAutoFit/>
          </a:bodyPr>
          <a:lstStyle/>
          <a:p>
            <a:pPr algn="ctr">
              <a:spcAft>
                <a:spcPts val="0"/>
              </a:spcAft>
            </a:pPr>
            <a:r>
              <a:rPr sz="1270" b="0" dirty="0" err="1">
                <a:solidFill>
                  <a:srgbClr val="3A3A3A"/>
                </a:solidFill>
                <a:latin typeface="맑은 고딕"/>
                <a:ea typeface="맑은 고딕"/>
                <a:cs typeface="맑은 고딕"/>
              </a:rPr>
              <a:t>허용시간의</a:t>
            </a:r>
            <a:r>
              <a:rPr lang="en-US" sz="1270" b="0" dirty="0">
                <a:solidFill>
                  <a:srgbClr val="3A3A3A"/>
                </a:solidFill>
                <a:latin typeface="맑은 고딕"/>
                <a:ea typeface="맑은 고딕"/>
                <a:cs typeface="맑은 고딕"/>
              </a:rPr>
              <a:t> </a:t>
            </a:r>
            <a:r>
              <a:rPr sz="1270" b="0" dirty="0" err="1">
                <a:solidFill>
                  <a:srgbClr val="3A3A3A"/>
                </a:solidFill>
                <a:latin typeface="맑은 고딕"/>
                <a:ea typeface="맑은 고딕"/>
                <a:cs typeface="맑은 고딕"/>
              </a:rPr>
              <a:t>평균</a:t>
            </a:r>
            <a:r>
              <a:rPr lang="en-US" sz="1270" b="0" dirty="0">
                <a:solidFill>
                  <a:srgbClr val="3A3A3A"/>
                </a:solidFill>
                <a:latin typeface="맑은 고딕"/>
                <a:ea typeface="맑은 고딕"/>
                <a:cs typeface="맑은 고딕"/>
              </a:rPr>
              <a:t> </a:t>
            </a:r>
            <a:r>
              <a:rPr sz="1270" b="0" dirty="0">
                <a:solidFill>
                  <a:srgbClr val="3A3A3A"/>
                </a:solidFill>
                <a:latin typeface="맑은 고딕"/>
                <a:ea typeface="맑은 고딕"/>
                <a:cs typeface="맑은 고딕"/>
              </a:rPr>
              <a:t>85%를</a:t>
            </a:r>
            <a:r>
              <a:rPr lang="en-US" sz="1270" b="0" dirty="0">
                <a:solidFill>
                  <a:srgbClr val="3A3A3A"/>
                </a:solidFill>
                <a:latin typeface="맑은 고딕"/>
                <a:ea typeface="맑은 고딕"/>
                <a:cs typeface="맑은 고딕"/>
              </a:rPr>
              <a:t> </a:t>
            </a:r>
            <a:r>
              <a:rPr sz="1270" b="0" dirty="0" err="1">
                <a:solidFill>
                  <a:srgbClr val="3A3A3A"/>
                </a:solidFill>
                <a:latin typeface="맑은 고딕"/>
                <a:ea typeface="맑은 고딕"/>
                <a:cs typeface="맑은 고딕"/>
              </a:rPr>
              <a:t>생존</a:t>
            </a:r>
            <a:r>
              <a:rPr sz="1270" b="0" dirty="0">
                <a:solidFill>
                  <a:srgbClr val="3A3A3A"/>
                </a:solidFill>
                <a:latin typeface="맑은 고딕"/>
                <a:ea typeface="맑은 고딕"/>
                <a:cs typeface="맑은 고딕"/>
              </a:rPr>
              <a:t>
</a:t>
            </a:r>
            <a:r>
              <a:rPr sz="1270" b="0" dirty="0" err="1">
                <a:solidFill>
                  <a:srgbClr val="3A3A3A"/>
                </a:solidFill>
                <a:latin typeface="맑은 고딕"/>
                <a:ea typeface="맑은 고딕"/>
                <a:cs typeface="맑은 고딕"/>
              </a:rPr>
              <a:t>Expert의</a:t>
            </a:r>
            <a:r>
              <a:rPr lang="en-US" sz="1270" b="0" dirty="0">
                <a:solidFill>
                  <a:srgbClr val="3A3A3A"/>
                </a:solidFill>
                <a:latin typeface="맑은 고딕"/>
                <a:ea typeface="맑은 고딕"/>
                <a:cs typeface="맑은 고딕"/>
              </a:rPr>
              <a:t> </a:t>
            </a:r>
            <a:r>
              <a:rPr sz="1270" b="0" dirty="0">
                <a:solidFill>
                  <a:srgbClr val="3A3A3A"/>
                </a:solidFill>
                <a:latin typeface="맑은 고딕"/>
                <a:ea typeface="맑은 고딕"/>
                <a:cs typeface="맑은 고딕"/>
              </a:rPr>
              <a:t>86%에</a:t>
            </a:r>
            <a:r>
              <a:rPr lang="en-US" sz="1270" b="0" dirty="0">
                <a:solidFill>
                  <a:srgbClr val="3A3A3A"/>
                </a:solidFill>
                <a:latin typeface="맑은 고딕"/>
                <a:ea typeface="맑은 고딕"/>
                <a:cs typeface="맑은 고딕"/>
              </a:rPr>
              <a:t> </a:t>
            </a:r>
            <a:r>
              <a:rPr sz="1270" b="0" dirty="0" err="1">
                <a:solidFill>
                  <a:srgbClr val="3A3A3A"/>
                </a:solidFill>
                <a:latin typeface="맑은 고딕"/>
                <a:ea typeface="맑은 고딕"/>
                <a:cs typeface="맑은 고딕"/>
              </a:rPr>
              <a:t>가까움</a:t>
            </a:r>
            <a:endParaRPr sz="1270" b="0" dirty="0">
              <a:solidFill>
                <a:srgbClr val="3A3A3A"/>
              </a:solidFill>
              <a:latin typeface="맑은 고딕"/>
              <a:ea typeface="맑은 고딕"/>
              <a:cs typeface="맑은 고딕"/>
            </a:endParaRPr>
          </a:p>
        </p:txBody>
      </p:sp>
      <p:sp>
        <p:nvSpPr>
          <p:cNvPr id="39" name="Rectangle 38"/>
          <p:cNvSpPr/>
          <p:nvPr/>
        </p:nvSpPr>
        <p:spPr>
          <a:xfrm>
            <a:off x="640080" y="4754880"/>
            <a:ext cx="205740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13231" y="4791456"/>
            <a:ext cx="1911095" cy="841248"/>
          </a:xfrm>
          <a:prstGeom prst="rect">
            <a:avLst/>
          </a:prstGeom>
          <a:noFill/>
        </p:spPr>
        <p:txBody>
          <a:bodyPr wrap="square" lIns="9144" tIns="9144" rIns="9144" bIns="9144" anchor="ctr">
            <a:spAutoFit/>
          </a:bodyPr>
          <a:lstStyle/>
          <a:p>
            <a:pPr algn="l">
              <a:spcAft>
                <a:spcPts val="0"/>
              </a:spcAft>
            </a:pPr>
            <a:r>
              <a:rPr sz="1270" b="1">
                <a:solidFill>
                  <a:srgbClr val="3A3A3A"/>
                </a:solidFill>
                <a:latin typeface="맑은 고딕"/>
                <a:ea typeface="맑은 고딕"/>
                <a:cs typeface="맑은 고딕"/>
              </a:rPr>
              <a:t>평균 이동거리</a:t>
            </a:r>
          </a:p>
        </p:txBody>
      </p:sp>
      <p:sp>
        <p:nvSpPr>
          <p:cNvPr id="41" name="Rectangle 40"/>
          <p:cNvSpPr/>
          <p:nvPr/>
        </p:nvSpPr>
        <p:spPr>
          <a:xfrm>
            <a:off x="2697480" y="4754880"/>
            <a:ext cx="196596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70632" y="4791456"/>
            <a:ext cx="181965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1.13 m</a:t>
            </a:r>
          </a:p>
        </p:txBody>
      </p:sp>
      <p:sp>
        <p:nvSpPr>
          <p:cNvPr id="43" name="Rectangle 42"/>
          <p:cNvSpPr/>
          <p:nvPr/>
        </p:nvSpPr>
        <p:spPr>
          <a:xfrm>
            <a:off x="4663440" y="4754880"/>
            <a:ext cx="132588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36592" y="4791456"/>
            <a:ext cx="117957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1.34 m</a:t>
            </a:r>
          </a:p>
        </p:txBody>
      </p:sp>
      <p:sp>
        <p:nvSpPr>
          <p:cNvPr id="45" name="Rectangle 44"/>
          <p:cNvSpPr/>
          <p:nvPr/>
        </p:nvSpPr>
        <p:spPr>
          <a:xfrm>
            <a:off x="5989320" y="4754880"/>
            <a:ext cx="192024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062472" y="4791456"/>
            <a:ext cx="1773936" cy="841248"/>
          </a:xfrm>
          <a:prstGeom prst="rect">
            <a:avLst/>
          </a:prstGeom>
          <a:noFill/>
        </p:spPr>
        <p:txBody>
          <a:bodyPr wrap="square" lIns="9144" tIns="9144" rIns="9144" bIns="9144" anchor="ctr">
            <a:spAutoFit/>
          </a:bodyPr>
          <a:lstStyle/>
          <a:p>
            <a:pPr algn="ctr">
              <a:spcAft>
                <a:spcPts val="0"/>
              </a:spcAft>
            </a:pPr>
            <a:r>
              <a:rPr sz="1270" b="0">
                <a:solidFill>
                  <a:srgbClr val="3A3A3A"/>
                </a:solidFill>
                <a:latin typeface="맑은 고딕"/>
                <a:ea typeface="맑은 고딕"/>
                <a:cs typeface="맑은 고딕"/>
              </a:rPr>
              <a:t>1.35 m</a:t>
            </a:r>
          </a:p>
        </p:txBody>
      </p:sp>
      <p:sp>
        <p:nvSpPr>
          <p:cNvPr id="47" name="Rectangle 46"/>
          <p:cNvSpPr/>
          <p:nvPr/>
        </p:nvSpPr>
        <p:spPr>
          <a:xfrm>
            <a:off x="7909560" y="4754880"/>
            <a:ext cx="3703320" cy="914400"/>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982712" y="5007408"/>
            <a:ext cx="3557015" cy="409343"/>
          </a:xfrm>
          <a:prstGeom prst="rect">
            <a:avLst/>
          </a:prstGeom>
          <a:noFill/>
        </p:spPr>
        <p:txBody>
          <a:bodyPr wrap="square" lIns="9144" tIns="9144" rIns="9144" bIns="9144" anchor="ctr">
            <a:spAutoFit/>
          </a:bodyPr>
          <a:lstStyle/>
          <a:p>
            <a:pPr algn="ctr">
              <a:spcAft>
                <a:spcPts val="0"/>
              </a:spcAft>
            </a:pPr>
            <a:r>
              <a:rPr sz="1270" b="0" dirty="0" err="1">
                <a:solidFill>
                  <a:srgbClr val="3A3A3A"/>
                </a:solidFill>
                <a:latin typeface="맑은 고딕"/>
                <a:ea typeface="맑은 고딕"/>
                <a:cs typeface="맑은 고딕"/>
              </a:rPr>
              <a:t>Robust보다</a:t>
            </a:r>
            <a:r>
              <a:rPr lang="en-US" sz="1270" b="0" dirty="0">
                <a:solidFill>
                  <a:srgbClr val="3A3A3A"/>
                </a:solidFill>
                <a:latin typeface="맑은 고딕"/>
                <a:ea typeface="맑은 고딕"/>
                <a:cs typeface="맑은 고딕"/>
              </a:rPr>
              <a:t> </a:t>
            </a:r>
            <a:r>
              <a:rPr sz="1270" b="0" dirty="0">
                <a:solidFill>
                  <a:srgbClr val="3A3A3A"/>
                </a:solidFill>
                <a:latin typeface="맑은 고딕"/>
                <a:ea typeface="맑은 고딕"/>
                <a:cs typeface="맑은 고딕"/>
              </a:rPr>
              <a:t>0.21m </a:t>
            </a:r>
            <a:r>
              <a:rPr sz="1270" b="0" dirty="0" err="1">
                <a:solidFill>
                  <a:srgbClr val="3A3A3A"/>
                </a:solidFill>
                <a:latin typeface="맑은 고딕"/>
                <a:ea typeface="맑은 고딕"/>
                <a:cs typeface="맑은 고딕"/>
              </a:rPr>
              <a:t>더전진</a:t>
            </a:r>
            <a:r>
              <a:rPr sz="1270" b="0" dirty="0">
                <a:solidFill>
                  <a:srgbClr val="3A3A3A"/>
                </a:solidFill>
                <a:latin typeface="맑은 고딕"/>
                <a:ea typeface="맑은 고딕"/>
                <a:cs typeface="맑은 고딕"/>
              </a:rPr>
              <a:t>
</a:t>
            </a:r>
            <a:r>
              <a:rPr sz="1270" b="0" dirty="0" err="1">
                <a:solidFill>
                  <a:srgbClr val="3A3A3A"/>
                </a:solidFill>
                <a:latin typeface="맑은 고딕"/>
                <a:ea typeface="맑은 고딕"/>
                <a:cs typeface="맑은 고딕"/>
              </a:rPr>
              <a:t>Expert와는</a:t>
            </a:r>
            <a:r>
              <a:rPr lang="en-US" sz="1270" b="0" dirty="0">
                <a:solidFill>
                  <a:srgbClr val="3A3A3A"/>
                </a:solidFill>
                <a:latin typeface="맑은 고딕"/>
                <a:ea typeface="맑은 고딕"/>
                <a:cs typeface="맑은 고딕"/>
              </a:rPr>
              <a:t> </a:t>
            </a:r>
            <a:r>
              <a:rPr sz="1270" b="0" dirty="0">
                <a:solidFill>
                  <a:srgbClr val="3A3A3A"/>
                </a:solidFill>
                <a:latin typeface="맑은 고딕"/>
                <a:ea typeface="맑은 고딕"/>
                <a:cs typeface="맑은 고딕"/>
              </a:rPr>
              <a:t>0.01m </a:t>
            </a:r>
            <a:r>
              <a:rPr sz="1270" b="0" dirty="0" err="1">
                <a:solidFill>
                  <a:srgbClr val="3A3A3A"/>
                </a:solidFill>
                <a:latin typeface="맑은 고딕"/>
                <a:ea typeface="맑은 고딕"/>
                <a:cs typeface="맑은 고딕"/>
              </a:rPr>
              <a:t>차이</a:t>
            </a:r>
            <a:endParaRPr sz="1270" b="0" dirty="0">
              <a:solidFill>
                <a:srgbClr val="3A3A3A"/>
              </a:solidFill>
              <a:latin typeface="맑은 고딕"/>
              <a:ea typeface="맑은 고딕"/>
              <a:cs typeface="맑은 고딕"/>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41 | Appendix A8 · ADAPT 결과</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1078992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 · 논문이 보고한 성능과 직관적 의미</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00" b="0">
                <a:solidFill>
                  <a:srgbClr val="686868"/>
                </a:solidFill>
                <a:latin typeface="맑은 고딕"/>
                <a:ea typeface="맑은 고딕"/>
                <a:cs typeface="맑은 고딕"/>
              </a:rPr>
              <a:t>1) Wu et al., ADAPT, Fig.3 printed values; DAI 2023.   2) LFC: 왼쪽 앞 calf / RFC: 오른쪽 앞 calf. 아래는 두 조건의 예시이며 전체 평균이 아님.</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41 / 43</a:t>
            </a:r>
          </a:p>
        </p:txBody>
      </p:sp>
      <p:sp>
        <p:nvSpPr>
          <p:cNvPr id="8" name="v5-content-intro"/>
          <p:cNvSpPr txBox="1"/>
          <p:nvPr/>
        </p:nvSpPr>
        <p:spPr>
          <a:xfrm>
            <a:off x="658368" y="1261872"/>
            <a:ext cx="10881360" cy="484632"/>
          </a:xfrm>
          <a:prstGeom prst="rect">
            <a:avLst/>
          </a:prstGeom>
          <a:noFill/>
        </p:spPr>
        <p:txBody>
          <a:bodyPr wrap="square" lIns="36576" tIns="36576" rIns="36576" bIns="36576" anchor="t">
            <a:spAutoFit/>
          </a:bodyPr>
          <a:lstStyle/>
          <a:p>
            <a:pPr algn="l">
              <a:spcAft>
                <a:spcPts val="0"/>
              </a:spcAft>
            </a:pPr>
            <a:r>
              <a:rPr sz="1250" b="0">
                <a:solidFill>
                  <a:srgbClr val="3A3A3A"/>
                </a:solidFill>
                <a:latin typeface="맑은 고딕"/>
                <a:ea typeface="맑은 고딕"/>
                <a:cs typeface="맑은 고딕"/>
              </a:rPr>
              <a:t>앞다리 calf의 완전 출력 상실 사례에서 ADAPT는 일반 정책보다 높은 점수를 얻고 Teacher에 가까웠다.
점수는 논문 고유의 누적 reward이며, 속도나 생존율을 뜻하지 않는다.</a:t>
            </a:r>
          </a:p>
        </p:txBody>
      </p:sp>
      <p:sp>
        <p:nvSpPr>
          <p:cNvPr id="9" name="Rectangle 8"/>
          <p:cNvSpPr/>
          <p:nvPr/>
        </p:nvSpPr>
        <p:spPr>
          <a:xfrm>
            <a:off x="640080" y="2029968"/>
            <a:ext cx="2971800" cy="10789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1" y="2066544"/>
            <a:ext cx="2825496" cy="1005839"/>
          </a:xfrm>
          <a:prstGeom prst="rect">
            <a:avLst/>
          </a:prstGeom>
          <a:noFill/>
        </p:spPr>
        <p:txBody>
          <a:bodyPr wrap="square" lIns="9144" tIns="9144" rIns="9144" bIns="9144" anchor="ctr">
            <a:spAutoFit/>
          </a:bodyPr>
          <a:lstStyle/>
          <a:p>
            <a:pPr algn="ctr">
              <a:spcAft>
                <a:spcPts val="0"/>
              </a:spcAft>
            </a:pPr>
            <a:r>
              <a:rPr sz="1350" b="1">
                <a:solidFill>
                  <a:srgbClr val="FFFFFF"/>
                </a:solidFill>
                <a:latin typeface="맑은 고딕"/>
                <a:ea typeface="맑은 고딕"/>
                <a:cs typeface="맑은 고딕"/>
              </a:rPr>
              <a:t>완전 출력 상실 조건</a:t>
            </a:r>
          </a:p>
        </p:txBody>
      </p:sp>
      <p:sp>
        <p:nvSpPr>
          <p:cNvPr id="11" name="Rectangle 10"/>
          <p:cNvSpPr/>
          <p:nvPr/>
        </p:nvSpPr>
        <p:spPr>
          <a:xfrm>
            <a:off x="3611880" y="2029968"/>
            <a:ext cx="2194560" cy="10789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85032" y="2066544"/>
            <a:ext cx="2048255" cy="1005839"/>
          </a:xfrm>
          <a:prstGeom prst="rect">
            <a:avLst/>
          </a:prstGeom>
          <a:noFill/>
        </p:spPr>
        <p:txBody>
          <a:bodyPr wrap="square" lIns="9144" tIns="9144" rIns="9144" bIns="9144" anchor="ctr">
            <a:spAutoFit/>
          </a:bodyPr>
          <a:lstStyle/>
          <a:p>
            <a:pPr algn="ctr">
              <a:spcAft>
                <a:spcPts val="0"/>
              </a:spcAft>
            </a:pPr>
            <a:r>
              <a:rPr sz="1350" b="1">
                <a:solidFill>
                  <a:srgbClr val="FFFFFF"/>
                </a:solidFill>
                <a:latin typeface="맑은 고딕"/>
                <a:ea typeface="맑은 고딕"/>
                <a:cs typeface="맑은 고딕"/>
              </a:rPr>
              <a:t>일반 정책
Single Policy</a:t>
            </a:r>
          </a:p>
        </p:txBody>
      </p:sp>
      <p:sp>
        <p:nvSpPr>
          <p:cNvPr id="13" name="Rectangle 12"/>
          <p:cNvSpPr/>
          <p:nvPr/>
        </p:nvSpPr>
        <p:spPr>
          <a:xfrm>
            <a:off x="5806440" y="2029968"/>
            <a:ext cx="1600200" cy="10789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79592" y="2066544"/>
            <a:ext cx="1453896" cy="1005839"/>
          </a:xfrm>
          <a:prstGeom prst="rect">
            <a:avLst/>
          </a:prstGeom>
          <a:noFill/>
        </p:spPr>
        <p:txBody>
          <a:bodyPr wrap="square" lIns="9144" tIns="9144" rIns="9144" bIns="9144" anchor="ctr">
            <a:spAutoFit/>
          </a:bodyPr>
          <a:lstStyle/>
          <a:p>
            <a:pPr algn="ctr">
              <a:spcAft>
                <a:spcPts val="0"/>
              </a:spcAft>
            </a:pPr>
            <a:r>
              <a:rPr sz="1350" b="1">
                <a:solidFill>
                  <a:srgbClr val="FFFFFF"/>
                </a:solidFill>
                <a:latin typeface="맑은 고딕"/>
                <a:ea typeface="맑은 고딕"/>
                <a:cs typeface="맑은 고딕"/>
              </a:rPr>
              <a:t>MLP</a:t>
            </a:r>
          </a:p>
        </p:txBody>
      </p:sp>
      <p:sp>
        <p:nvSpPr>
          <p:cNvPr id="15" name="Rectangle 14"/>
          <p:cNvSpPr/>
          <p:nvPr/>
        </p:nvSpPr>
        <p:spPr>
          <a:xfrm>
            <a:off x="7406640" y="2029968"/>
            <a:ext cx="2103120" cy="10789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9792" y="2066544"/>
            <a:ext cx="1956815" cy="1005839"/>
          </a:xfrm>
          <a:prstGeom prst="rect">
            <a:avLst/>
          </a:prstGeom>
          <a:noFill/>
        </p:spPr>
        <p:txBody>
          <a:bodyPr wrap="square" lIns="9144" tIns="9144" rIns="9144" bIns="9144" anchor="ctr">
            <a:spAutoFit/>
          </a:bodyPr>
          <a:lstStyle/>
          <a:p>
            <a:pPr algn="ctr">
              <a:spcAft>
                <a:spcPts val="0"/>
              </a:spcAft>
            </a:pPr>
            <a:r>
              <a:rPr sz="1350" b="1">
                <a:solidFill>
                  <a:srgbClr val="FFFFFF"/>
                </a:solidFill>
                <a:latin typeface="맑은 고딕"/>
                <a:ea typeface="맑은 고딕"/>
                <a:cs typeface="맑은 고딕"/>
              </a:rPr>
              <a:t>ADAPT</a:t>
            </a:r>
          </a:p>
        </p:txBody>
      </p:sp>
      <p:sp>
        <p:nvSpPr>
          <p:cNvPr id="17" name="Rectangle 16"/>
          <p:cNvSpPr/>
          <p:nvPr/>
        </p:nvSpPr>
        <p:spPr>
          <a:xfrm>
            <a:off x="9509759" y="2029968"/>
            <a:ext cx="2103120" cy="1078992"/>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82911" y="2066544"/>
            <a:ext cx="1956815" cy="1005839"/>
          </a:xfrm>
          <a:prstGeom prst="rect">
            <a:avLst/>
          </a:prstGeom>
          <a:noFill/>
        </p:spPr>
        <p:txBody>
          <a:bodyPr wrap="square" lIns="9144" tIns="9144" rIns="9144" bIns="9144" anchor="ctr">
            <a:spAutoFit/>
          </a:bodyPr>
          <a:lstStyle/>
          <a:p>
            <a:pPr algn="ctr">
              <a:spcAft>
                <a:spcPts val="0"/>
              </a:spcAft>
            </a:pPr>
            <a:r>
              <a:rPr sz="1350" b="1">
                <a:solidFill>
                  <a:srgbClr val="FFFFFF"/>
                </a:solidFill>
                <a:latin typeface="맑은 고딕"/>
                <a:ea typeface="맑은 고딕"/>
                <a:cs typeface="맑은 고딕"/>
              </a:rPr>
              <a:t>Teacher</a:t>
            </a:r>
          </a:p>
        </p:txBody>
      </p:sp>
      <p:sp>
        <p:nvSpPr>
          <p:cNvPr id="19" name="Rectangle 18"/>
          <p:cNvSpPr/>
          <p:nvPr/>
        </p:nvSpPr>
        <p:spPr>
          <a:xfrm>
            <a:off x="640080" y="3108960"/>
            <a:ext cx="2971800" cy="10789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1" y="3145536"/>
            <a:ext cx="2825496" cy="1005839"/>
          </a:xfrm>
          <a:prstGeom prst="rect">
            <a:avLst/>
          </a:prstGeom>
          <a:noFill/>
        </p:spPr>
        <p:txBody>
          <a:bodyPr wrap="square" lIns="9144" tIns="9144" rIns="9144" bIns="9144" anchor="ctr">
            <a:spAutoFit/>
          </a:bodyPr>
          <a:lstStyle/>
          <a:p>
            <a:pPr algn="l">
              <a:spcAft>
                <a:spcPts val="0"/>
              </a:spcAft>
            </a:pPr>
            <a:r>
              <a:rPr sz="1350" b="1">
                <a:solidFill>
                  <a:srgbClr val="3A3A3A"/>
                </a:solidFill>
                <a:latin typeface="맑은 고딕"/>
                <a:ea typeface="맑은 고딕"/>
                <a:cs typeface="맑은 고딕"/>
              </a:rPr>
              <a:t>왼쪽 앞 calf · LFC</a:t>
            </a:r>
          </a:p>
        </p:txBody>
      </p:sp>
      <p:sp>
        <p:nvSpPr>
          <p:cNvPr id="21" name="Rectangle 20"/>
          <p:cNvSpPr/>
          <p:nvPr/>
        </p:nvSpPr>
        <p:spPr>
          <a:xfrm>
            <a:off x="3611880" y="3108960"/>
            <a:ext cx="2194560" cy="10789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85032" y="3145536"/>
            <a:ext cx="2048255"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24.22</a:t>
            </a:r>
          </a:p>
        </p:txBody>
      </p:sp>
      <p:sp>
        <p:nvSpPr>
          <p:cNvPr id="23" name="Rectangle 22"/>
          <p:cNvSpPr/>
          <p:nvPr/>
        </p:nvSpPr>
        <p:spPr>
          <a:xfrm>
            <a:off x="5806440" y="3108960"/>
            <a:ext cx="1600200" cy="10789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79592" y="3145536"/>
            <a:ext cx="1453896"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25.92</a:t>
            </a:r>
          </a:p>
        </p:txBody>
      </p:sp>
      <p:sp>
        <p:nvSpPr>
          <p:cNvPr id="25" name="Rectangle 24"/>
          <p:cNvSpPr/>
          <p:nvPr/>
        </p:nvSpPr>
        <p:spPr>
          <a:xfrm>
            <a:off x="7406640" y="3108960"/>
            <a:ext cx="2103120" cy="10789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79792" y="3145536"/>
            <a:ext cx="1956815"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26.44</a:t>
            </a:r>
          </a:p>
        </p:txBody>
      </p:sp>
      <p:sp>
        <p:nvSpPr>
          <p:cNvPr id="27" name="Rectangle 26"/>
          <p:cNvSpPr/>
          <p:nvPr/>
        </p:nvSpPr>
        <p:spPr>
          <a:xfrm>
            <a:off x="9509759" y="3108960"/>
            <a:ext cx="2103120" cy="1078992"/>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82911" y="3145536"/>
            <a:ext cx="1956815"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26.54</a:t>
            </a:r>
          </a:p>
        </p:txBody>
      </p:sp>
      <p:sp>
        <p:nvSpPr>
          <p:cNvPr id="29" name="Rectangle 28"/>
          <p:cNvSpPr/>
          <p:nvPr/>
        </p:nvSpPr>
        <p:spPr>
          <a:xfrm>
            <a:off x="640080" y="4187952"/>
            <a:ext cx="2971800" cy="10789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4224528"/>
            <a:ext cx="2825496" cy="1005839"/>
          </a:xfrm>
          <a:prstGeom prst="rect">
            <a:avLst/>
          </a:prstGeom>
          <a:noFill/>
        </p:spPr>
        <p:txBody>
          <a:bodyPr wrap="square" lIns="9144" tIns="9144" rIns="9144" bIns="9144" anchor="ctr">
            <a:spAutoFit/>
          </a:bodyPr>
          <a:lstStyle/>
          <a:p>
            <a:pPr algn="l">
              <a:spcAft>
                <a:spcPts val="0"/>
              </a:spcAft>
            </a:pPr>
            <a:r>
              <a:rPr sz="1350" b="1">
                <a:solidFill>
                  <a:srgbClr val="3A3A3A"/>
                </a:solidFill>
                <a:latin typeface="맑은 고딕"/>
                <a:ea typeface="맑은 고딕"/>
                <a:cs typeface="맑은 고딕"/>
              </a:rPr>
              <a:t>오른쪽 앞 calf · RFC</a:t>
            </a:r>
          </a:p>
        </p:txBody>
      </p:sp>
      <p:sp>
        <p:nvSpPr>
          <p:cNvPr id="31" name="Rectangle 30"/>
          <p:cNvSpPr/>
          <p:nvPr/>
        </p:nvSpPr>
        <p:spPr>
          <a:xfrm>
            <a:off x="3611880" y="4187952"/>
            <a:ext cx="2194560" cy="10789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85032" y="4224528"/>
            <a:ext cx="2048255"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25.82</a:t>
            </a:r>
          </a:p>
        </p:txBody>
      </p:sp>
      <p:sp>
        <p:nvSpPr>
          <p:cNvPr id="33" name="Rectangle 32"/>
          <p:cNvSpPr/>
          <p:nvPr/>
        </p:nvSpPr>
        <p:spPr>
          <a:xfrm>
            <a:off x="5806440" y="4187952"/>
            <a:ext cx="1600200" cy="10789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879592" y="4224528"/>
            <a:ext cx="1453896"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25.99</a:t>
            </a:r>
          </a:p>
        </p:txBody>
      </p:sp>
      <p:sp>
        <p:nvSpPr>
          <p:cNvPr id="35" name="Rectangle 34"/>
          <p:cNvSpPr/>
          <p:nvPr/>
        </p:nvSpPr>
        <p:spPr>
          <a:xfrm>
            <a:off x="7406640" y="4187952"/>
            <a:ext cx="2103120" cy="10789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79792" y="4224528"/>
            <a:ext cx="1956815"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26.42</a:t>
            </a:r>
          </a:p>
        </p:txBody>
      </p:sp>
      <p:sp>
        <p:nvSpPr>
          <p:cNvPr id="37" name="Rectangle 36"/>
          <p:cNvSpPr/>
          <p:nvPr/>
        </p:nvSpPr>
        <p:spPr>
          <a:xfrm>
            <a:off x="9509759" y="4187952"/>
            <a:ext cx="2103120" cy="1078992"/>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582911" y="4224528"/>
            <a:ext cx="1956815" cy="1005839"/>
          </a:xfrm>
          <a:prstGeom prst="rect">
            <a:avLst/>
          </a:prstGeom>
          <a:noFill/>
        </p:spPr>
        <p:txBody>
          <a:bodyPr wrap="square" lIns="9144" tIns="9144" rIns="9144" bIns="9144" anchor="ctr">
            <a:spAutoFit/>
          </a:bodyPr>
          <a:lstStyle/>
          <a:p>
            <a:pPr algn="ctr">
              <a:spcAft>
                <a:spcPts val="0"/>
              </a:spcAft>
            </a:pPr>
            <a:r>
              <a:rPr sz="1350" b="0">
                <a:solidFill>
                  <a:srgbClr val="3A3A3A"/>
                </a:solidFill>
                <a:latin typeface="맑은 고딕"/>
                <a:ea typeface="맑은 고딕"/>
                <a:cs typeface="맑은 고딕"/>
              </a:rPr>
              <a:t>26.50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a:solidFill>
                  <a:srgbClr val="111111"/>
                </a:solidFill>
                <a:latin typeface="맑은 고딕"/>
                <a:ea typeface="맑은 고딕"/>
                <a:cs typeface="맑은 고딕"/>
              </a:rPr>
              <a:t>42 | Appendix A9 · 평가 지표의 집계</a:t>
            </a:r>
            <a:r>
              <a:rPr sz="800" b="0" baseline="30000">
                <a:solidFill>
                  <a:srgbClr val="686868"/>
                </a:solidFill>
                <a:latin typeface="맑은 고딕"/>
                <a:ea typeface="맑은 고딕"/>
                <a:cs typeface="맑은 고딕"/>
              </a:rPr>
              <a:t>  1) 2)</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P5 protocol; evaluate_teacher243_failure_onset.py: post mask / post_count / metric accumulation.   2) Saved result summary: episode별 지표 평균. 세계좌표 기준 경로의 오차를 측정한 것이 아님.</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42 / 43</a:t>
            </a:r>
          </a:p>
        </p:txBody>
      </p:sp>
      <p:sp>
        <p:nvSpPr>
          <p:cNvPr id="8" name="v5-content-intro"/>
          <p:cNvSpPr txBox="1"/>
          <p:nvPr/>
        </p:nvSpPr>
        <p:spPr>
          <a:xfrm>
            <a:off x="658368" y="1261872"/>
            <a:ext cx="10881360" cy="384048"/>
          </a:xfrm>
          <a:prstGeom prst="rect">
            <a:avLst/>
          </a:prstGeom>
          <a:noFill/>
        </p:spPr>
        <p:txBody>
          <a:bodyPr wrap="square" lIns="36576" tIns="36576" rIns="36576" bIns="36576" anchor="t">
            <a:spAutoFit/>
          </a:bodyPr>
          <a:lstStyle/>
          <a:p>
            <a:pPr algn="l">
              <a:spcAft>
                <a:spcPts val="0"/>
              </a:spcAft>
            </a:pPr>
            <a:r>
              <a:rPr sz="1300" b="0">
                <a:solidFill>
                  <a:srgbClr val="3A3A3A"/>
                </a:solidFill>
                <a:latin typeface="맑은 고딕"/>
                <a:ea typeface="맑은 고딕"/>
                <a:cs typeface="맑은 고딕"/>
              </a:rPr>
              <a:t>본문은 생존·회복·추종을 중심으로 설명한다. 아래는 보조 지표와 episode 평균의 정확한 계산 기준이다.</a:t>
            </a:r>
          </a:p>
        </p:txBody>
      </p:sp>
      <mc:AlternateContent xmlns:mc="http://schemas.openxmlformats.org/markup-compatibility/2006" xmlns:a14="http://schemas.microsoft.com/office/drawing/2010/main">
        <mc:Choice Requires="a14">
          <p:sp>
            <p:nvSpPr>
              <p:cNvPr id="9" name="v10-math-13"/>
              <p:cNvSpPr txBox="1"/>
              <p:nvPr/>
            </p:nvSpPr>
            <p:spPr>
              <a:xfrm>
                <a:off x="777240" y="1837943"/>
                <a:ext cx="10698480" cy="722376"/>
              </a:xfrm>
              <a:prstGeom prst="rect">
                <a:avLst/>
              </a:prstGeom>
              <a:noFill/>
            </p:spPr>
            <p:txBody>
              <a:bodyPr wrap="none" lIns="27432" tIns="27432" rIns="27432" bIns="27432" anchor="ctr">
                <a:spAutoFit/>
              </a:bodyPr>
              <a:lstStyle/>
              <a:p>
                <a:pPr algn="ctr"/>
                <a14:m>
                  <m:oMathPara xmlns:m="http://schemas.openxmlformats.org/officeDocument/2006/math">
                    <m:oMath>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𝑒</m:t>
                          </m:r>
                        </m:e>
                        <m:sub>
                          <m:r>
                            <a:rPr lang="ko-KR" sz="1700" b="0">
                              <a:solidFill>
                                <a:srgbClr val="222222"/>
                              </a:solidFill>
                              <a:latin typeface="Cambria Math" panose="02040503050406030204" pitchFamily="18" charset="0"/>
                              <a:ea typeface="맑은 고딕"/>
                              <a:cs typeface="맑은 고딕"/>
                            </a:rPr>
                            <m:t>𝑖</m:t>
                          </m:r>
                        </m:sub>
                      </m:sSub>
                      <m:r>
                        <a:rPr lang="ko-KR" sz="1700" b="0">
                          <a:solidFill>
                            <a:srgbClr val="222222"/>
                          </a:solidFill>
                          <a:latin typeface="Cambria Math" panose="02040503050406030204" pitchFamily="18" charset="0"/>
                          <a:ea typeface="맑은 고딕"/>
                          <a:cs typeface="맑은 고딕"/>
                        </a:rPr>
                        <m:t> = </m:t>
                      </m:r>
                      <m:rad>
                        <m:radPr>
                          <m:degHide m:val="on"/>
                          <m:ctrlPr>
                            <a:rPr lang="ko-KR" sz="1700" b="0" i="1">
                              <a:solidFill>
                                <a:srgbClr val="222222"/>
                              </a:solidFill>
                              <a:latin typeface="Cambria Math" panose="02040503050406030204" pitchFamily="18" charset="0"/>
                              <a:ea typeface="맑은 고딕"/>
                              <a:cs typeface="맑은 고딕"/>
                            </a:rPr>
                          </m:ctrlPr>
                        </m:radPr>
                        <m:deg/>
                        <m:e>
                          <m:f>
                            <m:fPr>
                              <m:ctrlPr>
                                <a:rPr lang="ko-KR" sz="1700" b="0" i="1">
                                  <a:solidFill>
                                    <a:srgbClr val="222222"/>
                                  </a:solidFill>
                                  <a:latin typeface="Cambria Math" panose="02040503050406030204" pitchFamily="18" charset="0"/>
                                  <a:ea typeface="맑은 고딕"/>
                                  <a:cs typeface="맑은 고딕"/>
                                </a:rPr>
                              </m:ctrlPr>
                            </m:fPr>
                            <m:num>
                              <m:nary>
                                <m:naryPr>
                                  <m:chr m:val="∑"/>
                                  <m:limLoc m:val="undOvr"/>
                                  <m:ctrlPr>
                                    <a:rPr lang="ko-KR" sz="1700" b="0">
                                      <a:solidFill>
                                        <a:srgbClr val="222222"/>
                                      </a:solidFill>
                                      <a:latin typeface="Cambria Math" panose="02040503050406030204" pitchFamily="18" charset="0"/>
                                      <a:ea typeface="맑은 고딕"/>
                                      <a:cs typeface="맑은 고딕"/>
                                    </a:rPr>
                                  </m:ctrlPr>
                                </m:naryPr>
                                <m:sub>
                                  <m:r>
                                    <a:rPr lang="ko-KR" sz="1700" b="0">
                                      <a:solidFill>
                                        <a:srgbClr val="222222"/>
                                      </a:solidFill>
                                      <a:latin typeface="Cambria Math" panose="02040503050406030204" pitchFamily="18" charset="0"/>
                                      <a:ea typeface="맑은 고딕"/>
                                      <a:cs typeface="맑은 고딕"/>
                                    </a:rPr>
                                    <m:t>𝑡</m:t>
                                  </m:r>
                                  <m:r>
                                    <a:rPr lang="ko-KR" sz="1700" b="0">
                                      <a:solidFill>
                                        <a:srgbClr val="222222"/>
                                      </a:solidFill>
                                      <a:latin typeface="Cambria Math" panose="02040503050406030204" pitchFamily="18" charset="0"/>
                                      <a:ea typeface="맑은 고딕"/>
                                      <a:cs typeface="맑은 고딕"/>
                                    </a:rPr>
                                    <m:t>=1</m:t>
                                  </m:r>
                                </m:sub>
                                <m:sup>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𝐾</m:t>
                                      </m:r>
                                    </m:e>
                                    <m:sub>
                                      <m:r>
                                        <a:rPr lang="ko-KR" sz="1700" b="0">
                                          <a:solidFill>
                                            <a:srgbClr val="222222"/>
                                          </a:solidFill>
                                          <a:latin typeface="Cambria Math" panose="02040503050406030204" pitchFamily="18" charset="0"/>
                                          <a:ea typeface="맑은 고딕"/>
                                          <a:cs typeface="맑은 고딕"/>
                                        </a:rPr>
                                        <m:t>𝑖</m:t>
                                      </m:r>
                                    </m:sub>
                                  </m:sSub>
                                </m:sup>
                                <m:e>
                                  <m:sSup>
                                    <m:sSupPr>
                                      <m:ctrlPr>
                                        <a:rPr lang="ko-KR" sz="1700" b="0" i="1">
                                          <a:solidFill>
                                            <a:srgbClr val="222222"/>
                                          </a:solidFill>
                                          <a:latin typeface="Cambria Math" panose="02040503050406030204" pitchFamily="18" charset="0"/>
                                          <a:ea typeface="맑은 고딕"/>
                                          <a:cs typeface="맑은 고딕"/>
                                        </a:rPr>
                                      </m:ctrlPr>
                                    </m:sSupPr>
                                    <m:e>
                                      <m:box>
                                        <m:boxPr>
                                          <m:ctrlPr>
                                            <a:rPr lang="ko-KR" sz="1700" b="0">
                                              <a:solidFill>
                                                <a:srgbClr val="222222"/>
                                              </a:solidFill>
                                              <a:latin typeface="Cambria Math" panose="02040503050406030204" pitchFamily="18" charset="0"/>
                                              <a:ea typeface="맑은 고딕"/>
                                              <a:cs typeface="맑은 고딕"/>
                                            </a:rPr>
                                          </m:ctrlPr>
                                        </m:boxPr>
                                        <m:e>
                                          <m:r>
                                            <a:rPr lang="ko-KR" sz="1700" b="0">
                                              <a:solidFill>
                                                <a:srgbClr val="222222"/>
                                              </a:solidFill>
                                              <a:latin typeface="Cambria Math" panose="02040503050406030204" pitchFamily="18" charset="0"/>
                                              <a:ea typeface="맑은 고딕"/>
                                              <a:cs typeface="맑은 고딕"/>
                                            </a:rPr>
                                            <m:t>(</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𝑣</m:t>
                                              </m:r>
                                            </m:e>
                                            <m:sub>
                                              <m:r>
                                                <a:rPr lang="ko-KR" sz="1700" b="0">
                                                  <a:solidFill>
                                                    <a:srgbClr val="222222"/>
                                                  </a:solidFill>
                                                  <a:latin typeface="Cambria Math" panose="02040503050406030204" pitchFamily="18" charset="0"/>
                                                  <a:ea typeface="맑은 고딕"/>
                                                  <a:cs typeface="맑은 고딕"/>
                                                </a:rPr>
                                                <m:t>𝑥</m:t>
                                              </m:r>
                                              <m:r>
                                                <a:rPr lang="ko-KR" sz="1700" b="0">
                                                  <a:solidFill>
                                                    <a:srgbClr val="222222"/>
                                                  </a:solidFill>
                                                  <a:latin typeface="Cambria Math" panose="02040503050406030204" pitchFamily="18" charset="0"/>
                                                  <a:ea typeface="맑은 고딕"/>
                                                  <a:cs typeface="맑은 고딕"/>
                                                </a:rPr>
                                                <m:t>,</m:t>
                                              </m:r>
                                              <m:r>
                                                <a:rPr lang="ko-KR" sz="1700" b="0">
                                                  <a:solidFill>
                                                    <a:srgbClr val="222222"/>
                                                  </a:solidFill>
                                                  <a:latin typeface="Cambria Math" panose="02040503050406030204" pitchFamily="18" charset="0"/>
                                                  <a:ea typeface="맑은 고딕"/>
                                                  <a:cs typeface="맑은 고딕"/>
                                                </a:rPr>
                                                <m:t>𝑖</m:t>
                                              </m:r>
                                              <m:r>
                                                <a:rPr lang="ko-KR" sz="1700" b="0">
                                                  <a:solidFill>
                                                    <a:srgbClr val="222222"/>
                                                  </a:solidFill>
                                                  <a:latin typeface="Cambria Math" panose="02040503050406030204" pitchFamily="18" charset="0"/>
                                                  <a:ea typeface="맑은 고딕"/>
                                                  <a:cs typeface="맑은 고딕"/>
                                                </a:rPr>
                                                <m:t>,</m:t>
                                              </m:r>
                                              <m:r>
                                                <a:rPr lang="ko-KR" sz="1700" b="0">
                                                  <a:solidFill>
                                                    <a:srgbClr val="222222"/>
                                                  </a:solidFill>
                                                  <a:latin typeface="Cambria Math" panose="02040503050406030204" pitchFamily="18" charset="0"/>
                                                  <a:ea typeface="맑은 고딕"/>
                                                  <a:cs typeface="맑은 고딕"/>
                                                </a:rPr>
                                                <m:t>𝑡</m:t>
                                              </m:r>
                                            </m:sub>
                                          </m:sSub>
                                          <m:r>
                                            <a:rPr lang="ko-KR" sz="1700" b="0">
                                              <a:solidFill>
                                                <a:srgbClr val="222222"/>
                                              </a:solidFill>
                                              <a:latin typeface="Cambria Math" panose="02040503050406030204" pitchFamily="18" charset="0"/>
                                              <a:ea typeface="맑은 고딕"/>
                                              <a:cs typeface="맑은 고딕"/>
                                            </a:rPr>
                                            <m:t> − </m:t>
                                          </m:r>
                                          <m:sSubSup>
                                            <m:sSubSupPr>
                                              <m:ctrlPr>
                                                <a:rPr lang="ko-KR" sz="1700" b="0">
                                                  <a:solidFill>
                                                    <a:srgbClr val="222222"/>
                                                  </a:solidFill>
                                                  <a:latin typeface="Cambria Math" panose="02040503050406030204" pitchFamily="18" charset="0"/>
                                                  <a:ea typeface="맑은 고딕"/>
                                                  <a:cs typeface="맑은 고딕"/>
                                                </a:rPr>
                                              </m:ctrlPr>
                                            </m:sSubSupPr>
                                            <m:e>
                                              <m:r>
                                                <a:rPr lang="ko-KR" sz="1700" b="0">
                                                  <a:solidFill>
                                                    <a:srgbClr val="222222"/>
                                                  </a:solidFill>
                                                  <a:latin typeface="Cambria Math" panose="02040503050406030204" pitchFamily="18" charset="0"/>
                                                  <a:ea typeface="맑은 고딕"/>
                                                  <a:cs typeface="맑은 고딕"/>
                                                </a:rPr>
                                                <m:t>𝑣</m:t>
                                              </m:r>
                                            </m:e>
                                            <m:sub>
                                              <m:r>
                                                <a:rPr lang="ko-KR" sz="1700" b="0">
                                                  <a:solidFill>
                                                    <a:srgbClr val="222222"/>
                                                  </a:solidFill>
                                                  <a:latin typeface="Cambria Math" panose="02040503050406030204" pitchFamily="18" charset="0"/>
                                                  <a:ea typeface="맑은 고딕"/>
                                                  <a:cs typeface="맑은 고딕"/>
                                                </a:rPr>
                                                <m:t>𝑥</m:t>
                                              </m:r>
                                              <m:r>
                                                <a:rPr lang="ko-KR" sz="1700" b="0">
                                                  <a:solidFill>
                                                    <a:srgbClr val="222222"/>
                                                  </a:solidFill>
                                                  <a:latin typeface="Cambria Math" panose="02040503050406030204" pitchFamily="18" charset="0"/>
                                                  <a:ea typeface="맑은 고딕"/>
                                                  <a:cs typeface="맑은 고딕"/>
                                                </a:rPr>
                                                <m:t>,</m:t>
                                              </m:r>
                                              <m:r>
                                                <a:rPr lang="ko-KR" sz="1700" b="0">
                                                  <a:solidFill>
                                                    <a:srgbClr val="222222"/>
                                                  </a:solidFill>
                                                  <a:latin typeface="Cambria Math" panose="02040503050406030204" pitchFamily="18" charset="0"/>
                                                  <a:ea typeface="맑은 고딕"/>
                                                  <a:cs typeface="맑은 고딕"/>
                                                </a:rPr>
                                                <m:t>𝑖</m:t>
                                              </m:r>
                                              <m:r>
                                                <a:rPr lang="ko-KR" sz="1700" b="0">
                                                  <a:solidFill>
                                                    <a:srgbClr val="222222"/>
                                                  </a:solidFill>
                                                  <a:latin typeface="Cambria Math" panose="02040503050406030204" pitchFamily="18" charset="0"/>
                                                  <a:ea typeface="맑은 고딕"/>
                                                  <a:cs typeface="맑은 고딕"/>
                                                </a:rPr>
                                                <m:t>,</m:t>
                                              </m:r>
                                              <m:r>
                                                <a:rPr lang="ko-KR" sz="1700" b="0">
                                                  <a:solidFill>
                                                    <a:srgbClr val="222222"/>
                                                  </a:solidFill>
                                                  <a:latin typeface="Cambria Math" panose="02040503050406030204" pitchFamily="18" charset="0"/>
                                                  <a:ea typeface="맑은 고딕"/>
                                                  <a:cs typeface="맑은 고딕"/>
                                                </a:rPr>
                                                <m:t>𝑡</m:t>
                                              </m:r>
                                            </m:sub>
                                            <m:sup>
                                              <m:r>
                                                <a:rPr lang="ko-KR" sz="1700" b="0">
                                                  <a:solidFill>
                                                    <a:srgbClr val="222222"/>
                                                  </a:solidFill>
                                                  <a:latin typeface="Cambria Math" panose="02040503050406030204" pitchFamily="18" charset="0"/>
                                                  <a:ea typeface="맑은 고딕"/>
                                                  <a:cs typeface="맑은 고딕"/>
                                                </a:rPr>
                                                <m:t>𝑐𝑚𝑑</m:t>
                                              </m:r>
                                            </m:sup>
                                          </m:sSubSup>
                                          <m:r>
                                            <a:rPr lang="ko-KR" sz="1700" b="0">
                                              <a:solidFill>
                                                <a:srgbClr val="222222"/>
                                              </a:solidFill>
                                              <a:latin typeface="Cambria Math" panose="02040503050406030204" pitchFamily="18" charset="0"/>
                                              <a:ea typeface="맑은 고딕"/>
                                              <a:cs typeface="맑은 고딕"/>
                                            </a:rPr>
                                            <m:t>)</m:t>
                                          </m:r>
                                        </m:e>
                                      </m:box>
                                    </m:e>
                                    <m:sup>
                                      <m:r>
                                        <a:rPr lang="ko-KR" sz="1700" b="0">
                                          <a:solidFill>
                                            <a:srgbClr val="222222"/>
                                          </a:solidFill>
                                          <a:latin typeface="Cambria Math" panose="02040503050406030204" pitchFamily="18" charset="0"/>
                                          <a:ea typeface="맑은 고딕"/>
                                          <a:cs typeface="맑은 고딕"/>
                                        </a:rPr>
                                        <m:t>2</m:t>
                                      </m:r>
                                    </m:sup>
                                  </m:sSup>
                                </m:e>
                              </m:nary>
                            </m:num>
                            <m:den>
                              <m:r>
                                <a:rPr lang="ko-KR" sz="1700" b="0">
                                  <a:solidFill>
                                    <a:srgbClr val="222222"/>
                                  </a:solidFill>
                                  <a:latin typeface="Cambria Math" panose="02040503050406030204" pitchFamily="18" charset="0"/>
                                  <a:ea typeface="맑은 고딕"/>
                                  <a:cs typeface="맑은 고딕"/>
                                </a:rPr>
                                <m:t>𝑚𝑎𝑥</m:t>
                              </m:r>
                              <m:r>
                                <a:rPr lang="ko-KR" sz="1700" b="0">
                                  <a:solidFill>
                                    <a:srgbClr val="222222"/>
                                  </a:solidFill>
                                  <a:latin typeface="Cambria Math" panose="02040503050406030204" pitchFamily="18" charset="0"/>
                                  <a:ea typeface="맑은 고딕"/>
                                  <a:cs typeface="맑은 고딕"/>
                                </a:rPr>
                                <m:t>(1, </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𝐾</m:t>
                                  </m:r>
                                </m:e>
                                <m:sub>
                                  <m:r>
                                    <a:rPr lang="ko-KR" sz="1700" b="0">
                                      <a:solidFill>
                                        <a:srgbClr val="222222"/>
                                      </a:solidFill>
                                      <a:latin typeface="Cambria Math" panose="02040503050406030204" pitchFamily="18" charset="0"/>
                                      <a:ea typeface="맑은 고딕"/>
                                      <a:cs typeface="맑은 고딕"/>
                                    </a:rPr>
                                    <m:t>𝑖</m:t>
                                  </m:r>
                                </m:sub>
                              </m:sSub>
                              <m:r>
                                <a:rPr lang="ko-KR" sz="1700" b="0">
                                  <a:solidFill>
                                    <a:srgbClr val="222222"/>
                                  </a:solidFill>
                                  <a:latin typeface="Cambria Math" panose="02040503050406030204" pitchFamily="18" charset="0"/>
                                  <a:ea typeface="맑은 고딕"/>
                                  <a:cs typeface="맑은 고딕"/>
                                </a:rPr>
                                <m:t>)</m:t>
                              </m:r>
                            </m:den>
                          </m:f>
                        </m:e>
                      </m:rad>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𝑅𝑀𝑆𝐸</m:t>
                      </m:r>
                      <m:r>
                        <a:rPr lang="ko-KR" sz="1700" b="0">
                          <a:solidFill>
                            <a:srgbClr val="222222"/>
                          </a:solidFill>
                          <a:latin typeface="Cambria Math" panose="02040503050406030204" pitchFamily="18" charset="0"/>
                          <a:ea typeface="맑은 고딕"/>
                          <a:cs typeface="맑은 고딕"/>
                        </a:rPr>
                        <m:t> </m:t>
                      </m:r>
                      <m:r>
                        <a:rPr lang="ko-KR" sz="1700" b="0">
                          <a:solidFill>
                            <a:srgbClr val="222222"/>
                          </a:solidFill>
                          <a:latin typeface="Cambria Math" panose="02040503050406030204" pitchFamily="18" charset="0"/>
                          <a:ea typeface="맑은 고딕"/>
                          <a:cs typeface="맑은 고딕"/>
                        </a:rPr>
                        <m:t>𝑟𝑒𝑝𝑜𝑟𝑡𝑒𝑑</m:t>
                      </m:r>
                      <m:r>
                        <a:rPr lang="ko-KR" sz="1700" b="0">
                          <a:solidFill>
                            <a:srgbClr val="222222"/>
                          </a:solidFill>
                          <a:latin typeface="Cambria Math" panose="02040503050406030204" pitchFamily="18" charset="0"/>
                          <a:ea typeface="맑은 고딕"/>
                          <a:cs typeface="맑은 고딕"/>
                        </a:rPr>
                        <m:t> = </m:t>
                      </m:r>
                      <m:f>
                        <m:fPr>
                          <m:ctrlPr>
                            <a:rPr lang="ko-KR" sz="1700" b="0">
                              <a:solidFill>
                                <a:srgbClr val="222222"/>
                              </a:solidFill>
                              <a:latin typeface="Cambria Math" panose="02040503050406030204" pitchFamily="18" charset="0"/>
                              <a:ea typeface="맑은 고딕"/>
                              <a:cs typeface="맑은 고딕"/>
                            </a:rPr>
                          </m:ctrlPr>
                        </m:fPr>
                        <m:num>
                          <m:r>
                            <a:rPr lang="ko-KR" sz="1700" b="0">
                              <a:solidFill>
                                <a:srgbClr val="222222"/>
                              </a:solidFill>
                              <a:latin typeface="Cambria Math" panose="02040503050406030204" pitchFamily="18" charset="0"/>
                              <a:ea typeface="맑은 고딕"/>
                              <a:cs typeface="맑은 고딕"/>
                            </a:rPr>
                            <m:t>1</m:t>
                          </m:r>
                        </m:num>
                        <m:den>
                          <m:r>
                            <a:rPr lang="ko-KR" sz="1700" b="0">
                              <a:solidFill>
                                <a:srgbClr val="222222"/>
                              </a:solidFill>
                              <a:latin typeface="Cambria Math" panose="02040503050406030204" pitchFamily="18" charset="0"/>
                              <a:ea typeface="맑은 고딕"/>
                              <a:cs typeface="맑은 고딕"/>
                            </a:rPr>
                            <m:t>𝑁</m:t>
                          </m:r>
                        </m:den>
                      </m:f>
                      <m:nary>
                        <m:naryPr>
                          <m:chr m:val="∑"/>
                          <m:limLoc m:val="undOvr"/>
                          <m:ctrlPr>
                            <a:rPr lang="ko-KR" sz="1700" b="0">
                              <a:solidFill>
                                <a:srgbClr val="222222"/>
                              </a:solidFill>
                              <a:latin typeface="Cambria Math" panose="02040503050406030204" pitchFamily="18" charset="0"/>
                              <a:ea typeface="맑은 고딕"/>
                              <a:cs typeface="맑은 고딕"/>
                            </a:rPr>
                          </m:ctrlPr>
                        </m:naryPr>
                        <m:sub>
                          <m:r>
                            <a:rPr lang="ko-KR" sz="1700" b="0">
                              <a:solidFill>
                                <a:srgbClr val="222222"/>
                              </a:solidFill>
                              <a:latin typeface="Cambria Math" panose="02040503050406030204" pitchFamily="18" charset="0"/>
                              <a:ea typeface="맑은 고딕"/>
                              <a:cs typeface="맑은 고딕"/>
                            </a:rPr>
                            <m:t>𝑖</m:t>
                          </m:r>
                          <m:r>
                            <a:rPr lang="ko-KR" sz="1700" b="0">
                              <a:solidFill>
                                <a:srgbClr val="222222"/>
                              </a:solidFill>
                              <a:latin typeface="Cambria Math" panose="02040503050406030204" pitchFamily="18" charset="0"/>
                              <a:ea typeface="맑은 고딕"/>
                              <a:cs typeface="맑은 고딕"/>
                            </a:rPr>
                            <m:t>=1</m:t>
                          </m:r>
                        </m:sub>
                        <m:sup>
                          <m:r>
                            <a:rPr lang="ko-KR" sz="1700" b="0">
                              <a:solidFill>
                                <a:srgbClr val="222222"/>
                              </a:solidFill>
                              <a:latin typeface="Cambria Math" panose="02040503050406030204" pitchFamily="18" charset="0"/>
                              <a:ea typeface="맑은 고딕"/>
                              <a:cs typeface="맑은 고딕"/>
                            </a:rPr>
                            <m:t>𝑁</m:t>
                          </m:r>
                        </m:sup>
                        <m:e>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𝑒</m:t>
                              </m:r>
                            </m:e>
                            <m:sub>
                              <m:r>
                                <a:rPr lang="ko-KR" sz="1700" b="0">
                                  <a:solidFill>
                                    <a:srgbClr val="222222"/>
                                  </a:solidFill>
                                  <a:latin typeface="Cambria Math" panose="02040503050406030204" pitchFamily="18" charset="0"/>
                                  <a:ea typeface="맑은 고딕"/>
                                  <a:cs typeface="맑은 고딕"/>
                                </a:rPr>
                                <m:t>𝑖</m:t>
                              </m:r>
                            </m:sub>
                          </m:sSub>
                        </m:e>
                      </m:nary>
                    </m:oMath>
                  </m:oMathPara>
                </a14:m>
                <a:endParaRPr/>
              </a:p>
            </p:txBody>
          </p:sp>
        </mc:Choice>
        <mc:Fallback xmlns="">
          <p:sp>
            <p:nvSpPr>
              <p:cNvPr id="9" name="v10-math-13"/>
              <p:cNvSpPr txBox="1">
                <a:spLocks noRot="1" noChangeAspect="1" noMove="1" noResize="1" noEditPoints="1" noAdjustHandles="1" noChangeArrowheads="1" noChangeShapeType="1" noTextEdit="1"/>
              </p:cNvSpPr>
              <p:nvPr/>
            </p:nvSpPr>
            <p:spPr>
              <a:xfrm>
                <a:off x="777240" y="1837943"/>
                <a:ext cx="10698480" cy="722376"/>
              </a:xfrm>
              <a:prstGeom prst="rect">
                <a:avLst/>
              </a:prstGeom>
              <a:blipFill>
                <a:blip r:embed="rId3"/>
                <a:stretch>
                  <a:fillRect b="-5042"/>
                </a:stretch>
              </a:blipFill>
            </p:spPr>
            <p:txBody>
              <a:bodyPr/>
              <a:lstStyle/>
              <a:p>
                <a:r>
                  <a:rPr lang="ko-KR" altLang="en-US">
                    <a:noFill/>
                  </a:rPr>
                  <a:t> </a:t>
                </a:r>
              </a:p>
            </p:txBody>
          </p:sp>
        </mc:Fallback>
      </mc:AlternateContent>
      <p:sp>
        <p:nvSpPr>
          <p:cNvPr id="10" name="Rectangle 9"/>
          <p:cNvSpPr/>
          <p:nvPr/>
        </p:nvSpPr>
        <p:spPr>
          <a:xfrm>
            <a:off x="640080" y="2889504"/>
            <a:ext cx="2011680" cy="65836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1" y="2926080"/>
            <a:ext cx="1865376" cy="585216"/>
          </a:xfrm>
          <a:prstGeom prst="rect">
            <a:avLst/>
          </a:prstGeom>
          <a:noFill/>
        </p:spPr>
        <p:txBody>
          <a:bodyPr wrap="square" lIns="9144" tIns="9144" rIns="9144" bIns="9144" anchor="ctr">
            <a:spAutoFit/>
          </a:bodyPr>
          <a:lstStyle/>
          <a:p>
            <a:pPr algn="ctr">
              <a:spcAft>
                <a:spcPts val="0"/>
              </a:spcAft>
            </a:pPr>
            <a:r>
              <a:rPr sz="1120" b="1">
                <a:solidFill>
                  <a:srgbClr val="FFFFFF"/>
                </a:solidFill>
                <a:latin typeface="맑은 고딕"/>
                <a:ea typeface="맑은 고딕"/>
                <a:cs typeface="맑은 고딕"/>
              </a:rPr>
              <a:t>보조 지표</a:t>
            </a:r>
          </a:p>
        </p:txBody>
      </p:sp>
      <p:sp>
        <p:nvSpPr>
          <p:cNvPr id="12" name="Rectangle 11"/>
          <p:cNvSpPr/>
          <p:nvPr/>
        </p:nvSpPr>
        <p:spPr>
          <a:xfrm>
            <a:off x="2651760" y="2889504"/>
            <a:ext cx="3383280" cy="65836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24912" y="2926080"/>
            <a:ext cx="3236976" cy="585216"/>
          </a:xfrm>
          <a:prstGeom prst="rect">
            <a:avLst/>
          </a:prstGeom>
          <a:noFill/>
        </p:spPr>
        <p:txBody>
          <a:bodyPr wrap="square" lIns="9144" tIns="9144" rIns="9144" bIns="9144" anchor="ctr">
            <a:spAutoFit/>
          </a:bodyPr>
          <a:lstStyle/>
          <a:p>
            <a:pPr algn="ctr">
              <a:spcAft>
                <a:spcPts val="0"/>
              </a:spcAft>
            </a:pPr>
            <a:r>
              <a:rPr sz="1120" b="1">
                <a:solidFill>
                  <a:srgbClr val="FFFFFF"/>
                </a:solidFill>
                <a:latin typeface="맑은 고딕"/>
                <a:ea typeface="맑은 고딕"/>
                <a:cs typeface="맑은 고딕"/>
              </a:rPr>
              <a:t>계산</a:t>
            </a:r>
          </a:p>
        </p:txBody>
      </p:sp>
      <p:sp>
        <p:nvSpPr>
          <p:cNvPr id="14" name="Rectangle 13"/>
          <p:cNvSpPr/>
          <p:nvPr/>
        </p:nvSpPr>
        <p:spPr>
          <a:xfrm>
            <a:off x="6035040" y="2889504"/>
            <a:ext cx="5577840" cy="658368"/>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08192" y="2926080"/>
            <a:ext cx="5431536" cy="585216"/>
          </a:xfrm>
          <a:prstGeom prst="rect">
            <a:avLst/>
          </a:prstGeom>
          <a:noFill/>
        </p:spPr>
        <p:txBody>
          <a:bodyPr wrap="square" lIns="9144" tIns="9144" rIns="9144" bIns="9144" anchor="ctr">
            <a:spAutoFit/>
          </a:bodyPr>
          <a:lstStyle/>
          <a:p>
            <a:pPr algn="ctr">
              <a:spcAft>
                <a:spcPts val="0"/>
              </a:spcAft>
            </a:pPr>
            <a:r>
              <a:rPr sz="1120" b="1">
                <a:solidFill>
                  <a:srgbClr val="FFFFFF"/>
                </a:solidFill>
                <a:latin typeface="맑은 고딕"/>
                <a:ea typeface="맑은 고딕"/>
                <a:cs typeface="맑은 고딕"/>
              </a:rPr>
              <a:t>해석·출처</a:t>
            </a:r>
          </a:p>
        </p:txBody>
      </p:sp>
      <p:sp>
        <p:nvSpPr>
          <p:cNvPr id="16" name="Rectangle 15"/>
          <p:cNvSpPr/>
          <p:nvPr/>
        </p:nvSpPr>
        <p:spPr>
          <a:xfrm>
            <a:off x="640080" y="3547872"/>
            <a:ext cx="201168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1" y="3584448"/>
            <a:ext cx="1865376" cy="585216"/>
          </a:xfrm>
          <a:prstGeom prst="rect">
            <a:avLst/>
          </a:prstGeom>
          <a:noFill/>
        </p:spPr>
        <p:txBody>
          <a:bodyPr wrap="square" lIns="9144" tIns="9144" rIns="9144" bIns="9144" anchor="ctr">
            <a:spAutoFit/>
          </a:bodyPr>
          <a:lstStyle/>
          <a:p>
            <a:pPr algn="l">
              <a:spcAft>
                <a:spcPts val="0"/>
              </a:spcAft>
            </a:pPr>
            <a:r>
              <a:rPr sz="1120" b="1">
                <a:solidFill>
                  <a:srgbClr val="3A3A3A"/>
                </a:solidFill>
                <a:latin typeface="맑은 고딕"/>
                <a:ea typeface="맑은 고딕"/>
                <a:cs typeface="맑은 고딕"/>
              </a:rPr>
              <a:t>전진 진행량</a:t>
            </a:r>
          </a:p>
        </p:txBody>
      </p:sp>
      <p:sp>
        <p:nvSpPr>
          <p:cNvPr id="18" name="Rectangle 17"/>
          <p:cNvSpPr/>
          <p:nvPr/>
        </p:nvSpPr>
        <p:spPr>
          <a:xfrm>
            <a:off x="2651760" y="3547872"/>
            <a:ext cx="338328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v10-math-14"/>
              <p:cNvSpPr txBox="1"/>
              <p:nvPr/>
            </p:nvSpPr>
            <p:spPr>
              <a:xfrm>
                <a:off x="2724912" y="3584448"/>
                <a:ext cx="3236976" cy="585216"/>
              </a:xfrm>
              <a:prstGeom prst="rect">
                <a:avLst/>
              </a:prstGeom>
              <a:noFill/>
            </p:spPr>
            <p:txBody>
              <a:bodyPr wrap="none" lIns="18288" tIns="9144" rIns="18288" bIns="9144" anchor="ctr">
                <a:spAutoFit/>
              </a:bodyPr>
              <a:lstStyle/>
              <a:p>
                <a:pPr algn="ctr">
                  <a:spcAft>
                    <a:spcPts val="0"/>
                  </a:spcAft>
                </a:pPr>
                <a14:m>
                  <m:oMathPara xmlns:m="http://schemas.openxmlformats.org/officeDocument/2006/math">
                    <m:oMath>
                      <m:sSub>
                        <m:sSubPr>
                          <m:ctrlPr>
                            <a:rPr lang="ko-KR" sz="1150" b="0">
                              <a:solidFill>
                                <a:srgbClr val="222222"/>
                              </a:solidFill>
                              <a:latin typeface="Cambria Math" panose="02040503050406030204" pitchFamily="18" charset="0"/>
                              <a:ea typeface="맑은 고딕"/>
                              <a:cs typeface="맑은 고딕"/>
                            </a:rPr>
                          </m:ctrlPr>
                        </m:sSubPr>
                        <m:e>
                          <m:r>
                            <a:rPr lang="ko-KR" sz="1150" b="0">
                              <a:solidFill>
                                <a:srgbClr val="222222"/>
                              </a:solidFill>
                              <a:latin typeface="Cambria Math" panose="02040503050406030204" pitchFamily="18" charset="0"/>
                              <a:ea typeface="맑은 고딕"/>
                              <a:cs typeface="맑은 고딕"/>
                            </a:rPr>
                            <m:t>𝐷</m:t>
                          </m:r>
                        </m:e>
                        <m:sub>
                          <m:r>
                            <a:rPr lang="ko-KR" sz="1150" b="0">
                              <a:solidFill>
                                <a:srgbClr val="222222"/>
                              </a:solidFill>
                              <a:latin typeface="Cambria Math" panose="02040503050406030204" pitchFamily="18" charset="0"/>
                              <a:ea typeface="맑은 고딕"/>
                              <a:cs typeface="맑은 고딕"/>
                            </a:rPr>
                            <m:t>𝑖</m:t>
                          </m:r>
                        </m:sub>
                      </m:sSub>
                      <m:r>
                        <a:rPr lang="ko-KR" sz="1150" b="0">
                          <a:solidFill>
                            <a:srgbClr val="222222"/>
                          </a:solidFill>
                          <a:latin typeface="Cambria Math" panose="02040503050406030204" pitchFamily="18" charset="0"/>
                          <a:ea typeface="맑은 고딕"/>
                          <a:cs typeface="맑은 고딕"/>
                        </a:rPr>
                        <m:t> = </m:t>
                      </m:r>
                      <m:nary>
                        <m:naryPr>
                          <m:chr m:val="∑"/>
                          <m:limLoc m:val="undOvr"/>
                          <m:ctrlPr>
                            <a:rPr lang="ko-KR" sz="1150" b="0">
                              <a:solidFill>
                                <a:srgbClr val="222222"/>
                              </a:solidFill>
                              <a:latin typeface="Cambria Math" panose="02040503050406030204" pitchFamily="18" charset="0"/>
                              <a:ea typeface="맑은 고딕"/>
                              <a:cs typeface="맑은 고딕"/>
                            </a:rPr>
                          </m:ctrlPr>
                        </m:naryPr>
                        <m:sub>
                          <m:r>
                            <a:rPr lang="ko-KR" sz="1150" b="0">
                              <a:solidFill>
                                <a:srgbClr val="222222"/>
                              </a:solidFill>
                              <a:latin typeface="Cambria Math" panose="02040503050406030204" pitchFamily="18" charset="0"/>
                              <a:ea typeface="맑은 고딕"/>
                              <a:cs typeface="맑은 고딕"/>
                            </a:rPr>
                            <m:t>𝑡</m:t>
                          </m:r>
                          <m:r>
                            <a:rPr lang="ko-KR" sz="1150" b="0">
                              <a:solidFill>
                                <a:srgbClr val="222222"/>
                              </a:solidFill>
                              <a:latin typeface="Cambria Math" panose="02040503050406030204" pitchFamily="18" charset="0"/>
                              <a:ea typeface="맑은 고딕"/>
                              <a:cs typeface="맑은 고딕"/>
                            </a:rPr>
                            <m:t>=1</m:t>
                          </m:r>
                        </m:sub>
                        <m:sup>
                          <m:sSub>
                            <m:sSubPr>
                              <m:ctrlPr>
                                <a:rPr lang="ko-KR" sz="1150" b="0">
                                  <a:solidFill>
                                    <a:srgbClr val="222222"/>
                                  </a:solidFill>
                                  <a:latin typeface="Cambria Math" panose="02040503050406030204" pitchFamily="18" charset="0"/>
                                  <a:ea typeface="맑은 고딕"/>
                                  <a:cs typeface="맑은 고딕"/>
                                </a:rPr>
                              </m:ctrlPr>
                            </m:sSubPr>
                            <m:e>
                              <m:r>
                                <a:rPr lang="ko-KR" sz="1150" b="0">
                                  <a:solidFill>
                                    <a:srgbClr val="222222"/>
                                  </a:solidFill>
                                  <a:latin typeface="Cambria Math" panose="02040503050406030204" pitchFamily="18" charset="0"/>
                                  <a:ea typeface="맑은 고딕"/>
                                  <a:cs typeface="맑은 고딕"/>
                                </a:rPr>
                                <m:t>𝐾</m:t>
                              </m:r>
                            </m:e>
                            <m:sub>
                              <m:r>
                                <a:rPr lang="ko-KR" sz="1150" b="0">
                                  <a:solidFill>
                                    <a:srgbClr val="222222"/>
                                  </a:solidFill>
                                  <a:latin typeface="Cambria Math" panose="02040503050406030204" pitchFamily="18" charset="0"/>
                                  <a:ea typeface="맑은 고딕"/>
                                  <a:cs typeface="맑은 고딕"/>
                                </a:rPr>
                                <m:t>𝑖</m:t>
                              </m:r>
                            </m:sub>
                          </m:sSub>
                        </m:sup>
                        <m:e>
                          <m:sSub>
                            <m:sSubPr>
                              <m:ctrlPr>
                                <a:rPr lang="ko-KR" sz="1150" b="0">
                                  <a:solidFill>
                                    <a:srgbClr val="222222"/>
                                  </a:solidFill>
                                  <a:latin typeface="Cambria Math" panose="02040503050406030204" pitchFamily="18" charset="0"/>
                                  <a:ea typeface="맑은 고딕"/>
                                  <a:cs typeface="맑은 고딕"/>
                                </a:rPr>
                              </m:ctrlPr>
                            </m:sSubPr>
                            <m:e>
                              <m:r>
                                <a:rPr lang="ko-KR" sz="1150" b="0">
                                  <a:solidFill>
                                    <a:srgbClr val="222222"/>
                                  </a:solidFill>
                                  <a:latin typeface="Cambria Math" panose="02040503050406030204" pitchFamily="18" charset="0"/>
                                  <a:ea typeface="맑은 고딕"/>
                                  <a:cs typeface="맑은 고딕"/>
                                </a:rPr>
                                <m:t>𝑣</m:t>
                              </m:r>
                            </m:e>
                            <m:sub>
                              <m:r>
                                <a:rPr lang="ko-KR" sz="1150" b="0">
                                  <a:solidFill>
                                    <a:srgbClr val="222222"/>
                                  </a:solidFill>
                                  <a:latin typeface="Cambria Math" panose="02040503050406030204" pitchFamily="18" charset="0"/>
                                  <a:ea typeface="맑은 고딕"/>
                                  <a:cs typeface="맑은 고딕"/>
                                </a:rPr>
                                <m:t>𝑥</m:t>
                              </m:r>
                              <m:r>
                                <a:rPr lang="ko-KR" sz="1150" b="0">
                                  <a:solidFill>
                                    <a:srgbClr val="222222"/>
                                  </a:solidFill>
                                  <a:latin typeface="Cambria Math" panose="02040503050406030204" pitchFamily="18" charset="0"/>
                                  <a:ea typeface="맑은 고딕"/>
                                  <a:cs typeface="맑은 고딕"/>
                                </a:rPr>
                                <m:t>,</m:t>
                              </m:r>
                              <m:r>
                                <a:rPr lang="ko-KR" sz="1150" b="0">
                                  <a:solidFill>
                                    <a:srgbClr val="222222"/>
                                  </a:solidFill>
                                  <a:latin typeface="Cambria Math" panose="02040503050406030204" pitchFamily="18" charset="0"/>
                                  <a:ea typeface="맑은 고딕"/>
                                  <a:cs typeface="맑은 고딕"/>
                                </a:rPr>
                                <m:t>𝑖</m:t>
                              </m:r>
                              <m:r>
                                <a:rPr lang="ko-KR" sz="1150" b="0">
                                  <a:solidFill>
                                    <a:srgbClr val="222222"/>
                                  </a:solidFill>
                                  <a:latin typeface="Cambria Math" panose="02040503050406030204" pitchFamily="18" charset="0"/>
                                  <a:ea typeface="맑은 고딕"/>
                                  <a:cs typeface="맑은 고딕"/>
                                </a:rPr>
                                <m:t>,</m:t>
                              </m:r>
                              <m:r>
                                <a:rPr lang="ko-KR" sz="1150" b="0">
                                  <a:solidFill>
                                    <a:srgbClr val="222222"/>
                                  </a:solidFill>
                                  <a:latin typeface="Cambria Math" panose="02040503050406030204" pitchFamily="18" charset="0"/>
                                  <a:ea typeface="맑은 고딕"/>
                                  <a:cs typeface="맑은 고딕"/>
                                </a:rPr>
                                <m:t>𝑡</m:t>
                              </m:r>
                            </m:sub>
                          </m:sSub>
                          <m:r>
                            <a:rPr lang="ko-KR" sz="1150" b="0">
                              <a:solidFill>
                                <a:srgbClr val="222222"/>
                              </a:solidFill>
                              <a:latin typeface="Cambria Math" panose="02040503050406030204" pitchFamily="18" charset="0"/>
                              <a:ea typeface="맑은 고딕"/>
                              <a:cs typeface="맑은 고딕"/>
                            </a:rPr>
                            <m:t> </m:t>
                          </m:r>
                          <m:r>
                            <a:rPr lang="ko-KR" sz="1150" b="0">
                              <a:solidFill>
                                <a:srgbClr val="222222"/>
                              </a:solidFill>
                              <a:latin typeface="Cambria Math" panose="02040503050406030204" pitchFamily="18" charset="0"/>
                              <a:ea typeface="맑은 고딕"/>
                              <a:cs typeface="맑은 고딕"/>
                            </a:rPr>
                            <m:t>𝛥</m:t>
                          </m:r>
                          <m:r>
                            <a:rPr lang="ko-KR" sz="1150" b="0">
                              <a:solidFill>
                                <a:srgbClr val="222222"/>
                              </a:solidFill>
                              <a:latin typeface="Cambria Math" panose="02040503050406030204" pitchFamily="18" charset="0"/>
                              <a:ea typeface="맑은 고딕"/>
                              <a:cs typeface="맑은 고딕"/>
                            </a:rPr>
                            <m:t>𝑡</m:t>
                          </m:r>
                        </m:e>
                      </m:nary>
                    </m:oMath>
                  </m:oMathPara>
                </a14:m>
                <a:endParaRPr/>
              </a:p>
            </p:txBody>
          </p:sp>
        </mc:Choice>
        <mc:Fallback xmlns="">
          <p:sp>
            <p:nvSpPr>
              <p:cNvPr id="19" name="v10-math-14"/>
              <p:cNvSpPr txBox="1">
                <a:spLocks noRot="1" noChangeAspect="1" noMove="1" noResize="1" noEditPoints="1" noAdjustHandles="1" noChangeArrowheads="1" noChangeShapeType="1" noTextEdit="1"/>
              </p:cNvSpPr>
              <p:nvPr/>
            </p:nvSpPr>
            <p:spPr>
              <a:xfrm>
                <a:off x="2724912" y="3584448"/>
                <a:ext cx="3236976" cy="585216"/>
              </a:xfrm>
              <a:prstGeom prst="rect">
                <a:avLst/>
              </a:prstGeom>
              <a:blipFill>
                <a:blip r:embed="rId4"/>
                <a:stretch>
                  <a:fillRect t="-91667" b="-144792"/>
                </a:stretch>
              </a:blipFill>
            </p:spPr>
            <p:txBody>
              <a:bodyPr/>
              <a:lstStyle/>
              <a:p>
                <a:r>
                  <a:rPr lang="ko-KR" altLang="en-US">
                    <a:noFill/>
                  </a:rPr>
                  <a:t> </a:t>
                </a:r>
              </a:p>
            </p:txBody>
          </p:sp>
        </mc:Fallback>
      </mc:AlternateContent>
      <p:sp>
        <p:nvSpPr>
          <p:cNvPr id="20" name="Rectangle 19"/>
          <p:cNvSpPr/>
          <p:nvPr/>
        </p:nvSpPr>
        <p:spPr>
          <a:xfrm>
            <a:off x="6035040" y="3547872"/>
            <a:ext cx="557784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08192" y="3584448"/>
            <a:ext cx="5431536" cy="585216"/>
          </a:xfrm>
          <a:prstGeom prst="rect">
            <a:avLst/>
          </a:prstGeom>
          <a:noFill/>
        </p:spPr>
        <p:txBody>
          <a:bodyPr wrap="square" lIns="9144" tIns="9144" rIns="9144" bIns="9144" anchor="ctr">
            <a:spAutoFit/>
          </a:bodyPr>
          <a:lstStyle/>
          <a:p>
            <a:pPr algn="ctr">
              <a:spcAft>
                <a:spcPts val="0"/>
              </a:spcAft>
            </a:pPr>
            <a:r>
              <a:rPr sz="1120" b="0">
                <a:solidFill>
                  <a:srgbClr val="3A3A3A"/>
                </a:solidFill>
                <a:latin typeface="맑은 고딕"/>
                <a:ea typeface="맑은 고딕"/>
                <a:cs typeface="맑은 고딕"/>
              </a:rPr>
              <a:t>몸체 전진 속도의 적분; 명령0.5m/s·20초면 이상적10m
RMA 거리 평가 축과 관련되지만 세계좌표 이동거리/경로오차는 아님</a:t>
            </a:r>
          </a:p>
        </p:txBody>
      </p:sp>
      <p:sp>
        <p:nvSpPr>
          <p:cNvPr id="22" name="Rectangle 21"/>
          <p:cNvSpPr/>
          <p:nvPr/>
        </p:nvSpPr>
        <p:spPr>
          <a:xfrm>
            <a:off x="640080" y="4206240"/>
            <a:ext cx="201168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1" y="4242816"/>
            <a:ext cx="1865376" cy="585216"/>
          </a:xfrm>
          <a:prstGeom prst="rect">
            <a:avLst/>
          </a:prstGeom>
          <a:noFill/>
        </p:spPr>
        <p:txBody>
          <a:bodyPr wrap="square" lIns="9144" tIns="9144" rIns="9144" bIns="9144" anchor="ctr">
            <a:spAutoFit/>
          </a:bodyPr>
          <a:lstStyle/>
          <a:p>
            <a:pPr algn="l">
              <a:spcAft>
                <a:spcPts val="0"/>
              </a:spcAft>
            </a:pPr>
            <a:r>
              <a:rPr sz="1120" b="1">
                <a:solidFill>
                  <a:srgbClr val="3A3A3A"/>
                </a:solidFill>
                <a:latin typeface="맑은 고딕"/>
                <a:ea typeface="맑은 고딕"/>
                <a:cs typeface="맑은 고딕"/>
              </a:rPr>
              <a:t>접촉 중 발 미끄럼</a:t>
            </a:r>
          </a:p>
        </p:txBody>
      </p:sp>
      <p:sp>
        <p:nvSpPr>
          <p:cNvPr id="24" name="Rectangle 23"/>
          <p:cNvSpPr/>
          <p:nvPr/>
        </p:nvSpPr>
        <p:spPr>
          <a:xfrm>
            <a:off x="2651760" y="4206240"/>
            <a:ext cx="338328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24912" y="4242816"/>
            <a:ext cx="3236976" cy="585216"/>
          </a:xfrm>
          <a:prstGeom prst="rect">
            <a:avLst/>
          </a:prstGeom>
          <a:noFill/>
        </p:spPr>
        <p:txBody>
          <a:bodyPr wrap="square" lIns="9144" tIns="9144" rIns="9144" bIns="9144" anchor="ctr">
            <a:spAutoFit/>
          </a:bodyPr>
          <a:lstStyle/>
          <a:p>
            <a:pPr algn="ctr">
              <a:spcAft>
                <a:spcPts val="0"/>
              </a:spcAft>
            </a:pPr>
            <a:r>
              <a:rPr sz="1120" b="0">
                <a:solidFill>
                  <a:srgbClr val="3A3A3A"/>
                </a:solidFill>
                <a:latin typeface="맑은 고딕"/>
                <a:ea typeface="맑은 고딕"/>
                <a:cs typeface="맑은 고딕"/>
              </a:rPr>
              <a:t>발 수직 접촉력 &gt; 1 N인 발들의
수평속도 norm을 평균; 이후 유효 step 평균</a:t>
            </a:r>
          </a:p>
        </p:txBody>
      </p:sp>
      <p:sp>
        <p:nvSpPr>
          <p:cNvPr id="26" name="Rectangle 25"/>
          <p:cNvSpPr/>
          <p:nvPr/>
        </p:nvSpPr>
        <p:spPr>
          <a:xfrm>
            <a:off x="6035040" y="4206240"/>
            <a:ext cx="5577840" cy="658368"/>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08192" y="4242816"/>
            <a:ext cx="5431536" cy="585216"/>
          </a:xfrm>
          <a:prstGeom prst="rect">
            <a:avLst/>
          </a:prstGeom>
          <a:noFill/>
        </p:spPr>
        <p:txBody>
          <a:bodyPr wrap="square" lIns="9144" tIns="9144" rIns="9144" bIns="9144" anchor="ctr">
            <a:spAutoFit/>
          </a:bodyPr>
          <a:lstStyle/>
          <a:p>
            <a:pPr algn="ctr">
              <a:spcAft>
                <a:spcPts val="0"/>
              </a:spcAft>
            </a:pPr>
            <a:r>
              <a:rPr sz="1120" b="0">
                <a:solidFill>
                  <a:srgbClr val="3A3A3A"/>
                </a:solidFill>
                <a:latin typeface="맑은 고딕"/>
                <a:ea typeface="맑은 고딕"/>
                <a:cs typeface="맑은 고딕"/>
              </a:rPr>
              <a:t>낮을수록 발 미끄럼이 적음
현재 평가 코드의 보조 진단 정의</a:t>
            </a:r>
          </a:p>
        </p:txBody>
      </p:sp>
      <p:sp>
        <p:nvSpPr>
          <p:cNvPr id="28" name="Rectangle 27"/>
          <p:cNvSpPr/>
          <p:nvPr/>
        </p:nvSpPr>
        <p:spPr>
          <a:xfrm>
            <a:off x="640080" y="4864608"/>
            <a:ext cx="201168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1" y="4901184"/>
            <a:ext cx="1865376" cy="585216"/>
          </a:xfrm>
          <a:prstGeom prst="rect">
            <a:avLst/>
          </a:prstGeom>
          <a:noFill/>
        </p:spPr>
        <p:txBody>
          <a:bodyPr wrap="square" lIns="9144" tIns="9144" rIns="9144" bIns="9144" anchor="ctr">
            <a:spAutoFit/>
          </a:bodyPr>
          <a:lstStyle/>
          <a:p>
            <a:pPr algn="l">
              <a:spcAft>
                <a:spcPts val="0"/>
              </a:spcAft>
            </a:pPr>
            <a:r>
              <a:rPr sz="1120" b="1">
                <a:solidFill>
                  <a:srgbClr val="3A3A3A"/>
                </a:solidFill>
                <a:latin typeface="맑은 고딕"/>
                <a:ea typeface="맑은 고딕"/>
                <a:cs typeface="맑은 고딕"/>
              </a:rPr>
              <a:t>행동 한계 근처 비율</a:t>
            </a:r>
          </a:p>
        </p:txBody>
      </p:sp>
      <p:sp>
        <p:nvSpPr>
          <p:cNvPr id="30" name="Rectangle 29"/>
          <p:cNvSpPr/>
          <p:nvPr/>
        </p:nvSpPr>
        <p:spPr>
          <a:xfrm>
            <a:off x="2651760" y="4864608"/>
            <a:ext cx="338328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1" name="v10-math-15"/>
              <p:cNvSpPr txBox="1"/>
              <p:nvPr/>
            </p:nvSpPr>
            <p:spPr>
              <a:xfrm>
                <a:off x="2724912" y="4901184"/>
                <a:ext cx="3236976" cy="585216"/>
              </a:xfrm>
              <a:prstGeom prst="rect">
                <a:avLst/>
              </a:prstGeom>
              <a:noFill/>
            </p:spPr>
            <p:txBody>
              <a:bodyPr wrap="none" lIns="18288" tIns="9144" rIns="18288" bIns="9144" anchor="ctr">
                <a:spAutoFit/>
              </a:bodyPr>
              <a:lstStyle/>
              <a:p>
                <a:pPr algn="ctr">
                  <a:spcAft>
                    <a:spcPts val="0"/>
                  </a:spcAft>
                </a:pPr>
                <a14:m>
                  <m:oMathPara xmlns:m="http://schemas.openxmlformats.org/officeDocument/2006/math">
                    <m:oMath>
                      <m:sSub>
                        <m:sSubPr>
                          <m:ctrlPr>
                            <a:rPr lang="ko-KR" sz="1150" b="0">
                              <a:solidFill>
                                <a:srgbClr val="222222"/>
                              </a:solidFill>
                              <a:latin typeface="Cambria Math" panose="02040503050406030204" pitchFamily="18" charset="0"/>
                              <a:ea typeface="맑은 고딕"/>
                              <a:cs typeface="맑은 고딕"/>
                            </a:rPr>
                          </m:ctrlPr>
                        </m:sSubPr>
                        <m:e>
                          <m:r>
                            <a:rPr lang="ko-KR" sz="1150" b="0">
                              <a:solidFill>
                                <a:srgbClr val="222222"/>
                              </a:solidFill>
                              <a:latin typeface="Cambria Math" panose="02040503050406030204" pitchFamily="18" charset="0"/>
                              <a:ea typeface="맑은 고딕"/>
                              <a:cs typeface="맑은 고딕"/>
                            </a:rPr>
                            <m:t>𝑚𝑒𝑎𝑛</m:t>
                          </m:r>
                        </m:e>
                        <m:sub>
                          <m:r>
                            <a:rPr lang="ko-KR" sz="1150" b="0">
                              <a:solidFill>
                                <a:srgbClr val="222222"/>
                              </a:solidFill>
                              <a:latin typeface="Cambria Math" panose="02040503050406030204" pitchFamily="18" charset="0"/>
                              <a:ea typeface="맑은 고딕"/>
                              <a:cs typeface="맑은 고딕"/>
                            </a:rPr>
                            <m:t>𝑗</m:t>
                          </m:r>
                          <m:r>
                            <a:rPr lang="ko-KR" sz="1150" b="0">
                              <a:solidFill>
                                <a:srgbClr val="222222"/>
                              </a:solidFill>
                              <a:latin typeface="Cambria Math" panose="02040503050406030204" pitchFamily="18" charset="0"/>
                              <a:ea typeface="맑은 고딕"/>
                              <a:cs typeface="맑은 고딕"/>
                            </a:rPr>
                            <m:t>,</m:t>
                          </m:r>
                          <m:r>
                            <a:rPr lang="ko-KR" sz="1150" b="0">
                              <a:solidFill>
                                <a:srgbClr val="222222"/>
                              </a:solidFill>
                              <a:latin typeface="Cambria Math" panose="02040503050406030204" pitchFamily="18" charset="0"/>
                              <a:ea typeface="맑은 고딕"/>
                              <a:cs typeface="맑은 고딕"/>
                            </a:rPr>
                            <m:t>𝑡</m:t>
                          </m:r>
                        </m:sub>
                      </m:sSub>
                      <m:r>
                        <a:rPr lang="ko-KR" sz="1150" b="0">
                          <a:solidFill>
                            <a:srgbClr val="222222"/>
                          </a:solidFill>
                          <a:latin typeface="Cambria Math" panose="02040503050406030204" pitchFamily="18" charset="0"/>
                          <a:ea typeface="맑은 고딕"/>
                          <a:cs typeface="맑은 고딕"/>
                        </a:rPr>
                        <m:t>(1[|</m:t>
                      </m:r>
                      <m:sSub>
                        <m:sSubPr>
                          <m:ctrlPr>
                            <a:rPr lang="ko-KR" sz="1150" b="0">
                              <a:solidFill>
                                <a:srgbClr val="222222"/>
                              </a:solidFill>
                              <a:latin typeface="Cambria Math" panose="02040503050406030204" pitchFamily="18" charset="0"/>
                              <a:ea typeface="맑은 고딕"/>
                              <a:cs typeface="맑은 고딕"/>
                            </a:rPr>
                          </m:ctrlPr>
                        </m:sSubPr>
                        <m:e>
                          <m:r>
                            <a:rPr lang="ko-KR" sz="1150" b="0">
                              <a:solidFill>
                                <a:srgbClr val="222222"/>
                              </a:solidFill>
                              <a:latin typeface="Cambria Math" panose="02040503050406030204" pitchFamily="18" charset="0"/>
                              <a:ea typeface="맑은 고딕"/>
                              <a:cs typeface="맑은 고딕"/>
                            </a:rPr>
                            <m:t>𝑎</m:t>
                          </m:r>
                        </m:e>
                        <m:sub>
                          <m:r>
                            <a:rPr lang="ko-KR" sz="1150" b="0">
                              <a:solidFill>
                                <a:srgbClr val="222222"/>
                              </a:solidFill>
                              <a:latin typeface="Cambria Math" panose="02040503050406030204" pitchFamily="18" charset="0"/>
                              <a:ea typeface="맑은 고딕"/>
                              <a:cs typeface="맑은 고딕"/>
                            </a:rPr>
                            <m:t>𝑗</m:t>
                          </m:r>
                          <m:r>
                            <a:rPr lang="ko-KR" sz="1150" b="0">
                              <a:solidFill>
                                <a:srgbClr val="222222"/>
                              </a:solidFill>
                              <a:latin typeface="Cambria Math" panose="02040503050406030204" pitchFamily="18" charset="0"/>
                              <a:ea typeface="맑은 고딕"/>
                              <a:cs typeface="맑은 고딕"/>
                            </a:rPr>
                            <m:t>,</m:t>
                          </m:r>
                          <m:r>
                            <a:rPr lang="ko-KR" sz="1150" b="0">
                              <a:solidFill>
                                <a:srgbClr val="222222"/>
                              </a:solidFill>
                              <a:latin typeface="Cambria Math" panose="02040503050406030204" pitchFamily="18" charset="0"/>
                              <a:ea typeface="맑은 고딕"/>
                              <a:cs typeface="맑은 고딕"/>
                            </a:rPr>
                            <m:t>𝑡</m:t>
                          </m:r>
                        </m:sub>
                      </m:sSub>
                      <m:r>
                        <a:rPr lang="ko-KR" sz="1150" b="0">
                          <a:solidFill>
                            <a:srgbClr val="222222"/>
                          </a:solidFill>
                          <a:latin typeface="Cambria Math" panose="02040503050406030204" pitchFamily="18" charset="0"/>
                          <a:ea typeface="맑은 고딕"/>
                          <a:cs typeface="맑은 고딕"/>
                        </a:rPr>
                        <m:t>| ≥ 0.98])</m:t>
                      </m:r>
                    </m:oMath>
                  </m:oMathPara>
                </a14:m>
                <a:endParaRPr/>
              </a:p>
            </p:txBody>
          </p:sp>
        </mc:Choice>
        <mc:Fallback xmlns="">
          <p:sp>
            <p:nvSpPr>
              <p:cNvPr id="31" name="v10-math-15"/>
              <p:cNvSpPr txBox="1">
                <a:spLocks noRot="1" noChangeAspect="1" noMove="1" noResize="1" noEditPoints="1" noAdjustHandles="1" noChangeArrowheads="1" noChangeShapeType="1" noTextEdit="1"/>
              </p:cNvSpPr>
              <p:nvPr/>
            </p:nvSpPr>
            <p:spPr>
              <a:xfrm>
                <a:off x="2724912" y="4901184"/>
                <a:ext cx="3236976" cy="585216"/>
              </a:xfrm>
              <a:prstGeom prst="rect">
                <a:avLst/>
              </a:prstGeom>
              <a:blipFill>
                <a:blip r:embed="rId5"/>
                <a:stretch>
                  <a:fillRect/>
                </a:stretch>
              </a:blipFill>
            </p:spPr>
            <p:txBody>
              <a:bodyPr/>
              <a:lstStyle/>
              <a:p>
                <a:r>
                  <a:rPr lang="ko-KR" altLang="en-US">
                    <a:noFill/>
                  </a:rPr>
                  <a:t> </a:t>
                </a:r>
              </a:p>
            </p:txBody>
          </p:sp>
        </mc:Fallback>
      </mc:AlternateContent>
      <p:sp>
        <p:nvSpPr>
          <p:cNvPr id="32" name="Rectangle 31"/>
          <p:cNvSpPr/>
          <p:nvPr/>
        </p:nvSpPr>
        <p:spPr>
          <a:xfrm>
            <a:off x="6035040" y="4864608"/>
            <a:ext cx="5577840" cy="658368"/>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08192" y="4901184"/>
            <a:ext cx="5431536" cy="585216"/>
          </a:xfrm>
          <a:prstGeom prst="rect">
            <a:avLst/>
          </a:prstGeom>
          <a:noFill/>
        </p:spPr>
        <p:txBody>
          <a:bodyPr wrap="square" lIns="9144" tIns="9144" rIns="9144" bIns="9144" anchor="ctr">
            <a:spAutoFit/>
          </a:bodyPr>
          <a:lstStyle/>
          <a:p>
            <a:pPr algn="ctr">
              <a:spcAft>
                <a:spcPts val="0"/>
              </a:spcAft>
            </a:pPr>
            <a:r>
              <a:rPr sz="1120" b="0">
                <a:solidFill>
                  <a:srgbClr val="3A3A3A"/>
                </a:solidFill>
                <a:latin typeface="맑은 고딕"/>
                <a:ea typeface="맑은 고딕"/>
                <a:cs typeface="맑은 고딕"/>
              </a:rPr>
              <a:t>낮을수록 정규화 행동 한계 근처가 적음
0.98 임계값은 프로젝트 진단 기준</a:t>
            </a:r>
          </a:p>
        </p:txBody>
      </p:sp>
      <p:sp>
        <p:nvSpPr>
          <p:cNvPr id="34" name="TextBox 33"/>
          <p:cNvSpPr txBox="1"/>
          <p:nvPr/>
        </p:nvSpPr>
        <p:spPr>
          <a:xfrm>
            <a:off x="731520" y="5660136"/>
            <a:ext cx="10698480" cy="438912"/>
          </a:xfrm>
          <a:prstGeom prst="rect">
            <a:avLst/>
          </a:prstGeom>
          <a:noFill/>
        </p:spPr>
        <p:txBody>
          <a:bodyPr wrap="square" lIns="36576" tIns="36576" rIns="36576" bIns="36576" anchor="t">
            <a:spAutoFit/>
          </a:bodyPr>
          <a:lstStyle/>
          <a:p>
            <a:pPr algn="l">
              <a:spcAft>
                <a:spcPts val="0"/>
              </a:spcAft>
            </a:pPr>
            <a:r>
              <a:rPr sz="1080" b="0">
                <a:solidFill>
                  <a:srgbClr val="3A3A3A"/>
                </a:solidFill>
                <a:latin typeface="맑은 고딕"/>
                <a:ea typeface="맑은 고딕"/>
                <a:cs typeface="맑은 고딕"/>
              </a:rPr>
              <a:t>K: onset 후 유효 step 수. 고장 전 종료는 K=0이며 현재 코드의 연속 지표는0으로 기록된다.
따라서 RMSE를 생존·회복 실패와 함께 해석한다. episode별 평균은 모든 step을 합친 RMSE와 다르다.</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83464"/>
            <a:ext cx="11082528" cy="512064"/>
          </a:xfrm>
          <a:prstGeom prst="rect">
            <a:avLst/>
          </a:prstGeom>
          <a:noFill/>
        </p:spPr>
        <p:txBody>
          <a:bodyPr wrap="square" lIns="36576" tIns="36576" rIns="36576" bIns="36576" anchor="ctr">
            <a:spAutoFit/>
          </a:bodyPr>
          <a:lstStyle/>
          <a:p>
            <a:pPr algn="l">
              <a:spcAft>
                <a:spcPts val="0"/>
              </a:spcAft>
            </a:pPr>
            <a:r>
              <a:rPr sz="2800" b="1" dirty="0">
                <a:solidFill>
                  <a:srgbClr val="111111"/>
                </a:solidFill>
                <a:latin typeface="맑은 고딕"/>
                <a:ea typeface="맑은 고딕"/>
                <a:cs typeface="맑은 고딕"/>
              </a:rPr>
              <a:t>43 | Appendix A10 · Encoder 구조</a:t>
            </a:r>
            <a:r>
              <a:rPr sz="800" b="0" baseline="30000" dirty="0">
                <a:solidFill>
                  <a:srgbClr val="686868"/>
                </a:solidFill>
                <a:latin typeface="맑은 고딕"/>
                <a:ea typeface="맑은 고딕"/>
                <a:cs typeface="맑은 고딕"/>
              </a:rPr>
              <a:t>1) 2) 3)</a:t>
            </a:r>
          </a:p>
        </p:txBody>
      </p:sp>
      <p:sp>
        <p:nvSpPr>
          <p:cNvPr id="3" name="Rectangle 2"/>
          <p:cNvSpPr/>
          <p:nvPr/>
        </p:nvSpPr>
        <p:spPr>
          <a:xfrm>
            <a:off x="548640" y="969264"/>
            <a:ext cx="11082528" cy="10972"/>
          </a:xfrm>
          <a:prstGeom prst="rect">
            <a:avLst/>
          </a:prstGeom>
          <a:solidFill>
            <a:srgbClr val="111111"/>
          </a:solidFill>
          <a:ln>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05840"/>
            <a:ext cx="3429000" cy="210312"/>
          </a:xfrm>
          <a:prstGeom prst="rect">
            <a:avLst/>
          </a:prstGeom>
          <a:noFill/>
        </p:spPr>
        <p:txBody>
          <a:bodyPr wrap="square" lIns="36576" tIns="36576" rIns="36576" bIns="36576" anchor="ctr">
            <a:spAutoFit/>
          </a:bodyPr>
          <a:lstStyle/>
          <a:p>
            <a:pPr algn="l">
              <a:spcAft>
                <a:spcPts val="0"/>
              </a:spcAft>
            </a:pPr>
            <a:r>
              <a:rPr sz="900" b="1">
                <a:solidFill>
                  <a:srgbClr val="686868"/>
                </a:solidFill>
                <a:latin typeface="맑은 고딕"/>
                <a:ea typeface="맑은 고딕"/>
                <a:cs typeface="맑은 고딕"/>
              </a:rPr>
              <a:t>APPENDIX</a:t>
            </a:r>
          </a:p>
        </p:txBody>
      </p:sp>
      <p:sp>
        <p:nvSpPr>
          <p:cNvPr id="5" name="Rectangle 4"/>
          <p:cNvSpPr/>
          <p:nvPr/>
        </p:nvSpPr>
        <p:spPr>
          <a:xfrm>
            <a:off x="548640" y="6208776"/>
            <a:ext cx="11082528" cy="10972"/>
          </a:xfrm>
          <a:prstGeom prst="rect">
            <a:avLst/>
          </a:prstGeom>
          <a:solidFill>
            <a:srgbClr val="CFCFCF"/>
          </a:solidFill>
          <a:ln>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91072"/>
            <a:ext cx="9902952" cy="265176"/>
          </a:xfrm>
          <a:prstGeom prst="rect">
            <a:avLst/>
          </a:prstGeom>
          <a:noFill/>
        </p:spPr>
        <p:txBody>
          <a:bodyPr wrap="square" lIns="9144" tIns="9144" rIns="9144" bIns="9144" anchor="ctr">
            <a:spAutoFit/>
          </a:bodyPr>
          <a:lstStyle/>
          <a:p>
            <a:pPr algn="l">
              <a:spcAft>
                <a:spcPts val="0"/>
              </a:spcAft>
            </a:pPr>
            <a:r>
              <a:rPr sz="720" b="0">
                <a:solidFill>
                  <a:srgbClr val="686868"/>
                </a:solidFill>
                <a:latin typeface="맑은 고딕"/>
                <a:ea typeface="맑은 고딕"/>
                <a:cs typeface="맑은 고딕"/>
              </a:rPr>
              <a:t>1) Saving the Limping §IV-A: Teacher MLP [512,256,128], ELU, latent8; history50 + 1D CNN.   2) RMA §IV-B: frame embedding MLP; Conv1d [32,32,8,4], [32,32,5,1], [32,32,5,1].   3) Current implementation: joint_teacher_student_actor_critic.py:19–35,82–90; joint_schema.py.</a:t>
            </a:r>
          </a:p>
        </p:txBody>
      </p:sp>
      <p:sp>
        <p:nvSpPr>
          <p:cNvPr id="7" name="TextBox 6"/>
          <p:cNvSpPr txBox="1"/>
          <p:nvPr/>
        </p:nvSpPr>
        <p:spPr>
          <a:xfrm>
            <a:off x="10570464" y="6291072"/>
            <a:ext cx="1051560" cy="265176"/>
          </a:xfrm>
          <a:prstGeom prst="rect">
            <a:avLst/>
          </a:prstGeom>
          <a:noFill/>
        </p:spPr>
        <p:txBody>
          <a:bodyPr wrap="square" lIns="9144" tIns="9144" rIns="9144" bIns="9144" anchor="ctr">
            <a:spAutoFit/>
          </a:bodyPr>
          <a:lstStyle/>
          <a:p>
            <a:pPr algn="r">
              <a:spcAft>
                <a:spcPts val="0"/>
              </a:spcAft>
            </a:pPr>
            <a:r>
              <a:rPr sz="900" b="1">
                <a:solidFill>
                  <a:srgbClr val="686868"/>
                </a:solidFill>
                <a:latin typeface="맑은 고딕"/>
                <a:ea typeface="맑은 고딕"/>
                <a:cs typeface="맑은 고딕"/>
              </a:rPr>
              <a:t>43 / 43</a:t>
            </a:r>
          </a:p>
        </p:txBody>
      </p:sp>
      <p:sp>
        <p:nvSpPr>
          <p:cNvPr id="8" name="v5-content-intro"/>
          <p:cNvSpPr txBox="1"/>
          <p:nvPr/>
        </p:nvSpPr>
        <p:spPr>
          <a:xfrm>
            <a:off x="658368" y="1261872"/>
            <a:ext cx="10881360" cy="484632"/>
          </a:xfrm>
          <a:prstGeom prst="rect">
            <a:avLst/>
          </a:prstGeom>
          <a:noFill/>
        </p:spPr>
        <p:txBody>
          <a:bodyPr wrap="square" lIns="36576" tIns="36576" rIns="36576" bIns="36576" anchor="t">
            <a:spAutoFit/>
          </a:bodyPr>
          <a:lstStyle/>
          <a:p>
            <a:pPr algn="l">
              <a:spcAft>
                <a:spcPts val="0"/>
              </a:spcAft>
            </a:pPr>
            <a:r>
              <a:rPr sz="1250" b="0">
                <a:solidFill>
                  <a:srgbClr val="3A3A3A"/>
                </a:solidFill>
                <a:latin typeface="맑은 고딕"/>
                <a:ea typeface="맑은 고딕"/>
                <a:cs typeface="맑은 고딕"/>
              </a:rPr>
              <a:t>Teacher의 은닉층은 Saving the Limping, Student의 시간 CNN은 RMA를 따른다.
입력 차원과 프레임 임베딩은 프로젝트 구성이다. 가중치는 보행 보상과 특징 모방 손실로 학습한다.</a:t>
            </a:r>
          </a:p>
        </p:txBody>
      </p:sp>
      <mc:AlternateContent xmlns:mc="http://schemas.openxmlformats.org/markup-compatibility/2006" xmlns:a14="http://schemas.microsoft.com/office/drawing/2010/main">
        <mc:Choice Requires="a14">
          <p:sp>
            <p:nvSpPr>
              <p:cNvPr id="9" name="v12-math-0"/>
              <p:cNvSpPr txBox="1"/>
              <p:nvPr/>
            </p:nvSpPr>
            <p:spPr>
              <a:xfrm>
                <a:off x="822960" y="1828800"/>
                <a:ext cx="5029200" cy="502920"/>
              </a:xfrm>
              <a:prstGeom prst="rect">
                <a:avLst/>
              </a:prstGeom>
              <a:noFill/>
            </p:spPr>
            <p:txBody>
              <a:bodyPr wrap="none" lIns="27432" tIns="27432" rIns="27432" bIns="27432" anchor="ctr">
                <a:spAutoFit/>
              </a:bodyPr>
              <a:lstStyle/>
              <a:p>
                <a:pPr algn="ctr"/>
                <a14:m>
                  <m:oMathPara xmlns:m="http://schemas.openxmlformats.org/officeDocument/2006/math">
                    <m:oMath>
                      <m:sSubSup>
                        <m:sSubSupPr>
                          <m:ctrlPr>
                            <a:rPr lang="ko-KR" sz="1700" b="0">
                              <a:solidFill>
                                <a:srgbClr val="222222"/>
                              </a:solidFill>
                              <a:latin typeface="Cambria Math" panose="02040503050406030204" pitchFamily="18" charset="0"/>
                              <a:ea typeface="맑은 고딕"/>
                              <a:cs typeface="맑은 고딕"/>
                            </a:rPr>
                          </m:ctrlPr>
                        </m:sSubSupPr>
                        <m:e>
                          <m:r>
                            <a:rPr lang="ko-KR" sz="1700" b="0">
                              <a:solidFill>
                                <a:srgbClr val="222222"/>
                              </a:solidFill>
                              <a:latin typeface="Cambria Math" panose="02040503050406030204" pitchFamily="18" charset="0"/>
                              <a:ea typeface="맑은 고딕"/>
                              <a:cs typeface="맑은 고딕"/>
                            </a:rPr>
                            <m:t>𝑧</m:t>
                          </m:r>
                        </m:e>
                        <m:sub>
                          <m:r>
                            <a:rPr lang="ko-KR" sz="1700" b="0">
                              <a:solidFill>
                                <a:srgbClr val="222222"/>
                              </a:solidFill>
                              <a:latin typeface="Cambria Math" panose="02040503050406030204" pitchFamily="18" charset="0"/>
                              <a:ea typeface="맑은 고딕"/>
                              <a:cs typeface="맑은 고딕"/>
                            </a:rPr>
                            <m:t>𝑡</m:t>
                          </m:r>
                        </m:sub>
                        <m:sup>
                          <m:r>
                            <a:rPr lang="ko-KR" sz="1700" b="0">
                              <a:solidFill>
                                <a:srgbClr val="222222"/>
                              </a:solidFill>
                              <a:latin typeface="Cambria Math" panose="02040503050406030204" pitchFamily="18" charset="0"/>
                              <a:ea typeface="맑은 고딕"/>
                              <a:cs typeface="맑은 고딕"/>
                            </a:rPr>
                            <m:t>𝑇</m:t>
                          </m:r>
                        </m:sup>
                      </m:sSubSup>
                      <m:r>
                        <a:rPr lang="ko-KR" sz="1700" b="0">
                          <a:solidFill>
                            <a:srgbClr val="222222"/>
                          </a:solidFill>
                          <a:latin typeface="Cambria Math" panose="02040503050406030204" pitchFamily="18" charset="0"/>
                          <a:ea typeface="맑은 고딕"/>
                          <a:cs typeface="맑은 고딕"/>
                        </a:rPr>
                        <m:t> = </m:t>
                      </m:r>
                      <m:r>
                        <a:rPr lang="ko-KR" sz="1700" b="0">
                          <a:solidFill>
                            <a:srgbClr val="222222"/>
                          </a:solidFill>
                          <a:latin typeface="Cambria Math" panose="02040503050406030204" pitchFamily="18" charset="0"/>
                          <a:ea typeface="맑은 고딕"/>
                          <a:cs typeface="맑은 고딕"/>
                        </a:rPr>
                        <m:t>𝜇</m:t>
                      </m:r>
                      <m:r>
                        <a:rPr lang="ko-KR" sz="1700" b="0">
                          <a:solidFill>
                            <a:srgbClr val="222222"/>
                          </a:solidFill>
                          <a:latin typeface="Cambria Math" panose="02040503050406030204" pitchFamily="18" charset="0"/>
                          <a:ea typeface="맑은 고딕"/>
                          <a:cs typeface="맑은 고딕"/>
                        </a:rPr>
                        <m:t>(</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𝜉</m:t>
                          </m:r>
                        </m:e>
                        <m:sub>
                          <m:r>
                            <a:rPr lang="ko-KR" sz="1700" b="0">
                              <a:solidFill>
                                <a:srgbClr val="222222"/>
                              </a:solidFill>
                              <a:latin typeface="Cambria Math" panose="02040503050406030204" pitchFamily="18" charset="0"/>
                              <a:ea typeface="맑은 고딕"/>
                              <a:cs typeface="맑은 고딕"/>
                            </a:rPr>
                            <m:t>𝑡</m:t>
                          </m:r>
                        </m:sub>
                      </m:sSub>
                      <m:r>
                        <a:rPr lang="ko-KR" sz="1700" b="0">
                          <a:solidFill>
                            <a:srgbClr val="222222"/>
                          </a:solidFill>
                          <a:latin typeface="Cambria Math" panose="02040503050406030204" pitchFamily="18" charset="0"/>
                          <a:ea typeface="맑은 고딕"/>
                          <a:cs typeface="맑은 고딕"/>
                        </a:rPr>
                        <m:t>) ∈ </m:t>
                      </m:r>
                      <m:sSup>
                        <m:sSupPr>
                          <m:ctrlPr>
                            <a:rPr lang="ko-KR" sz="1700" b="0">
                              <a:solidFill>
                                <a:srgbClr val="222222"/>
                              </a:solidFill>
                              <a:latin typeface="Cambria Math" panose="02040503050406030204" pitchFamily="18" charset="0"/>
                              <a:ea typeface="맑은 고딕"/>
                              <a:cs typeface="맑은 고딕"/>
                            </a:rPr>
                          </m:ctrlPr>
                        </m:sSupPr>
                        <m:e>
                          <m:r>
                            <a:rPr lang="ko-KR" sz="1700" b="0">
                              <a:solidFill>
                                <a:srgbClr val="222222"/>
                              </a:solidFill>
                              <a:latin typeface="Cambria Math" panose="02040503050406030204" pitchFamily="18" charset="0"/>
                              <a:ea typeface="맑은 고딕"/>
                              <a:cs typeface="맑은 고딕"/>
                            </a:rPr>
                            <m:t>𝑅</m:t>
                          </m:r>
                        </m:e>
                        <m:sup>
                          <m:r>
                            <a:rPr lang="ko-KR" sz="1700" b="0">
                              <a:solidFill>
                                <a:srgbClr val="222222"/>
                              </a:solidFill>
                              <a:latin typeface="Cambria Math" panose="02040503050406030204" pitchFamily="18" charset="0"/>
                              <a:ea typeface="맑은 고딕"/>
                              <a:cs typeface="맑은 고딕"/>
                            </a:rPr>
                            <m:t>8</m:t>
                          </m:r>
                        </m:sup>
                      </m:sSup>
                    </m:oMath>
                  </m:oMathPara>
                </a14:m>
                <a:endParaRPr/>
              </a:p>
            </p:txBody>
          </p:sp>
        </mc:Choice>
        <mc:Fallback xmlns="">
          <p:sp>
            <p:nvSpPr>
              <p:cNvPr id="9" name="v12-math-0"/>
              <p:cNvSpPr txBox="1">
                <a:spLocks noRot="1" noChangeAspect="1" noMove="1" noResize="1" noEditPoints="1" noAdjustHandles="1" noChangeArrowheads="1" noChangeShapeType="1" noTextEdit="1"/>
              </p:cNvSpPr>
              <p:nvPr/>
            </p:nvSpPr>
            <p:spPr>
              <a:xfrm>
                <a:off x="822960" y="1828800"/>
                <a:ext cx="5029200" cy="502920"/>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v12-math-1"/>
              <p:cNvSpPr txBox="1"/>
              <p:nvPr/>
            </p:nvSpPr>
            <p:spPr>
              <a:xfrm>
                <a:off x="6400800" y="1828800"/>
                <a:ext cx="4846320" cy="502920"/>
              </a:xfrm>
              <a:prstGeom prst="rect">
                <a:avLst/>
              </a:prstGeom>
              <a:noFill/>
            </p:spPr>
            <p:txBody>
              <a:bodyPr wrap="none" lIns="27432" tIns="27432" rIns="27432" bIns="27432" anchor="ctr">
                <a:spAutoFit/>
              </a:bodyPr>
              <a:lstStyle/>
              <a:p>
                <a:pPr algn="ctr"/>
                <a14:m>
                  <m:oMathPara xmlns:m="http://schemas.openxmlformats.org/officeDocument/2006/math">
                    <m:oMath>
                      <m:sSubSup>
                        <m:sSubSupPr>
                          <m:ctrlPr>
                            <a:rPr lang="ko-KR" sz="1700" b="0">
                              <a:solidFill>
                                <a:srgbClr val="222222"/>
                              </a:solidFill>
                              <a:latin typeface="Cambria Math" panose="02040503050406030204" pitchFamily="18" charset="0"/>
                              <a:ea typeface="맑은 고딕"/>
                              <a:cs typeface="맑은 고딕"/>
                            </a:rPr>
                          </m:ctrlPr>
                        </m:sSubSupPr>
                        <m:e>
                          <m:r>
                            <a:rPr lang="ko-KR" sz="1700" b="0">
                              <a:solidFill>
                                <a:srgbClr val="222222"/>
                              </a:solidFill>
                              <a:latin typeface="Cambria Math" panose="02040503050406030204" pitchFamily="18" charset="0"/>
                              <a:ea typeface="맑은 고딕"/>
                              <a:cs typeface="맑은 고딕"/>
                            </a:rPr>
                            <m:t>𝑧</m:t>
                          </m:r>
                        </m:e>
                        <m:sub>
                          <m:r>
                            <a:rPr lang="ko-KR" sz="1700" b="0">
                              <a:solidFill>
                                <a:srgbClr val="222222"/>
                              </a:solidFill>
                              <a:latin typeface="Cambria Math" panose="02040503050406030204" pitchFamily="18" charset="0"/>
                              <a:ea typeface="맑은 고딕"/>
                              <a:cs typeface="맑은 고딕"/>
                            </a:rPr>
                            <m:t>𝑡</m:t>
                          </m:r>
                        </m:sub>
                        <m:sup>
                          <m:r>
                            <a:rPr lang="ko-KR" sz="1700" b="0">
                              <a:solidFill>
                                <a:srgbClr val="222222"/>
                              </a:solidFill>
                              <a:latin typeface="Cambria Math" panose="02040503050406030204" pitchFamily="18" charset="0"/>
                              <a:ea typeface="맑은 고딕"/>
                              <a:cs typeface="맑은 고딕"/>
                            </a:rPr>
                            <m:t>𝑆</m:t>
                          </m:r>
                        </m:sup>
                      </m:sSubSup>
                      <m:r>
                        <a:rPr lang="ko-KR" sz="1700" b="0">
                          <a:solidFill>
                            <a:srgbClr val="222222"/>
                          </a:solidFill>
                          <a:latin typeface="Cambria Math" panose="02040503050406030204" pitchFamily="18" charset="0"/>
                          <a:ea typeface="맑은 고딕"/>
                          <a:cs typeface="맑은 고딕"/>
                        </a:rPr>
                        <m:t> = </m:t>
                      </m:r>
                      <m:r>
                        <a:rPr lang="ko-KR" sz="1700" b="0">
                          <a:solidFill>
                            <a:srgbClr val="222222"/>
                          </a:solidFill>
                          <a:latin typeface="Cambria Math" panose="02040503050406030204" pitchFamily="18" charset="0"/>
                          <a:ea typeface="맑은 고딕"/>
                          <a:cs typeface="맑은 고딕"/>
                        </a:rPr>
                        <m:t>𝜑</m:t>
                      </m:r>
                      <m:r>
                        <a:rPr lang="ko-KR" sz="1700" b="0">
                          <a:solidFill>
                            <a:srgbClr val="222222"/>
                          </a:solidFill>
                          <a:latin typeface="Cambria Math" panose="02040503050406030204" pitchFamily="18" charset="0"/>
                          <a:ea typeface="맑은 고딕"/>
                          <a:cs typeface="맑은 고딕"/>
                        </a:rPr>
                        <m:t>(</m:t>
                      </m:r>
                      <m:sSub>
                        <m:sSubPr>
                          <m:ctrlPr>
                            <a:rPr lang="ko-KR" sz="1700" b="0">
                              <a:solidFill>
                                <a:srgbClr val="222222"/>
                              </a:solidFill>
                              <a:latin typeface="Cambria Math" panose="02040503050406030204" pitchFamily="18" charset="0"/>
                              <a:ea typeface="맑은 고딕"/>
                              <a:cs typeface="맑은 고딕"/>
                            </a:rPr>
                          </m:ctrlPr>
                        </m:sSubPr>
                        <m:e>
                          <m:r>
                            <a:rPr lang="ko-KR" sz="1700" b="0">
                              <a:solidFill>
                                <a:srgbClr val="222222"/>
                              </a:solidFill>
                              <a:latin typeface="Cambria Math" panose="02040503050406030204" pitchFamily="18" charset="0"/>
                              <a:ea typeface="맑은 고딕"/>
                              <a:cs typeface="맑은 고딕"/>
                            </a:rPr>
                            <m:t>ℎ</m:t>
                          </m:r>
                        </m:e>
                        <m:sub>
                          <m:r>
                            <a:rPr lang="ko-KR" sz="1700" b="0">
                              <a:solidFill>
                                <a:srgbClr val="222222"/>
                              </a:solidFill>
                              <a:latin typeface="Cambria Math" panose="02040503050406030204" pitchFamily="18" charset="0"/>
                              <a:ea typeface="맑은 고딕"/>
                              <a:cs typeface="맑은 고딕"/>
                            </a:rPr>
                            <m:t>𝑡</m:t>
                          </m:r>
                        </m:sub>
                      </m:sSub>
                      <m:r>
                        <a:rPr lang="ko-KR" sz="1700" b="0">
                          <a:solidFill>
                            <a:srgbClr val="222222"/>
                          </a:solidFill>
                          <a:latin typeface="Cambria Math" panose="02040503050406030204" pitchFamily="18" charset="0"/>
                          <a:ea typeface="맑은 고딕"/>
                          <a:cs typeface="맑은 고딕"/>
                        </a:rPr>
                        <m:t>) ∈ </m:t>
                      </m:r>
                      <m:sSup>
                        <m:sSupPr>
                          <m:ctrlPr>
                            <a:rPr lang="ko-KR" sz="1700" b="0">
                              <a:solidFill>
                                <a:srgbClr val="222222"/>
                              </a:solidFill>
                              <a:latin typeface="Cambria Math" panose="02040503050406030204" pitchFamily="18" charset="0"/>
                              <a:ea typeface="맑은 고딕"/>
                              <a:cs typeface="맑은 고딕"/>
                            </a:rPr>
                          </m:ctrlPr>
                        </m:sSupPr>
                        <m:e>
                          <m:r>
                            <a:rPr lang="ko-KR" sz="1700" b="0">
                              <a:solidFill>
                                <a:srgbClr val="222222"/>
                              </a:solidFill>
                              <a:latin typeface="Cambria Math" panose="02040503050406030204" pitchFamily="18" charset="0"/>
                              <a:ea typeface="맑은 고딕"/>
                              <a:cs typeface="맑은 고딕"/>
                            </a:rPr>
                            <m:t>𝑅</m:t>
                          </m:r>
                        </m:e>
                        <m:sup>
                          <m:r>
                            <a:rPr lang="ko-KR" sz="1700" b="0">
                              <a:solidFill>
                                <a:srgbClr val="222222"/>
                              </a:solidFill>
                              <a:latin typeface="Cambria Math" panose="02040503050406030204" pitchFamily="18" charset="0"/>
                              <a:ea typeface="맑은 고딕"/>
                              <a:cs typeface="맑은 고딕"/>
                            </a:rPr>
                            <m:t>8</m:t>
                          </m:r>
                        </m:sup>
                      </m:sSup>
                    </m:oMath>
                  </m:oMathPara>
                </a14:m>
                <a:endParaRPr/>
              </a:p>
            </p:txBody>
          </p:sp>
        </mc:Choice>
        <mc:Fallback xmlns="">
          <p:sp>
            <p:nvSpPr>
              <p:cNvPr id="10" name="v12-math-1"/>
              <p:cNvSpPr txBox="1">
                <a:spLocks noRot="1" noChangeAspect="1" noMove="1" noResize="1" noEditPoints="1" noAdjustHandles="1" noChangeArrowheads="1" noChangeShapeType="1" noTextEdit="1"/>
              </p:cNvSpPr>
              <p:nvPr/>
            </p:nvSpPr>
            <p:spPr>
              <a:xfrm>
                <a:off x="6400800" y="1828800"/>
                <a:ext cx="4846320" cy="502920"/>
              </a:xfrm>
              <a:prstGeom prst="rect">
                <a:avLst/>
              </a:prstGeom>
              <a:blipFill>
                <a:blip r:embed="rId4"/>
                <a:stretch>
                  <a:fillRect/>
                </a:stretch>
              </a:blipFill>
            </p:spPr>
            <p:txBody>
              <a:bodyPr/>
              <a:lstStyle/>
              <a:p>
                <a:r>
                  <a:rPr lang="ko-KR" altLang="en-US">
                    <a:noFill/>
                  </a:rPr>
                  <a:t> </a:t>
                </a:r>
              </a:p>
            </p:txBody>
          </p:sp>
        </mc:Fallback>
      </mc:AlternateContent>
      <p:sp>
        <p:nvSpPr>
          <p:cNvPr id="11" name="Rectangle 10"/>
          <p:cNvSpPr/>
          <p:nvPr/>
        </p:nvSpPr>
        <p:spPr>
          <a:xfrm>
            <a:off x="640080" y="2542032"/>
            <a:ext cx="1938528" cy="55778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1" y="2578608"/>
            <a:ext cx="1792224" cy="484632"/>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구성</a:t>
            </a:r>
          </a:p>
        </p:txBody>
      </p:sp>
      <p:sp>
        <p:nvSpPr>
          <p:cNvPr id="13" name="Rectangle 12"/>
          <p:cNvSpPr/>
          <p:nvPr/>
        </p:nvSpPr>
        <p:spPr>
          <a:xfrm>
            <a:off x="2578608" y="2542032"/>
            <a:ext cx="3657600" cy="55778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51760" y="2578608"/>
            <a:ext cx="3511296" cy="484632"/>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현재 구현</a:t>
            </a:r>
          </a:p>
        </p:txBody>
      </p:sp>
      <p:sp>
        <p:nvSpPr>
          <p:cNvPr id="15" name="Rectangle 14"/>
          <p:cNvSpPr/>
          <p:nvPr/>
        </p:nvSpPr>
        <p:spPr>
          <a:xfrm>
            <a:off x="6236208" y="2542032"/>
            <a:ext cx="5376672" cy="557784"/>
          </a:xfrm>
          <a:prstGeom prst="rect">
            <a:avLst/>
          </a:prstGeom>
          <a:solidFill>
            <a:srgbClr val="111111"/>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2578608"/>
            <a:ext cx="5230368" cy="484632"/>
          </a:xfrm>
          <a:prstGeom prst="rect">
            <a:avLst/>
          </a:prstGeom>
          <a:noFill/>
        </p:spPr>
        <p:txBody>
          <a:bodyPr wrap="square" lIns="9144" tIns="9144" rIns="9144" bIns="9144" anchor="ctr">
            <a:spAutoFit/>
          </a:bodyPr>
          <a:lstStyle/>
          <a:p>
            <a:pPr algn="ctr">
              <a:spcAft>
                <a:spcPts val="0"/>
              </a:spcAft>
            </a:pPr>
            <a:r>
              <a:rPr sz="1180" b="1">
                <a:solidFill>
                  <a:srgbClr val="FFFFFF"/>
                </a:solidFill>
                <a:latin typeface="맑은 고딕"/>
                <a:ea typeface="맑은 고딕"/>
                <a:cs typeface="맑은 고딕"/>
              </a:rPr>
              <a:t>논문 근거와 프로젝트 변경</a:t>
            </a:r>
          </a:p>
        </p:txBody>
      </p:sp>
      <p:sp>
        <p:nvSpPr>
          <p:cNvPr id="17" name="Rectangle 16"/>
          <p:cNvSpPr/>
          <p:nvPr/>
        </p:nvSpPr>
        <p:spPr>
          <a:xfrm>
            <a:off x="640080" y="3099815"/>
            <a:ext cx="1938528"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1" y="3136391"/>
            <a:ext cx="1792224" cy="484632"/>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Teacher encoder</a:t>
            </a:r>
          </a:p>
        </p:txBody>
      </p:sp>
      <p:sp>
        <p:nvSpPr>
          <p:cNvPr id="19" name="Rectangle 18"/>
          <p:cNvSpPr/>
          <p:nvPr/>
        </p:nvSpPr>
        <p:spPr>
          <a:xfrm>
            <a:off x="2578608" y="3099815"/>
            <a:ext cx="365760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51760" y="3136391"/>
            <a:ext cx="3511296"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45 → 512 → 256 → 128 → 8
은닉층 ELU</a:t>
            </a:r>
          </a:p>
        </p:txBody>
      </p:sp>
      <p:sp>
        <p:nvSpPr>
          <p:cNvPr id="21" name="Rectangle 20"/>
          <p:cNvSpPr/>
          <p:nvPr/>
        </p:nvSpPr>
        <p:spPr>
          <a:xfrm>
            <a:off x="6236208" y="3099815"/>
            <a:ext cx="5376672"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3136391"/>
            <a:ext cx="5230368"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은닉층·8D 출력: Saving the Limping 명시
45D 입력: 프로젝트의 물리정보 구성</a:t>
            </a:r>
          </a:p>
        </p:txBody>
      </p:sp>
      <p:sp>
        <p:nvSpPr>
          <p:cNvPr id="23" name="Rectangle 22"/>
          <p:cNvSpPr/>
          <p:nvPr/>
        </p:nvSpPr>
        <p:spPr>
          <a:xfrm>
            <a:off x="640080" y="3657600"/>
            <a:ext cx="1938528"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1" y="3694176"/>
            <a:ext cx="1792224" cy="484632"/>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Student 이력</a:t>
            </a:r>
          </a:p>
        </p:txBody>
      </p:sp>
      <p:sp>
        <p:nvSpPr>
          <p:cNvPr id="25" name="Rectangle 24"/>
          <p:cNvSpPr/>
          <p:nvPr/>
        </p:nvSpPr>
        <p:spPr>
          <a:xfrm>
            <a:off x="2578608" y="3657600"/>
            <a:ext cx="365760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51760" y="3694176"/>
            <a:ext cx="3511296"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50프레임 × 48D
현재 주기에서 약1초</a:t>
            </a:r>
          </a:p>
        </p:txBody>
      </p:sp>
      <p:sp>
        <p:nvSpPr>
          <p:cNvPr id="27" name="Rectangle 26"/>
          <p:cNvSpPr/>
          <p:nvPr/>
        </p:nvSpPr>
        <p:spPr>
          <a:xfrm>
            <a:off x="6236208" y="3657600"/>
            <a:ext cx="5376672"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0" y="3694176"/>
            <a:ext cx="5230368"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50프레임: Saving the Limping / RMA
48D 프레임: WIM 코드의 관측 구성</a:t>
            </a:r>
          </a:p>
        </p:txBody>
      </p:sp>
      <p:sp>
        <p:nvSpPr>
          <p:cNvPr id="29" name="Rectangle 28"/>
          <p:cNvSpPr/>
          <p:nvPr/>
        </p:nvSpPr>
        <p:spPr>
          <a:xfrm>
            <a:off x="640080" y="4215383"/>
            <a:ext cx="1938528"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1" y="4251959"/>
            <a:ext cx="1792224" cy="484632"/>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프레임 임베딩</a:t>
            </a:r>
          </a:p>
        </p:txBody>
      </p:sp>
      <p:sp>
        <p:nvSpPr>
          <p:cNvPr id="31" name="Rectangle 30"/>
          <p:cNvSpPr/>
          <p:nvPr/>
        </p:nvSpPr>
        <p:spPr>
          <a:xfrm>
            <a:off x="2578608" y="4215383"/>
            <a:ext cx="365760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51760" y="4251959"/>
            <a:ext cx="3511296"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Linear 48 → 32 + ELU</a:t>
            </a:r>
          </a:p>
        </p:txBody>
      </p:sp>
      <p:sp>
        <p:nvSpPr>
          <p:cNvPr id="33" name="Rectangle 32"/>
          <p:cNvSpPr/>
          <p:nvPr/>
        </p:nvSpPr>
        <p:spPr>
          <a:xfrm>
            <a:off x="6236208" y="4215383"/>
            <a:ext cx="5376672"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0" y="4251959"/>
            <a:ext cx="5230368"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프로젝트 변형: 현재는 Linear 1층
RMA 원문은 프레임 임베딩에 2층 MLP</a:t>
            </a:r>
          </a:p>
        </p:txBody>
      </p:sp>
      <p:sp>
        <p:nvSpPr>
          <p:cNvPr id="35" name="Rectangle 34"/>
          <p:cNvSpPr/>
          <p:nvPr/>
        </p:nvSpPr>
        <p:spPr>
          <a:xfrm>
            <a:off x="640080" y="4773168"/>
            <a:ext cx="1938528"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1" y="4809744"/>
            <a:ext cx="1792224" cy="484632"/>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시간 방향 CNN</a:t>
            </a:r>
          </a:p>
        </p:txBody>
      </p:sp>
      <p:sp>
        <p:nvSpPr>
          <p:cNvPr id="37" name="Rectangle 36"/>
          <p:cNvSpPr/>
          <p:nvPr/>
        </p:nvSpPr>
        <p:spPr>
          <a:xfrm>
            <a:off x="2578608" y="4773168"/>
            <a:ext cx="3657600"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651760" y="4809744"/>
            <a:ext cx="3511296"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32채널 · 3층
(kernel,stride): (8,4), (5,1), (5,1)</a:t>
            </a:r>
          </a:p>
        </p:txBody>
      </p:sp>
      <p:sp>
        <p:nvSpPr>
          <p:cNvPr id="39" name="Rectangle 38"/>
          <p:cNvSpPr/>
          <p:nvPr/>
        </p:nvSpPr>
        <p:spPr>
          <a:xfrm>
            <a:off x="6236208" y="4773168"/>
            <a:ext cx="5376672" cy="557784"/>
          </a:xfrm>
          <a:prstGeom prst="rect">
            <a:avLst/>
          </a:prstGeom>
          <a:solidFill>
            <a:srgbClr val="F7F7F7"/>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09360" y="4809744"/>
            <a:ext cx="5230368"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RMA §IV-B와 같은 채널·커널·stride
시간 길이50 → 11 → 7 → 3</a:t>
            </a:r>
          </a:p>
        </p:txBody>
      </p:sp>
      <p:sp>
        <p:nvSpPr>
          <p:cNvPr id="41" name="Rectangle 40"/>
          <p:cNvSpPr/>
          <p:nvPr/>
        </p:nvSpPr>
        <p:spPr>
          <a:xfrm>
            <a:off x="640080" y="5330952"/>
            <a:ext cx="1938528"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1" y="5367528"/>
            <a:ext cx="1792224" cy="484632"/>
          </a:xfrm>
          <a:prstGeom prst="rect">
            <a:avLst/>
          </a:prstGeom>
          <a:noFill/>
        </p:spPr>
        <p:txBody>
          <a:bodyPr wrap="square" lIns="9144" tIns="9144" rIns="9144" bIns="9144" anchor="ctr">
            <a:spAutoFit/>
          </a:bodyPr>
          <a:lstStyle/>
          <a:p>
            <a:pPr algn="l">
              <a:spcAft>
                <a:spcPts val="0"/>
              </a:spcAft>
            </a:pPr>
            <a:r>
              <a:rPr sz="1180" b="1">
                <a:solidFill>
                  <a:srgbClr val="3A3A3A"/>
                </a:solidFill>
                <a:latin typeface="맑은 고딕"/>
                <a:ea typeface="맑은 고딕"/>
                <a:cs typeface="맑은 고딕"/>
              </a:rPr>
              <a:t>특징 출력</a:t>
            </a:r>
          </a:p>
        </p:txBody>
      </p:sp>
      <p:sp>
        <p:nvSpPr>
          <p:cNvPr id="43" name="Rectangle 42"/>
          <p:cNvSpPr/>
          <p:nvPr/>
        </p:nvSpPr>
        <p:spPr>
          <a:xfrm>
            <a:off x="2578608" y="5330952"/>
            <a:ext cx="3657600"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651760" y="5367528"/>
            <a:ext cx="3511296"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32 × 3 = 96 → Linear → 8</a:t>
            </a:r>
          </a:p>
        </p:txBody>
      </p:sp>
      <p:sp>
        <p:nvSpPr>
          <p:cNvPr id="45" name="Rectangle 44"/>
          <p:cNvSpPr/>
          <p:nvPr/>
        </p:nvSpPr>
        <p:spPr>
          <a:xfrm>
            <a:off x="6236208" y="5330952"/>
            <a:ext cx="5376672" cy="557784"/>
          </a:xfrm>
          <a:prstGeom prst="rect">
            <a:avLst/>
          </a:prstGeom>
          <a:solidFill>
            <a:srgbClr val="FFFFFF"/>
          </a:solidFill>
          <a:ln w="8890">
            <a:solidFill>
              <a:srgbClr val="CF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09360" y="5367528"/>
            <a:ext cx="5230368" cy="484632"/>
          </a:xfrm>
          <a:prstGeom prst="rect">
            <a:avLst/>
          </a:prstGeom>
          <a:noFill/>
        </p:spPr>
        <p:txBody>
          <a:bodyPr wrap="square" lIns="9144" tIns="9144" rIns="9144" bIns="9144" anchor="ctr">
            <a:spAutoFit/>
          </a:bodyPr>
          <a:lstStyle/>
          <a:p>
            <a:pPr algn="ctr">
              <a:spcAft>
                <a:spcPts val="0"/>
              </a:spcAft>
            </a:pPr>
            <a:r>
              <a:rPr sz="1180" b="0">
                <a:solidFill>
                  <a:srgbClr val="3A3A3A"/>
                </a:solidFill>
                <a:latin typeface="맑은 고딕"/>
                <a:ea typeface="맑은 고딕"/>
                <a:cs typeface="맑은 고딕"/>
              </a:rPr>
              <a:t>CNN 출력을 latent로 선형 투영하는 방식 계승
8개의 물리량을 직접 지정하는 방식은 아님</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7977</Words>
  <Application>Microsoft Office PowerPoint</Application>
  <DocSecurity>0</DocSecurity>
  <PresentationFormat>와이드스크린</PresentationFormat>
  <Paragraphs>949</Paragraphs>
  <Slides>43</Slides>
  <Notes>43</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43</vt:i4>
      </vt:variant>
    </vt:vector>
  </HeadingPairs>
  <TitlesOfParts>
    <vt:vector size="49" baseType="lpstr">
      <vt:lpstr>Noto Sans CJK KR</vt:lpstr>
      <vt:lpstr>맑은 고딕</vt:lpstr>
      <vt:lpstr>Arial</vt:lpstr>
      <vt:lpstr>Calibri</vt:lpstr>
      <vt:lpstr>Cambria Math</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단일 관절 출력 저하 적응 제어 · 초안 발표 v12</dc:title>
  <dc:subject>Encoder provenance; intuitive paper results; action scale and onset terminology</dc:subject>
  <dc:creator>Walnut Exporter</dc:creator>
  <cp:lastModifiedBy>지훈 변</cp:lastModifiedBy>
  <cp:revision>46</cp:revision>
  <dcterms:created xsi:type="dcterms:W3CDTF">2026-08-03T05:29:17Z</dcterms:created>
  <dcterms:modified xsi:type="dcterms:W3CDTF">2026-09-28T07:14:44Z</dcterms:modified>
</cp:coreProperties>
</file>